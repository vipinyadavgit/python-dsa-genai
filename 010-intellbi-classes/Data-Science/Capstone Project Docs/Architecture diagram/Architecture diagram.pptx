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ErqoaDtdatqBCGMZ5QcjQQKGV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IN"/>
              <a:t>Enterprise Architecture for MediAssist AI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2931437" y="811947"/>
            <a:ext cx="3617400" cy="109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510215" y="3329733"/>
            <a:ext cx="963280" cy="1243585"/>
            <a:chOff x="523248" y="3428999"/>
            <a:chExt cx="963280" cy="1243585"/>
          </a:xfrm>
        </p:grpSpPr>
        <p:sp>
          <p:nvSpPr>
            <p:cNvPr id="92" name="Google Shape;92;p2"/>
            <p:cNvSpPr/>
            <p:nvPr/>
          </p:nvSpPr>
          <p:spPr>
            <a:xfrm>
              <a:off x="523248" y="3428999"/>
              <a:ext cx="963280" cy="1243585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User with solid fill" id="93" name="Google Shape;93;p2"/>
            <p:cNvSpPr/>
            <p:nvPr/>
          </p:nvSpPr>
          <p:spPr>
            <a:xfrm>
              <a:off x="774700" y="3594100"/>
              <a:ext cx="482600" cy="4826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4" name="Google Shape;94;p2"/>
            <p:cNvSpPr txBox="1"/>
            <p:nvPr/>
          </p:nvSpPr>
          <p:spPr>
            <a:xfrm>
              <a:off x="534655" y="4021585"/>
              <a:ext cx="9144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Doctors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Admin Staff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Insurance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Television with solid fill" id="95" name="Google Shape;95;p2"/>
          <p:cNvSpPr/>
          <p:nvPr/>
        </p:nvSpPr>
        <p:spPr>
          <a:xfrm>
            <a:off x="1765300" y="3516243"/>
            <a:ext cx="914400" cy="9144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1644650" y="3726190"/>
            <a:ext cx="11811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Streamlit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3068828" y="2982783"/>
            <a:ext cx="977900" cy="191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 API Gateway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456234" y="2991927"/>
            <a:ext cx="977900" cy="191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LangGraph supervisor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000175" y="4890638"/>
            <a:ext cx="18796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Orchestration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5843905" y="2267520"/>
            <a:ext cx="1409700" cy="3135759"/>
            <a:chOff x="6177915" y="2258916"/>
            <a:chExt cx="1409700" cy="3135759"/>
          </a:xfrm>
        </p:grpSpPr>
        <p:sp>
          <p:nvSpPr>
            <p:cNvPr id="101" name="Google Shape;101;p2"/>
            <p:cNvSpPr/>
            <p:nvPr/>
          </p:nvSpPr>
          <p:spPr>
            <a:xfrm>
              <a:off x="6177915" y="2258916"/>
              <a:ext cx="1409700" cy="3135759"/>
            </a:xfrm>
            <a:prstGeom prst="snip2DiagRect">
              <a:avLst>
                <a:gd fmla="val 0" name="adj1"/>
                <a:gd fmla="val 16667" name="adj2"/>
              </a:avLst>
            </a:prstGeom>
            <a:solidFill>
              <a:srgbClr val="BEF2C7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247130" y="2418895"/>
              <a:ext cx="1271270" cy="535289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Planner 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Task decomposition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Subtask generation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6247130" y="3092740"/>
              <a:ext cx="1271270" cy="535289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Retriever 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Vector search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Document ranking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6247130" y="3766585"/>
              <a:ext cx="1271270" cy="535289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MCP 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Tool execution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DB queries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6247130" y="4440430"/>
              <a:ext cx="1271270" cy="535289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Vision 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Image analysis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7D22"/>
                </a:buClr>
                <a:buSzPts val="600"/>
                <a:buFont typeface="Arial"/>
                <a:buChar char="•"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OCR &amp; extraction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9079434" y="3486297"/>
            <a:ext cx="1271270" cy="535289"/>
          </a:xfrm>
          <a:prstGeom prst="roundRect">
            <a:avLst>
              <a:gd fmla="val 16667" name="adj"/>
            </a:avLst>
          </a:prstGeom>
          <a:solidFill>
            <a:srgbClr val="D9E5F8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Reasoning Agent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b="0" i="0" lang="en-I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 synthesis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b="0" i="0" lang="en-I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&amp; inference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0652527" y="3494834"/>
            <a:ext cx="1271270" cy="535289"/>
          </a:xfrm>
          <a:prstGeom prst="roundRect">
            <a:avLst>
              <a:gd fmla="val 16667" name="adj"/>
            </a:avLst>
          </a:prstGeom>
          <a:solidFill>
            <a:srgbClr val="D9E5F8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Evaluator Agent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b="0" i="0" lang="en-I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 checks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b="0" i="0" lang="en-I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Safety validation</a:t>
            </a:r>
            <a:endParaRPr b="0" i="0" sz="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531842" y="5334043"/>
            <a:ext cx="1271270" cy="535289"/>
          </a:xfrm>
          <a:prstGeom prst="roundRect">
            <a:avLst>
              <a:gd fmla="val 16667" name="adj"/>
            </a:avLst>
          </a:prstGeom>
          <a:solidFill>
            <a:srgbClr val="D9E5F8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Agent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b="0" i="0" lang="en-IN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guardrails</a:t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6690209" y="811958"/>
            <a:ext cx="3483292" cy="1092200"/>
            <a:chOff x="3187700" y="457200"/>
            <a:chExt cx="3483292" cy="1092200"/>
          </a:xfrm>
        </p:grpSpPr>
        <p:sp>
          <p:nvSpPr>
            <p:cNvPr id="110" name="Google Shape;110;p2"/>
            <p:cNvSpPr/>
            <p:nvPr/>
          </p:nvSpPr>
          <p:spPr>
            <a:xfrm>
              <a:off x="3187700" y="457200"/>
              <a:ext cx="3483292" cy="10922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529965" y="735655"/>
              <a:ext cx="1271270" cy="535289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Vector Database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FAISS / Chroma DB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Embeddings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4975860" y="735654"/>
              <a:ext cx="1271270" cy="535289"/>
            </a:xfrm>
            <a:prstGeom prst="roundRect">
              <a:avLst>
                <a:gd fmla="val 16667" name="adj"/>
              </a:avLst>
            </a:prstGeom>
            <a:solidFill>
              <a:srgbClr val="D9E5F8"/>
            </a:solidFill>
            <a:ln cap="flat" cmpd="sng" w="9525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PostgreSQL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600" u="none" cap="none" strike="noStrike">
                  <a:solidFill>
                    <a:srgbClr val="3A7D22"/>
                  </a:solidFill>
                  <a:latin typeface="Arial"/>
                  <a:ea typeface="Arial"/>
                  <a:cs typeface="Arial"/>
                  <a:sym typeface="Arial"/>
                </a:rPr>
                <a:t>Patients • Appointments Labs Results • Billing</a:t>
              </a:r>
              <a:endParaRPr b="0" i="0" sz="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Openai Icon &amp; Logo | Dashboard Icons &amp; Logos" id="113" name="Google Shape;113;p2"/>
          <p:cNvSpPr/>
          <p:nvPr/>
        </p:nvSpPr>
        <p:spPr>
          <a:xfrm>
            <a:off x="8145922" y="3486296"/>
            <a:ext cx="535289" cy="535289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7662711" y="811955"/>
            <a:ext cx="163131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Storage &amp; Integration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570595" y="2105025"/>
            <a:ext cx="1179044" cy="535289"/>
          </a:xfrm>
          <a:prstGeom prst="roundRect">
            <a:avLst>
              <a:gd fmla="val 16667" name="adj"/>
            </a:avLst>
          </a:prstGeom>
          <a:solidFill>
            <a:srgbClr val="D9E5F8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endParaRPr b="0" i="0" sz="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"/>
          <p:cNvCxnSpPr>
            <a:endCxn id="113" idx="0"/>
          </p:cNvCxnSpPr>
          <p:nvPr/>
        </p:nvCxnSpPr>
        <p:spPr>
          <a:xfrm flipH="1" rot="-5400000">
            <a:off x="7066716" y="2139446"/>
            <a:ext cx="1860600" cy="833100"/>
          </a:xfrm>
          <a:prstGeom prst="bentConnector3">
            <a:avLst>
              <a:gd fmla="val 6818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17" name="Google Shape;117;p2"/>
          <p:cNvCxnSpPr/>
          <p:nvPr/>
        </p:nvCxnSpPr>
        <p:spPr>
          <a:xfrm>
            <a:off x="9132292" y="1632354"/>
            <a:ext cx="0" cy="48220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18" name="Google Shape;118;p2"/>
          <p:cNvCxnSpPr>
            <a:stCxn id="115" idx="2"/>
            <a:endCxn id="113" idx="0"/>
          </p:cNvCxnSpPr>
          <p:nvPr/>
        </p:nvCxnSpPr>
        <p:spPr>
          <a:xfrm rot="5400000">
            <a:off x="8363767" y="2689964"/>
            <a:ext cx="846000" cy="746700"/>
          </a:xfrm>
          <a:prstGeom prst="bentConnector3">
            <a:avLst>
              <a:gd fmla="val 3054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9" name="Google Shape;119;p2"/>
          <p:cNvSpPr txBox="1"/>
          <p:nvPr/>
        </p:nvSpPr>
        <p:spPr>
          <a:xfrm>
            <a:off x="7930769" y="4021582"/>
            <a:ext cx="1110996" cy="4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Processing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600"/>
              <a:buFont typeface="Arial"/>
              <a:buChar char="•"/>
            </a:pPr>
            <a:r>
              <a:rPr lang="en-IN" sz="6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600"/>
              <a:buFont typeface="Arial"/>
              <a:buChar char="•"/>
            </a:pPr>
            <a:r>
              <a:rPr lang="en-IN" sz="6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Groq </a:t>
            </a:r>
            <a:endParaRPr sz="600">
              <a:solidFill>
                <a:srgbClr val="3A7D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2"/>
          <p:cNvCxnSpPr/>
          <p:nvPr/>
        </p:nvCxnSpPr>
        <p:spPr>
          <a:xfrm flipH="1" rot="10800000">
            <a:off x="1465036" y="3951525"/>
            <a:ext cx="335646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1" name="Google Shape;121;p2"/>
          <p:cNvCxnSpPr/>
          <p:nvPr/>
        </p:nvCxnSpPr>
        <p:spPr>
          <a:xfrm flipH="1" rot="10800000">
            <a:off x="2649029" y="3951524"/>
            <a:ext cx="406132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2" name="Google Shape;122;p2"/>
          <p:cNvCxnSpPr/>
          <p:nvPr/>
        </p:nvCxnSpPr>
        <p:spPr>
          <a:xfrm flipH="1" rot="10800000">
            <a:off x="4046728" y="3951523"/>
            <a:ext cx="406132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3" name="Google Shape;123;p2"/>
          <p:cNvCxnSpPr/>
          <p:nvPr/>
        </p:nvCxnSpPr>
        <p:spPr>
          <a:xfrm flipH="1" rot="10800000">
            <a:off x="5435733" y="3950776"/>
            <a:ext cx="406132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4" name="Google Shape;124;p2"/>
          <p:cNvCxnSpPr/>
          <p:nvPr/>
        </p:nvCxnSpPr>
        <p:spPr>
          <a:xfrm flipH="1" rot="10800000">
            <a:off x="7265788" y="3726190"/>
            <a:ext cx="870581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5" name="Google Shape;125;p2"/>
          <p:cNvCxnSpPr/>
          <p:nvPr/>
        </p:nvCxnSpPr>
        <p:spPr>
          <a:xfrm flipH="1" rot="10800000">
            <a:off x="8635633" y="3736009"/>
            <a:ext cx="406132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6" name="Google Shape;126;p2"/>
          <p:cNvCxnSpPr/>
          <p:nvPr/>
        </p:nvCxnSpPr>
        <p:spPr>
          <a:xfrm flipH="1" rot="10800000">
            <a:off x="10349049" y="3753940"/>
            <a:ext cx="305133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7" name="Google Shape;127;p2"/>
          <p:cNvCxnSpPr>
            <a:stCxn id="107" idx="2"/>
          </p:cNvCxnSpPr>
          <p:nvPr/>
        </p:nvCxnSpPr>
        <p:spPr>
          <a:xfrm>
            <a:off x="11288162" y="4030123"/>
            <a:ext cx="0" cy="1303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28" name="Google Shape;128;p2"/>
          <p:cNvCxnSpPr>
            <a:stCxn id="108" idx="1"/>
            <a:endCxn id="92" idx="2"/>
          </p:cNvCxnSpPr>
          <p:nvPr/>
        </p:nvCxnSpPr>
        <p:spPr>
          <a:xfrm rot="10800000">
            <a:off x="991842" y="4573288"/>
            <a:ext cx="9540000" cy="10284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9" name="Google Shape;129;p2"/>
          <p:cNvSpPr txBox="1"/>
          <p:nvPr/>
        </p:nvSpPr>
        <p:spPr>
          <a:xfrm>
            <a:off x="3732982" y="811955"/>
            <a:ext cx="185575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Ingestion Pipeline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2945610" y="1643315"/>
            <a:ext cx="106114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Upload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258967" y="1643315"/>
            <a:ext cx="74608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Chunking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ocument with solid fill" id="132" name="Google Shape;132;p2"/>
          <p:cNvSpPr/>
          <p:nvPr/>
        </p:nvSpPr>
        <p:spPr>
          <a:xfrm>
            <a:off x="3308598" y="1253868"/>
            <a:ext cx="375757" cy="375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List with solid fill" id="133" name="Google Shape;133;p2"/>
          <p:cNvSpPr/>
          <p:nvPr/>
        </p:nvSpPr>
        <p:spPr>
          <a:xfrm>
            <a:off x="4479347" y="1174281"/>
            <a:ext cx="232211" cy="232211"/>
          </a:xfrm>
          <a:prstGeom prst="rect">
            <a:avLst/>
          </a:prstGeom>
          <a:noFill/>
          <a:ln>
            <a:noFill/>
          </a:ln>
        </p:spPr>
      </p:sp>
      <p:sp>
        <p:nvSpPr>
          <p:cNvPr descr="List with solid fill" id="134" name="Google Shape;134;p2"/>
          <p:cNvSpPr/>
          <p:nvPr/>
        </p:nvSpPr>
        <p:spPr>
          <a:xfrm>
            <a:off x="4624100" y="1420233"/>
            <a:ext cx="232211" cy="232211"/>
          </a:xfrm>
          <a:prstGeom prst="rect">
            <a:avLst/>
          </a:prstGeom>
          <a:noFill/>
          <a:ln>
            <a:noFill/>
          </a:ln>
        </p:spPr>
      </p:sp>
      <p:pic>
        <p:nvPicPr>
          <p:cNvPr descr="Matrix - Free education icons" id="135" name="Google Shape;1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5638" y="1135633"/>
            <a:ext cx="535815" cy="53581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 txBox="1"/>
          <p:nvPr/>
        </p:nvSpPr>
        <p:spPr>
          <a:xfrm>
            <a:off x="5522178" y="1643315"/>
            <a:ext cx="746088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2"/>
          <p:cNvCxnSpPr/>
          <p:nvPr/>
        </p:nvCxnSpPr>
        <p:spPr>
          <a:xfrm>
            <a:off x="3732982" y="1403540"/>
            <a:ext cx="716414" cy="29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8" name="Google Shape;138;p2"/>
          <p:cNvCxnSpPr/>
          <p:nvPr/>
        </p:nvCxnSpPr>
        <p:spPr>
          <a:xfrm>
            <a:off x="4872323" y="1393760"/>
            <a:ext cx="716414" cy="29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39" name="Google Shape;139;p2"/>
          <p:cNvCxnSpPr/>
          <p:nvPr/>
        </p:nvCxnSpPr>
        <p:spPr>
          <a:xfrm>
            <a:off x="6237681" y="1393760"/>
            <a:ext cx="716414" cy="29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0" name="Google Shape;140;p2"/>
          <p:cNvSpPr/>
          <p:nvPr/>
        </p:nvSpPr>
        <p:spPr>
          <a:xfrm>
            <a:off x="7808164" y="4773245"/>
            <a:ext cx="1271270" cy="535289"/>
          </a:xfrm>
          <a:prstGeom prst="roundRect">
            <a:avLst>
              <a:gd fmla="val 16667" name="adj"/>
            </a:avLst>
          </a:prstGeom>
          <a:solidFill>
            <a:srgbClr val="D9E5F8"/>
          </a:solidFill>
          <a:ln cap="flat" cmpd="sng" w="9525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Observability</a:t>
            </a:r>
            <a:endParaRPr sz="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00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Langsmith</a:t>
            </a:r>
            <a:endParaRPr sz="1050">
              <a:solidFill>
                <a:srgbClr val="3A7D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"/>
          <p:cNvCxnSpPr/>
          <p:nvPr/>
        </p:nvCxnSpPr>
        <p:spPr>
          <a:xfrm>
            <a:off x="8486267" y="4317620"/>
            <a:ext cx="0" cy="46744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2026-06-07T05:15:51Z</dcterms:created>
  <dc:creator>Ankit Mirajkar</dc:creator>
</cp:coreProperties>
</file>