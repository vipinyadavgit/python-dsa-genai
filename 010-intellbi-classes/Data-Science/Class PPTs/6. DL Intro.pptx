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9"/>
  </p:notesMasterIdLst>
  <p:sldIdLst>
    <p:sldId id="261" r:id="rId3"/>
    <p:sldId id="2563" r:id="rId4"/>
    <p:sldId id="257" r:id="rId5"/>
    <p:sldId id="262" r:id="rId6"/>
    <p:sldId id="263" r:id="rId7"/>
    <p:sldId id="2564" r:id="rId8"/>
    <p:sldId id="2565" r:id="rId9"/>
    <p:sldId id="264" r:id="rId10"/>
    <p:sldId id="265" r:id="rId11"/>
    <p:sldId id="266" r:id="rId12"/>
    <p:sldId id="267" r:id="rId13"/>
    <p:sldId id="269" r:id="rId14"/>
    <p:sldId id="270" r:id="rId15"/>
    <p:sldId id="268"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299" autoAdjust="0"/>
  </p:normalViewPr>
  <p:slideViewPr>
    <p:cSldViewPr snapToGrid="0">
      <p:cViewPr varScale="1">
        <p:scale>
          <a:sx n="61" d="100"/>
          <a:sy n="61" d="100"/>
        </p:scale>
        <p:origin x="8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88B96-4456-4308-AB33-53B33766962F}" type="datetimeFigureOut">
              <a:rPr lang="en-IN" smtClean="0"/>
              <a:t>30-03-2026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FBA84-E662-454C-B831-96D1A67BC8DD}" type="slidenum">
              <a:rPr lang="en-IN" smtClean="0"/>
              <a:t>‹#›</a:t>
            </a:fld>
            <a:endParaRPr lang="en-IN"/>
          </a:p>
        </p:txBody>
      </p:sp>
    </p:spTree>
    <p:extLst>
      <p:ext uri="{BB962C8B-B14F-4D97-AF65-F5344CB8AC3E}">
        <p14:creationId xmlns:p14="http://schemas.microsoft.com/office/powerpoint/2010/main" val="585894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Artificial Intelligence is the overarching concept of machines mimicking human intelligence. This section covers what AI is, its historical evolution, and the main areas where it is applied.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609770-5B7B-4089-84EB-C94E84D1076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89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Artificial Intelligence refers to computer systems designed to perform tasks that normally require human intelligence, such as reasoning, learning, problem-solving, and understanding natural language.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609770-5B7B-4089-84EB-C94E84D1076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8923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AI has evolved from early symbolic reasoning and rule-based systems to modern data-driven approaches. Key milestones include the development of expert systems, neural networks, and recent advances in deep learning.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609770-5B7B-4089-84EB-C94E84D1076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6652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Lato" panose="020F0502020204030203" pitchFamily="34" charset="0"/>
              </a:rPr>
              <a:t>Let’s say while watching a video, you remember the previous scene, or while reading a book, you know what happened in the earlier chapter. RNNs work similarly; they remember the previous information and use it for processing the current input.</a:t>
            </a:r>
            <a:endParaRPr lang="en-IN" dirty="0"/>
          </a:p>
        </p:txBody>
      </p:sp>
      <p:sp>
        <p:nvSpPr>
          <p:cNvPr id="4" name="Slide Number Placeholder 3"/>
          <p:cNvSpPr>
            <a:spLocks noGrp="1"/>
          </p:cNvSpPr>
          <p:nvPr>
            <p:ph type="sldNum" sz="quarter" idx="5"/>
          </p:nvPr>
        </p:nvSpPr>
        <p:spPr/>
        <p:txBody>
          <a:bodyPr/>
          <a:lstStyle/>
          <a:p>
            <a:fld id="{968FBA84-E662-454C-B831-96D1A67BC8DD}" type="slidenum">
              <a:rPr lang="en-IN" smtClean="0"/>
              <a:t>11</a:t>
            </a:fld>
            <a:endParaRPr lang="en-IN"/>
          </a:p>
        </p:txBody>
      </p:sp>
    </p:spTree>
    <p:extLst>
      <p:ext uri="{BB962C8B-B14F-4D97-AF65-F5344CB8AC3E}">
        <p14:creationId xmlns:p14="http://schemas.microsoft.com/office/powerpoint/2010/main" val="1953640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unset"/>
              </a:rPr>
              <a:t>Gathering unstructured data from multiple data sources like plain text, web pages, pdf files, emails, and blogs,  to name a few.</a:t>
            </a:r>
          </a:p>
          <a:p>
            <a:pPr algn="l">
              <a:buFont typeface="Arial" panose="020B0604020202020204" pitchFamily="34" charset="0"/>
              <a:buChar char="•"/>
            </a:pPr>
            <a:r>
              <a:rPr lang="en-US" b="0" i="0" dirty="0">
                <a:solidFill>
                  <a:srgbClr val="000000"/>
                </a:solidFill>
                <a:effectLst/>
                <a:latin typeface="unset"/>
              </a:rPr>
              <a:t>Detect and remove anomalies from data by conducting pre-processing and cleansing operations. Data cleansing allows you to extract and retain the valuable information hidden within the data and to help identify the roots of specific words. </a:t>
            </a:r>
          </a:p>
          <a:p>
            <a:pPr algn="l">
              <a:buFont typeface="Arial" panose="020B0604020202020204" pitchFamily="34" charset="0"/>
              <a:buChar char="•"/>
            </a:pPr>
            <a:r>
              <a:rPr lang="en-US" b="0" i="0" dirty="0">
                <a:solidFill>
                  <a:srgbClr val="000000"/>
                </a:solidFill>
                <a:effectLst/>
                <a:latin typeface="unset"/>
              </a:rPr>
              <a:t> For this, you get a number of text mining tools and text mining applications.</a:t>
            </a:r>
          </a:p>
          <a:p>
            <a:pPr algn="l">
              <a:buFont typeface="Arial" panose="020B0604020202020204" pitchFamily="34" charset="0"/>
              <a:buChar char="•"/>
            </a:pPr>
            <a:r>
              <a:rPr lang="en-US" b="0" i="0" dirty="0">
                <a:solidFill>
                  <a:srgbClr val="000000"/>
                </a:solidFill>
                <a:effectLst/>
                <a:latin typeface="unset"/>
              </a:rPr>
              <a:t>Convert all the relevant information extracted from unstructured data into structured formats.</a:t>
            </a:r>
          </a:p>
          <a:p>
            <a:pPr algn="l">
              <a:buFont typeface="Arial" panose="020B0604020202020204" pitchFamily="34" charset="0"/>
              <a:buChar char="•"/>
            </a:pPr>
            <a:r>
              <a:rPr lang="en-US" b="0" i="0" dirty="0">
                <a:solidFill>
                  <a:srgbClr val="000000"/>
                </a:solidFill>
                <a:effectLst/>
                <a:latin typeface="unset"/>
              </a:rPr>
              <a:t>Analyze the patterns within the data via the Management Information System (MIS).</a:t>
            </a:r>
          </a:p>
          <a:p>
            <a:pPr algn="l">
              <a:buFont typeface="Arial" panose="020B0604020202020204" pitchFamily="34" charset="0"/>
              <a:buChar char="•"/>
            </a:pPr>
            <a:r>
              <a:rPr lang="en-US" b="0" i="0" dirty="0">
                <a:solidFill>
                  <a:srgbClr val="000000"/>
                </a:solidFill>
                <a:effectLst/>
                <a:latin typeface="unset"/>
              </a:rPr>
              <a:t>Store all the valuable information into a secure database to drive trend analysis and enhance the decision-making process of the organization.</a:t>
            </a:r>
          </a:p>
          <a:p>
            <a:br>
              <a:rPr lang="en-US" dirty="0"/>
            </a:br>
            <a:endParaRPr lang="en-IN" dirty="0"/>
          </a:p>
        </p:txBody>
      </p:sp>
      <p:sp>
        <p:nvSpPr>
          <p:cNvPr id="4" name="Slide Number Placeholder 3"/>
          <p:cNvSpPr>
            <a:spLocks noGrp="1"/>
          </p:cNvSpPr>
          <p:nvPr>
            <p:ph type="sldNum" sz="quarter" idx="5"/>
          </p:nvPr>
        </p:nvSpPr>
        <p:spPr/>
        <p:txBody>
          <a:bodyPr/>
          <a:lstStyle/>
          <a:p>
            <a:fld id="{968FBA84-E662-454C-B831-96D1A67BC8DD}" type="slidenum">
              <a:rPr lang="en-IN" smtClean="0"/>
              <a:t>15</a:t>
            </a:fld>
            <a:endParaRPr lang="en-IN"/>
          </a:p>
        </p:txBody>
      </p:sp>
    </p:spTree>
    <p:extLst>
      <p:ext uri="{BB962C8B-B14F-4D97-AF65-F5344CB8AC3E}">
        <p14:creationId xmlns:p14="http://schemas.microsoft.com/office/powerpoint/2010/main" val="376564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B0597-E39D-A53E-03B3-A031403BA4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AF831D-69D6-6BE2-7E1E-2672FBABF5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CF2952-7D1B-AA9E-D6CF-D45AE92F94BE}"/>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5" name="Footer Placeholder 4">
            <a:extLst>
              <a:ext uri="{FF2B5EF4-FFF2-40B4-BE49-F238E27FC236}">
                <a16:creationId xmlns:a16="http://schemas.microsoft.com/office/drawing/2014/main" id="{86C05D21-6C52-EA15-B4B4-AFA9E865C3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C4ACF1-6B9C-6CC0-1914-E8FE0DD1A665}"/>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3168297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80D33-5D2A-82AF-9C3D-951212AD7D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AC85EA-6F90-EB16-A60B-08C0A4979D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BDA245-4073-8573-34F9-0579A8AD5406}"/>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5" name="Footer Placeholder 4">
            <a:extLst>
              <a:ext uri="{FF2B5EF4-FFF2-40B4-BE49-F238E27FC236}">
                <a16:creationId xmlns:a16="http://schemas.microsoft.com/office/drawing/2014/main" id="{13D46AA7-9244-CA5D-3E2C-AC016F645E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E4A5F-D755-76D5-1529-772651CE8AFF}"/>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1958375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ABB5-228D-4C11-52C7-5DF7BC0B99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302FCA1-1F13-90B3-ABF6-7F744BE115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7D0AD1-74FB-5622-0021-DFD1E26F3BC9}"/>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5" name="Footer Placeholder 4">
            <a:extLst>
              <a:ext uri="{FF2B5EF4-FFF2-40B4-BE49-F238E27FC236}">
                <a16:creationId xmlns:a16="http://schemas.microsoft.com/office/drawing/2014/main" id="{D0492777-F65D-3F70-5D02-4F3B5E7F37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1B0166-12A7-7E4B-7274-734FAA7B8C45}"/>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3373356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F76E9-97CC-234B-87AE-777598294F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A07A2C-4C9D-C260-BDFE-3D4FD9B1AB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558104-2DF2-C55D-AB01-3AC6AE978D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38B879D-73AD-FFCE-1833-1A3BFAE20688}"/>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6" name="Footer Placeholder 5">
            <a:extLst>
              <a:ext uri="{FF2B5EF4-FFF2-40B4-BE49-F238E27FC236}">
                <a16:creationId xmlns:a16="http://schemas.microsoft.com/office/drawing/2014/main" id="{339BB782-D677-24D8-763F-D88096990A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DC8779-5E14-340B-5FEC-8BB70206B988}"/>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147056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EDF0-1725-9E35-B5A9-B7C79D23E3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E2C14E-1906-779A-DE33-486CD35BB6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766258-0281-E97E-0FDC-8B11790A31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BBE72A-F548-103A-BDD5-4C177729C3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CB0239-448A-F1FA-08C8-41C29BA7F0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E51AF7-CF11-32B9-AC2D-DD89B4DFCB4E}"/>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8" name="Footer Placeholder 7">
            <a:extLst>
              <a:ext uri="{FF2B5EF4-FFF2-40B4-BE49-F238E27FC236}">
                <a16:creationId xmlns:a16="http://schemas.microsoft.com/office/drawing/2014/main" id="{8B15B153-FD4F-0A21-F852-DF1C5DC08F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21DECB-8451-C141-BCCE-7C35527712D9}"/>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2673287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F5BA4-B8F2-9FCA-BBBB-CC63E32CDF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C523FC-052A-FF79-9CBE-72B4CB3D2A9F}"/>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4" name="Footer Placeholder 3">
            <a:extLst>
              <a:ext uri="{FF2B5EF4-FFF2-40B4-BE49-F238E27FC236}">
                <a16:creationId xmlns:a16="http://schemas.microsoft.com/office/drawing/2014/main" id="{A6E81992-29A3-28C6-F9B1-5C3E27791F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D57375-F551-856E-87F3-1CA9878D46EE}"/>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1758437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4A6AFF-C6E9-5517-F350-73C880A74B7B}"/>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3" name="Footer Placeholder 2">
            <a:extLst>
              <a:ext uri="{FF2B5EF4-FFF2-40B4-BE49-F238E27FC236}">
                <a16:creationId xmlns:a16="http://schemas.microsoft.com/office/drawing/2014/main" id="{228CAD1D-3AD4-6F81-75D0-18CB5D0832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8602BB-330C-030B-AAE8-B5C32E1DF8F6}"/>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310826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E4567-DEB1-28BB-AB5E-F75DD13D8F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6640C59-A2DA-5210-5A85-404759530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4B0EE6-D43F-4F10-A2A9-EF63510AA1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FA5F53-CA0D-902A-7357-20F3DE829D47}"/>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6" name="Footer Placeholder 5">
            <a:extLst>
              <a:ext uri="{FF2B5EF4-FFF2-40B4-BE49-F238E27FC236}">
                <a16:creationId xmlns:a16="http://schemas.microsoft.com/office/drawing/2014/main" id="{313677F5-D3C6-AC44-154F-66EAE36FC2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A0C2D9-AD81-0A11-1D3B-1729F496DD12}"/>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3751408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9E4E5-5F19-F2C4-7D98-4F834A8457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84749C-FA61-09E1-B181-C35D8959C1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250030-ED31-67B5-2E41-DBC1C478CE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C9D135-03DA-C41A-FDD6-2109A3DD6D48}"/>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6" name="Footer Placeholder 5">
            <a:extLst>
              <a:ext uri="{FF2B5EF4-FFF2-40B4-BE49-F238E27FC236}">
                <a16:creationId xmlns:a16="http://schemas.microsoft.com/office/drawing/2014/main" id="{F3C47AB8-156F-42FA-439E-9987D5580F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D1B9A7-004C-E07B-5B6E-9489D3221A28}"/>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3421277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7DC56-607B-A28F-51E7-468F70FB62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CD370E-41BE-D275-50EE-660038CD53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A83D32-6150-6CDA-8BDC-A340715DD7EF}"/>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5" name="Footer Placeholder 4">
            <a:extLst>
              <a:ext uri="{FF2B5EF4-FFF2-40B4-BE49-F238E27FC236}">
                <a16:creationId xmlns:a16="http://schemas.microsoft.com/office/drawing/2014/main" id="{D4D64CEA-422B-BA9B-FBFA-D479135B26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6DC3E6-CBE7-8C2C-32D5-81EBCBAFA2DB}"/>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304815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C5159D-AD21-25C4-1A32-93620820F6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E28A76-3FFC-E5B7-A79D-AC978B962A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513ED-BB66-7994-472F-A0776683E7EA}"/>
              </a:ext>
            </a:extLst>
          </p:cNvPr>
          <p:cNvSpPr>
            <a:spLocks noGrp="1"/>
          </p:cNvSpPr>
          <p:nvPr>
            <p:ph type="dt" sz="half" idx="10"/>
          </p:nvPr>
        </p:nvSpPr>
        <p:spPr/>
        <p:txBody>
          <a:bodyPr/>
          <a:lstStyle/>
          <a:p>
            <a:fld id="{12FCDD30-F29B-4784-A53A-FD57B2A8D090}" type="datetimeFigureOut">
              <a:rPr lang="en-IN" smtClean="0"/>
              <a:t>30-03-2026</a:t>
            </a:fld>
            <a:endParaRPr lang="en-IN"/>
          </a:p>
        </p:txBody>
      </p:sp>
      <p:sp>
        <p:nvSpPr>
          <p:cNvPr id="5" name="Footer Placeholder 4">
            <a:extLst>
              <a:ext uri="{FF2B5EF4-FFF2-40B4-BE49-F238E27FC236}">
                <a16:creationId xmlns:a16="http://schemas.microsoft.com/office/drawing/2014/main" id="{6541F540-73E3-CF52-7784-E17A4DF7A6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21611-1EF6-8E2B-218E-A69FFA8CC42C}"/>
              </a:ext>
            </a:extLst>
          </p:cNvPr>
          <p:cNvSpPr>
            <a:spLocks noGrp="1"/>
          </p:cNvSpPr>
          <p:nvPr>
            <p:ph type="sldNum" sz="quarter" idx="12"/>
          </p:nvPr>
        </p:nvSpPr>
        <p:spPr/>
        <p:txBody>
          <a:bodyPr/>
          <a:lstStyle/>
          <a:p>
            <a:fld id="{D8328A26-4087-4AB9-86C2-17F35B0FF7B4}" type="slidenum">
              <a:rPr lang="en-IN" smtClean="0"/>
              <a:t>‹#›</a:t>
            </a:fld>
            <a:endParaRPr lang="en-IN"/>
          </a:p>
        </p:txBody>
      </p:sp>
    </p:spTree>
    <p:extLst>
      <p:ext uri="{BB962C8B-B14F-4D97-AF65-F5344CB8AC3E}">
        <p14:creationId xmlns:p14="http://schemas.microsoft.com/office/powerpoint/2010/main" val="1745144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 Templateswise.com - Machine Learning PP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5B0F5B-1F51-4F07-9BC5-565764121C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53"/>
            <a:ext cx="12192000" cy="6857295"/>
          </a:xfrm>
          <a:prstGeom prst="rect">
            <a:avLst/>
          </a:prstGeom>
        </p:spPr>
      </p:pic>
      <p:pic>
        <p:nvPicPr>
          <p:cNvPr id="305" name="Picture 304">
            <a:extLst>
              <a:ext uri="{FF2B5EF4-FFF2-40B4-BE49-F238E27FC236}">
                <a16:creationId xmlns:a16="http://schemas.microsoft.com/office/drawing/2014/main" id="{3D5F88F3-6355-4E24-ACCB-8680BE8B0C18}"/>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10"/>
            <a:ext cx="12192000" cy="6856781"/>
          </a:xfrm>
          <a:prstGeom prst="rect">
            <a:avLst/>
          </a:prstGeom>
        </p:spPr>
      </p:pic>
      <p:sp>
        <p:nvSpPr>
          <p:cNvPr id="3" name="Date Placeholder 2"/>
          <p:cNvSpPr>
            <a:spLocks noGrp="1"/>
          </p:cNvSpPr>
          <p:nvPr userDrawn="1">
            <p:ph type="dt" sz="half" idx="10"/>
          </p:nvPr>
        </p:nvSpPr>
        <p:spPr/>
        <p:txBody>
          <a:bodyPr/>
          <a:lstStyle>
            <a:lvl1pPr>
              <a:defRPr>
                <a:solidFill>
                  <a:schemeClr val="bg1">
                    <a:lumMod val="65000"/>
                  </a:schemeClr>
                </a:solidFill>
              </a:defRPr>
            </a:lvl1pPr>
          </a:lstStyle>
          <a:p>
            <a:fld id="{FFF30096-E2FA-4C53-8FFA-C198FACBBC31}" type="datetimeFigureOut">
              <a:rPr lang="en-US" smtClean="0"/>
              <a:pPr/>
              <a:t>3/30/2026</a:t>
            </a:fld>
            <a:endParaRPr lang="en-US" dirty="0"/>
          </a:p>
        </p:txBody>
      </p:sp>
      <p:sp>
        <p:nvSpPr>
          <p:cNvPr id="4" name="Footer Placeholder 3"/>
          <p:cNvSpPr>
            <a:spLocks noGrp="1"/>
          </p:cNvSpPr>
          <p:nvPr userDrawn="1">
            <p:ph type="ftr" sz="quarter" idx="11"/>
          </p:nvPr>
        </p:nvSpPr>
        <p:spPr/>
        <p:txBody>
          <a:bodyPr/>
          <a:lstStyle>
            <a:lvl1pPr>
              <a:defRPr>
                <a:solidFill>
                  <a:schemeClr val="bg1">
                    <a:lumMod val="65000"/>
                  </a:schemeClr>
                </a:solidFill>
              </a:defRPr>
            </a:lvl1pPr>
          </a:lstStyle>
          <a:p>
            <a:endParaRPr lang="en-US" dirty="0"/>
          </a:p>
        </p:txBody>
      </p:sp>
      <p:sp>
        <p:nvSpPr>
          <p:cNvPr id="5" name="Slide Number Placeholder 4"/>
          <p:cNvSpPr>
            <a:spLocks noGrp="1"/>
          </p:cNvSpPr>
          <p:nvPr userDrawn="1">
            <p:ph type="sldNum" sz="quarter" idx="12"/>
          </p:nvPr>
        </p:nvSpPr>
        <p:spPr/>
        <p:txBody>
          <a:bodyPr/>
          <a:lstStyle>
            <a:lvl1pPr>
              <a:defRPr>
                <a:solidFill>
                  <a:schemeClr val="bg1">
                    <a:lumMod val="65000"/>
                  </a:schemeClr>
                </a:solidFill>
              </a:defRPr>
            </a:lvl1pPr>
          </a:lstStyle>
          <a:p>
            <a:fld id="{BE6EB2CE-F8EE-47A0-A8D1-750600A29654}" type="slidenum">
              <a:rPr lang="en-US" smtClean="0"/>
              <a:pPr/>
              <a:t>‹#›</a:t>
            </a:fld>
            <a:endParaRPr lang="en-US" dirty="0"/>
          </a:p>
        </p:txBody>
      </p:sp>
      <p:sp>
        <p:nvSpPr>
          <p:cNvPr id="128" name="Title 1">
            <a:extLst>
              <a:ext uri="{FF2B5EF4-FFF2-40B4-BE49-F238E27FC236}">
                <a16:creationId xmlns:a16="http://schemas.microsoft.com/office/drawing/2014/main" id="{8F0D60C6-8501-4D6D-8057-7CDBF8F5453E}"/>
              </a:ext>
            </a:extLst>
          </p:cNvPr>
          <p:cNvSpPr>
            <a:spLocks noGrp="1"/>
          </p:cNvSpPr>
          <p:nvPr userDrawn="1">
            <p:ph type="title" hasCustomPrompt="1"/>
          </p:nvPr>
        </p:nvSpPr>
        <p:spPr>
          <a:xfrm>
            <a:off x="6480043" y="2372883"/>
            <a:ext cx="5131055" cy="1143000"/>
          </a:xfrm>
        </p:spPr>
        <p:txBody>
          <a:bodyPr>
            <a:noAutofit/>
          </a:bodyPr>
          <a:lstStyle>
            <a:lvl1pPr algn="l">
              <a:defRPr sz="5200" baseline="0">
                <a:solidFill>
                  <a:schemeClr val="bg1"/>
                </a:solidFill>
              </a:defRPr>
            </a:lvl1pPr>
          </a:lstStyle>
          <a:p>
            <a:r>
              <a:rPr lang="en-US" dirty="0"/>
              <a:t>Machine Learning</a:t>
            </a:r>
            <a:endParaRPr lang="en-US" noProof="0" dirty="0"/>
          </a:p>
        </p:txBody>
      </p:sp>
      <p:sp>
        <p:nvSpPr>
          <p:cNvPr id="129" name="Text Placeholder 4">
            <a:extLst>
              <a:ext uri="{FF2B5EF4-FFF2-40B4-BE49-F238E27FC236}">
                <a16:creationId xmlns:a16="http://schemas.microsoft.com/office/drawing/2014/main" id="{8EC25800-91F8-45D6-87F4-8C499CA81027}"/>
              </a:ext>
            </a:extLst>
          </p:cNvPr>
          <p:cNvSpPr>
            <a:spLocks noGrp="1"/>
          </p:cNvSpPr>
          <p:nvPr userDrawn="1">
            <p:ph type="body" sz="quarter" idx="35" hasCustomPrompt="1"/>
          </p:nvPr>
        </p:nvSpPr>
        <p:spPr>
          <a:xfrm>
            <a:off x="6698827" y="3236980"/>
            <a:ext cx="4896544" cy="603249"/>
          </a:xfrm>
        </p:spPr>
        <p:txBody>
          <a:bodyPr anchor="ctr">
            <a:noAutofit/>
          </a:bodyPr>
          <a:lstStyle>
            <a:lvl1pPr marL="0" indent="0" algn="l">
              <a:buNone/>
              <a:defRPr sz="2400">
                <a:solidFill>
                  <a:schemeClr val="bg1"/>
                </a:solidFill>
                <a:latin typeface="+mj-lt"/>
              </a:defRPr>
            </a:lvl1pPr>
          </a:lstStyle>
          <a:p>
            <a:r>
              <a:rPr lang="en-US" dirty="0"/>
              <a:t>PowerPoint template</a:t>
            </a:r>
          </a:p>
        </p:txBody>
      </p:sp>
      <p:grpSp>
        <p:nvGrpSpPr>
          <p:cNvPr id="379" name="Group 378">
            <a:extLst>
              <a:ext uri="{FF2B5EF4-FFF2-40B4-BE49-F238E27FC236}">
                <a16:creationId xmlns:a16="http://schemas.microsoft.com/office/drawing/2014/main" id="{5EFE17CA-9B2C-4214-86AB-24D59D14F4A9}"/>
              </a:ext>
            </a:extLst>
          </p:cNvPr>
          <p:cNvGrpSpPr/>
          <p:nvPr userDrawn="1"/>
        </p:nvGrpSpPr>
        <p:grpSpPr>
          <a:xfrm>
            <a:off x="9277381" y="3956098"/>
            <a:ext cx="1077387" cy="1077396"/>
            <a:chOff x="6958036" y="2967073"/>
            <a:chExt cx="808040" cy="808047"/>
          </a:xfrm>
        </p:grpSpPr>
        <p:sp>
          <p:nvSpPr>
            <p:cNvPr id="312" name="Freeform 209">
              <a:extLst>
                <a:ext uri="{FF2B5EF4-FFF2-40B4-BE49-F238E27FC236}">
                  <a16:creationId xmlns:a16="http://schemas.microsoft.com/office/drawing/2014/main" id="{B7EDEA35-2645-47DB-BCDF-9C7C2664619E}"/>
                </a:ext>
              </a:extLst>
            </p:cNvPr>
            <p:cNvSpPr>
              <a:spLocks/>
            </p:cNvSpPr>
            <p:nvPr userDrawn="1"/>
          </p:nvSpPr>
          <p:spPr bwMode="auto">
            <a:xfrm>
              <a:off x="6958036" y="2967073"/>
              <a:ext cx="808040" cy="808047"/>
            </a:xfrm>
            <a:custGeom>
              <a:avLst/>
              <a:gdLst>
                <a:gd name="T0" fmla="*/ 1017 w 1017"/>
                <a:gd name="T1" fmla="*/ 535 h 1017"/>
                <a:gd name="T2" fmla="*/ 1007 w 1017"/>
                <a:gd name="T3" fmla="*/ 612 h 1017"/>
                <a:gd name="T4" fmla="*/ 987 w 1017"/>
                <a:gd name="T5" fmla="*/ 684 h 1017"/>
                <a:gd name="T6" fmla="*/ 956 w 1017"/>
                <a:gd name="T7" fmla="*/ 751 h 1017"/>
                <a:gd name="T8" fmla="*/ 917 w 1017"/>
                <a:gd name="T9" fmla="*/ 813 h 1017"/>
                <a:gd name="T10" fmla="*/ 868 w 1017"/>
                <a:gd name="T11" fmla="*/ 869 h 1017"/>
                <a:gd name="T12" fmla="*/ 813 w 1017"/>
                <a:gd name="T13" fmla="*/ 917 h 1017"/>
                <a:gd name="T14" fmla="*/ 751 w 1017"/>
                <a:gd name="T15" fmla="*/ 956 h 1017"/>
                <a:gd name="T16" fmla="*/ 684 w 1017"/>
                <a:gd name="T17" fmla="*/ 987 h 1017"/>
                <a:gd name="T18" fmla="*/ 611 w 1017"/>
                <a:gd name="T19" fmla="*/ 1007 h 1017"/>
                <a:gd name="T20" fmla="*/ 535 w 1017"/>
                <a:gd name="T21" fmla="*/ 1017 h 1017"/>
                <a:gd name="T22" fmla="*/ 482 w 1017"/>
                <a:gd name="T23" fmla="*/ 1017 h 1017"/>
                <a:gd name="T24" fmla="*/ 406 w 1017"/>
                <a:gd name="T25" fmla="*/ 1007 h 1017"/>
                <a:gd name="T26" fmla="*/ 334 w 1017"/>
                <a:gd name="T27" fmla="*/ 987 h 1017"/>
                <a:gd name="T28" fmla="*/ 266 w 1017"/>
                <a:gd name="T29" fmla="*/ 956 h 1017"/>
                <a:gd name="T30" fmla="*/ 205 w 1017"/>
                <a:gd name="T31" fmla="*/ 917 h 1017"/>
                <a:gd name="T32" fmla="*/ 150 w 1017"/>
                <a:gd name="T33" fmla="*/ 869 h 1017"/>
                <a:gd name="T34" fmla="*/ 101 w 1017"/>
                <a:gd name="T35" fmla="*/ 813 h 1017"/>
                <a:gd name="T36" fmla="*/ 62 w 1017"/>
                <a:gd name="T37" fmla="*/ 751 h 1017"/>
                <a:gd name="T38" fmla="*/ 31 w 1017"/>
                <a:gd name="T39" fmla="*/ 684 h 1017"/>
                <a:gd name="T40" fmla="*/ 10 w 1017"/>
                <a:gd name="T41" fmla="*/ 612 h 1017"/>
                <a:gd name="T42" fmla="*/ 1 w 1017"/>
                <a:gd name="T43" fmla="*/ 535 h 1017"/>
                <a:gd name="T44" fmla="*/ 1 w 1017"/>
                <a:gd name="T45" fmla="*/ 483 h 1017"/>
                <a:gd name="T46" fmla="*/ 10 w 1017"/>
                <a:gd name="T47" fmla="*/ 407 h 1017"/>
                <a:gd name="T48" fmla="*/ 31 w 1017"/>
                <a:gd name="T49" fmla="*/ 334 h 1017"/>
                <a:gd name="T50" fmla="*/ 62 w 1017"/>
                <a:gd name="T51" fmla="*/ 266 h 1017"/>
                <a:gd name="T52" fmla="*/ 101 w 1017"/>
                <a:gd name="T53" fmla="*/ 204 h 1017"/>
                <a:gd name="T54" fmla="*/ 150 w 1017"/>
                <a:gd name="T55" fmla="*/ 149 h 1017"/>
                <a:gd name="T56" fmla="*/ 205 w 1017"/>
                <a:gd name="T57" fmla="*/ 101 h 1017"/>
                <a:gd name="T58" fmla="*/ 266 w 1017"/>
                <a:gd name="T59" fmla="*/ 61 h 1017"/>
                <a:gd name="T60" fmla="*/ 334 w 1017"/>
                <a:gd name="T61" fmla="*/ 31 h 1017"/>
                <a:gd name="T62" fmla="*/ 406 w 1017"/>
                <a:gd name="T63" fmla="*/ 10 h 1017"/>
                <a:gd name="T64" fmla="*/ 482 w 1017"/>
                <a:gd name="T65" fmla="*/ 1 h 1017"/>
                <a:gd name="T66" fmla="*/ 535 w 1017"/>
                <a:gd name="T67" fmla="*/ 1 h 1017"/>
                <a:gd name="T68" fmla="*/ 611 w 1017"/>
                <a:gd name="T69" fmla="*/ 10 h 1017"/>
                <a:gd name="T70" fmla="*/ 684 w 1017"/>
                <a:gd name="T71" fmla="*/ 31 h 1017"/>
                <a:gd name="T72" fmla="*/ 751 w 1017"/>
                <a:gd name="T73" fmla="*/ 61 h 1017"/>
                <a:gd name="T74" fmla="*/ 813 w 1017"/>
                <a:gd name="T75" fmla="*/ 101 h 1017"/>
                <a:gd name="T76" fmla="*/ 868 w 1017"/>
                <a:gd name="T77" fmla="*/ 149 h 1017"/>
                <a:gd name="T78" fmla="*/ 917 w 1017"/>
                <a:gd name="T79" fmla="*/ 204 h 1017"/>
                <a:gd name="T80" fmla="*/ 956 w 1017"/>
                <a:gd name="T81" fmla="*/ 266 h 1017"/>
                <a:gd name="T82" fmla="*/ 987 w 1017"/>
                <a:gd name="T83" fmla="*/ 334 h 1017"/>
                <a:gd name="T84" fmla="*/ 1007 w 1017"/>
                <a:gd name="T85" fmla="*/ 407 h 1017"/>
                <a:gd name="T86" fmla="*/ 1017 w 1017"/>
                <a:gd name="T87" fmla="*/ 483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7" h="1017">
                  <a:moveTo>
                    <a:pt x="1017" y="509"/>
                  </a:moveTo>
                  <a:lnTo>
                    <a:pt x="1017" y="509"/>
                  </a:lnTo>
                  <a:lnTo>
                    <a:pt x="1017" y="535"/>
                  </a:lnTo>
                  <a:lnTo>
                    <a:pt x="1014" y="561"/>
                  </a:lnTo>
                  <a:lnTo>
                    <a:pt x="1011" y="586"/>
                  </a:lnTo>
                  <a:lnTo>
                    <a:pt x="1007" y="612"/>
                  </a:lnTo>
                  <a:lnTo>
                    <a:pt x="1002" y="636"/>
                  </a:lnTo>
                  <a:lnTo>
                    <a:pt x="995" y="660"/>
                  </a:lnTo>
                  <a:lnTo>
                    <a:pt x="987" y="684"/>
                  </a:lnTo>
                  <a:lnTo>
                    <a:pt x="978" y="707"/>
                  </a:lnTo>
                  <a:lnTo>
                    <a:pt x="967" y="729"/>
                  </a:lnTo>
                  <a:lnTo>
                    <a:pt x="956" y="751"/>
                  </a:lnTo>
                  <a:lnTo>
                    <a:pt x="944" y="773"/>
                  </a:lnTo>
                  <a:lnTo>
                    <a:pt x="930" y="794"/>
                  </a:lnTo>
                  <a:lnTo>
                    <a:pt x="917" y="813"/>
                  </a:lnTo>
                  <a:lnTo>
                    <a:pt x="902" y="833"/>
                  </a:lnTo>
                  <a:lnTo>
                    <a:pt x="885" y="851"/>
                  </a:lnTo>
                  <a:lnTo>
                    <a:pt x="868" y="869"/>
                  </a:lnTo>
                  <a:lnTo>
                    <a:pt x="851" y="886"/>
                  </a:lnTo>
                  <a:lnTo>
                    <a:pt x="832" y="901"/>
                  </a:lnTo>
                  <a:lnTo>
                    <a:pt x="813" y="917"/>
                  </a:lnTo>
                  <a:lnTo>
                    <a:pt x="793" y="931"/>
                  </a:lnTo>
                  <a:lnTo>
                    <a:pt x="773" y="944"/>
                  </a:lnTo>
                  <a:lnTo>
                    <a:pt x="751" y="956"/>
                  </a:lnTo>
                  <a:lnTo>
                    <a:pt x="729" y="968"/>
                  </a:lnTo>
                  <a:lnTo>
                    <a:pt x="707" y="978"/>
                  </a:lnTo>
                  <a:lnTo>
                    <a:pt x="684" y="987"/>
                  </a:lnTo>
                  <a:lnTo>
                    <a:pt x="660" y="994"/>
                  </a:lnTo>
                  <a:lnTo>
                    <a:pt x="636" y="1001"/>
                  </a:lnTo>
                  <a:lnTo>
                    <a:pt x="611" y="1007"/>
                  </a:lnTo>
                  <a:lnTo>
                    <a:pt x="586" y="1012"/>
                  </a:lnTo>
                  <a:lnTo>
                    <a:pt x="561" y="1015"/>
                  </a:lnTo>
                  <a:lnTo>
                    <a:pt x="535" y="1017"/>
                  </a:lnTo>
                  <a:lnTo>
                    <a:pt x="509" y="1017"/>
                  </a:lnTo>
                  <a:lnTo>
                    <a:pt x="509" y="1017"/>
                  </a:lnTo>
                  <a:lnTo>
                    <a:pt x="482" y="1017"/>
                  </a:lnTo>
                  <a:lnTo>
                    <a:pt x="457" y="1015"/>
                  </a:lnTo>
                  <a:lnTo>
                    <a:pt x="432" y="1012"/>
                  </a:lnTo>
                  <a:lnTo>
                    <a:pt x="406" y="1007"/>
                  </a:lnTo>
                  <a:lnTo>
                    <a:pt x="381" y="1001"/>
                  </a:lnTo>
                  <a:lnTo>
                    <a:pt x="358" y="994"/>
                  </a:lnTo>
                  <a:lnTo>
                    <a:pt x="334" y="987"/>
                  </a:lnTo>
                  <a:lnTo>
                    <a:pt x="311" y="978"/>
                  </a:lnTo>
                  <a:lnTo>
                    <a:pt x="288" y="968"/>
                  </a:lnTo>
                  <a:lnTo>
                    <a:pt x="266" y="956"/>
                  </a:lnTo>
                  <a:lnTo>
                    <a:pt x="245" y="944"/>
                  </a:lnTo>
                  <a:lnTo>
                    <a:pt x="224" y="931"/>
                  </a:lnTo>
                  <a:lnTo>
                    <a:pt x="205" y="917"/>
                  </a:lnTo>
                  <a:lnTo>
                    <a:pt x="185" y="901"/>
                  </a:lnTo>
                  <a:lnTo>
                    <a:pt x="167" y="886"/>
                  </a:lnTo>
                  <a:lnTo>
                    <a:pt x="150" y="869"/>
                  </a:lnTo>
                  <a:lnTo>
                    <a:pt x="132" y="851"/>
                  </a:lnTo>
                  <a:lnTo>
                    <a:pt x="116" y="833"/>
                  </a:lnTo>
                  <a:lnTo>
                    <a:pt x="101" y="813"/>
                  </a:lnTo>
                  <a:lnTo>
                    <a:pt x="87" y="794"/>
                  </a:lnTo>
                  <a:lnTo>
                    <a:pt x="74" y="773"/>
                  </a:lnTo>
                  <a:lnTo>
                    <a:pt x="62" y="751"/>
                  </a:lnTo>
                  <a:lnTo>
                    <a:pt x="50" y="729"/>
                  </a:lnTo>
                  <a:lnTo>
                    <a:pt x="40" y="707"/>
                  </a:lnTo>
                  <a:lnTo>
                    <a:pt x="31" y="684"/>
                  </a:lnTo>
                  <a:lnTo>
                    <a:pt x="23" y="660"/>
                  </a:lnTo>
                  <a:lnTo>
                    <a:pt x="16" y="636"/>
                  </a:lnTo>
                  <a:lnTo>
                    <a:pt x="10" y="612"/>
                  </a:lnTo>
                  <a:lnTo>
                    <a:pt x="6" y="586"/>
                  </a:lnTo>
                  <a:lnTo>
                    <a:pt x="3" y="561"/>
                  </a:lnTo>
                  <a:lnTo>
                    <a:pt x="1" y="535"/>
                  </a:lnTo>
                  <a:lnTo>
                    <a:pt x="0" y="509"/>
                  </a:lnTo>
                  <a:lnTo>
                    <a:pt x="0" y="509"/>
                  </a:lnTo>
                  <a:lnTo>
                    <a:pt x="1" y="483"/>
                  </a:lnTo>
                  <a:lnTo>
                    <a:pt x="3" y="457"/>
                  </a:lnTo>
                  <a:lnTo>
                    <a:pt x="6" y="431"/>
                  </a:lnTo>
                  <a:lnTo>
                    <a:pt x="10" y="407"/>
                  </a:lnTo>
                  <a:lnTo>
                    <a:pt x="16" y="381"/>
                  </a:lnTo>
                  <a:lnTo>
                    <a:pt x="23" y="357"/>
                  </a:lnTo>
                  <a:lnTo>
                    <a:pt x="31" y="334"/>
                  </a:lnTo>
                  <a:lnTo>
                    <a:pt x="40" y="311"/>
                  </a:lnTo>
                  <a:lnTo>
                    <a:pt x="50" y="288"/>
                  </a:lnTo>
                  <a:lnTo>
                    <a:pt x="62" y="266"/>
                  </a:lnTo>
                  <a:lnTo>
                    <a:pt x="74" y="245"/>
                  </a:lnTo>
                  <a:lnTo>
                    <a:pt x="87" y="225"/>
                  </a:lnTo>
                  <a:lnTo>
                    <a:pt x="101" y="204"/>
                  </a:lnTo>
                  <a:lnTo>
                    <a:pt x="116" y="185"/>
                  </a:lnTo>
                  <a:lnTo>
                    <a:pt x="132" y="167"/>
                  </a:lnTo>
                  <a:lnTo>
                    <a:pt x="150" y="149"/>
                  </a:lnTo>
                  <a:lnTo>
                    <a:pt x="167" y="132"/>
                  </a:lnTo>
                  <a:lnTo>
                    <a:pt x="185" y="116"/>
                  </a:lnTo>
                  <a:lnTo>
                    <a:pt x="205" y="101"/>
                  </a:lnTo>
                  <a:lnTo>
                    <a:pt x="224" y="86"/>
                  </a:lnTo>
                  <a:lnTo>
                    <a:pt x="245" y="74"/>
                  </a:lnTo>
                  <a:lnTo>
                    <a:pt x="266" y="61"/>
                  </a:lnTo>
                  <a:lnTo>
                    <a:pt x="288" y="51"/>
                  </a:lnTo>
                  <a:lnTo>
                    <a:pt x="311" y="40"/>
                  </a:lnTo>
                  <a:lnTo>
                    <a:pt x="334" y="31"/>
                  </a:lnTo>
                  <a:lnTo>
                    <a:pt x="358" y="23"/>
                  </a:lnTo>
                  <a:lnTo>
                    <a:pt x="381" y="16"/>
                  </a:lnTo>
                  <a:lnTo>
                    <a:pt x="406" y="10"/>
                  </a:lnTo>
                  <a:lnTo>
                    <a:pt x="432" y="6"/>
                  </a:lnTo>
                  <a:lnTo>
                    <a:pt x="457" y="2"/>
                  </a:lnTo>
                  <a:lnTo>
                    <a:pt x="482" y="1"/>
                  </a:lnTo>
                  <a:lnTo>
                    <a:pt x="509" y="0"/>
                  </a:lnTo>
                  <a:lnTo>
                    <a:pt x="509" y="0"/>
                  </a:lnTo>
                  <a:lnTo>
                    <a:pt x="535" y="1"/>
                  </a:lnTo>
                  <a:lnTo>
                    <a:pt x="561" y="2"/>
                  </a:lnTo>
                  <a:lnTo>
                    <a:pt x="586" y="6"/>
                  </a:lnTo>
                  <a:lnTo>
                    <a:pt x="611" y="10"/>
                  </a:lnTo>
                  <a:lnTo>
                    <a:pt x="636" y="16"/>
                  </a:lnTo>
                  <a:lnTo>
                    <a:pt x="660" y="23"/>
                  </a:lnTo>
                  <a:lnTo>
                    <a:pt x="684" y="31"/>
                  </a:lnTo>
                  <a:lnTo>
                    <a:pt x="707" y="40"/>
                  </a:lnTo>
                  <a:lnTo>
                    <a:pt x="729" y="51"/>
                  </a:lnTo>
                  <a:lnTo>
                    <a:pt x="751" y="61"/>
                  </a:lnTo>
                  <a:lnTo>
                    <a:pt x="773" y="74"/>
                  </a:lnTo>
                  <a:lnTo>
                    <a:pt x="793" y="86"/>
                  </a:lnTo>
                  <a:lnTo>
                    <a:pt x="813" y="101"/>
                  </a:lnTo>
                  <a:lnTo>
                    <a:pt x="832" y="116"/>
                  </a:lnTo>
                  <a:lnTo>
                    <a:pt x="851" y="132"/>
                  </a:lnTo>
                  <a:lnTo>
                    <a:pt x="868" y="149"/>
                  </a:lnTo>
                  <a:lnTo>
                    <a:pt x="885" y="167"/>
                  </a:lnTo>
                  <a:lnTo>
                    <a:pt x="902" y="185"/>
                  </a:lnTo>
                  <a:lnTo>
                    <a:pt x="917" y="204"/>
                  </a:lnTo>
                  <a:lnTo>
                    <a:pt x="930" y="225"/>
                  </a:lnTo>
                  <a:lnTo>
                    <a:pt x="944" y="245"/>
                  </a:lnTo>
                  <a:lnTo>
                    <a:pt x="956" y="266"/>
                  </a:lnTo>
                  <a:lnTo>
                    <a:pt x="967" y="288"/>
                  </a:lnTo>
                  <a:lnTo>
                    <a:pt x="978" y="311"/>
                  </a:lnTo>
                  <a:lnTo>
                    <a:pt x="987" y="334"/>
                  </a:lnTo>
                  <a:lnTo>
                    <a:pt x="995" y="357"/>
                  </a:lnTo>
                  <a:lnTo>
                    <a:pt x="1002" y="381"/>
                  </a:lnTo>
                  <a:lnTo>
                    <a:pt x="1007" y="407"/>
                  </a:lnTo>
                  <a:lnTo>
                    <a:pt x="1011" y="431"/>
                  </a:lnTo>
                  <a:lnTo>
                    <a:pt x="1014" y="457"/>
                  </a:lnTo>
                  <a:lnTo>
                    <a:pt x="1017" y="483"/>
                  </a:lnTo>
                  <a:lnTo>
                    <a:pt x="1017" y="509"/>
                  </a:lnTo>
                  <a:lnTo>
                    <a:pt x="1017" y="509"/>
                  </a:lnTo>
                  <a:close/>
                </a:path>
              </a:pathLst>
            </a:custGeom>
            <a:solidFill>
              <a:srgbClr val="49CF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3" name="Freeform 210">
              <a:extLst>
                <a:ext uri="{FF2B5EF4-FFF2-40B4-BE49-F238E27FC236}">
                  <a16:creationId xmlns:a16="http://schemas.microsoft.com/office/drawing/2014/main" id="{3A131A28-A969-430F-AF64-5E0F21D646AC}"/>
                </a:ext>
              </a:extLst>
            </p:cNvPr>
            <p:cNvSpPr>
              <a:spLocks noEditPoints="1"/>
            </p:cNvSpPr>
            <p:nvPr userDrawn="1"/>
          </p:nvSpPr>
          <p:spPr bwMode="auto">
            <a:xfrm>
              <a:off x="7075512" y="3165513"/>
              <a:ext cx="574677" cy="360367"/>
            </a:xfrm>
            <a:custGeom>
              <a:avLst/>
              <a:gdLst>
                <a:gd name="T0" fmla="*/ 629 w 726"/>
                <a:gd name="T1" fmla="*/ 223 h 454"/>
                <a:gd name="T2" fmla="*/ 452 w 726"/>
                <a:gd name="T3" fmla="*/ 141 h 454"/>
                <a:gd name="T4" fmla="*/ 462 w 726"/>
                <a:gd name="T5" fmla="*/ 137 h 454"/>
                <a:gd name="T6" fmla="*/ 466 w 726"/>
                <a:gd name="T7" fmla="*/ 16 h 454"/>
                <a:gd name="T8" fmla="*/ 462 w 726"/>
                <a:gd name="T9" fmla="*/ 5 h 454"/>
                <a:gd name="T10" fmla="*/ 274 w 726"/>
                <a:gd name="T11" fmla="*/ 0 h 454"/>
                <a:gd name="T12" fmla="*/ 264 w 726"/>
                <a:gd name="T13" fmla="*/ 5 h 454"/>
                <a:gd name="T14" fmla="*/ 259 w 726"/>
                <a:gd name="T15" fmla="*/ 126 h 454"/>
                <a:gd name="T16" fmla="*/ 264 w 726"/>
                <a:gd name="T17" fmla="*/ 137 h 454"/>
                <a:gd name="T18" fmla="*/ 356 w 726"/>
                <a:gd name="T19" fmla="*/ 141 h 454"/>
                <a:gd name="T20" fmla="*/ 97 w 726"/>
                <a:gd name="T21" fmla="*/ 313 h 454"/>
                <a:gd name="T22" fmla="*/ 9 w 726"/>
                <a:gd name="T23" fmla="*/ 314 h 454"/>
                <a:gd name="T24" fmla="*/ 0 w 726"/>
                <a:gd name="T25" fmla="*/ 328 h 454"/>
                <a:gd name="T26" fmla="*/ 1 w 726"/>
                <a:gd name="T27" fmla="*/ 445 h 454"/>
                <a:gd name="T28" fmla="*/ 15 w 726"/>
                <a:gd name="T29" fmla="*/ 454 h 454"/>
                <a:gd name="T30" fmla="*/ 197 w 726"/>
                <a:gd name="T31" fmla="*/ 453 h 454"/>
                <a:gd name="T32" fmla="*/ 206 w 726"/>
                <a:gd name="T33" fmla="*/ 439 h 454"/>
                <a:gd name="T34" fmla="*/ 205 w 726"/>
                <a:gd name="T35" fmla="*/ 323 h 454"/>
                <a:gd name="T36" fmla="*/ 191 w 726"/>
                <a:gd name="T37" fmla="*/ 313 h 454"/>
                <a:gd name="T38" fmla="*/ 356 w 726"/>
                <a:gd name="T39" fmla="*/ 236 h 454"/>
                <a:gd name="T40" fmla="*/ 274 w 726"/>
                <a:gd name="T41" fmla="*/ 313 h 454"/>
                <a:gd name="T42" fmla="*/ 260 w 726"/>
                <a:gd name="T43" fmla="*/ 323 h 454"/>
                <a:gd name="T44" fmla="*/ 259 w 726"/>
                <a:gd name="T45" fmla="*/ 439 h 454"/>
                <a:gd name="T46" fmla="*/ 268 w 726"/>
                <a:gd name="T47" fmla="*/ 453 h 454"/>
                <a:gd name="T48" fmla="*/ 452 w 726"/>
                <a:gd name="T49" fmla="*/ 454 h 454"/>
                <a:gd name="T50" fmla="*/ 465 w 726"/>
                <a:gd name="T51" fmla="*/ 445 h 454"/>
                <a:gd name="T52" fmla="*/ 466 w 726"/>
                <a:gd name="T53" fmla="*/ 328 h 454"/>
                <a:gd name="T54" fmla="*/ 457 w 726"/>
                <a:gd name="T55" fmla="*/ 314 h 454"/>
                <a:gd name="T56" fmla="*/ 370 w 726"/>
                <a:gd name="T57" fmla="*/ 236 h 454"/>
                <a:gd name="T58" fmla="*/ 534 w 726"/>
                <a:gd name="T59" fmla="*/ 313 h 454"/>
                <a:gd name="T60" fmla="*/ 523 w 726"/>
                <a:gd name="T61" fmla="*/ 318 h 454"/>
                <a:gd name="T62" fmla="*/ 519 w 726"/>
                <a:gd name="T63" fmla="*/ 439 h 454"/>
                <a:gd name="T64" fmla="*/ 523 w 726"/>
                <a:gd name="T65" fmla="*/ 449 h 454"/>
                <a:gd name="T66" fmla="*/ 711 w 726"/>
                <a:gd name="T67" fmla="*/ 454 h 454"/>
                <a:gd name="T68" fmla="*/ 721 w 726"/>
                <a:gd name="T69" fmla="*/ 449 h 454"/>
                <a:gd name="T70" fmla="*/ 726 w 726"/>
                <a:gd name="T71" fmla="*/ 328 h 454"/>
                <a:gd name="T72" fmla="*/ 721 w 726"/>
                <a:gd name="T73" fmla="*/ 318 h 454"/>
                <a:gd name="T74" fmla="*/ 711 w 726"/>
                <a:gd name="T75" fmla="*/ 313 h 454"/>
                <a:gd name="T76" fmla="*/ 272 w 726"/>
                <a:gd name="T77" fmla="*/ 16 h 454"/>
                <a:gd name="T78" fmla="*/ 452 w 726"/>
                <a:gd name="T79" fmla="*/ 14 h 454"/>
                <a:gd name="T80" fmla="*/ 453 w 726"/>
                <a:gd name="T81" fmla="*/ 16 h 454"/>
                <a:gd name="T82" fmla="*/ 453 w 726"/>
                <a:gd name="T83" fmla="*/ 128 h 454"/>
                <a:gd name="T84" fmla="*/ 274 w 726"/>
                <a:gd name="T85" fmla="*/ 128 h 454"/>
                <a:gd name="T86" fmla="*/ 272 w 726"/>
                <a:gd name="T87" fmla="*/ 126 h 454"/>
                <a:gd name="T88" fmla="*/ 194 w 726"/>
                <a:gd name="T89" fmla="*/ 439 h 454"/>
                <a:gd name="T90" fmla="*/ 15 w 726"/>
                <a:gd name="T91" fmla="*/ 441 h 454"/>
                <a:gd name="T92" fmla="*/ 13 w 726"/>
                <a:gd name="T93" fmla="*/ 439 h 454"/>
                <a:gd name="T94" fmla="*/ 13 w 726"/>
                <a:gd name="T95" fmla="*/ 327 h 454"/>
                <a:gd name="T96" fmla="*/ 191 w 726"/>
                <a:gd name="T97" fmla="*/ 326 h 454"/>
                <a:gd name="T98" fmla="*/ 194 w 726"/>
                <a:gd name="T99" fmla="*/ 328 h 454"/>
                <a:gd name="T100" fmla="*/ 453 w 726"/>
                <a:gd name="T101" fmla="*/ 439 h 454"/>
                <a:gd name="T102" fmla="*/ 274 w 726"/>
                <a:gd name="T103" fmla="*/ 441 h 454"/>
                <a:gd name="T104" fmla="*/ 272 w 726"/>
                <a:gd name="T105" fmla="*/ 439 h 454"/>
                <a:gd name="T106" fmla="*/ 273 w 726"/>
                <a:gd name="T107" fmla="*/ 327 h 454"/>
                <a:gd name="T108" fmla="*/ 452 w 726"/>
                <a:gd name="T109" fmla="*/ 326 h 454"/>
                <a:gd name="T110" fmla="*/ 453 w 726"/>
                <a:gd name="T111" fmla="*/ 328 h 454"/>
                <a:gd name="T112" fmla="*/ 712 w 726"/>
                <a:gd name="T113" fmla="*/ 440 h 454"/>
                <a:gd name="T114" fmla="*/ 534 w 726"/>
                <a:gd name="T115" fmla="*/ 441 h 454"/>
                <a:gd name="T116" fmla="*/ 532 w 726"/>
                <a:gd name="T117" fmla="*/ 328 h 454"/>
                <a:gd name="T118" fmla="*/ 534 w 726"/>
                <a:gd name="T119" fmla="*/ 326 h 454"/>
                <a:gd name="T120" fmla="*/ 712 w 726"/>
                <a:gd name="T121" fmla="*/ 327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26" h="454">
                  <a:moveTo>
                    <a:pt x="711" y="313"/>
                  </a:moveTo>
                  <a:lnTo>
                    <a:pt x="629" y="313"/>
                  </a:lnTo>
                  <a:lnTo>
                    <a:pt x="629" y="223"/>
                  </a:lnTo>
                  <a:lnTo>
                    <a:pt x="370" y="223"/>
                  </a:lnTo>
                  <a:lnTo>
                    <a:pt x="370" y="141"/>
                  </a:lnTo>
                  <a:lnTo>
                    <a:pt x="452" y="141"/>
                  </a:lnTo>
                  <a:lnTo>
                    <a:pt x="452" y="141"/>
                  </a:lnTo>
                  <a:lnTo>
                    <a:pt x="457" y="139"/>
                  </a:lnTo>
                  <a:lnTo>
                    <a:pt x="462" y="137"/>
                  </a:lnTo>
                  <a:lnTo>
                    <a:pt x="465" y="131"/>
                  </a:lnTo>
                  <a:lnTo>
                    <a:pt x="466" y="126"/>
                  </a:lnTo>
                  <a:lnTo>
                    <a:pt x="466" y="16"/>
                  </a:lnTo>
                  <a:lnTo>
                    <a:pt x="466" y="16"/>
                  </a:lnTo>
                  <a:lnTo>
                    <a:pt x="465" y="9"/>
                  </a:lnTo>
                  <a:lnTo>
                    <a:pt x="462" y="5"/>
                  </a:lnTo>
                  <a:lnTo>
                    <a:pt x="457" y="2"/>
                  </a:lnTo>
                  <a:lnTo>
                    <a:pt x="452" y="0"/>
                  </a:lnTo>
                  <a:lnTo>
                    <a:pt x="274" y="0"/>
                  </a:lnTo>
                  <a:lnTo>
                    <a:pt x="274" y="0"/>
                  </a:lnTo>
                  <a:lnTo>
                    <a:pt x="268" y="2"/>
                  </a:lnTo>
                  <a:lnTo>
                    <a:pt x="264" y="5"/>
                  </a:lnTo>
                  <a:lnTo>
                    <a:pt x="260" y="9"/>
                  </a:lnTo>
                  <a:lnTo>
                    <a:pt x="259" y="16"/>
                  </a:lnTo>
                  <a:lnTo>
                    <a:pt x="259" y="126"/>
                  </a:lnTo>
                  <a:lnTo>
                    <a:pt x="259" y="126"/>
                  </a:lnTo>
                  <a:lnTo>
                    <a:pt x="260" y="131"/>
                  </a:lnTo>
                  <a:lnTo>
                    <a:pt x="264" y="137"/>
                  </a:lnTo>
                  <a:lnTo>
                    <a:pt x="268" y="139"/>
                  </a:lnTo>
                  <a:lnTo>
                    <a:pt x="274" y="141"/>
                  </a:lnTo>
                  <a:lnTo>
                    <a:pt x="356" y="141"/>
                  </a:lnTo>
                  <a:lnTo>
                    <a:pt x="356" y="223"/>
                  </a:lnTo>
                  <a:lnTo>
                    <a:pt x="97" y="223"/>
                  </a:lnTo>
                  <a:lnTo>
                    <a:pt x="97" y="313"/>
                  </a:lnTo>
                  <a:lnTo>
                    <a:pt x="15" y="313"/>
                  </a:lnTo>
                  <a:lnTo>
                    <a:pt x="15" y="313"/>
                  </a:lnTo>
                  <a:lnTo>
                    <a:pt x="9" y="314"/>
                  </a:lnTo>
                  <a:lnTo>
                    <a:pt x="4" y="318"/>
                  </a:lnTo>
                  <a:lnTo>
                    <a:pt x="1" y="323"/>
                  </a:lnTo>
                  <a:lnTo>
                    <a:pt x="0" y="328"/>
                  </a:lnTo>
                  <a:lnTo>
                    <a:pt x="0" y="439"/>
                  </a:lnTo>
                  <a:lnTo>
                    <a:pt x="0" y="439"/>
                  </a:lnTo>
                  <a:lnTo>
                    <a:pt x="1" y="445"/>
                  </a:lnTo>
                  <a:lnTo>
                    <a:pt x="4" y="449"/>
                  </a:lnTo>
                  <a:lnTo>
                    <a:pt x="9" y="453"/>
                  </a:lnTo>
                  <a:lnTo>
                    <a:pt x="15" y="454"/>
                  </a:lnTo>
                  <a:lnTo>
                    <a:pt x="191" y="454"/>
                  </a:lnTo>
                  <a:lnTo>
                    <a:pt x="191" y="454"/>
                  </a:lnTo>
                  <a:lnTo>
                    <a:pt x="197" y="453"/>
                  </a:lnTo>
                  <a:lnTo>
                    <a:pt x="202" y="449"/>
                  </a:lnTo>
                  <a:lnTo>
                    <a:pt x="205" y="445"/>
                  </a:lnTo>
                  <a:lnTo>
                    <a:pt x="206" y="439"/>
                  </a:lnTo>
                  <a:lnTo>
                    <a:pt x="206" y="328"/>
                  </a:lnTo>
                  <a:lnTo>
                    <a:pt x="206" y="328"/>
                  </a:lnTo>
                  <a:lnTo>
                    <a:pt x="205" y="323"/>
                  </a:lnTo>
                  <a:lnTo>
                    <a:pt x="202" y="318"/>
                  </a:lnTo>
                  <a:lnTo>
                    <a:pt x="197" y="314"/>
                  </a:lnTo>
                  <a:lnTo>
                    <a:pt x="191" y="313"/>
                  </a:lnTo>
                  <a:lnTo>
                    <a:pt x="109" y="313"/>
                  </a:lnTo>
                  <a:lnTo>
                    <a:pt x="109" y="236"/>
                  </a:lnTo>
                  <a:lnTo>
                    <a:pt x="356" y="236"/>
                  </a:lnTo>
                  <a:lnTo>
                    <a:pt x="356" y="313"/>
                  </a:lnTo>
                  <a:lnTo>
                    <a:pt x="274" y="313"/>
                  </a:lnTo>
                  <a:lnTo>
                    <a:pt x="274" y="313"/>
                  </a:lnTo>
                  <a:lnTo>
                    <a:pt x="268" y="314"/>
                  </a:lnTo>
                  <a:lnTo>
                    <a:pt x="264" y="318"/>
                  </a:lnTo>
                  <a:lnTo>
                    <a:pt x="260" y="323"/>
                  </a:lnTo>
                  <a:lnTo>
                    <a:pt x="259" y="328"/>
                  </a:lnTo>
                  <a:lnTo>
                    <a:pt x="259" y="439"/>
                  </a:lnTo>
                  <a:lnTo>
                    <a:pt x="259" y="439"/>
                  </a:lnTo>
                  <a:lnTo>
                    <a:pt x="260" y="445"/>
                  </a:lnTo>
                  <a:lnTo>
                    <a:pt x="264" y="449"/>
                  </a:lnTo>
                  <a:lnTo>
                    <a:pt x="268" y="453"/>
                  </a:lnTo>
                  <a:lnTo>
                    <a:pt x="274" y="454"/>
                  </a:lnTo>
                  <a:lnTo>
                    <a:pt x="452" y="454"/>
                  </a:lnTo>
                  <a:lnTo>
                    <a:pt x="452" y="454"/>
                  </a:lnTo>
                  <a:lnTo>
                    <a:pt x="457" y="453"/>
                  </a:lnTo>
                  <a:lnTo>
                    <a:pt x="462" y="449"/>
                  </a:lnTo>
                  <a:lnTo>
                    <a:pt x="465" y="445"/>
                  </a:lnTo>
                  <a:lnTo>
                    <a:pt x="466" y="439"/>
                  </a:lnTo>
                  <a:lnTo>
                    <a:pt x="466" y="328"/>
                  </a:lnTo>
                  <a:lnTo>
                    <a:pt x="466" y="328"/>
                  </a:lnTo>
                  <a:lnTo>
                    <a:pt x="465" y="323"/>
                  </a:lnTo>
                  <a:lnTo>
                    <a:pt x="462" y="318"/>
                  </a:lnTo>
                  <a:lnTo>
                    <a:pt x="457" y="314"/>
                  </a:lnTo>
                  <a:lnTo>
                    <a:pt x="452" y="313"/>
                  </a:lnTo>
                  <a:lnTo>
                    <a:pt x="370" y="313"/>
                  </a:lnTo>
                  <a:lnTo>
                    <a:pt x="370" y="236"/>
                  </a:lnTo>
                  <a:lnTo>
                    <a:pt x="616" y="236"/>
                  </a:lnTo>
                  <a:lnTo>
                    <a:pt x="616" y="313"/>
                  </a:lnTo>
                  <a:lnTo>
                    <a:pt x="534" y="313"/>
                  </a:lnTo>
                  <a:lnTo>
                    <a:pt x="534" y="313"/>
                  </a:lnTo>
                  <a:lnTo>
                    <a:pt x="529" y="314"/>
                  </a:lnTo>
                  <a:lnTo>
                    <a:pt x="523" y="318"/>
                  </a:lnTo>
                  <a:lnTo>
                    <a:pt x="521" y="323"/>
                  </a:lnTo>
                  <a:lnTo>
                    <a:pt x="519" y="328"/>
                  </a:lnTo>
                  <a:lnTo>
                    <a:pt x="519" y="439"/>
                  </a:lnTo>
                  <a:lnTo>
                    <a:pt x="519" y="439"/>
                  </a:lnTo>
                  <a:lnTo>
                    <a:pt x="521" y="445"/>
                  </a:lnTo>
                  <a:lnTo>
                    <a:pt x="523" y="449"/>
                  </a:lnTo>
                  <a:lnTo>
                    <a:pt x="529" y="453"/>
                  </a:lnTo>
                  <a:lnTo>
                    <a:pt x="534" y="454"/>
                  </a:lnTo>
                  <a:lnTo>
                    <a:pt x="711" y="454"/>
                  </a:lnTo>
                  <a:lnTo>
                    <a:pt x="711" y="454"/>
                  </a:lnTo>
                  <a:lnTo>
                    <a:pt x="716" y="453"/>
                  </a:lnTo>
                  <a:lnTo>
                    <a:pt x="721" y="449"/>
                  </a:lnTo>
                  <a:lnTo>
                    <a:pt x="724" y="445"/>
                  </a:lnTo>
                  <a:lnTo>
                    <a:pt x="726" y="439"/>
                  </a:lnTo>
                  <a:lnTo>
                    <a:pt x="726" y="328"/>
                  </a:lnTo>
                  <a:lnTo>
                    <a:pt x="726" y="328"/>
                  </a:lnTo>
                  <a:lnTo>
                    <a:pt x="724" y="323"/>
                  </a:lnTo>
                  <a:lnTo>
                    <a:pt x="721" y="318"/>
                  </a:lnTo>
                  <a:lnTo>
                    <a:pt x="716" y="314"/>
                  </a:lnTo>
                  <a:lnTo>
                    <a:pt x="711" y="313"/>
                  </a:lnTo>
                  <a:lnTo>
                    <a:pt x="711" y="313"/>
                  </a:lnTo>
                  <a:close/>
                  <a:moveTo>
                    <a:pt x="272" y="126"/>
                  </a:moveTo>
                  <a:lnTo>
                    <a:pt x="272" y="16"/>
                  </a:lnTo>
                  <a:lnTo>
                    <a:pt x="272" y="16"/>
                  </a:lnTo>
                  <a:lnTo>
                    <a:pt x="273" y="14"/>
                  </a:lnTo>
                  <a:lnTo>
                    <a:pt x="274" y="14"/>
                  </a:lnTo>
                  <a:lnTo>
                    <a:pt x="452" y="14"/>
                  </a:lnTo>
                  <a:lnTo>
                    <a:pt x="452" y="14"/>
                  </a:lnTo>
                  <a:lnTo>
                    <a:pt x="453" y="14"/>
                  </a:lnTo>
                  <a:lnTo>
                    <a:pt x="453" y="16"/>
                  </a:lnTo>
                  <a:lnTo>
                    <a:pt x="453" y="126"/>
                  </a:lnTo>
                  <a:lnTo>
                    <a:pt x="453" y="126"/>
                  </a:lnTo>
                  <a:lnTo>
                    <a:pt x="453" y="128"/>
                  </a:lnTo>
                  <a:lnTo>
                    <a:pt x="452" y="128"/>
                  </a:lnTo>
                  <a:lnTo>
                    <a:pt x="274" y="128"/>
                  </a:lnTo>
                  <a:lnTo>
                    <a:pt x="274" y="128"/>
                  </a:lnTo>
                  <a:lnTo>
                    <a:pt x="273" y="128"/>
                  </a:lnTo>
                  <a:lnTo>
                    <a:pt x="272" y="126"/>
                  </a:lnTo>
                  <a:lnTo>
                    <a:pt x="272" y="126"/>
                  </a:lnTo>
                  <a:close/>
                  <a:moveTo>
                    <a:pt x="194" y="328"/>
                  </a:moveTo>
                  <a:lnTo>
                    <a:pt x="194" y="439"/>
                  </a:lnTo>
                  <a:lnTo>
                    <a:pt x="194" y="439"/>
                  </a:lnTo>
                  <a:lnTo>
                    <a:pt x="192" y="440"/>
                  </a:lnTo>
                  <a:lnTo>
                    <a:pt x="191" y="441"/>
                  </a:lnTo>
                  <a:lnTo>
                    <a:pt x="15" y="441"/>
                  </a:lnTo>
                  <a:lnTo>
                    <a:pt x="15" y="441"/>
                  </a:lnTo>
                  <a:lnTo>
                    <a:pt x="13" y="440"/>
                  </a:lnTo>
                  <a:lnTo>
                    <a:pt x="13" y="439"/>
                  </a:lnTo>
                  <a:lnTo>
                    <a:pt x="13" y="328"/>
                  </a:lnTo>
                  <a:lnTo>
                    <a:pt x="13" y="328"/>
                  </a:lnTo>
                  <a:lnTo>
                    <a:pt x="13" y="327"/>
                  </a:lnTo>
                  <a:lnTo>
                    <a:pt x="15" y="326"/>
                  </a:lnTo>
                  <a:lnTo>
                    <a:pt x="191" y="326"/>
                  </a:lnTo>
                  <a:lnTo>
                    <a:pt x="191" y="326"/>
                  </a:lnTo>
                  <a:lnTo>
                    <a:pt x="192" y="327"/>
                  </a:lnTo>
                  <a:lnTo>
                    <a:pt x="194" y="328"/>
                  </a:lnTo>
                  <a:lnTo>
                    <a:pt x="194" y="328"/>
                  </a:lnTo>
                  <a:close/>
                  <a:moveTo>
                    <a:pt x="453" y="328"/>
                  </a:moveTo>
                  <a:lnTo>
                    <a:pt x="453" y="439"/>
                  </a:lnTo>
                  <a:lnTo>
                    <a:pt x="453" y="439"/>
                  </a:lnTo>
                  <a:lnTo>
                    <a:pt x="453" y="440"/>
                  </a:lnTo>
                  <a:lnTo>
                    <a:pt x="452" y="441"/>
                  </a:lnTo>
                  <a:lnTo>
                    <a:pt x="274" y="441"/>
                  </a:lnTo>
                  <a:lnTo>
                    <a:pt x="274" y="441"/>
                  </a:lnTo>
                  <a:lnTo>
                    <a:pt x="273" y="440"/>
                  </a:lnTo>
                  <a:lnTo>
                    <a:pt x="272" y="439"/>
                  </a:lnTo>
                  <a:lnTo>
                    <a:pt x="272" y="328"/>
                  </a:lnTo>
                  <a:lnTo>
                    <a:pt x="272" y="328"/>
                  </a:lnTo>
                  <a:lnTo>
                    <a:pt x="273" y="327"/>
                  </a:lnTo>
                  <a:lnTo>
                    <a:pt x="274" y="326"/>
                  </a:lnTo>
                  <a:lnTo>
                    <a:pt x="452" y="326"/>
                  </a:lnTo>
                  <a:lnTo>
                    <a:pt x="452" y="326"/>
                  </a:lnTo>
                  <a:lnTo>
                    <a:pt x="453" y="327"/>
                  </a:lnTo>
                  <a:lnTo>
                    <a:pt x="453" y="328"/>
                  </a:lnTo>
                  <a:lnTo>
                    <a:pt x="453" y="328"/>
                  </a:lnTo>
                  <a:close/>
                  <a:moveTo>
                    <a:pt x="713" y="439"/>
                  </a:moveTo>
                  <a:lnTo>
                    <a:pt x="713" y="439"/>
                  </a:lnTo>
                  <a:lnTo>
                    <a:pt x="712" y="440"/>
                  </a:lnTo>
                  <a:lnTo>
                    <a:pt x="711" y="441"/>
                  </a:lnTo>
                  <a:lnTo>
                    <a:pt x="534" y="441"/>
                  </a:lnTo>
                  <a:lnTo>
                    <a:pt x="534" y="441"/>
                  </a:lnTo>
                  <a:lnTo>
                    <a:pt x="532" y="440"/>
                  </a:lnTo>
                  <a:lnTo>
                    <a:pt x="532" y="439"/>
                  </a:lnTo>
                  <a:lnTo>
                    <a:pt x="532" y="328"/>
                  </a:lnTo>
                  <a:lnTo>
                    <a:pt x="532" y="328"/>
                  </a:lnTo>
                  <a:lnTo>
                    <a:pt x="532" y="327"/>
                  </a:lnTo>
                  <a:lnTo>
                    <a:pt x="534" y="326"/>
                  </a:lnTo>
                  <a:lnTo>
                    <a:pt x="711" y="326"/>
                  </a:lnTo>
                  <a:lnTo>
                    <a:pt x="711" y="326"/>
                  </a:lnTo>
                  <a:lnTo>
                    <a:pt x="712" y="327"/>
                  </a:lnTo>
                  <a:lnTo>
                    <a:pt x="713" y="328"/>
                  </a:lnTo>
                  <a:lnTo>
                    <a:pt x="713" y="4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380" name="Group 379">
            <a:extLst>
              <a:ext uri="{FF2B5EF4-FFF2-40B4-BE49-F238E27FC236}">
                <a16:creationId xmlns:a16="http://schemas.microsoft.com/office/drawing/2014/main" id="{7E9CB719-72BE-45F6-99B3-6D38E7DF4C0C}"/>
              </a:ext>
            </a:extLst>
          </p:cNvPr>
          <p:cNvGrpSpPr/>
          <p:nvPr userDrawn="1"/>
        </p:nvGrpSpPr>
        <p:grpSpPr>
          <a:xfrm>
            <a:off x="7956577" y="3956098"/>
            <a:ext cx="1077387" cy="1077396"/>
            <a:chOff x="5967433" y="2967073"/>
            <a:chExt cx="808040" cy="808047"/>
          </a:xfrm>
        </p:grpSpPr>
        <p:sp>
          <p:nvSpPr>
            <p:cNvPr id="311" name="Freeform 208">
              <a:extLst>
                <a:ext uri="{FF2B5EF4-FFF2-40B4-BE49-F238E27FC236}">
                  <a16:creationId xmlns:a16="http://schemas.microsoft.com/office/drawing/2014/main" id="{05EFCEF5-D342-47DF-AA10-72E4E33E542F}"/>
                </a:ext>
              </a:extLst>
            </p:cNvPr>
            <p:cNvSpPr>
              <a:spLocks/>
            </p:cNvSpPr>
            <p:nvPr userDrawn="1"/>
          </p:nvSpPr>
          <p:spPr bwMode="auto">
            <a:xfrm>
              <a:off x="5967433" y="2967073"/>
              <a:ext cx="808040" cy="808047"/>
            </a:xfrm>
            <a:custGeom>
              <a:avLst/>
              <a:gdLst>
                <a:gd name="T0" fmla="*/ 1017 w 1017"/>
                <a:gd name="T1" fmla="*/ 535 h 1017"/>
                <a:gd name="T2" fmla="*/ 1007 w 1017"/>
                <a:gd name="T3" fmla="*/ 612 h 1017"/>
                <a:gd name="T4" fmla="*/ 986 w 1017"/>
                <a:gd name="T5" fmla="*/ 684 h 1017"/>
                <a:gd name="T6" fmla="*/ 956 w 1017"/>
                <a:gd name="T7" fmla="*/ 751 h 1017"/>
                <a:gd name="T8" fmla="*/ 917 w 1017"/>
                <a:gd name="T9" fmla="*/ 813 h 1017"/>
                <a:gd name="T10" fmla="*/ 869 w 1017"/>
                <a:gd name="T11" fmla="*/ 869 h 1017"/>
                <a:gd name="T12" fmla="*/ 814 w 1017"/>
                <a:gd name="T13" fmla="*/ 917 h 1017"/>
                <a:gd name="T14" fmla="*/ 751 w 1017"/>
                <a:gd name="T15" fmla="*/ 956 h 1017"/>
                <a:gd name="T16" fmla="*/ 683 w 1017"/>
                <a:gd name="T17" fmla="*/ 987 h 1017"/>
                <a:gd name="T18" fmla="*/ 612 w 1017"/>
                <a:gd name="T19" fmla="*/ 1007 h 1017"/>
                <a:gd name="T20" fmla="*/ 535 w 1017"/>
                <a:gd name="T21" fmla="*/ 1017 h 1017"/>
                <a:gd name="T22" fmla="*/ 483 w 1017"/>
                <a:gd name="T23" fmla="*/ 1017 h 1017"/>
                <a:gd name="T24" fmla="*/ 407 w 1017"/>
                <a:gd name="T25" fmla="*/ 1007 h 1017"/>
                <a:gd name="T26" fmla="*/ 334 w 1017"/>
                <a:gd name="T27" fmla="*/ 987 h 1017"/>
                <a:gd name="T28" fmla="*/ 267 w 1017"/>
                <a:gd name="T29" fmla="*/ 956 h 1017"/>
                <a:gd name="T30" fmla="*/ 204 w 1017"/>
                <a:gd name="T31" fmla="*/ 917 h 1017"/>
                <a:gd name="T32" fmla="*/ 149 w 1017"/>
                <a:gd name="T33" fmla="*/ 869 h 1017"/>
                <a:gd name="T34" fmla="*/ 102 w 1017"/>
                <a:gd name="T35" fmla="*/ 813 h 1017"/>
                <a:gd name="T36" fmla="*/ 62 w 1017"/>
                <a:gd name="T37" fmla="*/ 751 h 1017"/>
                <a:gd name="T38" fmla="*/ 32 w 1017"/>
                <a:gd name="T39" fmla="*/ 684 h 1017"/>
                <a:gd name="T40" fmla="*/ 11 w 1017"/>
                <a:gd name="T41" fmla="*/ 612 h 1017"/>
                <a:gd name="T42" fmla="*/ 2 w 1017"/>
                <a:gd name="T43" fmla="*/ 535 h 1017"/>
                <a:gd name="T44" fmla="*/ 2 w 1017"/>
                <a:gd name="T45" fmla="*/ 483 h 1017"/>
                <a:gd name="T46" fmla="*/ 11 w 1017"/>
                <a:gd name="T47" fmla="*/ 407 h 1017"/>
                <a:gd name="T48" fmla="*/ 32 w 1017"/>
                <a:gd name="T49" fmla="*/ 334 h 1017"/>
                <a:gd name="T50" fmla="*/ 62 w 1017"/>
                <a:gd name="T51" fmla="*/ 266 h 1017"/>
                <a:gd name="T52" fmla="*/ 102 w 1017"/>
                <a:gd name="T53" fmla="*/ 204 h 1017"/>
                <a:gd name="T54" fmla="*/ 149 w 1017"/>
                <a:gd name="T55" fmla="*/ 149 h 1017"/>
                <a:gd name="T56" fmla="*/ 204 w 1017"/>
                <a:gd name="T57" fmla="*/ 101 h 1017"/>
                <a:gd name="T58" fmla="*/ 267 w 1017"/>
                <a:gd name="T59" fmla="*/ 61 h 1017"/>
                <a:gd name="T60" fmla="*/ 334 w 1017"/>
                <a:gd name="T61" fmla="*/ 31 h 1017"/>
                <a:gd name="T62" fmla="*/ 407 w 1017"/>
                <a:gd name="T63" fmla="*/ 10 h 1017"/>
                <a:gd name="T64" fmla="*/ 483 w 1017"/>
                <a:gd name="T65" fmla="*/ 1 h 1017"/>
                <a:gd name="T66" fmla="*/ 535 w 1017"/>
                <a:gd name="T67" fmla="*/ 1 h 1017"/>
                <a:gd name="T68" fmla="*/ 612 w 1017"/>
                <a:gd name="T69" fmla="*/ 10 h 1017"/>
                <a:gd name="T70" fmla="*/ 683 w 1017"/>
                <a:gd name="T71" fmla="*/ 31 h 1017"/>
                <a:gd name="T72" fmla="*/ 751 w 1017"/>
                <a:gd name="T73" fmla="*/ 61 h 1017"/>
                <a:gd name="T74" fmla="*/ 814 w 1017"/>
                <a:gd name="T75" fmla="*/ 101 h 1017"/>
                <a:gd name="T76" fmla="*/ 869 w 1017"/>
                <a:gd name="T77" fmla="*/ 149 h 1017"/>
                <a:gd name="T78" fmla="*/ 917 w 1017"/>
                <a:gd name="T79" fmla="*/ 204 h 1017"/>
                <a:gd name="T80" fmla="*/ 956 w 1017"/>
                <a:gd name="T81" fmla="*/ 266 h 1017"/>
                <a:gd name="T82" fmla="*/ 986 w 1017"/>
                <a:gd name="T83" fmla="*/ 334 h 1017"/>
                <a:gd name="T84" fmla="*/ 1007 w 1017"/>
                <a:gd name="T85" fmla="*/ 407 h 1017"/>
                <a:gd name="T86" fmla="*/ 1017 w 1017"/>
                <a:gd name="T87" fmla="*/ 483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7" h="1017">
                  <a:moveTo>
                    <a:pt x="1017" y="509"/>
                  </a:moveTo>
                  <a:lnTo>
                    <a:pt x="1017" y="509"/>
                  </a:lnTo>
                  <a:lnTo>
                    <a:pt x="1017" y="535"/>
                  </a:lnTo>
                  <a:lnTo>
                    <a:pt x="1015" y="561"/>
                  </a:lnTo>
                  <a:lnTo>
                    <a:pt x="1012" y="586"/>
                  </a:lnTo>
                  <a:lnTo>
                    <a:pt x="1007" y="612"/>
                  </a:lnTo>
                  <a:lnTo>
                    <a:pt x="1001" y="636"/>
                  </a:lnTo>
                  <a:lnTo>
                    <a:pt x="994" y="660"/>
                  </a:lnTo>
                  <a:lnTo>
                    <a:pt x="986" y="684"/>
                  </a:lnTo>
                  <a:lnTo>
                    <a:pt x="978" y="707"/>
                  </a:lnTo>
                  <a:lnTo>
                    <a:pt x="968" y="729"/>
                  </a:lnTo>
                  <a:lnTo>
                    <a:pt x="956" y="751"/>
                  </a:lnTo>
                  <a:lnTo>
                    <a:pt x="944" y="773"/>
                  </a:lnTo>
                  <a:lnTo>
                    <a:pt x="931" y="794"/>
                  </a:lnTo>
                  <a:lnTo>
                    <a:pt x="917" y="813"/>
                  </a:lnTo>
                  <a:lnTo>
                    <a:pt x="901" y="833"/>
                  </a:lnTo>
                  <a:lnTo>
                    <a:pt x="886" y="851"/>
                  </a:lnTo>
                  <a:lnTo>
                    <a:pt x="869" y="869"/>
                  </a:lnTo>
                  <a:lnTo>
                    <a:pt x="852" y="886"/>
                  </a:lnTo>
                  <a:lnTo>
                    <a:pt x="833" y="901"/>
                  </a:lnTo>
                  <a:lnTo>
                    <a:pt x="814" y="917"/>
                  </a:lnTo>
                  <a:lnTo>
                    <a:pt x="794" y="931"/>
                  </a:lnTo>
                  <a:lnTo>
                    <a:pt x="773" y="944"/>
                  </a:lnTo>
                  <a:lnTo>
                    <a:pt x="751" y="956"/>
                  </a:lnTo>
                  <a:lnTo>
                    <a:pt x="729" y="968"/>
                  </a:lnTo>
                  <a:lnTo>
                    <a:pt x="708" y="978"/>
                  </a:lnTo>
                  <a:lnTo>
                    <a:pt x="683" y="987"/>
                  </a:lnTo>
                  <a:lnTo>
                    <a:pt x="660" y="994"/>
                  </a:lnTo>
                  <a:lnTo>
                    <a:pt x="636" y="1001"/>
                  </a:lnTo>
                  <a:lnTo>
                    <a:pt x="612" y="1007"/>
                  </a:lnTo>
                  <a:lnTo>
                    <a:pt x="587" y="1012"/>
                  </a:lnTo>
                  <a:lnTo>
                    <a:pt x="561" y="1015"/>
                  </a:lnTo>
                  <a:lnTo>
                    <a:pt x="535" y="1017"/>
                  </a:lnTo>
                  <a:lnTo>
                    <a:pt x="510" y="1017"/>
                  </a:lnTo>
                  <a:lnTo>
                    <a:pt x="510" y="1017"/>
                  </a:lnTo>
                  <a:lnTo>
                    <a:pt x="483" y="1017"/>
                  </a:lnTo>
                  <a:lnTo>
                    <a:pt x="457" y="1015"/>
                  </a:lnTo>
                  <a:lnTo>
                    <a:pt x="431" y="1012"/>
                  </a:lnTo>
                  <a:lnTo>
                    <a:pt x="407" y="1007"/>
                  </a:lnTo>
                  <a:lnTo>
                    <a:pt x="382" y="1001"/>
                  </a:lnTo>
                  <a:lnTo>
                    <a:pt x="357" y="994"/>
                  </a:lnTo>
                  <a:lnTo>
                    <a:pt x="334" y="987"/>
                  </a:lnTo>
                  <a:lnTo>
                    <a:pt x="311" y="978"/>
                  </a:lnTo>
                  <a:lnTo>
                    <a:pt x="288" y="968"/>
                  </a:lnTo>
                  <a:lnTo>
                    <a:pt x="267" y="956"/>
                  </a:lnTo>
                  <a:lnTo>
                    <a:pt x="246" y="944"/>
                  </a:lnTo>
                  <a:lnTo>
                    <a:pt x="225" y="931"/>
                  </a:lnTo>
                  <a:lnTo>
                    <a:pt x="204" y="917"/>
                  </a:lnTo>
                  <a:lnTo>
                    <a:pt x="186" y="901"/>
                  </a:lnTo>
                  <a:lnTo>
                    <a:pt x="167" y="886"/>
                  </a:lnTo>
                  <a:lnTo>
                    <a:pt x="149" y="869"/>
                  </a:lnTo>
                  <a:lnTo>
                    <a:pt x="133" y="851"/>
                  </a:lnTo>
                  <a:lnTo>
                    <a:pt x="117" y="833"/>
                  </a:lnTo>
                  <a:lnTo>
                    <a:pt x="102" y="813"/>
                  </a:lnTo>
                  <a:lnTo>
                    <a:pt x="87" y="794"/>
                  </a:lnTo>
                  <a:lnTo>
                    <a:pt x="74" y="773"/>
                  </a:lnTo>
                  <a:lnTo>
                    <a:pt x="62" y="751"/>
                  </a:lnTo>
                  <a:lnTo>
                    <a:pt x="51" y="729"/>
                  </a:lnTo>
                  <a:lnTo>
                    <a:pt x="41" y="707"/>
                  </a:lnTo>
                  <a:lnTo>
                    <a:pt x="32" y="684"/>
                  </a:lnTo>
                  <a:lnTo>
                    <a:pt x="24" y="660"/>
                  </a:lnTo>
                  <a:lnTo>
                    <a:pt x="17" y="636"/>
                  </a:lnTo>
                  <a:lnTo>
                    <a:pt x="11" y="612"/>
                  </a:lnTo>
                  <a:lnTo>
                    <a:pt x="6" y="586"/>
                  </a:lnTo>
                  <a:lnTo>
                    <a:pt x="3" y="561"/>
                  </a:lnTo>
                  <a:lnTo>
                    <a:pt x="2" y="535"/>
                  </a:lnTo>
                  <a:lnTo>
                    <a:pt x="0" y="509"/>
                  </a:lnTo>
                  <a:lnTo>
                    <a:pt x="0" y="509"/>
                  </a:lnTo>
                  <a:lnTo>
                    <a:pt x="2" y="483"/>
                  </a:lnTo>
                  <a:lnTo>
                    <a:pt x="3" y="457"/>
                  </a:lnTo>
                  <a:lnTo>
                    <a:pt x="6" y="431"/>
                  </a:lnTo>
                  <a:lnTo>
                    <a:pt x="11" y="407"/>
                  </a:lnTo>
                  <a:lnTo>
                    <a:pt x="17" y="381"/>
                  </a:lnTo>
                  <a:lnTo>
                    <a:pt x="24" y="357"/>
                  </a:lnTo>
                  <a:lnTo>
                    <a:pt x="32" y="334"/>
                  </a:lnTo>
                  <a:lnTo>
                    <a:pt x="41" y="311"/>
                  </a:lnTo>
                  <a:lnTo>
                    <a:pt x="51" y="288"/>
                  </a:lnTo>
                  <a:lnTo>
                    <a:pt x="62" y="266"/>
                  </a:lnTo>
                  <a:lnTo>
                    <a:pt x="74" y="245"/>
                  </a:lnTo>
                  <a:lnTo>
                    <a:pt x="87" y="225"/>
                  </a:lnTo>
                  <a:lnTo>
                    <a:pt x="102" y="204"/>
                  </a:lnTo>
                  <a:lnTo>
                    <a:pt x="117" y="185"/>
                  </a:lnTo>
                  <a:lnTo>
                    <a:pt x="133" y="167"/>
                  </a:lnTo>
                  <a:lnTo>
                    <a:pt x="149" y="149"/>
                  </a:lnTo>
                  <a:lnTo>
                    <a:pt x="167" y="132"/>
                  </a:lnTo>
                  <a:lnTo>
                    <a:pt x="186" y="116"/>
                  </a:lnTo>
                  <a:lnTo>
                    <a:pt x="204" y="101"/>
                  </a:lnTo>
                  <a:lnTo>
                    <a:pt x="225" y="86"/>
                  </a:lnTo>
                  <a:lnTo>
                    <a:pt x="246" y="74"/>
                  </a:lnTo>
                  <a:lnTo>
                    <a:pt x="267" y="61"/>
                  </a:lnTo>
                  <a:lnTo>
                    <a:pt x="288" y="51"/>
                  </a:lnTo>
                  <a:lnTo>
                    <a:pt x="311" y="40"/>
                  </a:lnTo>
                  <a:lnTo>
                    <a:pt x="334" y="31"/>
                  </a:lnTo>
                  <a:lnTo>
                    <a:pt x="357" y="23"/>
                  </a:lnTo>
                  <a:lnTo>
                    <a:pt x="382" y="16"/>
                  </a:lnTo>
                  <a:lnTo>
                    <a:pt x="407" y="10"/>
                  </a:lnTo>
                  <a:lnTo>
                    <a:pt x="431" y="6"/>
                  </a:lnTo>
                  <a:lnTo>
                    <a:pt x="457" y="2"/>
                  </a:lnTo>
                  <a:lnTo>
                    <a:pt x="483" y="1"/>
                  </a:lnTo>
                  <a:lnTo>
                    <a:pt x="510" y="0"/>
                  </a:lnTo>
                  <a:lnTo>
                    <a:pt x="510" y="0"/>
                  </a:lnTo>
                  <a:lnTo>
                    <a:pt x="535" y="1"/>
                  </a:lnTo>
                  <a:lnTo>
                    <a:pt x="561" y="2"/>
                  </a:lnTo>
                  <a:lnTo>
                    <a:pt x="587" y="6"/>
                  </a:lnTo>
                  <a:lnTo>
                    <a:pt x="612" y="10"/>
                  </a:lnTo>
                  <a:lnTo>
                    <a:pt x="636" y="16"/>
                  </a:lnTo>
                  <a:lnTo>
                    <a:pt x="660" y="23"/>
                  </a:lnTo>
                  <a:lnTo>
                    <a:pt x="683" y="31"/>
                  </a:lnTo>
                  <a:lnTo>
                    <a:pt x="708" y="40"/>
                  </a:lnTo>
                  <a:lnTo>
                    <a:pt x="729" y="51"/>
                  </a:lnTo>
                  <a:lnTo>
                    <a:pt x="751" y="61"/>
                  </a:lnTo>
                  <a:lnTo>
                    <a:pt x="773" y="74"/>
                  </a:lnTo>
                  <a:lnTo>
                    <a:pt x="794" y="86"/>
                  </a:lnTo>
                  <a:lnTo>
                    <a:pt x="814" y="101"/>
                  </a:lnTo>
                  <a:lnTo>
                    <a:pt x="833" y="116"/>
                  </a:lnTo>
                  <a:lnTo>
                    <a:pt x="852" y="132"/>
                  </a:lnTo>
                  <a:lnTo>
                    <a:pt x="869" y="149"/>
                  </a:lnTo>
                  <a:lnTo>
                    <a:pt x="886" y="167"/>
                  </a:lnTo>
                  <a:lnTo>
                    <a:pt x="901" y="185"/>
                  </a:lnTo>
                  <a:lnTo>
                    <a:pt x="917" y="204"/>
                  </a:lnTo>
                  <a:lnTo>
                    <a:pt x="931" y="225"/>
                  </a:lnTo>
                  <a:lnTo>
                    <a:pt x="944" y="245"/>
                  </a:lnTo>
                  <a:lnTo>
                    <a:pt x="956" y="266"/>
                  </a:lnTo>
                  <a:lnTo>
                    <a:pt x="968" y="288"/>
                  </a:lnTo>
                  <a:lnTo>
                    <a:pt x="978" y="311"/>
                  </a:lnTo>
                  <a:lnTo>
                    <a:pt x="986" y="334"/>
                  </a:lnTo>
                  <a:lnTo>
                    <a:pt x="994" y="357"/>
                  </a:lnTo>
                  <a:lnTo>
                    <a:pt x="1001" y="381"/>
                  </a:lnTo>
                  <a:lnTo>
                    <a:pt x="1007" y="407"/>
                  </a:lnTo>
                  <a:lnTo>
                    <a:pt x="1012" y="431"/>
                  </a:lnTo>
                  <a:lnTo>
                    <a:pt x="1015" y="457"/>
                  </a:lnTo>
                  <a:lnTo>
                    <a:pt x="1017" y="483"/>
                  </a:lnTo>
                  <a:lnTo>
                    <a:pt x="1017" y="509"/>
                  </a:lnTo>
                  <a:lnTo>
                    <a:pt x="1017" y="509"/>
                  </a:lnTo>
                  <a:close/>
                </a:path>
              </a:pathLst>
            </a:custGeom>
            <a:solidFill>
              <a:srgbClr val="49CF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5" name="Freeform 212">
              <a:extLst>
                <a:ext uri="{FF2B5EF4-FFF2-40B4-BE49-F238E27FC236}">
                  <a16:creationId xmlns:a16="http://schemas.microsoft.com/office/drawing/2014/main" id="{8E9BEAC3-3E89-4520-8E85-50E08075465A}"/>
                </a:ext>
              </a:extLst>
            </p:cNvPr>
            <p:cNvSpPr>
              <a:spLocks noEditPoints="1"/>
            </p:cNvSpPr>
            <p:nvPr userDrawn="1"/>
          </p:nvSpPr>
          <p:spPr bwMode="auto">
            <a:xfrm>
              <a:off x="6191271" y="3189326"/>
              <a:ext cx="360364" cy="363542"/>
            </a:xfrm>
            <a:custGeom>
              <a:avLst/>
              <a:gdLst>
                <a:gd name="T0" fmla="*/ 455 w 455"/>
                <a:gd name="T1" fmla="*/ 456 h 456"/>
                <a:gd name="T2" fmla="*/ 0 w 455"/>
                <a:gd name="T3" fmla="*/ 456 h 456"/>
                <a:gd name="T4" fmla="*/ 0 w 455"/>
                <a:gd name="T5" fmla="*/ 0 h 456"/>
                <a:gd name="T6" fmla="*/ 455 w 455"/>
                <a:gd name="T7" fmla="*/ 0 h 456"/>
                <a:gd name="T8" fmla="*/ 455 w 455"/>
                <a:gd name="T9" fmla="*/ 456 h 456"/>
                <a:gd name="T10" fmla="*/ 44 w 455"/>
                <a:gd name="T11" fmla="*/ 411 h 456"/>
                <a:gd name="T12" fmla="*/ 410 w 455"/>
                <a:gd name="T13" fmla="*/ 411 h 456"/>
                <a:gd name="T14" fmla="*/ 410 w 455"/>
                <a:gd name="T15" fmla="*/ 45 h 456"/>
                <a:gd name="T16" fmla="*/ 44 w 455"/>
                <a:gd name="T17" fmla="*/ 45 h 456"/>
                <a:gd name="T18" fmla="*/ 44 w 455"/>
                <a:gd name="T19" fmla="*/ 411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5" h="456">
                  <a:moveTo>
                    <a:pt x="455" y="456"/>
                  </a:moveTo>
                  <a:lnTo>
                    <a:pt x="0" y="456"/>
                  </a:lnTo>
                  <a:lnTo>
                    <a:pt x="0" y="0"/>
                  </a:lnTo>
                  <a:lnTo>
                    <a:pt x="455" y="0"/>
                  </a:lnTo>
                  <a:lnTo>
                    <a:pt x="455" y="456"/>
                  </a:lnTo>
                  <a:close/>
                  <a:moveTo>
                    <a:pt x="44" y="411"/>
                  </a:moveTo>
                  <a:lnTo>
                    <a:pt x="410" y="411"/>
                  </a:lnTo>
                  <a:lnTo>
                    <a:pt x="410" y="45"/>
                  </a:lnTo>
                  <a:lnTo>
                    <a:pt x="44" y="45"/>
                  </a:lnTo>
                  <a:lnTo>
                    <a:pt x="44" y="411"/>
                  </a:lnTo>
                  <a:close/>
                </a:path>
              </a:pathLst>
            </a:custGeom>
            <a:noFill/>
            <a:ln w="7938">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2400"/>
            </a:p>
          </p:txBody>
        </p:sp>
        <p:sp>
          <p:nvSpPr>
            <p:cNvPr id="316" name="Freeform 213">
              <a:extLst>
                <a:ext uri="{FF2B5EF4-FFF2-40B4-BE49-F238E27FC236}">
                  <a16:creationId xmlns:a16="http://schemas.microsoft.com/office/drawing/2014/main" id="{97769BBC-F8FB-4337-A318-F36F27E0EF3B}"/>
                </a:ext>
              </a:extLst>
            </p:cNvPr>
            <p:cNvSpPr>
              <a:spLocks/>
            </p:cNvSpPr>
            <p:nvPr userDrawn="1"/>
          </p:nvSpPr>
          <p:spPr bwMode="auto">
            <a:xfrm>
              <a:off x="6226196" y="3103600"/>
              <a:ext cx="17463" cy="74613"/>
            </a:xfrm>
            <a:custGeom>
              <a:avLst/>
              <a:gdLst>
                <a:gd name="T0" fmla="*/ 22 w 22"/>
                <a:gd name="T1" fmla="*/ 58 h 93"/>
                <a:gd name="T2" fmla="*/ 22 w 22"/>
                <a:gd name="T3" fmla="*/ 93 h 93"/>
                <a:gd name="T4" fmla="*/ 0 w 22"/>
                <a:gd name="T5" fmla="*/ 93 h 93"/>
                <a:gd name="T6" fmla="*/ 0 w 22"/>
                <a:gd name="T7" fmla="*/ 58 h 93"/>
                <a:gd name="T8" fmla="*/ 0 w 22"/>
                <a:gd name="T9" fmla="*/ 58 h 93"/>
                <a:gd name="T10" fmla="*/ 0 w 22"/>
                <a:gd name="T11" fmla="*/ 55 h 93"/>
                <a:gd name="T12" fmla="*/ 3 w 22"/>
                <a:gd name="T13" fmla="*/ 51 h 93"/>
                <a:gd name="T14" fmla="*/ 5 w 22"/>
                <a:gd name="T15" fmla="*/ 49 h 93"/>
                <a:gd name="T16" fmla="*/ 8 w 22"/>
                <a:gd name="T17" fmla="*/ 47 h 93"/>
                <a:gd name="T18" fmla="*/ 8 w 22"/>
                <a:gd name="T19" fmla="*/ 3 h 93"/>
                <a:gd name="T20" fmla="*/ 8 w 22"/>
                <a:gd name="T21" fmla="*/ 3 h 93"/>
                <a:gd name="T22" fmla="*/ 8 w 22"/>
                <a:gd name="T23" fmla="*/ 1 h 93"/>
                <a:gd name="T24" fmla="*/ 12 w 22"/>
                <a:gd name="T25" fmla="*/ 0 h 93"/>
                <a:gd name="T26" fmla="*/ 12 w 22"/>
                <a:gd name="T27" fmla="*/ 0 h 93"/>
                <a:gd name="T28" fmla="*/ 14 w 22"/>
                <a:gd name="T29" fmla="*/ 1 h 93"/>
                <a:gd name="T30" fmla="*/ 15 w 22"/>
                <a:gd name="T31" fmla="*/ 3 h 93"/>
                <a:gd name="T32" fmla="*/ 15 w 22"/>
                <a:gd name="T33" fmla="*/ 47 h 93"/>
                <a:gd name="T34" fmla="*/ 15 w 22"/>
                <a:gd name="T35" fmla="*/ 47 h 93"/>
                <a:gd name="T36" fmla="*/ 19 w 22"/>
                <a:gd name="T37" fmla="*/ 49 h 93"/>
                <a:gd name="T38" fmla="*/ 21 w 22"/>
                <a:gd name="T39" fmla="*/ 51 h 93"/>
                <a:gd name="T40" fmla="*/ 22 w 22"/>
                <a:gd name="T41" fmla="*/ 55 h 93"/>
                <a:gd name="T42" fmla="*/ 22 w 22"/>
                <a:gd name="T43" fmla="*/ 58 h 93"/>
                <a:gd name="T44" fmla="*/ 22 w 22"/>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93">
                  <a:moveTo>
                    <a:pt x="22" y="58"/>
                  </a:moveTo>
                  <a:lnTo>
                    <a:pt x="22" y="93"/>
                  </a:lnTo>
                  <a:lnTo>
                    <a:pt x="0" y="93"/>
                  </a:lnTo>
                  <a:lnTo>
                    <a:pt x="0" y="58"/>
                  </a:lnTo>
                  <a:lnTo>
                    <a:pt x="0" y="58"/>
                  </a:lnTo>
                  <a:lnTo>
                    <a:pt x="0" y="55"/>
                  </a:lnTo>
                  <a:lnTo>
                    <a:pt x="3" y="51"/>
                  </a:lnTo>
                  <a:lnTo>
                    <a:pt x="5" y="49"/>
                  </a:lnTo>
                  <a:lnTo>
                    <a:pt x="8" y="47"/>
                  </a:lnTo>
                  <a:lnTo>
                    <a:pt x="8" y="3"/>
                  </a:lnTo>
                  <a:lnTo>
                    <a:pt x="8" y="3"/>
                  </a:lnTo>
                  <a:lnTo>
                    <a:pt x="8" y="1"/>
                  </a:lnTo>
                  <a:lnTo>
                    <a:pt x="12" y="0"/>
                  </a:lnTo>
                  <a:lnTo>
                    <a:pt x="12" y="0"/>
                  </a:lnTo>
                  <a:lnTo>
                    <a:pt x="14" y="1"/>
                  </a:lnTo>
                  <a:lnTo>
                    <a:pt x="15" y="3"/>
                  </a:lnTo>
                  <a:lnTo>
                    <a:pt x="15" y="47"/>
                  </a:lnTo>
                  <a:lnTo>
                    <a:pt x="15" y="47"/>
                  </a:lnTo>
                  <a:lnTo>
                    <a:pt x="19" y="49"/>
                  </a:lnTo>
                  <a:lnTo>
                    <a:pt x="21" y="51"/>
                  </a:lnTo>
                  <a:lnTo>
                    <a:pt x="22" y="55"/>
                  </a:lnTo>
                  <a:lnTo>
                    <a:pt x="22" y="58"/>
                  </a:lnTo>
                  <a:lnTo>
                    <a:pt x="22"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7" name="Freeform 214">
              <a:extLst>
                <a:ext uri="{FF2B5EF4-FFF2-40B4-BE49-F238E27FC236}">
                  <a16:creationId xmlns:a16="http://schemas.microsoft.com/office/drawing/2014/main" id="{937F110C-8A75-40CF-B8FB-49996C676BC0}"/>
                </a:ext>
              </a:extLst>
            </p:cNvPr>
            <p:cNvSpPr>
              <a:spLocks/>
            </p:cNvSpPr>
            <p:nvPr userDrawn="1"/>
          </p:nvSpPr>
          <p:spPr bwMode="auto">
            <a:xfrm>
              <a:off x="6256359"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8" name="Freeform 215">
              <a:extLst>
                <a:ext uri="{FF2B5EF4-FFF2-40B4-BE49-F238E27FC236}">
                  <a16:creationId xmlns:a16="http://schemas.microsoft.com/office/drawing/2014/main" id="{C7AFF641-B25A-43C0-995A-3F7277C33A93}"/>
                </a:ext>
              </a:extLst>
            </p:cNvPr>
            <p:cNvSpPr>
              <a:spLocks/>
            </p:cNvSpPr>
            <p:nvPr userDrawn="1"/>
          </p:nvSpPr>
          <p:spPr bwMode="auto">
            <a:xfrm>
              <a:off x="6286521"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9" name="Freeform 216">
              <a:extLst>
                <a:ext uri="{FF2B5EF4-FFF2-40B4-BE49-F238E27FC236}">
                  <a16:creationId xmlns:a16="http://schemas.microsoft.com/office/drawing/2014/main" id="{3E7F35EF-D1DE-42A9-82FC-EEC44FB1AD4D}"/>
                </a:ext>
              </a:extLst>
            </p:cNvPr>
            <p:cNvSpPr>
              <a:spLocks/>
            </p:cNvSpPr>
            <p:nvPr userDrawn="1"/>
          </p:nvSpPr>
          <p:spPr bwMode="auto">
            <a:xfrm>
              <a:off x="6316684"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0" name="Freeform 217">
              <a:extLst>
                <a:ext uri="{FF2B5EF4-FFF2-40B4-BE49-F238E27FC236}">
                  <a16:creationId xmlns:a16="http://schemas.microsoft.com/office/drawing/2014/main" id="{CF5A6E20-C256-469C-AC32-FBFF14564ACA}"/>
                </a:ext>
              </a:extLst>
            </p:cNvPr>
            <p:cNvSpPr>
              <a:spLocks/>
            </p:cNvSpPr>
            <p:nvPr userDrawn="1"/>
          </p:nvSpPr>
          <p:spPr bwMode="auto">
            <a:xfrm>
              <a:off x="6346847"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1" name="Freeform 218">
              <a:extLst>
                <a:ext uri="{FF2B5EF4-FFF2-40B4-BE49-F238E27FC236}">
                  <a16:creationId xmlns:a16="http://schemas.microsoft.com/office/drawing/2014/main" id="{E1E2EDD4-5E96-4056-8797-9A5C942F2CD5}"/>
                </a:ext>
              </a:extLst>
            </p:cNvPr>
            <p:cNvSpPr>
              <a:spLocks/>
            </p:cNvSpPr>
            <p:nvPr userDrawn="1"/>
          </p:nvSpPr>
          <p:spPr bwMode="auto">
            <a:xfrm>
              <a:off x="6377009" y="3103600"/>
              <a:ext cx="19050" cy="74613"/>
            </a:xfrm>
            <a:custGeom>
              <a:avLst/>
              <a:gdLst>
                <a:gd name="T0" fmla="*/ 23 w 23"/>
                <a:gd name="T1" fmla="*/ 58 h 93"/>
                <a:gd name="T2" fmla="*/ 23 w 23"/>
                <a:gd name="T3" fmla="*/ 93 h 93"/>
                <a:gd name="T4" fmla="*/ 0 w 23"/>
                <a:gd name="T5" fmla="*/ 93 h 93"/>
                <a:gd name="T6" fmla="*/ 0 w 23"/>
                <a:gd name="T7" fmla="*/ 58 h 93"/>
                <a:gd name="T8" fmla="*/ 0 w 23"/>
                <a:gd name="T9" fmla="*/ 58 h 93"/>
                <a:gd name="T10" fmla="*/ 2 w 23"/>
                <a:gd name="T11" fmla="*/ 55 h 93"/>
                <a:gd name="T12" fmla="*/ 3 w 23"/>
                <a:gd name="T13" fmla="*/ 51 h 93"/>
                <a:gd name="T14" fmla="*/ 5 w 23"/>
                <a:gd name="T15" fmla="*/ 49 h 93"/>
                <a:gd name="T16" fmla="*/ 8 w 23"/>
                <a:gd name="T17" fmla="*/ 47 h 93"/>
                <a:gd name="T18" fmla="*/ 8 w 23"/>
                <a:gd name="T19" fmla="*/ 3 h 93"/>
                <a:gd name="T20" fmla="*/ 8 w 23"/>
                <a:gd name="T21" fmla="*/ 3 h 93"/>
                <a:gd name="T22" fmla="*/ 10 w 23"/>
                <a:gd name="T23" fmla="*/ 1 h 93"/>
                <a:gd name="T24" fmla="*/ 12 w 23"/>
                <a:gd name="T25" fmla="*/ 0 h 93"/>
                <a:gd name="T26" fmla="*/ 12 w 23"/>
                <a:gd name="T27" fmla="*/ 0 h 93"/>
                <a:gd name="T28" fmla="*/ 14 w 23"/>
                <a:gd name="T29" fmla="*/ 1 h 93"/>
                <a:gd name="T30" fmla="*/ 15 w 23"/>
                <a:gd name="T31" fmla="*/ 3 h 93"/>
                <a:gd name="T32" fmla="*/ 15 w 23"/>
                <a:gd name="T33" fmla="*/ 47 h 93"/>
                <a:gd name="T34" fmla="*/ 15 w 23"/>
                <a:gd name="T35" fmla="*/ 47 h 93"/>
                <a:gd name="T36" fmla="*/ 19 w 23"/>
                <a:gd name="T37" fmla="*/ 49 h 93"/>
                <a:gd name="T38" fmla="*/ 21 w 23"/>
                <a:gd name="T39" fmla="*/ 51 h 93"/>
                <a:gd name="T40" fmla="*/ 22 w 23"/>
                <a:gd name="T41" fmla="*/ 55 h 93"/>
                <a:gd name="T42" fmla="*/ 23 w 23"/>
                <a:gd name="T43" fmla="*/ 58 h 93"/>
                <a:gd name="T44" fmla="*/ 23 w 23"/>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23" y="58"/>
                  </a:moveTo>
                  <a:lnTo>
                    <a:pt x="23" y="93"/>
                  </a:lnTo>
                  <a:lnTo>
                    <a:pt x="0" y="93"/>
                  </a:lnTo>
                  <a:lnTo>
                    <a:pt x="0" y="58"/>
                  </a:lnTo>
                  <a:lnTo>
                    <a:pt x="0" y="58"/>
                  </a:lnTo>
                  <a:lnTo>
                    <a:pt x="2" y="55"/>
                  </a:lnTo>
                  <a:lnTo>
                    <a:pt x="3" y="51"/>
                  </a:lnTo>
                  <a:lnTo>
                    <a:pt x="5" y="49"/>
                  </a:lnTo>
                  <a:lnTo>
                    <a:pt x="8" y="47"/>
                  </a:lnTo>
                  <a:lnTo>
                    <a:pt x="8" y="3"/>
                  </a:lnTo>
                  <a:lnTo>
                    <a:pt x="8" y="3"/>
                  </a:lnTo>
                  <a:lnTo>
                    <a:pt x="10" y="1"/>
                  </a:lnTo>
                  <a:lnTo>
                    <a:pt x="12" y="0"/>
                  </a:lnTo>
                  <a:lnTo>
                    <a:pt x="12" y="0"/>
                  </a:lnTo>
                  <a:lnTo>
                    <a:pt x="14" y="1"/>
                  </a:lnTo>
                  <a:lnTo>
                    <a:pt x="15" y="3"/>
                  </a:lnTo>
                  <a:lnTo>
                    <a:pt x="15" y="47"/>
                  </a:lnTo>
                  <a:lnTo>
                    <a:pt x="15" y="47"/>
                  </a:lnTo>
                  <a:lnTo>
                    <a:pt x="19" y="49"/>
                  </a:lnTo>
                  <a:lnTo>
                    <a:pt x="21" y="51"/>
                  </a:lnTo>
                  <a:lnTo>
                    <a:pt x="22" y="55"/>
                  </a:lnTo>
                  <a:lnTo>
                    <a:pt x="23" y="58"/>
                  </a:lnTo>
                  <a:lnTo>
                    <a:pt x="23"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2" name="Freeform 219">
              <a:extLst>
                <a:ext uri="{FF2B5EF4-FFF2-40B4-BE49-F238E27FC236}">
                  <a16:creationId xmlns:a16="http://schemas.microsoft.com/office/drawing/2014/main" id="{9B8F6332-58D5-4C77-88F8-F8CB19179C3C}"/>
                </a:ext>
              </a:extLst>
            </p:cNvPr>
            <p:cNvSpPr>
              <a:spLocks/>
            </p:cNvSpPr>
            <p:nvPr userDrawn="1"/>
          </p:nvSpPr>
          <p:spPr bwMode="auto">
            <a:xfrm>
              <a:off x="6408759"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1 w 21"/>
                <a:gd name="T13" fmla="*/ 51 h 93"/>
                <a:gd name="T14" fmla="*/ 3 w 21"/>
                <a:gd name="T15" fmla="*/ 49 h 93"/>
                <a:gd name="T16" fmla="*/ 6 w 21"/>
                <a:gd name="T17" fmla="*/ 47 h 93"/>
                <a:gd name="T18" fmla="*/ 6 w 21"/>
                <a:gd name="T19" fmla="*/ 3 h 93"/>
                <a:gd name="T20" fmla="*/ 6 w 21"/>
                <a:gd name="T21" fmla="*/ 3 h 93"/>
                <a:gd name="T22" fmla="*/ 8 w 21"/>
                <a:gd name="T23" fmla="*/ 1 h 93"/>
                <a:gd name="T24" fmla="*/ 10 w 21"/>
                <a:gd name="T25" fmla="*/ 0 h 93"/>
                <a:gd name="T26" fmla="*/ 10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1" y="51"/>
                  </a:lnTo>
                  <a:lnTo>
                    <a:pt x="3" y="49"/>
                  </a:lnTo>
                  <a:lnTo>
                    <a:pt x="6" y="47"/>
                  </a:lnTo>
                  <a:lnTo>
                    <a:pt x="6" y="3"/>
                  </a:lnTo>
                  <a:lnTo>
                    <a:pt x="6" y="3"/>
                  </a:lnTo>
                  <a:lnTo>
                    <a:pt x="8" y="1"/>
                  </a:lnTo>
                  <a:lnTo>
                    <a:pt x="10" y="0"/>
                  </a:lnTo>
                  <a:lnTo>
                    <a:pt x="10"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3" name="Freeform 220">
              <a:extLst>
                <a:ext uri="{FF2B5EF4-FFF2-40B4-BE49-F238E27FC236}">
                  <a16:creationId xmlns:a16="http://schemas.microsoft.com/office/drawing/2014/main" id="{C2317824-232E-4367-9685-8B76F7D8683D}"/>
                </a:ext>
              </a:extLst>
            </p:cNvPr>
            <p:cNvSpPr>
              <a:spLocks/>
            </p:cNvSpPr>
            <p:nvPr userDrawn="1"/>
          </p:nvSpPr>
          <p:spPr bwMode="auto">
            <a:xfrm>
              <a:off x="6438922"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1 w 21"/>
                <a:gd name="T13" fmla="*/ 51 h 93"/>
                <a:gd name="T14" fmla="*/ 3 w 21"/>
                <a:gd name="T15" fmla="*/ 49 h 93"/>
                <a:gd name="T16" fmla="*/ 6 w 21"/>
                <a:gd name="T17" fmla="*/ 47 h 93"/>
                <a:gd name="T18" fmla="*/ 6 w 21"/>
                <a:gd name="T19" fmla="*/ 3 h 93"/>
                <a:gd name="T20" fmla="*/ 6 w 21"/>
                <a:gd name="T21" fmla="*/ 3 h 93"/>
                <a:gd name="T22" fmla="*/ 8 w 21"/>
                <a:gd name="T23" fmla="*/ 1 h 93"/>
                <a:gd name="T24" fmla="*/ 10 w 21"/>
                <a:gd name="T25" fmla="*/ 0 h 93"/>
                <a:gd name="T26" fmla="*/ 10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1" y="51"/>
                  </a:lnTo>
                  <a:lnTo>
                    <a:pt x="3" y="49"/>
                  </a:lnTo>
                  <a:lnTo>
                    <a:pt x="6" y="47"/>
                  </a:lnTo>
                  <a:lnTo>
                    <a:pt x="6" y="3"/>
                  </a:lnTo>
                  <a:lnTo>
                    <a:pt x="6" y="3"/>
                  </a:lnTo>
                  <a:lnTo>
                    <a:pt x="8" y="1"/>
                  </a:lnTo>
                  <a:lnTo>
                    <a:pt x="10" y="0"/>
                  </a:lnTo>
                  <a:lnTo>
                    <a:pt x="10"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4" name="Freeform 221">
              <a:extLst>
                <a:ext uri="{FF2B5EF4-FFF2-40B4-BE49-F238E27FC236}">
                  <a16:creationId xmlns:a16="http://schemas.microsoft.com/office/drawing/2014/main" id="{E32A2936-192F-4AE3-9D23-A6456292FCEC}"/>
                </a:ext>
              </a:extLst>
            </p:cNvPr>
            <p:cNvSpPr>
              <a:spLocks/>
            </p:cNvSpPr>
            <p:nvPr userDrawn="1"/>
          </p:nvSpPr>
          <p:spPr bwMode="auto">
            <a:xfrm>
              <a:off x="6499247"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2 w 21"/>
                <a:gd name="T13" fmla="*/ 51 h 93"/>
                <a:gd name="T14" fmla="*/ 4 w 21"/>
                <a:gd name="T15" fmla="*/ 49 h 93"/>
                <a:gd name="T16" fmla="*/ 6 w 21"/>
                <a:gd name="T17" fmla="*/ 47 h 93"/>
                <a:gd name="T18" fmla="*/ 6 w 21"/>
                <a:gd name="T19" fmla="*/ 3 h 93"/>
                <a:gd name="T20" fmla="*/ 6 w 21"/>
                <a:gd name="T21" fmla="*/ 3 h 93"/>
                <a:gd name="T22" fmla="*/ 8 w 21"/>
                <a:gd name="T23" fmla="*/ 1 h 93"/>
                <a:gd name="T24" fmla="*/ 11 w 21"/>
                <a:gd name="T25" fmla="*/ 0 h 93"/>
                <a:gd name="T26" fmla="*/ 11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2" y="51"/>
                  </a:lnTo>
                  <a:lnTo>
                    <a:pt x="4" y="49"/>
                  </a:lnTo>
                  <a:lnTo>
                    <a:pt x="6" y="47"/>
                  </a:lnTo>
                  <a:lnTo>
                    <a:pt x="6" y="3"/>
                  </a:lnTo>
                  <a:lnTo>
                    <a:pt x="6" y="3"/>
                  </a:lnTo>
                  <a:lnTo>
                    <a:pt x="8" y="1"/>
                  </a:lnTo>
                  <a:lnTo>
                    <a:pt x="11" y="0"/>
                  </a:lnTo>
                  <a:lnTo>
                    <a:pt x="11"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5" name="Freeform 222">
              <a:extLst>
                <a:ext uri="{FF2B5EF4-FFF2-40B4-BE49-F238E27FC236}">
                  <a16:creationId xmlns:a16="http://schemas.microsoft.com/office/drawing/2014/main" id="{FF2AAED4-6FE3-4C8D-A2AF-8B2F54FE3005}"/>
                </a:ext>
              </a:extLst>
            </p:cNvPr>
            <p:cNvSpPr>
              <a:spLocks/>
            </p:cNvSpPr>
            <p:nvPr userDrawn="1"/>
          </p:nvSpPr>
          <p:spPr bwMode="auto">
            <a:xfrm>
              <a:off x="6469085" y="3103600"/>
              <a:ext cx="17463" cy="74613"/>
            </a:xfrm>
            <a:custGeom>
              <a:avLst/>
              <a:gdLst>
                <a:gd name="T0" fmla="*/ 21 w 21"/>
                <a:gd name="T1" fmla="*/ 58 h 93"/>
                <a:gd name="T2" fmla="*/ 21 w 21"/>
                <a:gd name="T3" fmla="*/ 93 h 93"/>
                <a:gd name="T4" fmla="*/ 0 w 21"/>
                <a:gd name="T5" fmla="*/ 93 h 93"/>
                <a:gd name="T6" fmla="*/ 0 w 21"/>
                <a:gd name="T7" fmla="*/ 58 h 93"/>
                <a:gd name="T8" fmla="*/ 0 w 21"/>
                <a:gd name="T9" fmla="*/ 58 h 93"/>
                <a:gd name="T10" fmla="*/ 0 w 21"/>
                <a:gd name="T11" fmla="*/ 55 h 93"/>
                <a:gd name="T12" fmla="*/ 2 w 21"/>
                <a:gd name="T13" fmla="*/ 51 h 93"/>
                <a:gd name="T14" fmla="*/ 4 w 21"/>
                <a:gd name="T15" fmla="*/ 49 h 93"/>
                <a:gd name="T16" fmla="*/ 6 w 21"/>
                <a:gd name="T17" fmla="*/ 47 h 93"/>
                <a:gd name="T18" fmla="*/ 6 w 21"/>
                <a:gd name="T19" fmla="*/ 3 h 93"/>
                <a:gd name="T20" fmla="*/ 6 w 21"/>
                <a:gd name="T21" fmla="*/ 3 h 93"/>
                <a:gd name="T22" fmla="*/ 8 w 21"/>
                <a:gd name="T23" fmla="*/ 1 h 93"/>
                <a:gd name="T24" fmla="*/ 10 w 21"/>
                <a:gd name="T25" fmla="*/ 0 h 93"/>
                <a:gd name="T26" fmla="*/ 10 w 21"/>
                <a:gd name="T27" fmla="*/ 0 h 93"/>
                <a:gd name="T28" fmla="*/ 13 w 21"/>
                <a:gd name="T29" fmla="*/ 1 h 93"/>
                <a:gd name="T30" fmla="*/ 15 w 21"/>
                <a:gd name="T31" fmla="*/ 3 h 93"/>
                <a:gd name="T32" fmla="*/ 15 w 21"/>
                <a:gd name="T33" fmla="*/ 47 h 93"/>
                <a:gd name="T34" fmla="*/ 15 w 21"/>
                <a:gd name="T35" fmla="*/ 47 h 93"/>
                <a:gd name="T36" fmla="*/ 17 w 21"/>
                <a:gd name="T37" fmla="*/ 49 h 93"/>
                <a:gd name="T38" fmla="*/ 19 w 21"/>
                <a:gd name="T39" fmla="*/ 51 h 93"/>
                <a:gd name="T40" fmla="*/ 21 w 21"/>
                <a:gd name="T41" fmla="*/ 55 h 93"/>
                <a:gd name="T42" fmla="*/ 21 w 21"/>
                <a:gd name="T43" fmla="*/ 58 h 93"/>
                <a:gd name="T44" fmla="*/ 21 w 21"/>
                <a:gd name="T45" fmla="*/ 5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21" y="58"/>
                  </a:moveTo>
                  <a:lnTo>
                    <a:pt x="21" y="93"/>
                  </a:lnTo>
                  <a:lnTo>
                    <a:pt x="0" y="93"/>
                  </a:lnTo>
                  <a:lnTo>
                    <a:pt x="0" y="58"/>
                  </a:lnTo>
                  <a:lnTo>
                    <a:pt x="0" y="58"/>
                  </a:lnTo>
                  <a:lnTo>
                    <a:pt x="0" y="55"/>
                  </a:lnTo>
                  <a:lnTo>
                    <a:pt x="2" y="51"/>
                  </a:lnTo>
                  <a:lnTo>
                    <a:pt x="4" y="49"/>
                  </a:lnTo>
                  <a:lnTo>
                    <a:pt x="6" y="47"/>
                  </a:lnTo>
                  <a:lnTo>
                    <a:pt x="6" y="3"/>
                  </a:lnTo>
                  <a:lnTo>
                    <a:pt x="6" y="3"/>
                  </a:lnTo>
                  <a:lnTo>
                    <a:pt x="8" y="1"/>
                  </a:lnTo>
                  <a:lnTo>
                    <a:pt x="10" y="0"/>
                  </a:lnTo>
                  <a:lnTo>
                    <a:pt x="10" y="0"/>
                  </a:lnTo>
                  <a:lnTo>
                    <a:pt x="13" y="1"/>
                  </a:lnTo>
                  <a:lnTo>
                    <a:pt x="15" y="3"/>
                  </a:lnTo>
                  <a:lnTo>
                    <a:pt x="15" y="47"/>
                  </a:lnTo>
                  <a:lnTo>
                    <a:pt x="15" y="47"/>
                  </a:lnTo>
                  <a:lnTo>
                    <a:pt x="17" y="49"/>
                  </a:lnTo>
                  <a:lnTo>
                    <a:pt x="19" y="51"/>
                  </a:lnTo>
                  <a:lnTo>
                    <a:pt x="21" y="55"/>
                  </a:lnTo>
                  <a:lnTo>
                    <a:pt x="21" y="58"/>
                  </a:lnTo>
                  <a:lnTo>
                    <a:pt x="21"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6" name="Freeform 223">
              <a:extLst>
                <a:ext uri="{FF2B5EF4-FFF2-40B4-BE49-F238E27FC236}">
                  <a16:creationId xmlns:a16="http://schemas.microsoft.com/office/drawing/2014/main" id="{9B8D8A00-1ED8-4BCD-A28A-09C27082E0A7}"/>
                </a:ext>
              </a:extLst>
            </p:cNvPr>
            <p:cNvSpPr>
              <a:spLocks/>
            </p:cNvSpPr>
            <p:nvPr userDrawn="1"/>
          </p:nvSpPr>
          <p:spPr bwMode="auto">
            <a:xfrm>
              <a:off x="6499247"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1 w 21"/>
                <a:gd name="T25" fmla="*/ 93 h 93"/>
                <a:gd name="T26" fmla="*/ 11 w 21"/>
                <a:gd name="T27" fmla="*/ 93 h 93"/>
                <a:gd name="T28" fmla="*/ 8 w 21"/>
                <a:gd name="T29" fmla="*/ 92 h 93"/>
                <a:gd name="T30" fmla="*/ 6 w 21"/>
                <a:gd name="T31" fmla="*/ 90 h 93"/>
                <a:gd name="T32" fmla="*/ 6 w 21"/>
                <a:gd name="T33" fmla="*/ 45 h 93"/>
                <a:gd name="T34" fmla="*/ 6 w 21"/>
                <a:gd name="T35" fmla="*/ 45 h 93"/>
                <a:gd name="T36" fmla="*/ 4 w 21"/>
                <a:gd name="T37" fmla="*/ 44 h 93"/>
                <a:gd name="T38" fmla="*/ 2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1" y="93"/>
                  </a:lnTo>
                  <a:lnTo>
                    <a:pt x="11" y="93"/>
                  </a:lnTo>
                  <a:lnTo>
                    <a:pt x="8" y="92"/>
                  </a:lnTo>
                  <a:lnTo>
                    <a:pt x="6" y="90"/>
                  </a:lnTo>
                  <a:lnTo>
                    <a:pt x="6" y="45"/>
                  </a:lnTo>
                  <a:lnTo>
                    <a:pt x="6" y="45"/>
                  </a:lnTo>
                  <a:lnTo>
                    <a:pt x="4" y="44"/>
                  </a:lnTo>
                  <a:lnTo>
                    <a:pt x="2"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7" name="Freeform 224">
              <a:extLst>
                <a:ext uri="{FF2B5EF4-FFF2-40B4-BE49-F238E27FC236}">
                  <a16:creationId xmlns:a16="http://schemas.microsoft.com/office/drawing/2014/main" id="{B4C12122-4997-43FB-B20C-896D0CD7A814}"/>
                </a:ext>
              </a:extLst>
            </p:cNvPr>
            <p:cNvSpPr>
              <a:spLocks/>
            </p:cNvSpPr>
            <p:nvPr userDrawn="1"/>
          </p:nvSpPr>
          <p:spPr bwMode="auto">
            <a:xfrm>
              <a:off x="6469085"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0 w 21"/>
                <a:gd name="T25" fmla="*/ 93 h 93"/>
                <a:gd name="T26" fmla="*/ 10 w 21"/>
                <a:gd name="T27" fmla="*/ 93 h 93"/>
                <a:gd name="T28" fmla="*/ 8 w 21"/>
                <a:gd name="T29" fmla="*/ 92 h 93"/>
                <a:gd name="T30" fmla="*/ 6 w 21"/>
                <a:gd name="T31" fmla="*/ 90 h 93"/>
                <a:gd name="T32" fmla="*/ 6 w 21"/>
                <a:gd name="T33" fmla="*/ 45 h 93"/>
                <a:gd name="T34" fmla="*/ 6 w 21"/>
                <a:gd name="T35" fmla="*/ 45 h 93"/>
                <a:gd name="T36" fmla="*/ 4 w 21"/>
                <a:gd name="T37" fmla="*/ 44 h 93"/>
                <a:gd name="T38" fmla="*/ 2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0" y="93"/>
                  </a:lnTo>
                  <a:lnTo>
                    <a:pt x="10" y="93"/>
                  </a:lnTo>
                  <a:lnTo>
                    <a:pt x="8" y="92"/>
                  </a:lnTo>
                  <a:lnTo>
                    <a:pt x="6" y="90"/>
                  </a:lnTo>
                  <a:lnTo>
                    <a:pt x="6" y="45"/>
                  </a:lnTo>
                  <a:lnTo>
                    <a:pt x="6" y="45"/>
                  </a:lnTo>
                  <a:lnTo>
                    <a:pt x="4" y="44"/>
                  </a:lnTo>
                  <a:lnTo>
                    <a:pt x="2"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8" name="Freeform 225">
              <a:extLst>
                <a:ext uri="{FF2B5EF4-FFF2-40B4-BE49-F238E27FC236}">
                  <a16:creationId xmlns:a16="http://schemas.microsoft.com/office/drawing/2014/main" id="{C3FC627A-31A5-4149-B3B1-3FAE68F76204}"/>
                </a:ext>
              </a:extLst>
            </p:cNvPr>
            <p:cNvSpPr>
              <a:spLocks/>
            </p:cNvSpPr>
            <p:nvPr userDrawn="1"/>
          </p:nvSpPr>
          <p:spPr bwMode="auto">
            <a:xfrm>
              <a:off x="6438922"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0 w 21"/>
                <a:gd name="T25" fmla="*/ 93 h 93"/>
                <a:gd name="T26" fmla="*/ 10 w 21"/>
                <a:gd name="T27" fmla="*/ 93 h 93"/>
                <a:gd name="T28" fmla="*/ 8 w 21"/>
                <a:gd name="T29" fmla="*/ 92 h 93"/>
                <a:gd name="T30" fmla="*/ 6 w 21"/>
                <a:gd name="T31" fmla="*/ 90 h 93"/>
                <a:gd name="T32" fmla="*/ 6 w 21"/>
                <a:gd name="T33" fmla="*/ 45 h 93"/>
                <a:gd name="T34" fmla="*/ 6 w 21"/>
                <a:gd name="T35" fmla="*/ 45 h 93"/>
                <a:gd name="T36" fmla="*/ 3 w 21"/>
                <a:gd name="T37" fmla="*/ 44 h 93"/>
                <a:gd name="T38" fmla="*/ 1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0" y="93"/>
                  </a:lnTo>
                  <a:lnTo>
                    <a:pt x="10" y="93"/>
                  </a:lnTo>
                  <a:lnTo>
                    <a:pt x="8" y="92"/>
                  </a:lnTo>
                  <a:lnTo>
                    <a:pt x="6" y="90"/>
                  </a:lnTo>
                  <a:lnTo>
                    <a:pt x="6" y="45"/>
                  </a:lnTo>
                  <a:lnTo>
                    <a:pt x="6" y="45"/>
                  </a:lnTo>
                  <a:lnTo>
                    <a:pt x="3" y="44"/>
                  </a:lnTo>
                  <a:lnTo>
                    <a:pt x="1"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9" name="Freeform 226">
              <a:extLst>
                <a:ext uri="{FF2B5EF4-FFF2-40B4-BE49-F238E27FC236}">
                  <a16:creationId xmlns:a16="http://schemas.microsoft.com/office/drawing/2014/main" id="{8F4A4E8B-D9D9-4578-8122-67D1F22316BB}"/>
                </a:ext>
              </a:extLst>
            </p:cNvPr>
            <p:cNvSpPr>
              <a:spLocks/>
            </p:cNvSpPr>
            <p:nvPr userDrawn="1"/>
          </p:nvSpPr>
          <p:spPr bwMode="auto">
            <a:xfrm>
              <a:off x="6408759" y="3563980"/>
              <a:ext cx="17463" cy="74613"/>
            </a:xfrm>
            <a:custGeom>
              <a:avLst/>
              <a:gdLst>
                <a:gd name="T0" fmla="*/ 0 w 21"/>
                <a:gd name="T1" fmla="*/ 35 h 93"/>
                <a:gd name="T2" fmla="*/ 0 w 21"/>
                <a:gd name="T3" fmla="*/ 0 h 93"/>
                <a:gd name="T4" fmla="*/ 21 w 21"/>
                <a:gd name="T5" fmla="*/ 0 h 93"/>
                <a:gd name="T6" fmla="*/ 21 w 21"/>
                <a:gd name="T7" fmla="*/ 35 h 93"/>
                <a:gd name="T8" fmla="*/ 21 w 21"/>
                <a:gd name="T9" fmla="*/ 35 h 93"/>
                <a:gd name="T10" fmla="*/ 21 w 21"/>
                <a:gd name="T11" fmla="*/ 38 h 93"/>
                <a:gd name="T12" fmla="*/ 19 w 21"/>
                <a:gd name="T13" fmla="*/ 42 h 93"/>
                <a:gd name="T14" fmla="*/ 17 w 21"/>
                <a:gd name="T15" fmla="*/ 44 h 93"/>
                <a:gd name="T16" fmla="*/ 15 w 21"/>
                <a:gd name="T17" fmla="*/ 45 h 93"/>
                <a:gd name="T18" fmla="*/ 15 w 21"/>
                <a:gd name="T19" fmla="*/ 90 h 93"/>
                <a:gd name="T20" fmla="*/ 15 w 21"/>
                <a:gd name="T21" fmla="*/ 90 h 93"/>
                <a:gd name="T22" fmla="*/ 13 w 21"/>
                <a:gd name="T23" fmla="*/ 92 h 93"/>
                <a:gd name="T24" fmla="*/ 10 w 21"/>
                <a:gd name="T25" fmla="*/ 93 h 93"/>
                <a:gd name="T26" fmla="*/ 10 w 21"/>
                <a:gd name="T27" fmla="*/ 93 h 93"/>
                <a:gd name="T28" fmla="*/ 8 w 21"/>
                <a:gd name="T29" fmla="*/ 92 h 93"/>
                <a:gd name="T30" fmla="*/ 6 w 21"/>
                <a:gd name="T31" fmla="*/ 90 h 93"/>
                <a:gd name="T32" fmla="*/ 6 w 21"/>
                <a:gd name="T33" fmla="*/ 45 h 93"/>
                <a:gd name="T34" fmla="*/ 6 w 21"/>
                <a:gd name="T35" fmla="*/ 45 h 93"/>
                <a:gd name="T36" fmla="*/ 3 w 21"/>
                <a:gd name="T37" fmla="*/ 44 h 93"/>
                <a:gd name="T38" fmla="*/ 1 w 21"/>
                <a:gd name="T39" fmla="*/ 42 h 93"/>
                <a:gd name="T40" fmla="*/ 0 w 21"/>
                <a:gd name="T41" fmla="*/ 38 h 93"/>
                <a:gd name="T42" fmla="*/ 0 w 21"/>
                <a:gd name="T43" fmla="*/ 35 h 93"/>
                <a:gd name="T44" fmla="*/ 0 w 21"/>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93">
                  <a:moveTo>
                    <a:pt x="0" y="35"/>
                  </a:moveTo>
                  <a:lnTo>
                    <a:pt x="0" y="0"/>
                  </a:lnTo>
                  <a:lnTo>
                    <a:pt x="21" y="0"/>
                  </a:lnTo>
                  <a:lnTo>
                    <a:pt x="21" y="35"/>
                  </a:lnTo>
                  <a:lnTo>
                    <a:pt x="21" y="35"/>
                  </a:lnTo>
                  <a:lnTo>
                    <a:pt x="21" y="38"/>
                  </a:lnTo>
                  <a:lnTo>
                    <a:pt x="19" y="42"/>
                  </a:lnTo>
                  <a:lnTo>
                    <a:pt x="17" y="44"/>
                  </a:lnTo>
                  <a:lnTo>
                    <a:pt x="15" y="45"/>
                  </a:lnTo>
                  <a:lnTo>
                    <a:pt x="15" y="90"/>
                  </a:lnTo>
                  <a:lnTo>
                    <a:pt x="15" y="90"/>
                  </a:lnTo>
                  <a:lnTo>
                    <a:pt x="13" y="92"/>
                  </a:lnTo>
                  <a:lnTo>
                    <a:pt x="10" y="93"/>
                  </a:lnTo>
                  <a:lnTo>
                    <a:pt x="10" y="93"/>
                  </a:lnTo>
                  <a:lnTo>
                    <a:pt x="8" y="92"/>
                  </a:lnTo>
                  <a:lnTo>
                    <a:pt x="6" y="90"/>
                  </a:lnTo>
                  <a:lnTo>
                    <a:pt x="6" y="45"/>
                  </a:lnTo>
                  <a:lnTo>
                    <a:pt x="6" y="45"/>
                  </a:lnTo>
                  <a:lnTo>
                    <a:pt x="3" y="44"/>
                  </a:lnTo>
                  <a:lnTo>
                    <a:pt x="1" y="42"/>
                  </a:lnTo>
                  <a:lnTo>
                    <a:pt x="0"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0" name="Freeform 227">
              <a:extLst>
                <a:ext uri="{FF2B5EF4-FFF2-40B4-BE49-F238E27FC236}">
                  <a16:creationId xmlns:a16="http://schemas.microsoft.com/office/drawing/2014/main" id="{F5722369-6715-44E5-8539-7C46F9029EED}"/>
                </a:ext>
              </a:extLst>
            </p:cNvPr>
            <p:cNvSpPr>
              <a:spLocks/>
            </p:cNvSpPr>
            <p:nvPr userDrawn="1"/>
          </p:nvSpPr>
          <p:spPr bwMode="auto">
            <a:xfrm>
              <a:off x="6377009"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1" name="Freeform 228">
              <a:extLst>
                <a:ext uri="{FF2B5EF4-FFF2-40B4-BE49-F238E27FC236}">
                  <a16:creationId xmlns:a16="http://schemas.microsoft.com/office/drawing/2014/main" id="{F9F871AE-C94A-4169-B4FD-80D46EB4C590}"/>
                </a:ext>
              </a:extLst>
            </p:cNvPr>
            <p:cNvSpPr>
              <a:spLocks/>
            </p:cNvSpPr>
            <p:nvPr userDrawn="1"/>
          </p:nvSpPr>
          <p:spPr bwMode="auto">
            <a:xfrm>
              <a:off x="6346847"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2" name="Freeform 229">
              <a:extLst>
                <a:ext uri="{FF2B5EF4-FFF2-40B4-BE49-F238E27FC236}">
                  <a16:creationId xmlns:a16="http://schemas.microsoft.com/office/drawing/2014/main" id="{A10189DC-D7AE-41EC-A7CB-A01DE58AF571}"/>
                </a:ext>
              </a:extLst>
            </p:cNvPr>
            <p:cNvSpPr>
              <a:spLocks/>
            </p:cNvSpPr>
            <p:nvPr userDrawn="1"/>
          </p:nvSpPr>
          <p:spPr bwMode="auto">
            <a:xfrm>
              <a:off x="6316684"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3" name="Freeform 230">
              <a:extLst>
                <a:ext uri="{FF2B5EF4-FFF2-40B4-BE49-F238E27FC236}">
                  <a16:creationId xmlns:a16="http://schemas.microsoft.com/office/drawing/2014/main" id="{2C30EAE7-954D-4821-B120-8AB1410F7489}"/>
                </a:ext>
              </a:extLst>
            </p:cNvPr>
            <p:cNvSpPr>
              <a:spLocks/>
            </p:cNvSpPr>
            <p:nvPr userDrawn="1"/>
          </p:nvSpPr>
          <p:spPr bwMode="auto">
            <a:xfrm>
              <a:off x="6286521"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4" name="Freeform 231">
              <a:extLst>
                <a:ext uri="{FF2B5EF4-FFF2-40B4-BE49-F238E27FC236}">
                  <a16:creationId xmlns:a16="http://schemas.microsoft.com/office/drawing/2014/main" id="{78967020-CEC9-44DB-97B5-56393E8B21E2}"/>
                </a:ext>
              </a:extLst>
            </p:cNvPr>
            <p:cNvSpPr>
              <a:spLocks/>
            </p:cNvSpPr>
            <p:nvPr userDrawn="1"/>
          </p:nvSpPr>
          <p:spPr bwMode="auto">
            <a:xfrm>
              <a:off x="6226196" y="3563980"/>
              <a:ext cx="17463" cy="74613"/>
            </a:xfrm>
            <a:custGeom>
              <a:avLst/>
              <a:gdLst>
                <a:gd name="T0" fmla="*/ 0 w 22"/>
                <a:gd name="T1" fmla="*/ 35 h 93"/>
                <a:gd name="T2" fmla="*/ 0 w 22"/>
                <a:gd name="T3" fmla="*/ 0 h 93"/>
                <a:gd name="T4" fmla="*/ 22 w 22"/>
                <a:gd name="T5" fmla="*/ 0 h 93"/>
                <a:gd name="T6" fmla="*/ 22 w 22"/>
                <a:gd name="T7" fmla="*/ 35 h 93"/>
                <a:gd name="T8" fmla="*/ 22 w 22"/>
                <a:gd name="T9" fmla="*/ 35 h 93"/>
                <a:gd name="T10" fmla="*/ 22 w 22"/>
                <a:gd name="T11" fmla="*/ 38 h 93"/>
                <a:gd name="T12" fmla="*/ 21 w 22"/>
                <a:gd name="T13" fmla="*/ 42 h 93"/>
                <a:gd name="T14" fmla="*/ 19 w 22"/>
                <a:gd name="T15" fmla="*/ 44 h 93"/>
                <a:gd name="T16" fmla="*/ 15 w 22"/>
                <a:gd name="T17" fmla="*/ 45 h 93"/>
                <a:gd name="T18" fmla="*/ 15 w 22"/>
                <a:gd name="T19" fmla="*/ 90 h 93"/>
                <a:gd name="T20" fmla="*/ 15 w 22"/>
                <a:gd name="T21" fmla="*/ 90 h 93"/>
                <a:gd name="T22" fmla="*/ 14 w 22"/>
                <a:gd name="T23" fmla="*/ 92 h 93"/>
                <a:gd name="T24" fmla="*/ 12 w 22"/>
                <a:gd name="T25" fmla="*/ 93 h 93"/>
                <a:gd name="T26" fmla="*/ 12 w 22"/>
                <a:gd name="T27" fmla="*/ 93 h 93"/>
                <a:gd name="T28" fmla="*/ 8 w 22"/>
                <a:gd name="T29" fmla="*/ 92 h 93"/>
                <a:gd name="T30" fmla="*/ 8 w 22"/>
                <a:gd name="T31" fmla="*/ 90 h 93"/>
                <a:gd name="T32" fmla="*/ 8 w 22"/>
                <a:gd name="T33" fmla="*/ 45 h 93"/>
                <a:gd name="T34" fmla="*/ 8 w 22"/>
                <a:gd name="T35" fmla="*/ 45 h 93"/>
                <a:gd name="T36" fmla="*/ 5 w 22"/>
                <a:gd name="T37" fmla="*/ 44 h 93"/>
                <a:gd name="T38" fmla="*/ 3 w 22"/>
                <a:gd name="T39" fmla="*/ 42 h 93"/>
                <a:gd name="T40" fmla="*/ 2 w 22"/>
                <a:gd name="T41" fmla="*/ 38 h 93"/>
                <a:gd name="T42" fmla="*/ 0 w 22"/>
                <a:gd name="T43" fmla="*/ 35 h 93"/>
                <a:gd name="T44" fmla="*/ 0 w 22"/>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93">
                  <a:moveTo>
                    <a:pt x="0" y="35"/>
                  </a:moveTo>
                  <a:lnTo>
                    <a:pt x="0" y="0"/>
                  </a:lnTo>
                  <a:lnTo>
                    <a:pt x="22" y="0"/>
                  </a:lnTo>
                  <a:lnTo>
                    <a:pt x="22" y="35"/>
                  </a:lnTo>
                  <a:lnTo>
                    <a:pt x="22" y="35"/>
                  </a:lnTo>
                  <a:lnTo>
                    <a:pt x="22" y="38"/>
                  </a:lnTo>
                  <a:lnTo>
                    <a:pt x="21" y="42"/>
                  </a:lnTo>
                  <a:lnTo>
                    <a:pt x="19" y="44"/>
                  </a:lnTo>
                  <a:lnTo>
                    <a:pt x="15" y="45"/>
                  </a:lnTo>
                  <a:lnTo>
                    <a:pt x="15" y="90"/>
                  </a:lnTo>
                  <a:lnTo>
                    <a:pt x="15" y="90"/>
                  </a:lnTo>
                  <a:lnTo>
                    <a:pt x="14" y="92"/>
                  </a:lnTo>
                  <a:lnTo>
                    <a:pt x="12" y="93"/>
                  </a:lnTo>
                  <a:lnTo>
                    <a:pt x="12" y="93"/>
                  </a:lnTo>
                  <a:lnTo>
                    <a:pt x="8"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5" name="Freeform 232">
              <a:extLst>
                <a:ext uri="{FF2B5EF4-FFF2-40B4-BE49-F238E27FC236}">
                  <a16:creationId xmlns:a16="http://schemas.microsoft.com/office/drawing/2014/main" id="{06AA2F9B-532A-48F4-BE94-A578EF618EDA}"/>
                </a:ext>
              </a:extLst>
            </p:cNvPr>
            <p:cNvSpPr>
              <a:spLocks/>
            </p:cNvSpPr>
            <p:nvPr userDrawn="1"/>
          </p:nvSpPr>
          <p:spPr bwMode="auto">
            <a:xfrm>
              <a:off x="6256359" y="3563980"/>
              <a:ext cx="19050" cy="74613"/>
            </a:xfrm>
            <a:custGeom>
              <a:avLst/>
              <a:gdLst>
                <a:gd name="T0" fmla="*/ 0 w 23"/>
                <a:gd name="T1" fmla="*/ 35 h 93"/>
                <a:gd name="T2" fmla="*/ 0 w 23"/>
                <a:gd name="T3" fmla="*/ 0 h 93"/>
                <a:gd name="T4" fmla="*/ 23 w 23"/>
                <a:gd name="T5" fmla="*/ 0 h 93"/>
                <a:gd name="T6" fmla="*/ 23 w 23"/>
                <a:gd name="T7" fmla="*/ 35 h 93"/>
                <a:gd name="T8" fmla="*/ 23 w 23"/>
                <a:gd name="T9" fmla="*/ 35 h 93"/>
                <a:gd name="T10" fmla="*/ 22 w 23"/>
                <a:gd name="T11" fmla="*/ 38 h 93"/>
                <a:gd name="T12" fmla="*/ 21 w 23"/>
                <a:gd name="T13" fmla="*/ 42 h 93"/>
                <a:gd name="T14" fmla="*/ 19 w 23"/>
                <a:gd name="T15" fmla="*/ 44 h 93"/>
                <a:gd name="T16" fmla="*/ 15 w 23"/>
                <a:gd name="T17" fmla="*/ 45 h 93"/>
                <a:gd name="T18" fmla="*/ 15 w 23"/>
                <a:gd name="T19" fmla="*/ 90 h 93"/>
                <a:gd name="T20" fmla="*/ 15 w 23"/>
                <a:gd name="T21" fmla="*/ 90 h 93"/>
                <a:gd name="T22" fmla="*/ 14 w 23"/>
                <a:gd name="T23" fmla="*/ 92 h 93"/>
                <a:gd name="T24" fmla="*/ 12 w 23"/>
                <a:gd name="T25" fmla="*/ 93 h 93"/>
                <a:gd name="T26" fmla="*/ 12 w 23"/>
                <a:gd name="T27" fmla="*/ 93 h 93"/>
                <a:gd name="T28" fmla="*/ 10 w 23"/>
                <a:gd name="T29" fmla="*/ 92 h 93"/>
                <a:gd name="T30" fmla="*/ 8 w 23"/>
                <a:gd name="T31" fmla="*/ 90 h 93"/>
                <a:gd name="T32" fmla="*/ 8 w 23"/>
                <a:gd name="T33" fmla="*/ 45 h 93"/>
                <a:gd name="T34" fmla="*/ 8 w 23"/>
                <a:gd name="T35" fmla="*/ 45 h 93"/>
                <a:gd name="T36" fmla="*/ 5 w 23"/>
                <a:gd name="T37" fmla="*/ 44 h 93"/>
                <a:gd name="T38" fmla="*/ 3 w 23"/>
                <a:gd name="T39" fmla="*/ 42 h 93"/>
                <a:gd name="T40" fmla="*/ 2 w 23"/>
                <a:gd name="T41" fmla="*/ 38 h 93"/>
                <a:gd name="T42" fmla="*/ 0 w 23"/>
                <a:gd name="T43" fmla="*/ 35 h 93"/>
                <a:gd name="T44" fmla="*/ 0 w 23"/>
                <a:gd name="T45" fmla="*/ 3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 h="93">
                  <a:moveTo>
                    <a:pt x="0" y="35"/>
                  </a:moveTo>
                  <a:lnTo>
                    <a:pt x="0" y="0"/>
                  </a:lnTo>
                  <a:lnTo>
                    <a:pt x="23" y="0"/>
                  </a:lnTo>
                  <a:lnTo>
                    <a:pt x="23" y="35"/>
                  </a:lnTo>
                  <a:lnTo>
                    <a:pt x="23" y="35"/>
                  </a:lnTo>
                  <a:lnTo>
                    <a:pt x="22" y="38"/>
                  </a:lnTo>
                  <a:lnTo>
                    <a:pt x="21" y="42"/>
                  </a:lnTo>
                  <a:lnTo>
                    <a:pt x="19" y="44"/>
                  </a:lnTo>
                  <a:lnTo>
                    <a:pt x="15" y="45"/>
                  </a:lnTo>
                  <a:lnTo>
                    <a:pt x="15" y="90"/>
                  </a:lnTo>
                  <a:lnTo>
                    <a:pt x="15" y="90"/>
                  </a:lnTo>
                  <a:lnTo>
                    <a:pt x="14" y="92"/>
                  </a:lnTo>
                  <a:lnTo>
                    <a:pt x="12" y="93"/>
                  </a:lnTo>
                  <a:lnTo>
                    <a:pt x="12" y="93"/>
                  </a:lnTo>
                  <a:lnTo>
                    <a:pt x="10" y="92"/>
                  </a:lnTo>
                  <a:lnTo>
                    <a:pt x="8" y="90"/>
                  </a:lnTo>
                  <a:lnTo>
                    <a:pt x="8" y="45"/>
                  </a:lnTo>
                  <a:lnTo>
                    <a:pt x="8" y="45"/>
                  </a:lnTo>
                  <a:lnTo>
                    <a:pt x="5" y="44"/>
                  </a:lnTo>
                  <a:lnTo>
                    <a:pt x="3" y="42"/>
                  </a:lnTo>
                  <a:lnTo>
                    <a:pt x="2" y="38"/>
                  </a:lnTo>
                  <a:lnTo>
                    <a:pt x="0" y="35"/>
                  </a:lnTo>
                  <a:lnTo>
                    <a:pt x="0" y="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6" name="Freeform 233">
              <a:extLst>
                <a:ext uri="{FF2B5EF4-FFF2-40B4-BE49-F238E27FC236}">
                  <a16:creationId xmlns:a16="http://schemas.microsoft.com/office/drawing/2014/main" id="{B4BAA03E-7506-44D3-B7BB-8231541E8662}"/>
                </a:ext>
              </a:extLst>
            </p:cNvPr>
            <p:cNvSpPr>
              <a:spLocks/>
            </p:cNvSpPr>
            <p:nvPr userDrawn="1"/>
          </p:nvSpPr>
          <p:spPr bwMode="auto">
            <a:xfrm>
              <a:off x="6103958" y="3498892"/>
              <a:ext cx="74613" cy="17463"/>
            </a:xfrm>
            <a:custGeom>
              <a:avLst/>
              <a:gdLst>
                <a:gd name="T0" fmla="*/ 59 w 95"/>
                <a:gd name="T1" fmla="*/ 0 h 23"/>
                <a:gd name="T2" fmla="*/ 95 w 95"/>
                <a:gd name="T3" fmla="*/ 0 h 23"/>
                <a:gd name="T4" fmla="*/ 95 w 95"/>
                <a:gd name="T5" fmla="*/ 23 h 23"/>
                <a:gd name="T6" fmla="*/ 59 w 95"/>
                <a:gd name="T7" fmla="*/ 23 h 23"/>
                <a:gd name="T8" fmla="*/ 59 w 95"/>
                <a:gd name="T9" fmla="*/ 23 h 23"/>
                <a:gd name="T10" fmla="*/ 55 w 95"/>
                <a:gd name="T11" fmla="*/ 22 h 23"/>
                <a:gd name="T12" fmla="*/ 53 w 95"/>
                <a:gd name="T13" fmla="*/ 21 h 23"/>
                <a:gd name="T14" fmla="*/ 51 w 95"/>
                <a:gd name="T15" fmla="*/ 19 h 23"/>
                <a:gd name="T16" fmla="*/ 48 w 95"/>
                <a:gd name="T17" fmla="*/ 15 h 23"/>
                <a:gd name="T18" fmla="*/ 5 w 95"/>
                <a:gd name="T19" fmla="*/ 15 h 23"/>
                <a:gd name="T20" fmla="*/ 5 w 95"/>
                <a:gd name="T21" fmla="*/ 15 h 23"/>
                <a:gd name="T22" fmla="*/ 1 w 95"/>
                <a:gd name="T23" fmla="*/ 14 h 23"/>
                <a:gd name="T24" fmla="*/ 0 w 95"/>
                <a:gd name="T25" fmla="*/ 12 h 23"/>
                <a:gd name="T26" fmla="*/ 0 w 95"/>
                <a:gd name="T27" fmla="*/ 12 h 23"/>
                <a:gd name="T28" fmla="*/ 1 w 95"/>
                <a:gd name="T29" fmla="*/ 9 h 23"/>
                <a:gd name="T30" fmla="*/ 5 w 95"/>
                <a:gd name="T31" fmla="*/ 8 h 23"/>
                <a:gd name="T32" fmla="*/ 48 w 95"/>
                <a:gd name="T33" fmla="*/ 8 h 23"/>
                <a:gd name="T34" fmla="*/ 48 w 95"/>
                <a:gd name="T35" fmla="*/ 8 h 23"/>
                <a:gd name="T36" fmla="*/ 51 w 95"/>
                <a:gd name="T37" fmla="*/ 5 h 23"/>
                <a:gd name="T38" fmla="*/ 53 w 95"/>
                <a:gd name="T39" fmla="*/ 2 h 23"/>
                <a:gd name="T40" fmla="*/ 55 w 95"/>
                <a:gd name="T41" fmla="*/ 1 h 23"/>
                <a:gd name="T42" fmla="*/ 59 w 95"/>
                <a:gd name="T43" fmla="*/ 0 h 23"/>
                <a:gd name="T44" fmla="*/ 59 w 95"/>
                <a:gd name="T4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59" y="0"/>
                  </a:moveTo>
                  <a:lnTo>
                    <a:pt x="95" y="0"/>
                  </a:lnTo>
                  <a:lnTo>
                    <a:pt x="95" y="23"/>
                  </a:lnTo>
                  <a:lnTo>
                    <a:pt x="59" y="23"/>
                  </a:lnTo>
                  <a:lnTo>
                    <a:pt x="59" y="23"/>
                  </a:lnTo>
                  <a:lnTo>
                    <a:pt x="55" y="22"/>
                  </a:lnTo>
                  <a:lnTo>
                    <a:pt x="53" y="21"/>
                  </a:lnTo>
                  <a:lnTo>
                    <a:pt x="51" y="19"/>
                  </a:lnTo>
                  <a:lnTo>
                    <a:pt x="48" y="15"/>
                  </a:lnTo>
                  <a:lnTo>
                    <a:pt x="5" y="15"/>
                  </a:lnTo>
                  <a:lnTo>
                    <a:pt x="5" y="15"/>
                  </a:lnTo>
                  <a:lnTo>
                    <a:pt x="1" y="14"/>
                  </a:lnTo>
                  <a:lnTo>
                    <a:pt x="0" y="12"/>
                  </a:lnTo>
                  <a:lnTo>
                    <a:pt x="0" y="12"/>
                  </a:lnTo>
                  <a:lnTo>
                    <a:pt x="1" y="9"/>
                  </a:lnTo>
                  <a:lnTo>
                    <a:pt x="5" y="8"/>
                  </a:lnTo>
                  <a:lnTo>
                    <a:pt x="48" y="8"/>
                  </a:lnTo>
                  <a:lnTo>
                    <a:pt x="48" y="8"/>
                  </a:lnTo>
                  <a:lnTo>
                    <a:pt x="51" y="5"/>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7" name="Freeform 234">
              <a:extLst>
                <a:ext uri="{FF2B5EF4-FFF2-40B4-BE49-F238E27FC236}">
                  <a16:creationId xmlns:a16="http://schemas.microsoft.com/office/drawing/2014/main" id="{4495226A-D4C6-46B2-B779-25CE0DE0BEFC}"/>
                </a:ext>
              </a:extLst>
            </p:cNvPr>
            <p:cNvSpPr>
              <a:spLocks/>
            </p:cNvSpPr>
            <p:nvPr userDrawn="1"/>
          </p:nvSpPr>
          <p:spPr bwMode="auto">
            <a:xfrm>
              <a:off x="6103958" y="3468729"/>
              <a:ext cx="74613" cy="17463"/>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1 h 22"/>
                <a:gd name="T14" fmla="*/ 51 w 95"/>
                <a:gd name="T15" fmla="*/ 19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8 h 22"/>
                <a:gd name="T32" fmla="*/ 48 w 95"/>
                <a:gd name="T33" fmla="*/ 8 h 22"/>
                <a:gd name="T34" fmla="*/ 48 w 95"/>
                <a:gd name="T35" fmla="*/ 8 h 22"/>
                <a:gd name="T36" fmla="*/ 51 w 95"/>
                <a:gd name="T37" fmla="*/ 5 h 22"/>
                <a:gd name="T38" fmla="*/ 53 w 95"/>
                <a:gd name="T39" fmla="*/ 2 h 22"/>
                <a:gd name="T40" fmla="*/ 55 w 95"/>
                <a:gd name="T41" fmla="*/ 1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1"/>
                  </a:lnTo>
                  <a:lnTo>
                    <a:pt x="51" y="19"/>
                  </a:lnTo>
                  <a:lnTo>
                    <a:pt x="48" y="15"/>
                  </a:lnTo>
                  <a:lnTo>
                    <a:pt x="5" y="15"/>
                  </a:lnTo>
                  <a:lnTo>
                    <a:pt x="5" y="15"/>
                  </a:lnTo>
                  <a:lnTo>
                    <a:pt x="1" y="14"/>
                  </a:lnTo>
                  <a:lnTo>
                    <a:pt x="0" y="12"/>
                  </a:lnTo>
                  <a:lnTo>
                    <a:pt x="0" y="12"/>
                  </a:lnTo>
                  <a:lnTo>
                    <a:pt x="1" y="8"/>
                  </a:lnTo>
                  <a:lnTo>
                    <a:pt x="5" y="8"/>
                  </a:lnTo>
                  <a:lnTo>
                    <a:pt x="48" y="8"/>
                  </a:lnTo>
                  <a:lnTo>
                    <a:pt x="48" y="8"/>
                  </a:lnTo>
                  <a:lnTo>
                    <a:pt x="51" y="5"/>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8" name="Freeform 235">
              <a:extLst>
                <a:ext uri="{FF2B5EF4-FFF2-40B4-BE49-F238E27FC236}">
                  <a16:creationId xmlns:a16="http://schemas.microsoft.com/office/drawing/2014/main" id="{34BAC1E5-2C0F-46BF-BAE4-7C62671DB415}"/>
                </a:ext>
              </a:extLst>
            </p:cNvPr>
            <p:cNvSpPr>
              <a:spLocks/>
            </p:cNvSpPr>
            <p:nvPr userDrawn="1"/>
          </p:nvSpPr>
          <p:spPr bwMode="auto">
            <a:xfrm>
              <a:off x="6103958" y="3438566"/>
              <a:ext cx="74613" cy="17463"/>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1 h 22"/>
                <a:gd name="T14" fmla="*/ 51 w 95"/>
                <a:gd name="T15" fmla="*/ 19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1"/>
                  </a:lnTo>
                  <a:lnTo>
                    <a:pt x="51" y="19"/>
                  </a:lnTo>
                  <a:lnTo>
                    <a:pt x="48" y="15"/>
                  </a:lnTo>
                  <a:lnTo>
                    <a:pt x="5" y="15"/>
                  </a:lnTo>
                  <a:lnTo>
                    <a:pt x="5" y="15"/>
                  </a:lnTo>
                  <a:lnTo>
                    <a:pt x="1" y="14"/>
                  </a:lnTo>
                  <a:lnTo>
                    <a:pt x="0" y="12"/>
                  </a:lnTo>
                  <a:lnTo>
                    <a:pt x="0" y="12"/>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9" name="Freeform 236">
              <a:extLst>
                <a:ext uri="{FF2B5EF4-FFF2-40B4-BE49-F238E27FC236}">
                  <a16:creationId xmlns:a16="http://schemas.microsoft.com/office/drawing/2014/main" id="{BA91F17B-FABA-4DBF-B7E1-BEEE9196A335}"/>
                </a:ext>
              </a:extLst>
            </p:cNvPr>
            <p:cNvSpPr>
              <a:spLocks/>
            </p:cNvSpPr>
            <p:nvPr userDrawn="1"/>
          </p:nvSpPr>
          <p:spPr bwMode="auto">
            <a:xfrm>
              <a:off x="6103958" y="3408403"/>
              <a:ext cx="74613" cy="17463"/>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1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1"/>
                  </a:lnTo>
                  <a:lnTo>
                    <a:pt x="51" y="17"/>
                  </a:lnTo>
                  <a:lnTo>
                    <a:pt x="48" y="15"/>
                  </a:lnTo>
                  <a:lnTo>
                    <a:pt x="5" y="15"/>
                  </a:lnTo>
                  <a:lnTo>
                    <a:pt x="5" y="15"/>
                  </a:lnTo>
                  <a:lnTo>
                    <a:pt x="1" y="14"/>
                  </a:lnTo>
                  <a:lnTo>
                    <a:pt x="0" y="12"/>
                  </a:lnTo>
                  <a:lnTo>
                    <a:pt x="0" y="12"/>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0" name="Freeform 237">
              <a:extLst>
                <a:ext uri="{FF2B5EF4-FFF2-40B4-BE49-F238E27FC236}">
                  <a16:creationId xmlns:a16="http://schemas.microsoft.com/office/drawing/2014/main" id="{EDD73D04-31D4-4567-8D6C-24B0501A4E61}"/>
                </a:ext>
              </a:extLst>
            </p:cNvPr>
            <p:cNvSpPr>
              <a:spLocks/>
            </p:cNvSpPr>
            <p:nvPr userDrawn="1"/>
          </p:nvSpPr>
          <p:spPr bwMode="auto">
            <a:xfrm>
              <a:off x="6103958" y="3378241"/>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2 h 22"/>
                <a:gd name="T26" fmla="*/ 0 w 95"/>
                <a:gd name="T27" fmla="*/ 12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5"/>
                  </a:lnTo>
                  <a:lnTo>
                    <a:pt x="5" y="15"/>
                  </a:lnTo>
                  <a:lnTo>
                    <a:pt x="5" y="15"/>
                  </a:lnTo>
                  <a:lnTo>
                    <a:pt x="1" y="14"/>
                  </a:lnTo>
                  <a:lnTo>
                    <a:pt x="0" y="12"/>
                  </a:lnTo>
                  <a:lnTo>
                    <a:pt x="0" y="12"/>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1" name="Freeform 238">
              <a:extLst>
                <a:ext uri="{FF2B5EF4-FFF2-40B4-BE49-F238E27FC236}">
                  <a16:creationId xmlns:a16="http://schemas.microsoft.com/office/drawing/2014/main" id="{258D139F-A952-4BFB-A8C8-F8BE5D4F8F33}"/>
                </a:ext>
              </a:extLst>
            </p:cNvPr>
            <p:cNvSpPr>
              <a:spLocks/>
            </p:cNvSpPr>
            <p:nvPr userDrawn="1"/>
          </p:nvSpPr>
          <p:spPr bwMode="auto">
            <a:xfrm>
              <a:off x="6103958" y="3348078"/>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0 h 22"/>
                <a:gd name="T26" fmla="*/ 0 w 95"/>
                <a:gd name="T27" fmla="*/ 10 h 22"/>
                <a:gd name="T28" fmla="*/ 1 w 95"/>
                <a:gd name="T29" fmla="*/ 8 h 22"/>
                <a:gd name="T30" fmla="*/ 5 w 95"/>
                <a:gd name="T31" fmla="*/ 7 h 22"/>
                <a:gd name="T32" fmla="*/ 48 w 95"/>
                <a:gd name="T33" fmla="*/ 7 h 22"/>
                <a:gd name="T34" fmla="*/ 48 w 95"/>
                <a:gd name="T35" fmla="*/ 7 h 22"/>
                <a:gd name="T36" fmla="*/ 51 w 95"/>
                <a:gd name="T37" fmla="*/ 5 h 22"/>
                <a:gd name="T38" fmla="*/ 53 w 95"/>
                <a:gd name="T39" fmla="*/ 2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5"/>
                  </a:lnTo>
                  <a:lnTo>
                    <a:pt x="5" y="15"/>
                  </a:lnTo>
                  <a:lnTo>
                    <a:pt x="5" y="15"/>
                  </a:lnTo>
                  <a:lnTo>
                    <a:pt x="1" y="14"/>
                  </a:lnTo>
                  <a:lnTo>
                    <a:pt x="0" y="10"/>
                  </a:lnTo>
                  <a:lnTo>
                    <a:pt x="0" y="10"/>
                  </a:lnTo>
                  <a:lnTo>
                    <a:pt x="1" y="8"/>
                  </a:lnTo>
                  <a:lnTo>
                    <a:pt x="5" y="7"/>
                  </a:lnTo>
                  <a:lnTo>
                    <a:pt x="48" y="7"/>
                  </a:lnTo>
                  <a:lnTo>
                    <a:pt x="48" y="7"/>
                  </a:lnTo>
                  <a:lnTo>
                    <a:pt x="51" y="5"/>
                  </a:lnTo>
                  <a:lnTo>
                    <a:pt x="53" y="2"/>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2" name="Freeform 239">
              <a:extLst>
                <a:ext uri="{FF2B5EF4-FFF2-40B4-BE49-F238E27FC236}">
                  <a16:creationId xmlns:a16="http://schemas.microsoft.com/office/drawing/2014/main" id="{6A29198C-48B2-498E-9AED-E93CD67064DB}"/>
                </a:ext>
              </a:extLst>
            </p:cNvPr>
            <p:cNvSpPr>
              <a:spLocks/>
            </p:cNvSpPr>
            <p:nvPr userDrawn="1"/>
          </p:nvSpPr>
          <p:spPr bwMode="auto">
            <a:xfrm>
              <a:off x="6103958" y="3317915"/>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5 h 22"/>
                <a:gd name="T18" fmla="*/ 5 w 95"/>
                <a:gd name="T19" fmla="*/ 15 h 22"/>
                <a:gd name="T20" fmla="*/ 5 w 95"/>
                <a:gd name="T21" fmla="*/ 15 h 22"/>
                <a:gd name="T22" fmla="*/ 1 w 95"/>
                <a:gd name="T23" fmla="*/ 14 h 22"/>
                <a:gd name="T24" fmla="*/ 0 w 95"/>
                <a:gd name="T25" fmla="*/ 10 h 22"/>
                <a:gd name="T26" fmla="*/ 0 w 95"/>
                <a:gd name="T27" fmla="*/ 10 h 22"/>
                <a:gd name="T28" fmla="*/ 1 w 95"/>
                <a:gd name="T29" fmla="*/ 8 h 22"/>
                <a:gd name="T30" fmla="*/ 5 w 95"/>
                <a:gd name="T31" fmla="*/ 7 h 22"/>
                <a:gd name="T32" fmla="*/ 48 w 95"/>
                <a:gd name="T33" fmla="*/ 7 h 22"/>
                <a:gd name="T34" fmla="*/ 48 w 95"/>
                <a:gd name="T35" fmla="*/ 7 h 22"/>
                <a:gd name="T36" fmla="*/ 51 w 95"/>
                <a:gd name="T37" fmla="*/ 4 h 22"/>
                <a:gd name="T38" fmla="*/ 53 w 95"/>
                <a:gd name="T39" fmla="*/ 1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5"/>
                  </a:lnTo>
                  <a:lnTo>
                    <a:pt x="5" y="15"/>
                  </a:lnTo>
                  <a:lnTo>
                    <a:pt x="5" y="15"/>
                  </a:lnTo>
                  <a:lnTo>
                    <a:pt x="1" y="14"/>
                  </a:lnTo>
                  <a:lnTo>
                    <a:pt x="0" y="10"/>
                  </a:lnTo>
                  <a:lnTo>
                    <a:pt x="0" y="10"/>
                  </a:lnTo>
                  <a:lnTo>
                    <a:pt x="1" y="8"/>
                  </a:lnTo>
                  <a:lnTo>
                    <a:pt x="5" y="7"/>
                  </a:lnTo>
                  <a:lnTo>
                    <a:pt x="48" y="7"/>
                  </a:lnTo>
                  <a:lnTo>
                    <a:pt x="48" y="7"/>
                  </a:lnTo>
                  <a:lnTo>
                    <a:pt x="51" y="4"/>
                  </a:lnTo>
                  <a:lnTo>
                    <a:pt x="53" y="1"/>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3" name="Freeform 240">
              <a:extLst>
                <a:ext uri="{FF2B5EF4-FFF2-40B4-BE49-F238E27FC236}">
                  <a16:creationId xmlns:a16="http://schemas.microsoft.com/office/drawing/2014/main" id="{A1820CF0-26AF-4C4F-A207-CF660A6DA090}"/>
                </a:ext>
              </a:extLst>
            </p:cNvPr>
            <p:cNvSpPr>
              <a:spLocks/>
            </p:cNvSpPr>
            <p:nvPr userDrawn="1"/>
          </p:nvSpPr>
          <p:spPr bwMode="auto">
            <a:xfrm>
              <a:off x="6103958" y="3287752"/>
              <a:ext cx="74613" cy="15875"/>
            </a:xfrm>
            <a:custGeom>
              <a:avLst/>
              <a:gdLst>
                <a:gd name="T0" fmla="*/ 59 w 95"/>
                <a:gd name="T1" fmla="*/ 0 h 22"/>
                <a:gd name="T2" fmla="*/ 95 w 95"/>
                <a:gd name="T3" fmla="*/ 0 h 22"/>
                <a:gd name="T4" fmla="*/ 95 w 95"/>
                <a:gd name="T5" fmla="*/ 22 h 22"/>
                <a:gd name="T6" fmla="*/ 59 w 95"/>
                <a:gd name="T7" fmla="*/ 22 h 22"/>
                <a:gd name="T8" fmla="*/ 59 w 95"/>
                <a:gd name="T9" fmla="*/ 22 h 22"/>
                <a:gd name="T10" fmla="*/ 55 w 95"/>
                <a:gd name="T11" fmla="*/ 22 h 22"/>
                <a:gd name="T12" fmla="*/ 53 w 95"/>
                <a:gd name="T13" fmla="*/ 20 h 22"/>
                <a:gd name="T14" fmla="*/ 51 w 95"/>
                <a:gd name="T15" fmla="*/ 17 h 22"/>
                <a:gd name="T16" fmla="*/ 48 w 95"/>
                <a:gd name="T17" fmla="*/ 14 h 22"/>
                <a:gd name="T18" fmla="*/ 5 w 95"/>
                <a:gd name="T19" fmla="*/ 14 h 22"/>
                <a:gd name="T20" fmla="*/ 5 w 95"/>
                <a:gd name="T21" fmla="*/ 14 h 22"/>
                <a:gd name="T22" fmla="*/ 1 w 95"/>
                <a:gd name="T23" fmla="*/ 14 h 22"/>
                <a:gd name="T24" fmla="*/ 0 w 95"/>
                <a:gd name="T25" fmla="*/ 10 h 22"/>
                <a:gd name="T26" fmla="*/ 0 w 95"/>
                <a:gd name="T27" fmla="*/ 10 h 22"/>
                <a:gd name="T28" fmla="*/ 1 w 95"/>
                <a:gd name="T29" fmla="*/ 8 h 22"/>
                <a:gd name="T30" fmla="*/ 5 w 95"/>
                <a:gd name="T31" fmla="*/ 7 h 22"/>
                <a:gd name="T32" fmla="*/ 48 w 95"/>
                <a:gd name="T33" fmla="*/ 7 h 22"/>
                <a:gd name="T34" fmla="*/ 48 w 95"/>
                <a:gd name="T35" fmla="*/ 7 h 22"/>
                <a:gd name="T36" fmla="*/ 51 w 95"/>
                <a:gd name="T37" fmla="*/ 3 h 22"/>
                <a:gd name="T38" fmla="*/ 53 w 95"/>
                <a:gd name="T39" fmla="*/ 1 h 22"/>
                <a:gd name="T40" fmla="*/ 55 w 95"/>
                <a:gd name="T41" fmla="*/ 0 h 22"/>
                <a:gd name="T42" fmla="*/ 59 w 95"/>
                <a:gd name="T43" fmla="*/ 0 h 22"/>
                <a:gd name="T44" fmla="*/ 59 w 95"/>
                <a:gd name="T45"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59" y="0"/>
                  </a:moveTo>
                  <a:lnTo>
                    <a:pt x="95" y="0"/>
                  </a:lnTo>
                  <a:lnTo>
                    <a:pt x="95" y="22"/>
                  </a:lnTo>
                  <a:lnTo>
                    <a:pt x="59" y="22"/>
                  </a:lnTo>
                  <a:lnTo>
                    <a:pt x="59" y="22"/>
                  </a:lnTo>
                  <a:lnTo>
                    <a:pt x="55" y="22"/>
                  </a:lnTo>
                  <a:lnTo>
                    <a:pt x="53" y="20"/>
                  </a:lnTo>
                  <a:lnTo>
                    <a:pt x="51" y="17"/>
                  </a:lnTo>
                  <a:lnTo>
                    <a:pt x="48" y="14"/>
                  </a:lnTo>
                  <a:lnTo>
                    <a:pt x="5" y="14"/>
                  </a:lnTo>
                  <a:lnTo>
                    <a:pt x="5" y="14"/>
                  </a:lnTo>
                  <a:lnTo>
                    <a:pt x="1" y="14"/>
                  </a:lnTo>
                  <a:lnTo>
                    <a:pt x="0" y="10"/>
                  </a:lnTo>
                  <a:lnTo>
                    <a:pt x="0" y="10"/>
                  </a:lnTo>
                  <a:lnTo>
                    <a:pt x="1" y="8"/>
                  </a:lnTo>
                  <a:lnTo>
                    <a:pt x="5" y="7"/>
                  </a:lnTo>
                  <a:lnTo>
                    <a:pt x="48" y="7"/>
                  </a:lnTo>
                  <a:lnTo>
                    <a:pt x="48" y="7"/>
                  </a:lnTo>
                  <a:lnTo>
                    <a:pt x="51" y="3"/>
                  </a:lnTo>
                  <a:lnTo>
                    <a:pt x="53" y="1"/>
                  </a:lnTo>
                  <a:lnTo>
                    <a:pt x="55" y="0"/>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4" name="Freeform 241">
              <a:extLst>
                <a:ext uri="{FF2B5EF4-FFF2-40B4-BE49-F238E27FC236}">
                  <a16:creationId xmlns:a16="http://schemas.microsoft.com/office/drawing/2014/main" id="{E0CC82B2-4AAB-4F8C-B7D0-A3035CA11EC9}"/>
                </a:ext>
              </a:extLst>
            </p:cNvPr>
            <p:cNvSpPr>
              <a:spLocks/>
            </p:cNvSpPr>
            <p:nvPr userDrawn="1"/>
          </p:nvSpPr>
          <p:spPr bwMode="auto">
            <a:xfrm>
              <a:off x="6103958" y="3225839"/>
              <a:ext cx="74613" cy="17463"/>
            </a:xfrm>
            <a:custGeom>
              <a:avLst/>
              <a:gdLst>
                <a:gd name="T0" fmla="*/ 59 w 95"/>
                <a:gd name="T1" fmla="*/ 0 h 23"/>
                <a:gd name="T2" fmla="*/ 95 w 95"/>
                <a:gd name="T3" fmla="*/ 0 h 23"/>
                <a:gd name="T4" fmla="*/ 95 w 95"/>
                <a:gd name="T5" fmla="*/ 23 h 23"/>
                <a:gd name="T6" fmla="*/ 59 w 95"/>
                <a:gd name="T7" fmla="*/ 23 h 23"/>
                <a:gd name="T8" fmla="*/ 59 w 95"/>
                <a:gd name="T9" fmla="*/ 23 h 23"/>
                <a:gd name="T10" fmla="*/ 55 w 95"/>
                <a:gd name="T11" fmla="*/ 22 h 23"/>
                <a:gd name="T12" fmla="*/ 53 w 95"/>
                <a:gd name="T13" fmla="*/ 21 h 23"/>
                <a:gd name="T14" fmla="*/ 51 w 95"/>
                <a:gd name="T15" fmla="*/ 18 h 23"/>
                <a:gd name="T16" fmla="*/ 48 w 95"/>
                <a:gd name="T17" fmla="*/ 15 h 23"/>
                <a:gd name="T18" fmla="*/ 5 w 95"/>
                <a:gd name="T19" fmla="*/ 15 h 23"/>
                <a:gd name="T20" fmla="*/ 5 w 95"/>
                <a:gd name="T21" fmla="*/ 15 h 23"/>
                <a:gd name="T22" fmla="*/ 1 w 95"/>
                <a:gd name="T23" fmla="*/ 14 h 23"/>
                <a:gd name="T24" fmla="*/ 0 w 95"/>
                <a:gd name="T25" fmla="*/ 11 h 23"/>
                <a:gd name="T26" fmla="*/ 0 w 95"/>
                <a:gd name="T27" fmla="*/ 11 h 23"/>
                <a:gd name="T28" fmla="*/ 1 w 95"/>
                <a:gd name="T29" fmla="*/ 9 h 23"/>
                <a:gd name="T30" fmla="*/ 5 w 95"/>
                <a:gd name="T31" fmla="*/ 8 h 23"/>
                <a:gd name="T32" fmla="*/ 48 w 95"/>
                <a:gd name="T33" fmla="*/ 8 h 23"/>
                <a:gd name="T34" fmla="*/ 48 w 95"/>
                <a:gd name="T35" fmla="*/ 8 h 23"/>
                <a:gd name="T36" fmla="*/ 51 w 95"/>
                <a:gd name="T37" fmla="*/ 4 h 23"/>
                <a:gd name="T38" fmla="*/ 53 w 95"/>
                <a:gd name="T39" fmla="*/ 2 h 23"/>
                <a:gd name="T40" fmla="*/ 55 w 95"/>
                <a:gd name="T41" fmla="*/ 1 h 23"/>
                <a:gd name="T42" fmla="*/ 59 w 95"/>
                <a:gd name="T43" fmla="*/ 0 h 23"/>
                <a:gd name="T44" fmla="*/ 59 w 95"/>
                <a:gd name="T4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59" y="0"/>
                  </a:moveTo>
                  <a:lnTo>
                    <a:pt x="95" y="0"/>
                  </a:lnTo>
                  <a:lnTo>
                    <a:pt x="95" y="23"/>
                  </a:lnTo>
                  <a:lnTo>
                    <a:pt x="59" y="23"/>
                  </a:lnTo>
                  <a:lnTo>
                    <a:pt x="59" y="23"/>
                  </a:lnTo>
                  <a:lnTo>
                    <a:pt x="55" y="22"/>
                  </a:lnTo>
                  <a:lnTo>
                    <a:pt x="53" y="21"/>
                  </a:lnTo>
                  <a:lnTo>
                    <a:pt x="51" y="18"/>
                  </a:lnTo>
                  <a:lnTo>
                    <a:pt x="48" y="15"/>
                  </a:lnTo>
                  <a:lnTo>
                    <a:pt x="5" y="15"/>
                  </a:lnTo>
                  <a:lnTo>
                    <a:pt x="5" y="15"/>
                  </a:lnTo>
                  <a:lnTo>
                    <a:pt x="1" y="14"/>
                  </a:lnTo>
                  <a:lnTo>
                    <a:pt x="0" y="11"/>
                  </a:lnTo>
                  <a:lnTo>
                    <a:pt x="0" y="11"/>
                  </a:lnTo>
                  <a:lnTo>
                    <a:pt x="1" y="9"/>
                  </a:lnTo>
                  <a:lnTo>
                    <a:pt x="5" y="8"/>
                  </a:lnTo>
                  <a:lnTo>
                    <a:pt x="48" y="8"/>
                  </a:lnTo>
                  <a:lnTo>
                    <a:pt x="48" y="8"/>
                  </a:lnTo>
                  <a:lnTo>
                    <a:pt x="51" y="4"/>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5" name="Freeform 242">
              <a:extLst>
                <a:ext uri="{FF2B5EF4-FFF2-40B4-BE49-F238E27FC236}">
                  <a16:creationId xmlns:a16="http://schemas.microsoft.com/office/drawing/2014/main" id="{6FCB1B0A-F8FD-4085-AD9C-0981CFB21246}"/>
                </a:ext>
              </a:extLst>
            </p:cNvPr>
            <p:cNvSpPr>
              <a:spLocks/>
            </p:cNvSpPr>
            <p:nvPr userDrawn="1"/>
          </p:nvSpPr>
          <p:spPr bwMode="auto">
            <a:xfrm>
              <a:off x="6103958" y="3256002"/>
              <a:ext cx="74613" cy="17463"/>
            </a:xfrm>
            <a:custGeom>
              <a:avLst/>
              <a:gdLst>
                <a:gd name="T0" fmla="*/ 59 w 95"/>
                <a:gd name="T1" fmla="*/ 0 h 23"/>
                <a:gd name="T2" fmla="*/ 95 w 95"/>
                <a:gd name="T3" fmla="*/ 0 h 23"/>
                <a:gd name="T4" fmla="*/ 95 w 95"/>
                <a:gd name="T5" fmla="*/ 23 h 23"/>
                <a:gd name="T6" fmla="*/ 59 w 95"/>
                <a:gd name="T7" fmla="*/ 23 h 23"/>
                <a:gd name="T8" fmla="*/ 59 w 95"/>
                <a:gd name="T9" fmla="*/ 23 h 23"/>
                <a:gd name="T10" fmla="*/ 55 w 95"/>
                <a:gd name="T11" fmla="*/ 22 h 23"/>
                <a:gd name="T12" fmla="*/ 53 w 95"/>
                <a:gd name="T13" fmla="*/ 21 h 23"/>
                <a:gd name="T14" fmla="*/ 51 w 95"/>
                <a:gd name="T15" fmla="*/ 18 h 23"/>
                <a:gd name="T16" fmla="*/ 48 w 95"/>
                <a:gd name="T17" fmla="*/ 15 h 23"/>
                <a:gd name="T18" fmla="*/ 5 w 95"/>
                <a:gd name="T19" fmla="*/ 15 h 23"/>
                <a:gd name="T20" fmla="*/ 5 w 95"/>
                <a:gd name="T21" fmla="*/ 15 h 23"/>
                <a:gd name="T22" fmla="*/ 1 w 95"/>
                <a:gd name="T23" fmla="*/ 14 h 23"/>
                <a:gd name="T24" fmla="*/ 0 w 95"/>
                <a:gd name="T25" fmla="*/ 11 h 23"/>
                <a:gd name="T26" fmla="*/ 0 w 95"/>
                <a:gd name="T27" fmla="*/ 11 h 23"/>
                <a:gd name="T28" fmla="*/ 1 w 95"/>
                <a:gd name="T29" fmla="*/ 9 h 23"/>
                <a:gd name="T30" fmla="*/ 5 w 95"/>
                <a:gd name="T31" fmla="*/ 8 h 23"/>
                <a:gd name="T32" fmla="*/ 48 w 95"/>
                <a:gd name="T33" fmla="*/ 8 h 23"/>
                <a:gd name="T34" fmla="*/ 48 w 95"/>
                <a:gd name="T35" fmla="*/ 8 h 23"/>
                <a:gd name="T36" fmla="*/ 51 w 95"/>
                <a:gd name="T37" fmla="*/ 4 h 23"/>
                <a:gd name="T38" fmla="*/ 53 w 95"/>
                <a:gd name="T39" fmla="*/ 2 h 23"/>
                <a:gd name="T40" fmla="*/ 55 w 95"/>
                <a:gd name="T41" fmla="*/ 1 h 23"/>
                <a:gd name="T42" fmla="*/ 59 w 95"/>
                <a:gd name="T43" fmla="*/ 0 h 23"/>
                <a:gd name="T44" fmla="*/ 59 w 95"/>
                <a:gd name="T4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59" y="0"/>
                  </a:moveTo>
                  <a:lnTo>
                    <a:pt x="95" y="0"/>
                  </a:lnTo>
                  <a:lnTo>
                    <a:pt x="95" y="23"/>
                  </a:lnTo>
                  <a:lnTo>
                    <a:pt x="59" y="23"/>
                  </a:lnTo>
                  <a:lnTo>
                    <a:pt x="59" y="23"/>
                  </a:lnTo>
                  <a:lnTo>
                    <a:pt x="55" y="22"/>
                  </a:lnTo>
                  <a:lnTo>
                    <a:pt x="53" y="21"/>
                  </a:lnTo>
                  <a:lnTo>
                    <a:pt x="51" y="18"/>
                  </a:lnTo>
                  <a:lnTo>
                    <a:pt x="48" y="15"/>
                  </a:lnTo>
                  <a:lnTo>
                    <a:pt x="5" y="15"/>
                  </a:lnTo>
                  <a:lnTo>
                    <a:pt x="5" y="15"/>
                  </a:lnTo>
                  <a:lnTo>
                    <a:pt x="1" y="14"/>
                  </a:lnTo>
                  <a:lnTo>
                    <a:pt x="0" y="11"/>
                  </a:lnTo>
                  <a:lnTo>
                    <a:pt x="0" y="11"/>
                  </a:lnTo>
                  <a:lnTo>
                    <a:pt x="1" y="9"/>
                  </a:lnTo>
                  <a:lnTo>
                    <a:pt x="5" y="8"/>
                  </a:lnTo>
                  <a:lnTo>
                    <a:pt x="48" y="8"/>
                  </a:lnTo>
                  <a:lnTo>
                    <a:pt x="48" y="8"/>
                  </a:lnTo>
                  <a:lnTo>
                    <a:pt x="51" y="4"/>
                  </a:lnTo>
                  <a:lnTo>
                    <a:pt x="53" y="2"/>
                  </a:lnTo>
                  <a:lnTo>
                    <a:pt x="55" y="1"/>
                  </a:lnTo>
                  <a:lnTo>
                    <a:pt x="59" y="0"/>
                  </a:lnTo>
                  <a:lnTo>
                    <a:pt x="5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6" name="Freeform 243">
              <a:extLst>
                <a:ext uri="{FF2B5EF4-FFF2-40B4-BE49-F238E27FC236}">
                  <a16:creationId xmlns:a16="http://schemas.microsoft.com/office/drawing/2014/main" id="{7E6FED05-0B15-4BDD-B359-F6B2E29B80D8}"/>
                </a:ext>
              </a:extLst>
            </p:cNvPr>
            <p:cNvSpPr>
              <a:spLocks/>
            </p:cNvSpPr>
            <p:nvPr userDrawn="1"/>
          </p:nvSpPr>
          <p:spPr bwMode="auto">
            <a:xfrm>
              <a:off x="6564335" y="3225839"/>
              <a:ext cx="74613" cy="17463"/>
            </a:xfrm>
            <a:custGeom>
              <a:avLst/>
              <a:gdLst>
                <a:gd name="T0" fmla="*/ 36 w 95"/>
                <a:gd name="T1" fmla="*/ 23 h 23"/>
                <a:gd name="T2" fmla="*/ 0 w 95"/>
                <a:gd name="T3" fmla="*/ 23 h 23"/>
                <a:gd name="T4" fmla="*/ 0 w 95"/>
                <a:gd name="T5" fmla="*/ 0 h 23"/>
                <a:gd name="T6" fmla="*/ 36 w 95"/>
                <a:gd name="T7" fmla="*/ 0 h 23"/>
                <a:gd name="T8" fmla="*/ 36 w 95"/>
                <a:gd name="T9" fmla="*/ 0 h 23"/>
                <a:gd name="T10" fmla="*/ 39 w 95"/>
                <a:gd name="T11" fmla="*/ 1 h 23"/>
                <a:gd name="T12" fmla="*/ 43 w 95"/>
                <a:gd name="T13" fmla="*/ 2 h 23"/>
                <a:gd name="T14" fmla="*/ 45 w 95"/>
                <a:gd name="T15" fmla="*/ 4 h 23"/>
                <a:gd name="T16" fmla="*/ 46 w 95"/>
                <a:gd name="T17" fmla="*/ 8 h 23"/>
                <a:gd name="T18" fmla="*/ 91 w 95"/>
                <a:gd name="T19" fmla="*/ 8 h 23"/>
                <a:gd name="T20" fmla="*/ 91 w 95"/>
                <a:gd name="T21" fmla="*/ 8 h 23"/>
                <a:gd name="T22" fmla="*/ 94 w 95"/>
                <a:gd name="T23" fmla="*/ 9 h 23"/>
                <a:gd name="T24" fmla="*/ 95 w 95"/>
                <a:gd name="T25" fmla="*/ 11 h 23"/>
                <a:gd name="T26" fmla="*/ 95 w 95"/>
                <a:gd name="T27" fmla="*/ 11 h 23"/>
                <a:gd name="T28" fmla="*/ 94 w 95"/>
                <a:gd name="T29" fmla="*/ 14 h 23"/>
                <a:gd name="T30" fmla="*/ 91 w 95"/>
                <a:gd name="T31" fmla="*/ 15 h 23"/>
                <a:gd name="T32" fmla="*/ 46 w 95"/>
                <a:gd name="T33" fmla="*/ 15 h 23"/>
                <a:gd name="T34" fmla="*/ 46 w 95"/>
                <a:gd name="T35" fmla="*/ 15 h 23"/>
                <a:gd name="T36" fmla="*/ 45 w 95"/>
                <a:gd name="T37" fmla="*/ 18 h 23"/>
                <a:gd name="T38" fmla="*/ 43 w 95"/>
                <a:gd name="T39" fmla="*/ 21 h 23"/>
                <a:gd name="T40" fmla="*/ 39 w 95"/>
                <a:gd name="T41" fmla="*/ 22 h 23"/>
                <a:gd name="T42" fmla="*/ 36 w 95"/>
                <a:gd name="T43" fmla="*/ 23 h 23"/>
                <a:gd name="T44" fmla="*/ 36 w 95"/>
                <a:gd name="T45"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36" y="23"/>
                  </a:moveTo>
                  <a:lnTo>
                    <a:pt x="0" y="23"/>
                  </a:lnTo>
                  <a:lnTo>
                    <a:pt x="0" y="0"/>
                  </a:lnTo>
                  <a:lnTo>
                    <a:pt x="36" y="0"/>
                  </a:lnTo>
                  <a:lnTo>
                    <a:pt x="36" y="0"/>
                  </a:lnTo>
                  <a:lnTo>
                    <a:pt x="39" y="1"/>
                  </a:lnTo>
                  <a:lnTo>
                    <a:pt x="43" y="2"/>
                  </a:lnTo>
                  <a:lnTo>
                    <a:pt x="45" y="4"/>
                  </a:lnTo>
                  <a:lnTo>
                    <a:pt x="46" y="8"/>
                  </a:lnTo>
                  <a:lnTo>
                    <a:pt x="91" y="8"/>
                  </a:lnTo>
                  <a:lnTo>
                    <a:pt x="91" y="8"/>
                  </a:lnTo>
                  <a:lnTo>
                    <a:pt x="94" y="9"/>
                  </a:lnTo>
                  <a:lnTo>
                    <a:pt x="95" y="11"/>
                  </a:lnTo>
                  <a:lnTo>
                    <a:pt x="95" y="11"/>
                  </a:lnTo>
                  <a:lnTo>
                    <a:pt x="94" y="14"/>
                  </a:lnTo>
                  <a:lnTo>
                    <a:pt x="91" y="15"/>
                  </a:lnTo>
                  <a:lnTo>
                    <a:pt x="46" y="15"/>
                  </a:lnTo>
                  <a:lnTo>
                    <a:pt x="46" y="15"/>
                  </a:lnTo>
                  <a:lnTo>
                    <a:pt x="45" y="18"/>
                  </a:lnTo>
                  <a:lnTo>
                    <a:pt x="43" y="21"/>
                  </a:lnTo>
                  <a:lnTo>
                    <a:pt x="39" y="22"/>
                  </a:lnTo>
                  <a:lnTo>
                    <a:pt x="36" y="23"/>
                  </a:lnTo>
                  <a:lnTo>
                    <a:pt x="36"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7" name="Freeform 244">
              <a:extLst>
                <a:ext uri="{FF2B5EF4-FFF2-40B4-BE49-F238E27FC236}">
                  <a16:creationId xmlns:a16="http://schemas.microsoft.com/office/drawing/2014/main" id="{27B7B5A3-3FB0-4BFA-8F52-6847FBB68A47}"/>
                </a:ext>
              </a:extLst>
            </p:cNvPr>
            <p:cNvSpPr>
              <a:spLocks/>
            </p:cNvSpPr>
            <p:nvPr userDrawn="1"/>
          </p:nvSpPr>
          <p:spPr bwMode="auto">
            <a:xfrm>
              <a:off x="6564335" y="3256002"/>
              <a:ext cx="74613" cy="17463"/>
            </a:xfrm>
            <a:custGeom>
              <a:avLst/>
              <a:gdLst>
                <a:gd name="T0" fmla="*/ 36 w 95"/>
                <a:gd name="T1" fmla="*/ 23 h 23"/>
                <a:gd name="T2" fmla="*/ 0 w 95"/>
                <a:gd name="T3" fmla="*/ 23 h 23"/>
                <a:gd name="T4" fmla="*/ 0 w 95"/>
                <a:gd name="T5" fmla="*/ 0 h 23"/>
                <a:gd name="T6" fmla="*/ 36 w 95"/>
                <a:gd name="T7" fmla="*/ 0 h 23"/>
                <a:gd name="T8" fmla="*/ 36 w 95"/>
                <a:gd name="T9" fmla="*/ 0 h 23"/>
                <a:gd name="T10" fmla="*/ 39 w 95"/>
                <a:gd name="T11" fmla="*/ 1 h 23"/>
                <a:gd name="T12" fmla="*/ 43 w 95"/>
                <a:gd name="T13" fmla="*/ 2 h 23"/>
                <a:gd name="T14" fmla="*/ 45 w 95"/>
                <a:gd name="T15" fmla="*/ 4 h 23"/>
                <a:gd name="T16" fmla="*/ 46 w 95"/>
                <a:gd name="T17" fmla="*/ 8 h 23"/>
                <a:gd name="T18" fmla="*/ 91 w 95"/>
                <a:gd name="T19" fmla="*/ 8 h 23"/>
                <a:gd name="T20" fmla="*/ 91 w 95"/>
                <a:gd name="T21" fmla="*/ 8 h 23"/>
                <a:gd name="T22" fmla="*/ 94 w 95"/>
                <a:gd name="T23" fmla="*/ 9 h 23"/>
                <a:gd name="T24" fmla="*/ 95 w 95"/>
                <a:gd name="T25" fmla="*/ 11 h 23"/>
                <a:gd name="T26" fmla="*/ 95 w 95"/>
                <a:gd name="T27" fmla="*/ 11 h 23"/>
                <a:gd name="T28" fmla="*/ 94 w 95"/>
                <a:gd name="T29" fmla="*/ 14 h 23"/>
                <a:gd name="T30" fmla="*/ 91 w 95"/>
                <a:gd name="T31" fmla="*/ 15 h 23"/>
                <a:gd name="T32" fmla="*/ 46 w 95"/>
                <a:gd name="T33" fmla="*/ 15 h 23"/>
                <a:gd name="T34" fmla="*/ 46 w 95"/>
                <a:gd name="T35" fmla="*/ 15 h 23"/>
                <a:gd name="T36" fmla="*/ 45 w 95"/>
                <a:gd name="T37" fmla="*/ 18 h 23"/>
                <a:gd name="T38" fmla="*/ 43 w 95"/>
                <a:gd name="T39" fmla="*/ 21 h 23"/>
                <a:gd name="T40" fmla="*/ 39 w 95"/>
                <a:gd name="T41" fmla="*/ 22 h 23"/>
                <a:gd name="T42" fmla="*/ 36 w 95"/>
                <a:gd name="T43" fmla="*/ 23 h 23"/>
                <a:gd name="T44" fmla="*/ 36 w 95"/>
                <a:gd name="T45"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36" y="23"/>
                  </a:moveTo>
                  <a:lnTo>
                    <a:pt x="0" y="23"/>
                  </a:lnTo>
                  <a:lnTo>
                    <a:pt x="0" y="0"/>
                  </a:lnTo>
                  <a:lnTo>
                    <a:pt x="36" y="0"/>
                  </a:lnTo>
                  <a:lnTo>
                    <a:pt x="36" y="0"/>
                  </a:lnTo>
                  <a:lnTo>
                    <a:pt x="39" y="1"/>
                  </a:lnTo>
                  <a:lnTo>
                    <a:pt x="43" y="2"/>
                  </a:lnTo>
                  <a:lnTo>
                    <a:pt x="45" y="4"/>
                  </a:lnTo>
                  <a:lnTo>
                    <a:pt x="46" y="8"/>
                  </a:lnTo>
                  <a:lnTo>
                    <a:pt x="91" y="8"/>
                  </a:lnTo>
                  <a:lnTo>
                    <a:pt x="91" y="8"/>
                  </a:lnTo>
                  <a:lnTo>
                    <a:pt x="94" y="9"/>
                  </a:lnTo>
                  <a:lnTo>
                    <a:pt x="95" y="11"/>
                  </a:lnTo>
                  <a:lnTo>
                    <a:pt x="95" y="11"/>
                  </a:lnTo>
                  <a:lnTo>
                    <a:pt x="94" y="14"/>
                  </a:lnTo>
                  <a:lnTo>
                    <a:pt x="91" y="15"/>
                  </a:lnTo>
                  <a:lnTo>
                    <a:pt x="46" y="15"/>
                  </a:lnTo>
                  <a:lnTo>
                    <a:pt x="46" y="15"/>
                  </a:lnTo>
                  <a:lnTo>
                    <a:pt x="45" y="18"/>
                  </a:lnTo>
                  <a:lnTo>
                    <a:pt x="43" y="21"/>
                  </a:lnTo>
                  <a:lnTo>
                    <a:pt x="39" y="22"/>
                  </a:lnTo>
                  <a:lnTo>
                    <a:pt x="36" y="23"/>
                  </a:lnTo>
                  <a:lnTo>
                    <a:pt x="36"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8" name="Freeform 245">
              <a:extLst>
                <a:ext uri="{FF2B5EF4-FFF2-40B4-BE49-F238E27FC236}">
                  <a16:creationId xmlns:a16="http://schemas.microsoft.com/office/drawing/2014/main" id="{35326841-DC53-438F-B032-D29EC4877D43}"/>
                </a:ext>
              </a:extLst>
            </p:cNvPr>
            <p:cNvSpPr>
              <a:spLocks/>
            </p:cNvSpPr>
            <p:nvPr userDrawn="1"/>
          </p:nvSpPr>
          <p:spPr bwMode="auto">
            <a:xfrm>
              <a:off x="6564335" y="3287752"/>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1 h 22"/>
                <a:gd name="T14" fmla="*/ 45 w 95"/>
                <a:gd name="T15" fmla="*/ 3 h 22"/>
                <a:gd name="T16" fmla="*/ 46 w 95"/>
                <a:gd name="T17" fmla="*/ 7 h 22"/>
                <a:gd name="T18" fmla="*/ 91 w 95"/>
                <a:gd name="T19" fmla="*/ 7 h 22"/>
                <a:gd name="T20" fmla="*/ 91 w 95"/>
                <a:gd name="T21" fmla="*/ 7 h 22"/>
                <a:gd name="T22" fmla="*/ 94 w 95"/>
                <a:gd name="T23" fmla="*/ 8 h 22"/>
                <a:gd name="T24" fmla="*/ 95 w 95"/>
                <a:gd name="T25" fmla="*/ 10 h 22"/>
                <a:gd name="T26" fmla="*/ 95 w 95"/>
                <a:gd name="T27" fmla="*/ 10 h 22"/>
                <a:gd name="T28" fmla="*/ 94 w 95"/>
                <a:gd name="T29" fmla="*/ 14 h 22"/>
                <a:gd name="T30" fmla="*/ 91 w 95"/>
                <a:gd name="T31" fmla="*/ 14 h 22"/>
                <a:gd name="T32" fmla="*/ 46 w 95"/>
                <a:gd name="T33" fmla="*/ 14 h 22"/>
                <a:gd name="T34" fmla="*/ 46 w 95"/>
                <a:gd name="T35" fmla="*/ 14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1"/>
                  </a:lnTo>
                  <a:lnTo>
                    <a:pt x="45" y="3"/>
                  </a:lnTo>
                  <a:lnTo>
                    <a:pt x="46" y="7"/>
                  </a:lnTo>
                  <a:lnTo>
                    <a:pt x="91" y="7"/>
                  </a:lnTo>
                  <a:lnTo>
                    <a:pt x="91" y="7"/>
                  </a:lnTo>
                  <a:lnTo>
                    <a:pt x="94" y="8"/>
                  </a:lnTo>
                  <a:lnTo>
                    <a:pt x="95" y="10"/>
                  </a:lnTo>
                  <a:lnTo>
                    <a:pt x="95" y="10"/>
                  </a:lnTo>
                  <a:lnTo>
                    <a:pt x="94" y="14"/>
                  </a:lnTo>
                  <a:lnTo>
                    <a:pt x="91" y="14"/>
                  </a:lnTo>
                  <a:lnTo>
                    <a:pt x="46" y="14"/>
                  </a:lnTo>
                  <a:lnTo>
                    <a:pt x="46" y="14"/>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9" name="Freeform 246">
              <a:extLst>
                <a:ext uri="{FF2B5EF4-FFF2-40B4-BE49-F238E27FC236}">
                  <a16:creationId xmlns:a16="http://schemas.microsoft.com/office/drawing/2014/main" id="{EAB9169E-5402-4689-AB24-02A606114C49}"/>
                </a:ext>
              </a:extLst>
            </p:cNvPr>
            <p:cNvSpPr>
              <a:spLocks/>
            </p:cNvSpPr>
            <p:nvPr userDrawn="1"/>
          </p:nvSpPr>
          <p:spPr bwMode="auto">
            <a:xfrm>
              <a:off x="6564335" y="3317915"/>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1 h 22"/>
                <a:gd name="T14" fmla="*/ 45 w 95"/>
                <a:gd name="T15" fmla="*/ 4 h 22"/>
                <a:gd name="T16" fmla="*/ 46 w 95"/>
                <a:gd name="T17" fmla="*/ 7 h 22"/>
                <a:gd name="T18" fmla="*/ 91 w 95"/>
                <a:gd name="T19" fmla="*/ 7 h 22"/>
                <a:gd name="T20" fmla="*/ 91 w 95"/>
                <a:gd name="T21" fmla="*/ 7 h 22"/>
                <a:gd name="T22" fmla="*/ 94 w 95"/>
                <a:gd name="T23" fmla="*/ 8 h 22"/>
                <a:gd name="T24" fmla="*/ 95 w 95"/>
                <a:gd name="T25" fmla="*/ 10 h 22"/>
                <a:gd name="T26" fmla="*/ 95 w 95"/>
                <a:gd name="T27" fmla="*/ 10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1"/>
                  </a:lnTo>
                  <a:lnTo>
                    <a:pt x="45" y="4"/>
                  </a:lnTo>
                  <a:lnTo>
                    <a:pt x="46" y="7"/>
                  </a:lnTo>
                  <a:lnTo>
                    <a:pt x="91" y="7"/>
                  </a:lnTo>
                  <a:lnTo>
                    <a:pt x="91" y="7"/>
                  </a:lnTo>
                  <a:lnTo>
                    <a:pt x="94" y="8"/>
                  </a:lnTo>
                  <a:lnTo>
                    <a:pt x="95" y="10"/>
                  </a:lnTo>
                  <a:lnTo>
                    <a:pt x="95" y="10"/>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0" name="Freeform 247">
              <a:extLst>
                <a:ext uri="{FF2B5EF4-FFF2-40B4-BE49-F238E27FC236}">
                  <a16:creationId xmlns:a16="http://schemas.microsoft.com/office/drawing/2014/main" id="{B13E59DD-8939-4CE4-A2F3-EC53B2EC3A70}"/>
                </a:ext>
              </a:extLst>
            </p:cNvPr>
            <p:cNvSpPr>
              <a:spLocks/>
            </p:cNvSpPr>
            <p:nvPr userDrawn="1"/>
          </p:nvSpPr>
          <p:spPr bwMode="auto">
            <a:xfrm>
              <a:off x="6564335" y="3348078"/>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1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0 h 22"/>
                <a:gd name="T26" fmla="*/ 95 w 95"/>
                <a:gd name="T27" fmla="*/ 10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1"/>
                  </a:lnTo>
                  <a:lnTo>
                    <a:pt x="45" y="5"/>
                  </a:lnTo>
                  <a:lnTo>
                    <a:pt x="46" y="7"/>
                  </a:lnTo>
                  <a:lnTo>
                    <a:pt x="91" y="7"/>
                  </a:lnTo>
                  <a:lnTo>
                    <a:pt x="91" y="7"/>
                  </a:lnTo>
                  <a:lnTo>
                    <a:pt x="94" y="8"/>
                  </a:lnTo>
                  <a:lnTo>
                    <a:pt x="95" y="10"/>
                  </a:lnTo>
                  <a:lnTo>
                    <a:pt x="95" y="10"/>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1" name="Freeform 248">
              <a:extLst>
                <a:ext uri="{FF2B5EF4-FFF2-40B4-BE49-F238E27FC236}">
                  <a16:creationId xmlns:a16="http://schemas.microsoft.com/office/drawing/2014/main" id="{B19E6561-2E25-4C3E-AB5C-9F3AAADCF6D4}"/>
                </a:ext>
              </a:extLst>
            </p:cNvPr>
            <p:cNvSpPr>
              <a:spLocks/>
            </p:cNvSpPr>
            <p:nvPr userDrawn="1"/>
          </p:nvSpPr>
          <p:spPr bwMode="auto">
            <a:xfrm>
              <a:off x="6564335" y="3378241"/>
              <a:ext cx="74613" cy="15875"/>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7"/>
                  </a:lnTo>
                  <a:lnTo>
                    <a:pt x="91" y="7"/>
                  </a:lnTo>
                  <a:lnTo>
                    <a:pt x="91" y="7"/>
                  </a:lnTo>
                  <a:lnTo>
                    <a:pt x="94" y="8"/>
                  </a:lnTo>
                  <a:lnTo>
                    <a:pt x="95" y="12"/>
                  </a:lnTo>
                  <a:lnTo>
                    <a:pt x="95" y="12"/>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2" name="Freeform 249">
              <a:extLst>
                <a:ext uri="{FF2B5EF4-FFF2-40B4-BE49-F238E27FC236}">
                  <a16:creationId xmlns:a16="http://schemas.microsoft.com/office/drawing/2014/main" id="{F9DB65A3-380E-442E-BA78-88BA9EAE3C5E}"/>
                </a:ext>
              </a:extLst>
            </p:cNvPr>
            <p:cNvSpPr>
              <a:spLocks/>
            </p:cNvSpPr>
            <p:nvPr userDrawn="1"/>
          </p:nvSpPr>
          <p:spPr bwMode="auto">
            <a:xfrm>
              <a:off x="6564335" y="3408403"/>
              <a:ext cx="74613" cy="17463"/>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7 h 22"/>
                <a:gd name="T38" fmla="*/ 43 w 95"/>
                <a:gd name="T39" fmla="*/ 20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7"/>
                  </a:lnTo>
                  <a:lnTo>
                    <a:pt x="91" y="7"/>
                  </a:lnTo>
                  <a:lnTo>
                    <a:pt x="91" y="7"/>
                  </a:lnTo>
                  <a:lnTo>
                    <a:pt x="94" y="8"/>
                  </a:lnTo>
                  <a:lnTo>
                    <a:pt x="95" y="12"/>
                  </a:lnTo>
                  <a:lnTo>
                    <a:pt x="95" y="12"/>
                  </a:lnTo>
                  <a:lnTo>
                    <a:pt x="94" y="14"/>
                  </a:lnTo>
                  <a:lnTo>
                    <a:pt x="91" y="15"/>
                  </a:lnTo>
                  <a:lnTo>
                    <a:pt x="46" y="15"/>
                  </a:lnTo>
                  <a:lnTo>
                    <a:pt x="46" y="15"/>
                  </a:lnTo>
                  <a:lnTo>
                    <a:pt x="45" y="17"/>
                  </a:lnTo>
                  <a:lnTo>
                    <a:pt x="43" y="20"/>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3" name="Freeform 250">
              <a:extLst>
                <a:ext uri="{FF2B5EF4-FFF2-40B4-BE49-F238E27FC236}">
                  <a16:creationId xmlns:a16="http://schemas.microsoft.com/office/drawing/2014/main" id="{5CB7BC7B-EFBA-4B26-B0C4-0D62B1AB9B4D}"/>
                </a:ext>
              </a:extLst>
            </p:cNvPr>
            <p:cNvSpPr>
              <a:spLocks/>
            </p:cNvSpPr>
            <p:nvPr userDrawn="1"/>
          </p:nvSpPr>
          <p:spPr bwMode="auto">
            <a:xfrm>
              <a:off x="6564335" y="3438566"/>
              <a:ext cx="74613" cy="17463"/>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7 h 22"/>
                <a:gd name="T18" fmla="*/ 91 w 95"/>
                <a:gd name="T19" fmla="*/ 7 h 22"/>
                <a:gd name="T20" fmla="*/ 91 w 95"/>
                <a:gd name="T21" fmla="*/ 7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9 h 22"/>
                <a:gd name="T38" fmla="*/ 43 w 95"/>
                <a:gd name="T39" fmla="*/ 21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7"/>
                  </a:lnTo>
                  <a:lnTo>
                    <a:pt x="91" y="7"/>
                  </a:lnTo>
                  <a:lnTo>
                    <a:pt x="91" y="7"/>
                  </a:lnTo>
                  <a:lnTo>
                    <a:pt x="94" y="8"/>
                  </a:lnTo>
                  <a:lnTo>
                    <a:pt x="95" y="12"/>
                  </a:lnTo>
                  <a:lnTo>
                    <a:pt x="95" y="12"/>
                  </a:lnTo>
                  <a:lnTo>
                    <a:pt x="94" y="14"/>
                  </a:lnTo>
                  <a:lnTo>
                    <a:pt x="91" y="15"/>
                  </a:lnTo>
                  <a:lnTo>
                    <a:pt x="46" y="15"/>
                  </a:lnTo>
                  <a:lnTo>
                    <a:pt x="46" y="15"/>
                  </a:lnTo>
                  <a:lnTo>
                    <a:pt x="45" y="19"/>
                  </a:lnTo>
                  <a:lnTo>
                    <a:pt x="43" y="21"/>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4" name="Freeform 251">
              <a:extLst>
                <a:ext uri="{FF2B5EF4-FFF2-40B4-BE49-F238E27FC236}">
                  <a16:creationId xmlns:a16="http://schemas.microsoft.com/office/drawing/2014/main" id="{1E9538DD-5BAA-4EF3-8156-92998A355991}"/>
                </a:ext>
              </a:extLst>
            </p:cNvPr>
            <p:cNvSpPr>
              <a:spLocks/>
            </p:cNvSpPr>
            <p:nvPr userDrawn="1"/>
          </p:nvSpPr>
          <p:spPr bwMode="auto">
            <a:xfrm>
              <a:off x="6564335" y="3498892"/>
              <a:ext cx="74613" cy="17463"/>
            </a:xfrm>
            <a:custGeom>
              <a:avLst/>
              <a:gdLst>
                <a:gd name="T0" fmla="*/ 36 w 95"/>
                <a:gd name="T1" fmla="*/ 23 h 23"/>
                <a:gd name="T2" fmla="*/ 0 w 95"/>
                <a:gd name="T3" fmla="*/ 23 h 23"/>
                <a:gd name="T4" fmla="*/ 0 w 95"/>
                <a:gd name="T5" fmla="*/ 0 h 23"/>
                <a:gd name="T6" fmla="*/ 36 w 95"/>
                <a:gd name="T7" fmla="*/ 0 h 23"/>
                <a:gd name="T8" fmla="*/ 36 w 95"/>
                <a:gd name="T9" fmla="*/ 0 h 23"/>
                <a:gd name="T10" fmla="*/ 39 w 95"/>
                <a:gd name="T11" fmla="*/ 1 h 23"/>
                <a:gd name="T12" fmla="*/ 43 w 95"/>
                <a:gd name="T13" fmla="*/ 2 h 23"/>
                <a:gd name="T14" fmla="*/ 45 w 95"/>
                <a:gd name="T15" fmla="*/ 5 h 23"/>
                <a:gd name="T16" fmla="*/ 46 w 95"/>
                <a:gd name="T17" fmla="*/ 8 h 23"/>
                <a:gd name="T18" fmla="*/ 91 w 95"/>
                <a:gd name="T19" fmla="*/ 8 h 23"/>
                <a:gd name="T20" fmla="*/ 91 w 95"/>
                <a:gd name="T21" fmla="*/ 8 h 23"/>
                <a:gd name="T22" fmla="*/ 94 w 95"/>
                <a:gd name="T23" fmla="*/ 9 h 23"/>
                <a:gd name="T24" fmla="*/ 95 w 95"/>
                <a:gd name="T25" fmla="*/ 12 h 23"/>
                <a:gd name="T26" fmla="*/ 95 w 95"/>
                <a:gd name="T27" fmla="*/ 12 h 23"/>
                <a:gd name="T28" fmla="*/ 94 w 95"/>
                <a:gd name="T29" fmla="*/ 14 h 23"/>
                <a:gd name="T30" fmla="*/ 91 w 95"/>
                <a:gd name="T31" fmla="*/ 15 h 23"/>
                <a:gd name="T32" fmla="*/ 46 w 95"/>
                <a:gd name="T33" fmla="*/ 15 h 23"/>
                <a:gd name="T34" fmla="*/ 46 w 95"/>
                <a:gd name="T35" fmla="*/ 15 h 23"/>
                <a:gd name="T36" fmla="*/ 45 w 95"/>
                <a:gd name="T37" fmla="*/ 19 h 23"/>
                <a:gd name="T38" fmla="*/ 43 w 95"/>
                <a:gd name="T39" fmla="*/ 21 h 23"/>
                <a:gd name="T40" fmla="*/ 39 w 95"/>
                <a:gd name="T41" fmla="*/ 22 h 23"/>
                <a:gd name="T42" fmla="*/ 36 w 95"/>
                <a:gd name="T43" fmla="*/ 23 h 23"/>
                <a:gd name="T44" fmla="*/ 36 w 95"/>
                <a:gd name="T45"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3">
                  <a:moveTo>
                    <a:pt x="36" y="23"/>
                  </a:moveTo>
                  <a:lnTo>
                    <a:pt x="0" y="23"/>
                  </a:lnTo>
                  <a:lnTo>
                    <a:pt x="0" y="0"/>
                  </a:lnTo>
                  <a:lnTo>
                    <a:pt x="36" y="0"/>
                  </a:lnTo>
                  <a:lnTo>
                    <a:pt x="36" y="0"/>
                  </a:lnTo>
                  <a:lnTo>
                    <a:pt x="39" y="1"/>
                  </a:lnTo>
                  <a:lnTo>
                    <a:pt x="43" y="2"/>
                  </a:lnTo>
                  <a:lnTo>
                    <a:pt x="45" y="5"/>
                  </a:lnTo>
                  <a:lnTo>
                    <a:pt x="46" y="8"/>
                  </a:lnTo>
                  <a:lnTo>
                    <a:pt x="91" y="8"/>
                  </a:lnTo>
                  <a:lnTo>
                    <a:pt x="91" y="8"/>
                  </a:lnTo>
                  <a:lnTo>
                    <a:pt x="94" y="9"/>
                  </a:lnTo>
                  <a:lnTo>
                    <a:pt x="95" y="12"/>
                  </a:lnTo>
                  <a:lnTo>
                    <a:pt x="95" y="12"/>
                  </a:lnTo>
                  <a:lnTo>
                    <a:pt x="94" y="14"/>
                  </a:lnTo>
                  <a:lnTo>
                    <a:pt x="91" y="15"/>
                  </a:lnTo>
                  <a:lnTo>
                    <a:pt x="46" y="15"/>
                  </a:lnTo>
                  <a:lnTo>
                    <a:pt x="46" y="15"/>
                  </a:lnTo>
                  <a:lnTo>
                    <a:pt x="45" y="19"/>
                  </a:lnTo>
                  <a:lnTo>
                    <a:pt x="43" y="21"/>
                  </a:lnTo>
                  <a:lnTo>
                    <a:pt x="39" y="22"/>
                  </a:lnTo>
                  <a:lnTo>
                    <a:pt x="36" y="23"/>
                  </a:lnTo>
                  <a:lnTo>
                    <a:pt x="36" y="2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5" name="Freeform 252">
              <a:extLst>
                <a:ext uri="{FF2B5EF4-FFF2-40B4-BE49-F238E27FC236}">
                  <a16:creationId xmlns:a16="http://schemas.microsoft.com/office/drawing/2014/main" id="{2F6995FC-BE45-4BEC-AE8D-2AFA16E79D23}"/>
                </a:ext>
              </a:extLst>
            </p:cNvPr>
            <p:cNvSpPr>
              <a:spLocks/>
            </p:cNvSpPr>
            <p:nvPr userDrawn="1"/>
          </p:nvSpPr>
          <p:spPr bwMode="auto">
            <a:xfrm>
              <a:off x="6564335" y="3468729"/>
              <a:ext cx="74613" cy="17463"/>
            </a:xfrm>
            <a:custGeom>
              <a:avLst/>
              <a:gdLst>
                <a:gd name="T0" fmla="*/ 36 w 95"/>
                <a:gd name="T1" fmla="*/ 22 h 22"/>
                <a:gd name="T2" fmla="*/ 0 w 95"/>
                <a:gd name="T3" fmla="*/ 22 h 22"/>
                <a:gd name="T4" fmla="*/ 0 w 95"/>
                <a:gd name="T5" fmla="*/ 0 h 22"/>
                <a:gd name="T6" fmla="*/ 36 w 95"/>
                <a:gd name="T7" fmla="*/ 0 h 22"/>
                <a:gd name="T8" fmla="*/ 36 w 95"/>
                <a:gd name="T9" fmla="*/ 0 h 22"/>
                <a:gd name="T10" fmla="*/ 39 w 95"/>
                <a:gd name="T11" fmla="*/ 0 h 22"/>
                <a:gd name="T12" fmla="*/ 43 w 95"/>
                <a:gd name="T13" fmla="*/ 2 h 22"/>
                <a:gd name="T14" fmla="*/ 45 w 95"/>
                <a:gd name="T15" fmla="*/ 5 h 22"/>
                <a:gd name="T16" fmla="*/ 46 w 95"/>
                <a:gd name="T17" fmla="*/ 8 h 22"/>
                <a:gd name="T18" fmla="*/ 91 w 95"/>
                <a:gd name="T19" fmla="*/ 8 h 22"/>
                <a:gd name="T20" fmla="*/ 91 w 95"/>
                <a:gd name="T21" fmla="*/ 8 h 22"/>
                <a:gd name="T22" fmla="*/ 94 w 95"/>
                <a:gd name="T23" fmla="*/ 8 h 22"/>
                <a:gd name="T24" fmla="*/ 95 w 95"/>
                <a:gd name="T25" fmla="*/ 12 h 22"/>
                <a:gd name="T26" fmla="*/ 95 w 95"/>
                <a:gd name="T27" fmla="*/ 12 h 22"/>
                <a:gd name="T28" fmla="*/ 94 w 95"/>
                <a:gd name="T29" fmla="*/ 14 h 22"/>
                <a:gd name="T30" fmla="*/ 91 w 95"/>
                <a:gd name="T31" fmla="*/ 15 h 22"/>
                <a:gd name="T32" fmla="*/ 46 w 95"/>
                <a:gd name="T33" fmla="*/ 15 h 22"/>
                <a:gd name="T34" fmla="*/ 46 w 95"/>
                <a:gd name="T35" fmla="*/ 15 h 22"/>
                <a:gd name="T36" fmla="*/ 45 w 95"/>
                <a:gd name="T37" fmla="*/ 19 h 22"/>
                <a:gd name="T38" fmla="*/ 43 w 95"/>
                <a:gd name="T39" fmla="*/ 21 h 22"/>
                <a:gd name="T40" fmla="*/ 39 w 95"/>
                <a:gd name="T41" fmla="*/ 22 h 22"/>
                <a:gd name="T42" fmla="*/ 36 w 95"/>
                <a:gd name="T43" fmla="*/ 22 h 22"/>
                <a:gd name="T44" fmla="*/ 36 w 95"/>
                <a:gd name="T4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22">
                  <a:moveTo>
                    <a:pt x="36" y="22"/>
                  </a:moveTo>
                  <a:lnTo>
                    <a:pt x="0" y="22"/>
                  </a:lnTo>
                  <a:lnTo>
                    <a:pt x="0" y="0"/>
                  </a:lnTo>
                  <a:lnTo>
                    <a:pt x="36" y="0"/>
                  </a:lnTo>
                  <a:lnTo>
                    <a:pt x="36" y="0"/>
                  </a:lnTo>
                  <a:lnTo>
                    <a:pt x="39" y="0"/>
                  </a:lnTo>
                  <a:lnTo>
                    <a:pt x="43" y="2"/>
                  </a:lnTo>
                  <a:lnTo>
                    <a:pt x="45" y="5"/>
                  </a:lnTo>
                  <a:lnTo>
                    <a:pt x="46" y="8"/>
                  </a:lnTo>
                  <a:lnTo>
                    <a:pt x="91" y="8"/>
                  </a:lnTo>
                  <a:lnTo>
                    <a:pt x="91" y="8"/>
                  </a:lnTo>
                  <a:lnTo>
                    <a:pt x="94" y="8"/>
                  </a:lnTo>
                  <a:lnTo>
                    <a:pt x="95" y="12"/>
                  </a:lnTo>
                  <a:lnTo>
                    <a:pt x="95" y="12"/>
                  </a:lnTo>
                  <a:lnTo>
                    <a:pt x="94" y="14"/>
                  </a:lnTo>
                  <a:lnTo>
                    <a:pt x="91" y="15"/>
                  </a:lnTo>
                  <a:lnTo>
                    <a:pt x="46" y="15"/>
                  </a:lnTo>
                  <a:lnTo>
                    <a:pt x="46" y="15"/>
                  </a:lnTo>
                  <a:lnTo>
                    <a:pt x="45" y="19"/>
                  </a:lnTo>
                  <a:lnTo>
                    <a:pt x="43" y="21"/>
                  </a:lnTo>
                  <a:lnTo>
                    <a:pt x="39" y="22"/>
                  </a:lnTo>
                  <a:lnTo>
                    <a:pt x="36" y="22"/>
                  </a:lnTo>
                  <a:lnTo>
                    <a:pt x="36" y="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381" name="Group 380">
            <a:extLst>
              <a:ext uri="{FF2B5EF4-FFF2-40B4-BE49-F238E27FC236}">
                <a16:creationId xmlns:a16="http://schemas.microsoft.com/office/drawing/2014/main" id="{1A909330-67FB-4AA2-A1D6-918C768AAFA9}"/>
              </a:ext>
            </a:extLst>
          </p:cNvPr>
          <p:cNvGrpSpPr/>
          <p:nvPr userDrawn="1"/>
        </p:nvGrpSpPr>
        <p:grpSpPr>
          <a:xfrm>
            <a:off x="6637889" y="3956098"/>
            <a:ext cx="1077387" cy="1077396"/>
            <a:chOff x="4978417" y="2967073"/>
            <a:chExt cx="808040" cy="808047"/>
          </a:xfrm>
        </p:grpSpPr>
        <p:sp>
          <p:nvSpPr>
            <p:cNvPr id="314" name="Freeform 211">
              <a:extLst>
                <a:ext uri="{FF2B5EF4-FFF2-40B4-BE49-F238E27FC236}">
                  <a16:creationId xmlns:a16="http://schemas.microsoft.com/office/drawing/2014/main" id="{703FF4DA-DE81-465F-8819-1BA5B7D2A754}"/>
                </a:ext>
              </a:extLst>
            </p:cNvPr>
            <p:cNvSpPr>
              <a:spLocks/>
            </p:cNvSpPr>
            <p:nvPr userDrawn="1"/>
          </p:nvSpPr>
          <p:spPr bwMode="auto">
            <a:xfrm>
              <a:off x="4978417" y="2967073"/>
              <a:ext cx="808040" cy="808047"/>
            </a:xfrm>
            <a:custGeom>
              <a:avLst/>
              <a:gdLst>
                <a:gd name="T0" fmla="*/ 1017 w 1018"/>
                <a:gd name="T1" fmla="*/ 536 h 1018"/>
                <a:gd name="T2" fmla="*/ 1008 w 1018"/>
                <a:gd name="T3" fmla="*/ 612 h 1018"/>
                <a:gd name="T4" fmla="*/ 987 w 1018"/>
                <a:gd name="T5" fmla="*/ 684 h 1018"/>
                <a:gd name="T6" fmla="*/ 956 w 1018"/>
                <a:gd name="T7" fmla="*/ 751 h 1018"/>
                <a:gd name="T8" fmla="*/ 917 w 1018"/>
                <a:gd name="T9" fmla="*/ 813 h 1018"/>
                <a:gd name="T10" fmla="*/ 869 w 1018"/>
                <a:gd name="T11" fmla="*/ 869 h 1018"/>
                <a:gd name="T12" fmla="*/ 813 w 1018"/>
                <a:gd name="T13" fmla="*/ 917 h 1018"/>
                <a:gd name="T14" fmla="*/ 752 w 1018"/>
                <a:gd name="T15" fmla="*/ 956 h 1018"/>
                <a:gd name="T16" fmla="*/ 685 w 1018"/>
                <a:gd name="T17" fmla="*/ 987 h 1018"/>
                <a:gd name="T18" fmla="*/ 612 w 1018"/>
                <a:gd name="T19" fmla="*/ 1008 h 1018"/>
                <a:gd name="T20" fmla="*/ 536 w 1018"/>
                <a:gd name="T21" fmla="*/ 1017 h 1018"/>
                <a:gd name="T22" fmla="*/ 483 w 1018"/>
                <a:gd name="T23" fmla="*/ 1017 h 1018"/>
                <a:gd name="T24" fmla="*/ 407 w 1018"/>
                <a:gd name="T25" fmla="*/ 1008 h 1018"/>
                <a:gd name="T26" fmla="*/ 334 w 1018"/>
                <a:gd name="T27" fmla="*/ 987 h 1018"/>
                <a:gd name="T28" fmla="*/ 268 w 1018"/>
                <a:gd name="T29" fmla="*/ 956 h 1018"/>
                <a:gd name="T30" fmla="*/ 205 w 1018"/>
                <a:gd name="T31" fmla="*/ 917 h 1018"/>
                <a:gd name="T32" fmla="*/ 150 w 1018"/>
                <a:gd name="T33" fmla="*/ 869 h 1018"/>
                <a:gd name="T34" fmla="*/ 102 w 1018"/>
                <a:gd name="T35" fmla="*/ 813 h 1018"/>
                <a:gd name="T36" fmla="*/ 63 w 1018"/>
                <a:gd name="T37" fmla="*/ 751 h 1018"/>
                <a:gd name="T38" fmla="*/ 32 w 1018"/>
                <a:gd name="T39" fmla="*/ 684 h 1018"/>
                <a:gd name="T40" fmla="*/ 11 w 1018"/>
                <a:gd name="T41" fmla="*/ 612 h 1018"/>
                <a:gd name="T42" fmla="*/ 2 w 1018"/>
                <a:gd name="T43" fmla="*/ 536 h 1018"/>
                <a:gd name="T44" fmla="*/ 2 w 1018"/>
                <a:gd name="T45" fmla="*/ 483 h 1018"/>
                <a:gd name="T46" fmla="*/ 11 w 1018"/>
                <a:gd name="T47" fmla="*/ 406 h 1018"/>
                <a:gd name="T48" fmla="*/ 32 w 1018"/>
                <a:gd name="T49" fmla="*/ 334 h 1018"/>
                <a:gd name="T50" fmla="*/ 63 w 1018"/>
                <a:gd name="T51" fmla="*/ 266 h 1018"/>
                <a:gd name="T52" fmla="*/ 102 w 1018"/>
                <a:gd name="T53" fmla="*/ 205 h 1018"/>
                <a:gd name="T54" fmla="*/ 150 w 1018"/>
                <a:gd name="T55" fmla="*/ 150 h 1018"/>
                <a:gd name="T56" fmla="*/ 205 w 1018"/>
                <a:gd name="T57" fmla="*/ 101 h 1018"/>
                <a:gd name="T58" fmla="*/ 268 w 1018"/>
                <a:gd name="T59" fmla="*/ 62 h 1018"/>
                <a:gd name="T60" fmla="*/ 334 w 1018"/>
                <a:gd name="T61" fmla="*/ 31 h 1018"/>
                <a:gd name="T62" fmla="*/ 407 w 1018"/>
                <a:gd name="T63" fmla="*/ 10 h 1018"/>
                <a:gd name="T64" fmla="*/ 483 w 1018"/>
                <a:gd name="T65" fmla="*/ 1 h 1018"/>
                <a:gd name="T66" fmla="*/ 536 w 1018"/>
                <a:gd name="T67" fmla="*/ 1 h 1018"/>
                <a:gd name="T68" fmla="*/ 612 w 1018"/>
                <a:gd name="T69" fmla="*/ 10 h 1018"/>
                <a:gd name="T70" fmla="*/ 685 w 1018"/>
                <a:gd name="T71" fmla="*/ 31 h 1018"/>
                <a:gd name="T72" fmla="*/ 752 w 1018"/>
                <a:gd name="T73" fmla="*/ 62 h 1018"/>
                <a:gd name="T74" fmla="*/ 813 w 1018"/>
                <a:gd name="T75" fmla="*/ 101 h 1018"/>
                <a:gd name="T76" fmla="*/ 869 w 1018"/>
                <a:gd name="T77" fmla="*/ 150 h 1018"/>
                <a:gd name="T78" fmla="*/ 917 w 1018"/>
                <a:gd name="T79" fmla="*/ 205 h 1018"/>
                <a:gd name="T80" fmla="*/ 956 w 1018"/>
                <a:gd name="T81" fmla="*/ 266 h 1018"/>
                <a:gd name="T82" fmla="*/ 987 w 1018"/>
                <a:gd name="T83" fmla="*/ 334 h 1018"/>
                <a:gd name="T84" fmla="*/ 1008 w 1018"/>
                <a:gd name="T85" fmla="*/ 406 h 1018"/>
                <a:gd name="T86" fmla="*/ 1017 w 1018"/>
                <a:gd name="T87" fmla="*/ 483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8" h="1018">
                  <a:moveTo>
                    <a:pt x="1018" y="509"/>
                  </a:moveTo>
                  <a:lnTo>
                    <a:pt x="1018" y="509"/>
                  </a:lnTo>
                  <a:lnTo>
                    <a:pt x="1017" y="536"/>
                  </a:lnTo>
                  <a:lnTo>
                    <a:pt x="1015" y="561"/>
                  </a:lnTo>
                  <a:lnTo>
                    <a:pt x="1013" y="586"/>
                  </a:lnTo>
                  <a:lnTo>
                    <a:pt x="1008" y="612"/>
                  </a:lnTo>
                  <a:lnTo>
                    <a:pt x="1002" y="636"/>
                  </a:lnTo>
                  <a:lnTo>
                    <a:pt x="995" y="660"/>
                  </a:lnTo>
                  <a:lnTo>
                    <a:pt x="987" y="684"/>
                  </a:lnTo>
                  <a:lnTo>
                    <a:pt x="978" y="707"/>
                  </a:lnTo>
                  <a:lnTo>
                    <a:pt x="968" y="729"/>
                  </a:lnTo>
                  <a:lnTo>
                    <a:pt x="956" y="751"/>
                  </a:lnTo>
                  <a:lnTo>
                    <a:pt x="945" y="773"/>
                  </a:lnTo>
                  <a:lnTo>
                    <a:pt x="931" y="794"/>
                  </a:lnTo>
                  <a:lnTo>
                    <a:pt x="917" y="813"/>
                  </a:lnTo>
                  <a:lnTo>
                    <a:pt x="902" y="833"/>
                  </a:lnTo>
                  <a:lnTo>
                    <a:pt x="886" y="851"/>
                  </a:lnTo>
                  <a:lnTo>
                    <a:pt x="869" y="869"/>
                  </a:lnTo>
                  <a:lnTo>
                    <a:pt x="851" y="886"/>
                  </a:lnTo>
                  <a:lnTo>
                    <a:pt x="833" y="902"/>
                  </a:lnTo>
                  <a:lnTo>
                    <a:pt x="813" y="917"/>
                  </a:lnTo>
                  <a:lnTo>
                    <a:pt x="794" y="931"/>
                  </a:lnTo>
                  <a:lnTo>
                    <a:pt x="773" y="945"/>
                  </a:lnTo>
                  <a:lnTo>
                    <a:pt x="752" y="956"/>
                  </a:lnTo>
                  <a:lnTo>
                    <a:pt x="731" y="968"/>
                  </a:lnTo>
                  <a:lnTo>
                    <a:pt x="708" y="978"/>
                  </a:lnTo>
                  <a:lnTo>
                    <a:pt x="685" y="987"/>
                  </a:lnTo>
                  <a:lnTo>
                    <a:pt x="660" y="995"/>
                  </a:lnTo>
                  <a:lnTo>
                    <a:pt x="636" y="1002"/>
                  </a:lnTo>
                  <a:lnTo>
                    <a:pt x="612" y="1008"/>
                  </a:lnTo>
                  <a:lnTo>
                    <a:pt x="587" y="1011"/>
                  </a:lnTo>
                  <a:lnTo>
                    <a:pt x="561" y="1015"/>
                  </a:lnTo>
                  <a:lnTo>
                    <a:pt x="536" y="1017"/>
                  </a:lnTo>
                  <a:lnTo>
                    <a:pt x="509" y="1018"/>
                  </a:lnTo>
                  <a:lnTo>
                    <a:pt x="509" y="1018"/>
                  </a:lnTo>
                  <a:lnTo>
                    <a:pt x="483" y="1017"/>
                  </a:lnTo>
                  <a:lnTo>
                    <a:pt x="458" y="1015"/>
                  </a:lnTo>
                  <a:lnTo>
                    <a:pt x="432" y="1011"/>
                  </a:lnTo>
                  <a:lnTo>
                    <a:pt x="407" y="1008"/>
                  </a:lnTo>
                  <a:lnTo>
                    <a:pt x="383" y="1002"/>
                  </a:lnTo>
                  <a:lnTo>
                    <a:pt x="359" y="995"/>
                  </a:lnTo>
                  <a:lnTo>
                    <a:pt x="334" y="987"/>
                  </a:lnTo>
                  <a:lnTo>
                    <a:pt x="311" y="978"/>
                  </a:lnTo>
                  <a:lnTo>
                    <a:pt x="290" y="968"/>
                  </a:lnTo>
                  <a:lnTo>
                    <a:pt x="268" y="956"/>
                  </a:lnTo>
                  <a:lnTo>
                    <a:pt x="246" y="945"/>
                  </a:lnTo>
                  <a:lnTo>
                    <a:pt x="225" y="931"/>
                  </a:lnTo>
                  <a:lnTo>
                    <a:pt x="205" y="917"/>
                  </a:lnTo>
                  <a:lnTo>
                    <a:pt x="186" y="902"/>
                  </a:lnTo>
                  <a:lnTo>
                    <a:pt x="167" y="886"/>
                  </a:lnTo>
                  <a:lnTo>
                    <a:pt x="150" y="869"/>
                  </a:lnTo>
                  <a:lnTo>
                    <a:pt x="133" y="851"/>
                  </a:lnTo>
                  <a:lnTo>
                    <a:pt x="117" y="833"/>
                  </a:lnTo>
                  <a:lnTo>
                    <a:pt x="102" y="813"/>
                  </a:lnTo>
                  <a:lnTo>
                    <a:pt x="88" y="794"/>
                  </a:lnTo>
                  <a:lnTo>
                    <a:pt x="74" y="773"/>
                  </a:lnTo>
                  <a:lnTo>
                    <a:pt x="63" y="751"/>
                  </a:lnTo>
                  <a:lnTo>
                    <a:pt x="51" y="729"/>
                  </a:lnTo>
                  <a:lnTo>
                    <a:pt x="41" y="707"/>
                  </a:lnTo>
                  <a:lnTo>
                    <a:pt x="32" y="684"/>
                  </a:lnTo>
                  <a:lnTo>
                    <a:pt x="23" y="660"/>
                  </a:lnTo>
                  <a:lnTo>
                    <a:pt x="17" y="636"/>
                  </a:lnTo>
                  <a:lnTo>
                    <a:pt x="11" y="612"/>
                  </a:lnTo>
                  <a:lnTo>
                    <a:pt x="7" y="586"/>
                  </a:lnTo>
                  <a:lnTo>
                    <a:pt x="4" y="561"/>
                  </a:lnTo>
                  <a:lnTo>
                    <a:pt x="2" y="536"/>
                  </a:lnTo>
                  <a:lnTo>
                    <a:pt x="0" y="509"/>
                  </a:lnTo>
                  <a:lnTo>
                    <a:pt x="0" y="509"/>
                  </a:lnTo>
                  <a:lnTo>
                    <a:pt x="2" y="483"/>
                  </a:lnTo>
                  <a:lnTo>
                    <a:pt x="4" y="457"/>
                  </a:lnTo>
                  <a:lnTo>
                    <a:pt x="7" y="432"/>
                  </a:lnTo>
                  <a:lnTo>
                    <a:pt x="11" y="406"/>
                  </a:lnTo>
                  <a:lnTo>
                    <a:pt x="17" y="382"/>
                  </a:lnTo>
                  <a:lnTo>
                    <a:pt x="23" y="358"/>
                  </a:lnTo>
                  <a:lnTo>
                    <a:pt x="32" y="334"/>
                  </a:lnTo>
                  <a:lnTo>
                    <a:pt x="41" y="311"/>
                  </a:lnTo>
                  <a:lnTo>
                    <a:pt x="51" y="289"/>
                  </a:lnTo>
                  <a:lnTo>
                    <a:pt x="63" y="266"/>
                  </a:lnTo>
                  <a:lnTo>
                    <a:pt x="74" y="245"/>
                  </a:lnTo>
                  <a:lnTo>
                    <a:pt x="88" y="224"/>
                  </a:lnTo>
                  <a:lnTo>
                    <a:pt x="102" y="205"/>
                  </a:lnTo>
                  <a:lnTo>
                    <a:pt x="117" y="185"/>
                  </a:lnTo>
                  <a:lnTo>
                    <a:pt x="133" y="167"/>
                  </a:lnTo>
                  <a:lnTo>
                    <a:pt x="150" y="150"/>
                  </a:lnTo>
                  <a:lnTo>
                    <a:pt x="167" y="132"/>
                  </a:lnTo>
                  <a:lnTo>
                    <a:pt x="186" y="116"/>
                  </a:lnTo>
                  <a:lnTo>
                    <a:pt x="205" y="101"/>
                  </a:lnTo>
                  <a:lnTo>
                    <a:pt x="225" y="87"/>
                  </a:lnTo>
                  <a:lnTo>
                    <a:pt x="246" y="73"/>
                  </a:lnTo>
                  <a:lnTo>
                    <a:pt x="268" y="62"/>
                  </a:lnTo>
                  <a:lnTo>
                    <a:pt x="290" y="50"/>
                  </a:lnTo>
                  <a:lnTo>
                    <a:pt x="311" y="40"/>
                  </a:lnTo>
                  <a:lnTo>
                    <a:pt x="334" y="31"/>
                  </a:lnTo>
                  <a:lnTo>
                    <a:pt x="359" y="23"/>
                  </a:lnTo>
                  <a:lnTo>
                    <a:pt x="383" y="16"/>
                  </a:lnTo>
                  <a:lnTo>
                    <a:pt x="407" y="10"/>
                  </a:lnTo>
                  <a:lnTo>
                    <a:pt x="432" y="6"/>
                  </a:lnTo>
                  <a:lnTo>
                    <a:pt x="458" y="3"/>
                  </a:lnTo>
                  <a:lnTo>
                    <a:pt x="483" y="1"/>
                  </a:lnTo>
                  <a:lnTo>
                    <a:pt x="509" y="0"/>
                  </a:lnTo>
                  <a:lnTo>
                    <a:pt x="509" y="0"/>
                  </a:lnTo>
                  <a:lnTo>
                    <a:pt x="536" y="1"/>
                  </a:lnTo>
                  <a:lnTo>
                    <a:pt x="561" y="3"/>
                  </a:lnTo>
                  <a:lnTo>
                    <a:pt x="587" y="6"/>
                  </a:lnTo>
                  <a:lnTo>
                    <a:pt x="612" y="10"/>
                  </a:lnTo>
                  <a:lnTo>
                    <a:pt x="636" y="16"/>
                  </a:lnTo>
                  <a:lnTo>
                    <a:pt x="660" y="23"/>
                  </a:lnTo>
                  <a:lnTo>
                    <a:pt x="685" y="31"/>
                  </a:lnTo>
                  <a:lnTo>
                    <a:pt x="708" y="40"/>
                  </a:lnTo>
                  <a:lnTo>
                    <a:pt x="731" y="50"/>
                  </a:lnTo>
                  <a:lnTo>
                    <a:pt x="752" y="62"/>
                  </a:lnTo>
                  <a:lnTo>
                    <a:pt x="773" y="73"/>
                  </a:lnTo>
                  <a:lnTo>
                    <a:pt x="794" y="87"/>
                  </a:lnTo>
                  <a:lnTo>
                    <a:pt x="813" y="101"/>
                  </a:lnTo>
                  <a:lnTo>
                    <a:pt x="833" y="116"/>
                  </a:lnTo>
                  <a:lnTo>
                    <a:pt x="851" y="132"/>
                  </a:lnTo>
                  <a:lnTo>
                    <a:pt x="869" y="150"/>
                  </a:lnTo>
                  <a:lnTo>
                    <a:pt x="886" y="167"/>
                  </a:lnTo>
                  <a:lnTo>
                    <a:pt x="902" y="185"/>
                  </a:lnTo>
                  <a:lnTo>
                    <a:pt x="917" y="205"/>
                  </a:lnTo>
                  <a:lnTo>
                    <a:pt x="931" y="224"/>
                  </a:lnTo>
                  <a:lnTo>
                    <a:pt x="945" y="245"/>
                  </a:lnTo>
                  <a:lnTo>
                    <a:pt x="956" y="266"/>
                  </a:lnTo>
                  <a:lnTo>
                    <a:pt x="968" y="289"/>
                  </a:lnTo>
                  <a:lnTo>
                    <a:pt x="978" y="311"/>
                  </a:lnTo>
                  <a:lnTo>
                    <a:pt x="987" y="334"/>
                  </a:lnTo>
                  <a:lnTo>
                    <a:pt x="995" y="358"/>
                  </a:lnTo>
                  <a:lnTo>
                    <a:pt x="1002" y="382"/>
                  </a:lnTo>
                  <a:lnTo>
                    <a:pt x="1008" y="406"/>
                  </a:lnTo>
                  <a:lnTo>
                    <a:pt x="1013" y="432"/>
                  </a:lnTo>
                  <a:lnTo>
                    <a:pt x="1015" y="457"/>
                  </a:lnTo>
                  <a:lnTo>
                    <a:pt x="1017" y="483"/>
                  </a:lnTo>
                  <a:lnTo>
                    <a:pt x="1018" y="509"/>
                  </a:lnTo>
                  <a:lnTo>
                    <a:pt x="1018" y="509"/>
                  </a:lnTo>
                  <a:close/>
                </a:path>
              </a:pathLst>
            </a:custGeom>
            <a:solidFill>
              <a:srgbClr val="49CF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6" name="Freeform 253">
              <a:extLst>
                <a:ext uri="{FF2B5EF4-FFF2-40B4-BE49-F238E27FC236}">
                  <a16:creationId xmlns:a16="http://schemas.microsoft.com/office/drawing/2014/main" id="{0DCEB80E-6578-4215-BE93-740814AA6972}"/>
                </a:ext>
              </a:extLst>
            </p:cNvPr>
            <p:cNvSpPr>
              <a:spLocks noEditPoints="1"/>
            </p:cNvSpPr>
            <p:nvPr userDrawn="1"/>
          </p:nvSpPr>
          <p:spPr bwMode="auto">
            <a:xfrm>
              <a:off x="5221305" y="3097250"/>
              <a:ext cx="325439" cy="428630"/>
            </a:xfrm>
            <a:custGeom>
              <a:avLst/>
              <a:gdLst>
                <a:gd name="T0" fmla="*/ 136 w 409"/>
                <a:gd name="T1" fmla="*/ 539 h 539"/>
                <a:gd name="T2" fmla="*/ 120 w 409"/>
                <a:gd name="T3" fmla="*/ 530 h 539"/>
                <a:gd name="T4" fmla="*/ 118 w 409"/>
                <a:gd name="T5" fmla="*/ 482 h 539"/>
                <a:gd name="T6" fmla="*/ 108 w 409"/>
                <a:gd name="T7" fmla="*/ 437 h 539"/>
                <a:gd name="T8" fmla="*/ 80 w 409"/>
                <a:gd name="T9" fmla="*/ 389 h 539"/>
                <a:gd name="T10" fmla="*/ 39 w 409"/>
                <a:gd name="T11" fmla="*/ 324 h 539"/>
                <a:gd name="T12" fmla="*/ 21 w 409"/>
                <a:gd name="T13" fmla="*/ 293 h 539"/>
                <a:gd name="T14" fmla="*/ 18 w 409"/>
                <a:gd name="T15" fmla="*/ 291 h 539"/>
                <a:gd name="T16" fmla="*/ 1 w 409"/>
                <a:gd name="T17" fmla="*/ 227 h 539"/>
                <a:gd name="T18" fmla="*/ 1 w 409"/>
                <a:gd name="T19" fmla="*/ 184 h 539"/>
                <a:gd name="T20" fmla="*/ 16 w 409"/>
                <a:gd name="T21" fmla="*/ 125 h 539"/>
                <a:gd name="T22" fmla="*/ 46 w 409"/>
                <a:gd name="T23" fmla="*/ 74 h 539"/>
                <a:gd name="T24" fmla="*/ 90 w 409"/>
                <a:gd name="T25" fmla="*/ 34 h 539"/>
                <a:gd name="T26" fmla="*/ 144 w 409"/>
                <a:gd name="T27" fmla="*/ 9 h 539"/>
                <a:gd name="T28" fmla="*/ 204 w 409"/>
                <a:gd name="T29" fmla="*/ 0 h 539"/>
                <a:gd name="T30" fmla="*/ 245 w 409"/>
                <a:gd name="T31" fmla="*/ 4 h 539"/>
                <a:gd name="T32" fmla="*/ 302 w 409"/>
                <a:gd name="T33" fmla="*/ 25 h 539"/>
                <a:gd name="T34" fmla="*/ 349 w 409"/>
                <a:gd name="T35" fmla="*/ 59 h 539"/>
                <a:gd name="T36" fmla="*/ 383 w 409"/>
                <a:gd name="T37" fmla="*/ 107 h 539"/>
                <a:gd name="T38" fmla="*/ 404 w 409"/>
                <a:gd name="T39" fmla="*/ 163 h 539"/>
                <a:gd name="T40" fmla="*/ 409 w 409"/>
                <a:gd name="T41" fmla="*/ 205 h 539"/>
                <a:gd name="T42" fmla="*/ 398 w 409"/>
                <a:gd name="T43" fmla="*/ 270 h 539"/>
                <a:gd name="T44" fmla="*/ 388 w 409"/>
                <a:gd name="T45" fmla="*/ 293 h 539"/>
                <a:gd name="T46" fmla="*/ 369 w 409"/>
                <a:gd name="T47" fmla="*/ 324 h 539"/>
                <a:gd name="T48" fmla="*/ 349 w 409"/>
                <a:gd name="T49" fmla="*/ 356 h 539"/>
                <a:gd name="T50" fmla="*/ 308 w 409"/>
                <a:gd name="T51" fmla="*/ 421 h 539"/>
                <a:gd name="T52" fmla="*/ 291 w 409"/>
                <a:gd name="T53" fmla="*/ 468 h 539"/>
                <a:gd name="T54" fmla="*/ 289 w 409"/>
                <a:gd name="T55" fmla="*/ 523 h 539"/>
                <a:gd name="T56" fmla="*/ 280 w 409"/>
                <a:gd name="T57" fmla="*/ 538 h 539"/>
                <a:gd name="T58" fmla="*/ 204 w 409"/>
                <a:gd name="T59" fmla="*/ 11 h 539"/>
                <a:gd name="T60" fmla="*/ 166 w 409"/>
                <a:gd name="T61" fmla="*/ 14 h 539"/>
                <a:gd name="T62" fmla="*/ 111 w 409"/>
                <a:gd name="T63" fmla="*/ 34 h 539"/>
                <a:gd name="T64" fmla="*/ 68 w 409"/>
                <a:gd name="T65" fmla="*/ 67 h 539"/>
                <a:gd name="T66" fmla="*/ 34 w 409"/>
                <a:gd name="T67" fmla="*/ 112 h 539"/>
                <a:gd name="T68" fmla="*/ 15 w 409"/>
                <a:gd name="T69" fmla="*/ 165 h 539"/>
                <a:gd name="T70" fmla="*/ 11 w 409"/>
                <a:gd name="T71" fmla="*/ 205 h 539"/>
                <a:gd name="T72" fmla="*/ 22 w 409"/>
                <a:gd name="T73" fmla="*/ 266 h 539"/>
                <a:gd name="T74" fmla="*/ 30 w 409"/>
                <a:gd name="T75" fmla="*/ 288 h 539"/>
                <a:gd name="T76" fmla="*/ 39 w 409"/>
                <a:gd name="T77" fmla="*/ 304 h 539"/>
                <a:gd name="T78" fmla="*/ 48 w 409"/>
                <a:gd name="T79" fmla="*/ 319 h 539"/>
                <a:gd name="T80" fmla="*/ 92 w 409"/>
                <a:gd name="T81" fmla="*/ 384 h 539"/>
                <a:gd name="T82" fmla="*/ 120 w 409"/>
                <a:gd name="T83" fmla="*/ 435 h 539"/>
                <a:gd name="T84" fmla="*/ 130 w 409"/>
                <a:gd name="T85" fmla="*/ 482 h 539"/>
                <a:gd name="T86" fmla="*/ 131 w 409"/>
                <a:gd name="T87" fmla="*/ 525 h 539"/>
                <a:gd name="T88" fmla="*/ 136 w 409"/>
                <a:gd name="T89" fmla="*/ 527 h 539"/>
                <a:gd name="T90" fmla="*/ 275 w 409"/>
                <a:gd name="T91" fmla="*/ 527 h 539"/>
                <a:gd name="T92" fmla="*/ 277 w 409"/>
                <a:gd name="T93" fmla="*/ 523 h 539"/>
                <a:gd name="T94" fmla="*/ 280 w 409"/>
                <a:gd name="T95" fmla="*/ 467 h 539"/>
                <a:gd name="T96" fmla="*/ 297 w 409"/>
                <a:gd name="T97" fmla="*/ 419 h 539"/>
                <a:gd name="T98" fmla="*/ 340 w 409"/>
                <a:gd name="T99" fmla="*/ 350 h 539"/>
                <a:gd name="T100" fmla="*/ 360 w 409"/>
                <a:gd name="T101" fmla="*/ 318 h 539"/>
                <a:gd name="T102" fmla="*/ 378 w 409"/>
                <a:gd name="T103" fmla="*/ 289 h 539"/>
                <a:gd name="T104" fmla="*/ 379 w 409"/>
                <a:gd name="T105" fmla="*/ 286 h 539"/>
                <a:gd name="T106" fmla="*/ 392 w 409"/>
                <a:gd name="T107" fmla="*/ 246 h 539"/>
                <a:gd name="T108" fmla="*/ 397 w 409"/>
                <a:gd name="T109" fmla="*/ 205 h 539"/>
                <a:gd name="T110" fmla="*/ 389 w 409"/>
                <a:gd name="T111" fmla="*/ 147 h 539"/>
                <a:gd name="T112" fmla="*/ 364 w 409"/>
                <a:gd name="T113" fmla="*/ 96 h 539"/>
                <a:gd name="T114" fmla="*/ 327 w 409"/>
                <a:gd name="T115" fmla="*/ 55 h 539"/>
                <a:gd name="T116" fmla="*/ 280 w 409"/>
                <a:gd name="T117" fmla="*/ 26 h 539"/>
                <a:gd name="T118" fmla="*/ 223 w 409"/>
                <a:gd name="T119" fmla="*/ 1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9" h="539">
                  <a:moveTo>
                    <a:pt x="273" y="539"/>
                  </a:moveTo>
                  <a:lnTo>
                    <a:pt x="136" y="539"/>
                  </a:lnTo>
                  <a:lnTo>
                    <a:pt x="136" y="539"/>
                  </a:lnTo>
                  <a:lnTo>
                    <a:pt x="129" y="538"/>
                  </a:lnTo>
                  <a:lnTo>
                    <a:pt x="124" y="534"/>
                  </a:lnTo>
                  <a:lnTo>
                    <a:pt x="120" y="530"/>
                  </a:lnTo>
                  <a:lnTo>
                    <a:pt x="118" y="523"/>
                  </a:lnTo>
                  <a:lnTo>
                    <a:pt x="118" y="482"/>
                  </a:lnTo>
                  <a:lnTo>
                    <a:pt x="118" y="482"/>
                  </a:lnTo>
                  <a:lnTo>
                    <a:pt x="117" y="468"/>
                  </a:lnTo>
                  <a:lnTo>
                    <a:pt x="114" y="453"/>
                  </a:lnTo>
                  <a:lnTo>
                    <a:pt x="108" y="437"/>
                  </a:lnTo>
                  <a:lnTo>
                    <a:pt x="100" y="421"/>
                  </a:lnTo>
                  <a:lnTo>
                    <a:pt x="91" y="405"/>
                  </a:lnTo>
                  <a:lnTo>
                    <a:pt x="80" y="389"/>
                  </a:lnTo>
                  <a:lnTo>
                    <a:pt x="59" y="356"/>
                  </a:lnTo>
                  <a:lnTo>
                    <a:pt x="59" y="356"/>
                  </a:lnTo>
                  <a:lnTo>
                    <a:pt x="39" y="324"/>
                  </a:lnTo>
                  <a:lnTo>
                    <a:pt x="39" y="324"/>
                  </a:lnTo>
                  <a:lnTo>
                    <a:pt x="29" y="309"/>
                  </a:lnTo>
                  <a:lnTo>
                    <a:pt x="21" y="293"/>
                  </a:lnTo>
                  <a:lnTo>
                    <a:pt x="21" y="293"/>
                  </a:lnTo>
                  <a:lnTo>
                    <a:pt x="18" y="291"/>
                  </a:lnTo>
                  <a:lnTo>
                    <a:pt x="18" y="291"/>
                  </a:lnTo>
                  <a:lnTo>
                    <a:pt x="10" y="270"/>
                  </a:lnTo>
                  <a:lnTo>
                    <a:pt x="4" y="248"/>
                  </a:lnTo>
                  <a:lnTo>
                    <a:pt x="1" y="227"/>
                  </a:lnTo>
                  <a:lnTo>
                    <a:pt x="0" y="205"/>
                  </a:lnTo>
                  <a:lnTo>
                    <a:pt x="0" y="205"/>
                  </a:lnTo>
                  <a:lnTo>
                    <a:pt x="1" y="184"/>
                  </a:lnTo>
                  <a:lnTo>
                    <a:pt x="3" y="163"/>
                  </a:lnTo>
                  <a:lnTo>
                    <a:pt x="9" y="144"/>
                  </a:lnTo>
                  <a:lnTo>
                    <a:pt x="16" y="125"/>
                  </a:lnTo>
                  <a:lnTo>
                    <a:pt x="24" y="107"/>
                  </a:lnTo>
                  <a:lnTo>
                    <a:pt x="34" y="89"/>
                  </a:lnTo>
                  <a:lnTo>
                    <a:pt x="46" y="74"/>
                  </a:lnTo>
                  <a:lnTo>
                    <a:pt x="60" y="59"/>
                  </a:lnTo>
                  <a:lnTo>
                    <a:pt x="73" y="47"/>
                  </a:lnTo>
                  <a:lnTo>
                    <a:pt x="90" y="34"/>
                  </a:lnTo>
                  <a:lnTo>
                    <a:pt x="107" y="25"/>
                  </a:lnTo>
                  <a:lnTo>
                    <a:pt x="124" y="16"/>
                  </a:lnTo>
                  <a:lnTo>
                    <a:pt x="144" y="9"/>
                  </a:lnTo>
                  <a:lnTo>
                    <a:pt x="163" y="4"/>
                  </a:lnTo>
                  <a:lnTo>
                    <a:pt x="183" y="1"/>
                  </a:lnTo>
                  <a:lnTo>
                    <a:pt x="204" y="0"/>
                  </a:lnTo>
                  <a:lnTo>
                    <a:pt x="204" y="0"/>
                  </a:lnTo>
                  <a:lnTo>
                    <a:pt x="224" y="1"/>
                  </a:lnTo>
                  <a:lnTo>
                    <a:pt x="245" y="4"/>
                  </a:lnTo>
                  <a:lnTo>
                    <a:pt x="265" y="9"/>
                  </a:lnTo>
                  <a:lnTo>
                    <a:pt x="283" y="16"/>
                  </a:lnTo>
                  <a:lnTo>
                    <a:pt x="302" y="25"/>
                  </a:lnTo>
                  <a:lnTo>
                    <a:pt x="319" y="34"/>
                  </a:lnTo>
                  <a:lnTo>
                    <a:pt x="334" y="47"/>
                  </a:lnTo>
                  <a:lnTo>
                    <a:pt x="349" y="59"/>
                  </a:lnTo>
                  <a:lnTo>
                    <a:pt x="361" y="74"/>
                  </a:lnTo>
                  <a:lnTo>
                    <a:pt x="374" y="89"/>
                  </a:lnTo>
                  <a:lnTo>
                    <a:pt x="383" y="107"/>
                  </a:lnTo>
                  <a:lnTo>
                    <a:pt x="392" y="125"/>
                  </a:lnTo>
                  <a:lnTo>
                    <a:pt x="399" y="144"/>
                  </a:lnTo>
                  <a:lnTo>
                    <a:pt x="404" y="163"/>
                  </a:lnTo>
                  <a:lnTo>
                    <a:pt x="407" y="184"/>
                  </a:lnTo>
                  <a:lnTo>
                    <a:pt x="409" y="205"/>
                  </a:lnTo>
                  <a:lnTo>
                    <a:pt x="409" y="205"/>
                  </a:lnTo>
                  <a:lnTo>
                    <a:pt x="407" y="227"/>
                  </a:lnTo>
                  <a:lnTo>
                    <a:pt x="404" y="248"/>
                  </a:lnTo>
                  <a:lnTo>
                    <a:pt x="398" y="270"/>
                  </a:lnTo>
                  <a:lnTo>
                    <a:pt x="389" y="291"/>
                  </a:lnTo>
                  <a:lnTo>
                    <a:pt x="389" y="291"/>
                  </a:lnTo>
                  <a:lnTo>
                    <a:pt x="388" y="293"/>
                  </a:lnTo>
                  <a:lnTo>
                    <a:pt x="388" y="293"/>
                  </a:lnTo>
                  <a:lnTo>
                    <a:pt x="379" y="309"/>
                  </a:lnTo>
                  <a:lnTo>
                    <a:pt x="369" y="324"/>
                  </a:lnTo>
                  <a:lnTo>
                    <a:pt x="369" y="324"/>
                  </a:lnTo>
                  <a:lnTo>
                    <a:pt x="349" y="356"/>
                  </a:lnTo>
                  <a:lnTo>
                    <a:pt x="349" y="356"/>
                  </a:lnTo>
                  <a:lnTo>
                    <a:pt x="327" y="389"/>
                  </a:lnTo>
                  <a:lnTo>
                    <a:pt x="318" y="405"/>
                  </a:lnTo>
                  <a:lnTo>
                    <a:pt x="308" y="421"/>
                  </a:lnTo>
                  <a:lnTo>
                    <a:pt x="300" y="437"/>
                  </a:lnTo>
                  <a:lnTo>
                    <a:pt x="295" y="453"/>
                  </a:lnTo>
                  <a:lnTo>
                    <a:pt x="291" y="468"/>
                  </a:lnTo>
                  <a:lnTo>
                    <a:pt x="289" y="482"/>
                  </a:lnTo>
                  <a:lnTo>
                    <a:pt x="289" y="523"/>
                  </a:lnTo>
                  <a:lnTo>
                    <a:pt x="289" y="523"/>
                  </a:lnTo>
                  <a:lnTo>
                    <a:pt x="288" y="530"/>
                  </a:lnTo>
                  <a:lnTo>
                    <a:pt x="284" y="534"/>
                  </a:lnTo>
                  <a:lnTo>
                    <a:pt x="280" y="538"/>
                  </a:lnTo>
                  <a:lnTo>
                    <a:pt x="273" y="539"/>
                  </a:lnTo>
                  <a:lnTo>
                    <a:pt x="273" y="539"/>
                  </a:lnTo>
                  <a:close/>
                  <a:moveTo>
                    <a:pt x="204" y="11"/>
                  </a:moveTo>
                  <a:lnTo>
                    <a:pt x="204" y="11"/>
                  </a:lnTo>
                  <a:lnTo>
                    <a:pt x="184" y="12"/>
                  </a:lnTo>
                  <a:lnTo>
                    <a:pt x="166" y="14"/>
                  </a:lnTo>
                  <a:lnTo>
                    <a:pt x="147" y="19"/>
                  </a:lnTo>
                  <a:lnTo>
                    <a:pt x="129" y="26"/>
                  </a:lnTo>
                  <a:lnTo>
                    <a:pt x="111" y="34"/>
                  </a:lnTo>
                  <a:lnTo>
                    <a:pt x="97" y="44"/>
                  </a:lnTo>
                  <a:lnTo>
                    <a:pt x="82" y="55"/>
                  </a:lnTo>
                  <a:lnTo>
                    <a:pt x="68" y="67"/>
                  </a:lnTo>
                  <a:lnTo>
                    <a:pt x="55" y="81"/>
                  </a:lnTo>
                  <a:lnTo>
                    <a:pt x="44" y="96"/>
                  </a:lnTo>
                  <a:lnTo>
                    <a:pt x="34" y="112"/>
                  </a:lnTo>
                  <a:lnTo>
                    <a:pt x="26" y="129"/>
                  </a:lnTo>
                  <a:lnTo>
                    <a:pt x="19" y="147"/>
                  </a:lnTo>
                  <a:lnTo>
                    <a:pt x="15" y="165"/>
                  </a:lnTo>
                  <a:lnTo>
                    <a:pt x="11" y="185"/>
                  </a:lnTo>
                  <a:lnTo>
                    <a:pt x="11" y="205"/>
                  </a:lnTo>
                  <a:lnTo>
                    <a:pt x="11" y="205"/>
                  </a:lnTo>
                  <a:lnTo>
                    <a:pt x="12" y="225"/>
                  </a:lnTo>
                  <a:lnTo>
                    <a:pt x="16" y="246"/>
                  </a:lnTo>
                  <a:lnTo>
                    <a:pt x="22" y="266"/>
                  </a:lnTo>
                  <a:lnTo>
                    <a:pt x="29" y="285"/>
                  </a:lnTo>
                  <a:lnTo>
                    <a:pt x="29" y="285"/>
                  </a:lnTo>
                  <a:lnTo>
                    <a:pt x="30" y="288"/>
                  </a:lnTo>
                  <a:lnTo>
                    <a:pt x="30" y="289"/>
                  </a:lnTo>
                  <a:lnTo>
                    <a:pt x="30" y="289"/>
                  </a:lnTo>
                  <a:lnTo>
                    <a:pt x="39" y="304"/>
                  </a:lnTo>
                  <a:lnTo>
                    <a:pt x="48" y="318"/>
                  </a:lnTo>
                  <a:lnTo>
                    <a:pt x="48" y="319"/>
                  </a:lnTo>
                  <a:lnTo>
                    <a:pt x="48" y="319"/>
                  </a:lnTo>
                  <a:lnTo>
                    <a:pt x="69" y="349"/>
                  </a:lnTo>
                  <a:lnTo>
                    <a:pt x="69" y="349"/>
                  </a:lnTo>
                  <a:lnTo>
                    <a:pt x="92" y="384"/>
                  </a:lnTo>
                  <a:lnTo>
                    <a:pt x="102" y="402"/>
                  </a:lnTo>
                  <a:lnTo>
                    <a:pt x="111" y="419"/>
                  </a:lnTo>
                  <a:lnTo>
                    <a:pt x="120" y="435"/>
                  </a:lnTo>
                  <a:lnTo>
                    <a:pt x="125" y="451"/>
                  </a:lnTo>
                  <a:lnTo>
                    <a:pt x="129" y="467"/>
                  </a:lnTo>
                  <a:lnTo>
                    <a:pt x="130" y="482"/>
                  </a:lnTo>
                  <a:lnTo>
                    <a:pt x="130" y="523"/>
                  </a:lnTo>
                  <a:lnTo>
                    <a:pt x="130" y="523"/>
                  </a:lnTo>
                  <a:lnTo>
                    <a:pt x="131" y="525"/>
                  </a:lnTo>
                  <a:lnTo>
                    <a:pt x="132" y="526"/>
                  </a:lnTo>
                  <a:lnTo>
                    <a:pt x="133" y="527"/>
                  </a:lnTo>
                  <a:lnTo>
                    <a:pt x="136" y="527"/>
                  </a:lnTo>
                  <a:lnTo>
                    <a:pt x="273" y="527"/>
                  </a:lnTo>
                  <a:lnTo>
                    <a:pt x="273" y="527"/>
                  </a:lnTo>
                  <a:lnTo>
                    <a:pt x="275" y="527"/>
                  </a:lnTo>
                  <a:lnTo>
                    <a:pt x="276" y="526"/>
                  </a:lnTo>
                  <a:lnTo>
                    <a:pt x="277" y="525"/>
                  </a:lnTo>
                  <a:lnTo>
                    <a:pt x="277" y="523"/>
                  </a:lnTo>
                  <a:lnTo>
                    <a:pt x="277" y="482"/>
                  </a:lnTo>
                  <a:lnTo>
                    <a:pt x="277" y="482"/>
                  </a:lnTo>
                  <a:lnTo>
                    <a:pt x="280" y="467"/>
                  </a:lnTo>
                  <a:lnTo>
                    <a:pt x="283" y="451"/>
                  </a:lnTo>
                  <a:lnTo>
                    <a:pt x="289" y="435"/>
                  </a:lnTo>
                  <a:lnTo>
                    <a:pt x="297" y="419"/>
                  </a:lnTo>
                  <a:lnTo>
                    <a:pt x="306" y="402"/>
                  </a:lnTo>
                  <a:lnTo>
                    <a:pt x="316" y="384"/>
                  </a:lnTo>
                  <a:lnTo>
                    <a:pt x="340" y="350"/>
                  </a:lnTo>
                  <a:lnTo>
                    <a:pt x="340" y="350"/>
                  </a:lnTo>
                  <a:lnTo>
                    <a:pt x="359" y="319"/>
                  </a:lnTo>
                  <a:lnTo>
                    <a:pt x="360" y="318"/>
                  </a:lnTo>
                  <a:lnTo>
                    <a:pt x="360" y="318"/>
                  </a:lnTo>
                  <a:lnTo>
                    <a:pt x="369" y="304"/>
                  </a:lnTo>
                  <a:lnTo>
                    <a:pt x="378" y="289"/>
                  </a:lnTo>
                  <a:lnTo>
                    <a:pt x="378" y="288"/>
                  </a:lnTo>
                  <a:lnTo>
                    <a:pt x="378" y="288"/>
                  </a:lnTo>
                  <a:lnTo>
                    <a:pt x="379" y="286"/>
                  </a:lnTo>
                  <a:lnTo>
                    <a:pt x="379" y="286"/>
                  </a:lnTo>
                  <a:lnTo>
                    <a:pt x="387" y="266"/>
                  </a:lnTo>
                  <a:lnTo>
                    <a:pt x="392" y="246"/>
                  </a:lnTo>
                  <a:lnTo>
                    <a:pt x="396" y="225"/>
                  </a:lnTo>
                  <a:lnTo>
                    <a:pt x="397" y="205"/>
                  </a:lnTo>
                  <a:lnTo>
                    <a:pt x="397" y="205"/>
                  </a:lnTo>
                  <a:lnTo>
                    <a:pt x="396" y="185"/>
                  </a:lnTo>
                  <a:lnTo>
                    <a:pt x="394" y="165"/>
                  </a:lnTo>
                  <a:lnTo>
                    <a:pt x="389" y="147"/>
                  </a:lnTo>
                  <a:lnTo>
                    <a:pt x="382" y="129"/>
                  </a:lnTo>
                  <a:lnTo>
                    <a:pt x="374" y="112"/>
                  </a:lnTo>
                  <a:lnTo>
                    <a:pt x="364" y="96"/>
                  </a:lnTo>
                  <a:lnTo>
                    <a:pt x="353" y="81"/>
                  </a:lnTo>
                  <a:lnTo>
                    <a:pt x="341" y="67"/>
                  </a:lnTo>
                  <a:lnTo>
                    <a:pt x="327" y="55"/>
                  </a:lnTo>
                  <a:lnTo>
                    <a:pt x="312" y="44"/>
                  </a:lnTo>
                  <a:lnTo>
                    <a:pt x="296" y="34"/>
                  </a:lnTo>
                  <a:lnTo>
                    <a:pt x="280" y="26"/>
                  </a:lnTo>
                  <a:lnTo>
                    <a:pt x="261" y="19"/>
                  </a:lnTo>
                  <a:lnTo>
                    <a:pt x="243" y="14"/>
                  </a:lnTo>
                  <a:lnTo>
                    <a:pt x="223" y="12"/>
                  </a:lnTo>
                  <a:lnTo>
                    <a:pt x="204" y="11"/>
                  </a:lnTo>
                  <a:lnTo>
                    <a:pt x="20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7" name="Freeform 254">
              <a:extLst>
                <a:ext uri="{FF2B5EF4-FFF2-40B4-BE49-F238E27FC236}">
                  <a16:creationId xmlns:a16="http://schemas.microsoft.com/office/drawing/2014/main" id="{0D85F58C-72F1-42DA-B2CB-2A60BE257FE0}"/>
                </a:ext>
              </a:extLst>
            </p:cNvPr>
            <p:cNvSpPr>
              <a:spLocks noEditPoints="1"/>
            </p:cNvSpPr>
            <p:nvPr userDrawn="1"/>
          </p:nvSpPr>
          <p:spPr bwMode="auto">
            <a:xfrm>
              <a:off x="5316556" y="3541755"/>
              <a:ext cx="134938" cy="28575"/>
            </a:xfrm>
            <a:custGeom>
              <a:avLst/>
              <a:gdLst>
                <a:gd name="T0" fmla="*/ 158 w 171"/>
                <a:gd name="T1" fmla="*/ 36 h 36"/>
                <a:gd name="T2" fmla="*/ 14 w 171"/>
                <a:gd name="T3" fmla="*/ 36 h 36"/>
                <a:gd name="T4" fmla="*/ 14 w 171"/>
                <a:gd name="T5" fmla="*/ 36 h 36"/>
                <a:gd name="T6" fmla="*/ 10 w 171"/>
                <a:gd name="T7" fmla="*/ 35 h 36"/>
                <a:gd name="T8" fmla="*/ 5 w 171"/>
                <a:gd name="T9" fmla="*/ 33 h 36"/>
                <a:gd name="T10" fmla="*/ 2 w 171"/>
                <a:gd name="T11" fmla="*/ 28 h 36"/>
                <a:gd name="T12" fmla="*/ 0 w 171"/>
                <a:gd name="T13" fmla="*/ 23 h 36"/>
                <a:gd name="T14" fmla="*/ 0 w 171"/>
                <a:gd name="T15" fmla="*/ 14 h 36"/>
                <a:gd name="T16" fmla="*/ 0 w 171"/>
                <a:gd name="T17" fmla="*/ 14 h 36"/>
                <a:gd name="T18" fmla="*/ 2 w 171"/>
                <a:gd name="T19" fmla="*/ 8 h 36"/>
                <a:gd name="T20" fmla="*/ 5 w 171"/>
                <a:gd name="T21" fmla="*/ 4 h 36"/>
                <a:gd name="T22" fmla="*/ 10 w 171"/>
                <a:gd name="T23" fmla="*/ 1 h 36"/>
                <a:gd name="T24" fmla="*/ 14 w 171"/>
                <a:gd name="T25" fmla="*/ 0 h 36"/>
                <a:gd name="T26" fmla="*/ 158 w 171"/>
                <a:gd name="T27" fmla="*/ 0 h 36"/>
                <a:gd name="T28" fmla="*/ 158 w 171"/>
                <a:gd name="T29" fmla="*/ 0 h 36"/>
                <a:gd name="T30" fmla="*/ 163 w 171"/>
                <a:gd name="T31" fmla="*/ 1 h 36"/>
                <a:gd name="T32" fmla="*/ 167 w 171"/>
                <a:gd name="T33" fmla="*/ 4 h 36"/>
                <a:gd name="T34" fmla="*/ 170 w 171"/>
                <a:gd name="T35" fmla="*/ 8 h 36"/>
                <a:gd name="T36" fmla="*/ 171 w 171"/>
                <a:gd name="T37" fmla="*/ 14 h 36"/>
                <a:gd name="T38" fmla="*/ 171 w 171"/>
                <a:gd name="T39" fmla="*/ 23 h 36"/>
                <a:gd name="T40" fmla="*/ 171 w 171"/>
                <a:gd name="T41" fmla="*/ 23 h 36"/>
                <a:gd name="T42" fmla="*/ 170 w 171"/>
                <a:gd name="T43" fmla="*/ 28 h 36"/>
                <a:gd name="T44" fmla="*/ 167 w 171"/>
                <a:gd name="T45" fmla="*/ 33 h 36"/>
                <a:gd name="T46" fmla="*/ 163 w 171"/>
                <a:gd name="T47" fmla="*/ 35 h 36"/>
                <a:gd name="T48" fmla="*/ 158 w 171"/>
                <a:gd name="T49" fmla="*/ 36 h 36"/>
                <a:gd name="T50" fmla="*/ 158 w 171"/>
                <a:gd name="T51" fmla="*/ 36 h 36"/>
                <a:gd name="T52" fmla="*/ 14 w 171"/>
                <a:gd name="T53" fmla="*/ 12 h 36"/>
                <a:gd name="T54" fmla="*/ 14 w 171"/>
                <a:gd name="T55" fmla="*/ 12 h 36"/>
                <a:gd name="T56" fmla="*/ 13 w 171"/>
                <a:gd name="T57" fmla="*/ 12 h 36"/>
                <a:gd name="T58" fmla="*/ 12 w 171"/>
                <a:gd name="T59" fmla="*/ 14 h 36"/>
                <a:gd name="T60" fmla="*/ 12 w 171"/>
                <a:gd name="T61" fmla="*/ 23 h 36"/>
                <a:gd name="T62" fmla="*/ 12 w 171"/>
                <a:gd name="T63" fmla="*/ 23 h 36"/>
                <a:gd name="T64" fmla="*/ 13 w 171"/>
                <a:gd name="T65" fmla="*/ 25 h 36"/>
                <a:gd name="T66" fmla="*/ 14 w 171"/>
                <a:gd name="T67" fmla="*/ 25 h 36"/>
                <a:gd name="T68" fmla="*/ 158 w 171"/>
                <a:gd name="T69" fmla="*/ 25 h 36"/>
                <a:gd name="T70" fmla="*/ 158 w 171"/>
                <a:gd name="T71" fmla="*/ 25 h 36"/>
                <a:gd name="T72" fmla="*/ 159 w 171"/>
                <a:gd name="T73" fmla="*/ 25 h 36"/>
                <a:gd name="T74" fmla="*/ 159 w 171"/>
                <a:gd name="T75" fmla="*/ 23 h 36"/>
                <a:gd name="T76" fmla="*/ 159 w 171"/>
                <a:gd name="T77" fmla="*/ 14 h 36"/>
                <a:gd name="T78" fmla="*/ 159 w 171"/>
                <a:gd name="T79" fmla="*/ 14 h 36"/>
                <a:gd name="T80" fmla="*/ 159 w 171"/>
                <a:gd name="T81" fmla="*/ 12 h 36"/>
                <a:gd name="T82" fmla="*/ 158 w 171"/>
                <a:gd name="T83" fmla="*/ 12 h 36"/>
                <a:gd name="T84" fmla="*/ 14 w 171"/>
                <a:gd name="T85"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1" h="36">
                  <a:moveTo>
                    <a:pt x="158" y="36"/>
                  </a:moveTo>
                  <a:lnTo>
                    <a:pt x="14" y="36"/>
                  </a:lnTo>
                  <a:lnTo>
                    <a:pt x="14" y="36"/>
                  </a:lnTo>
                  <a:lnTo>
                    <a:pt x="10" y="35"/>
                  </a:lnTo>
                  <a:lnTo>
                    <a:pt x="5" y="33"/>
                  </a:lnTo>
                  <a:lnTo>
                    <a:pt x="2" y="28"/>
                  </a:lnTo>
                  <a:lnTo>
                    <a:pt x="0" y="23"/>
                  </a:lnTo>
                  <a:lnTo>
                    <a:pt x="0" y="14"/>
                  </a:lnTo>
                  <a:lnTo>
                    <a:pt x="0" y="14"/>
                  </a:lnTo>
                  <a:lnTo>
                    <a:pt x="2" y="8"/>
                  </a:lnTo>
                  <a:lnTo>
                    <a:pt x="5" y="4"/>
                  </a:lnTo>
                  <a:lnTo>
                    <a:pt x="10" y="1"/>
                  </a:lnTo>
                  <a:lnTo>
                    <a:pt x="14" y="0"/>
                  </a:lnTo>
                  <a:lnTo>
                    <a:pt x="158" y="0"/>
                  </a:lnTo>
                  <a:lnTo>
                    <a:pt x="158" y="0"/>
                  </a:lnTo>
                  <a:lnTo>
                    <a:pt x="163" y="1"/>
                  </a:lnTo>
                  <a:lnTo>
                    <a:pt x="167" y="4"/>
                  </a:lnTo>
                  <a:lnTo>
                    <a:pt x="170" y="8"/>
                  </a:lnTo>
                  <a:lnTo>
                    <a:pt x="171" y="14"/>
                  </a:lnTo>
                  <a:lnTo>
                    <a:pt x="171" y="23"/>
                  </a:lnTo>
                  <a:lnTo>
                    <a:pt x="171" y="23"/>
                  </a:lnTo>
                  <a:lnTo>
                    <a:pt x="170" y="28"/>
                  </a:lnTo>
                  <a:lnTo>
                    <a:pt x="167" y="33"/>
                  </a:lnTo>
                  <a:lnTo>
                    <a:pt x="163" y="35"/>
                  </a:lnTo>
                  <a:lnTo>
                    <a:pt x="158" y="36"/>
                  </a:lnTo>
                  <a:lnTo>
                    <a:pt x="158" y="36"/>
                  </a:lnTo>
                  <a:close/>
                  <a:moveTo>
                    <a:pt x="14" y="12"/>
                  </a:moveTo>
                  <a:lnTo>
                    <a:pt x="14" y="12"/>
                  </a:lnTo>
                  <a:lnTo>
                    <a:pt x="13" y="12"/>
                  </a:lnTo>
                  <a:lnTo>
                    <a:pt x="12" y="14"/>
                  </a:lnTo>
                  <a:lnTo>
                    <a:pt x="12" y="23"/>
                  </a:lnTo>
                  <a:lnTo>
                    <a:pt x="12" y="23"/>
                  </a:lnTo>
                  <a:lnTo>
                    <a:pt x="13" y="25"/>
                  </a:lnTo>
                  <a:lnTo>
                    <a:pt x="14" y="25"/>
                  </a:lnTo>
                  <a:lnTo>
                    <a:pt x="158" y="25"/>
                  </a:lnTo>
                  <a:lnTo>
                    <a:pt x="158" y="25"/>
                  </a:lnTo>
                  <a:lnTo>
                    <a:pt x="159" y="25"/>
                  </a:lnTo>
                  <a:lnTo>
                    <a:pt x="159" y="23"/>
                  </a:lnTo>
                  <a:lnTo>
                    <a:pt x="159" y="14"/>
                  </a:lnTo>
                  <a:lnTo>
                    <a:pt x="159" y="14"/>
                  </a:lnTo>
                  <a:lnTo>
                    <a:pt x="159" y="12"/>
                  </a:lnTo>
                  <a:lnTo>
                    <a:pt x="158" y="12"/>
                  </a:lnTo>
                  <a:lnTo>
                    <a:pt x="14"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8" name="Freeform 255">
              <a:extLst>
                <a:ext uri="{FF2B5EF4-FFF2-40B4-BE49-F238E27FC236}">
                  <a16:creationId xmlns:a16="http://schemas.microsoft.com/office/drawing/2014/main" id="{042AFE8B-CDA2-4E2B-A24D-7BDDDA5ED13B}"/>
                </a:ext>
              </a:extLst>
            </p:cNvPr>
            <p:cNvSpPr>
              <a:spLocks noEditPoints="1"/>
            </p:cNvSpPr>
            <p:nvPr userDrawn="1"/>
          </p:nvSpPr>
          <p:spPr bwMode="auto">
            <a:xfrm>
              <a:off x="5329256" y="3579856"/>
              <a:ext cx="107950" cy="28575"/>
            </a:xfrm>
            <a:custGeom>
              <a:avLst/>
              <a:gdLst>
                <a:gd name="T0" fmla="*/ 123 w 136"/>
                <a:gd name="T1" fmla="*/ 35 h 35"/>
                <a:gd name="T2" fmla="*/ 13 w 136"/>
                <a:gd name="T3" fmla="*/ 35 h 35"/>
                <a:gd name="T4" fmla="*/ 13 w 136"/>
                <a:gd name="T5" fmla="*/ 35 h 35"/>
                <a:gd name="T6" fmla="*/ 8 w 136"/>
                <a:gd name="T7" fmla="*/ 34 h 35"/>
                <a:gd name="T8" fmla="*/ 4 w 136"/>
                <a:gd name="T9" fmla="*/ 32 h 35"/>
                <a:gd name="T10" fmla="*/ 1 w 136"/>
                <a:gd name="T11" fmla="*/ 27 h 35"/>
                <a:gd name="T12" fmla="*/ 0 w 136"/>
                <a:gd name="T13" fmla="*/ 23 h 35"/>
                <a:gd name="T14" fmla="*/ 0 w 136"/>
                <a:gd name="T15" fmla="*/ 14 h 35"/>
                <a:gd name="T16" fmla="*/ 0 w 136"/>
                <a:gd name="T17" fmla="*/ 14 h 35"/>
                <a:gd name="T18" fmla="*/ 1 w 136"/>
                <a:gd name="T19" fmla="*/ 8 h 35"/>
                <a:gd name="T20" fmla="*/ 4 w 136"/>
                <a:gd name="T21" fmla="*/ 3 h 35"/>
                <a:gd name="T22" fmla="*/ 8 w 136"/>
                <a:gd name="T23" fmla="*/ 1 h 35"/>
                <a:gd name="T24" fmla="*/ 13 w 136"/>
                <a:gd name="T25" fmla="*/ 0 h 35"/>
                <a:gd name="T26" fmla="*/ 123 w 136"/>
                <a:gd name="T27" fmla="*/ 0 h 35"/>
                <a:gd name="T28" fmla="*/ 123 w 136"/>
                <a:gd name="T29" fmla="*/ 0 h 35"/>
                <a:gd name="T30" fmla="*/ 128 w 136"/>
                <a:gd name="T31" fmla="*/ 1 h 35"/>
                <a:gd name="T32" fmla="*/ 132 w 136"/>
                <a:gd name="T33" fmla="*/ 3 h 35"/>
                <a:gd name="T34" fmla="*/ 136 w 136"/>
                <a:gd name="T35" fmla="*/ 8 h 35"/>
                <a:gd name="T36" fmla="*/ 136 w 136"/>
                <a:gd name="T37" fmla="*/ 14 h 35"/>
                <a:gd name="T38" fmla="*/ 136 w 136"/>
                <a:gd name="T39" fmla="*/ 23 h 35"/>
                <a:gd name="T40" fmla="*/ 136 w 136"/>
                <a:gd name="T41" fmla="*/ 23 h 35"/>
                <a:gd name="T42" fmla="*/ 136 w 136"/>
                <a:gd name="T43" fmla="*/ 27 h 35"/>
                <a:gd name="T44" fmla="*/ 132 w 136"/>
                <a:gd name="T45" fmla="*/ 32 h 35"/>
                <a:gd name="T46" fmla="*/ 128 w 136"/>
                <a:gd name="T47" fmla="*/ 34 h 35"/>
                <a:gd name="T48" fmla="*/ 123 w 136"/>
                <a:gd name="T49" fmla="*/ 35 h 35"/>
                <a:gd name="T50" fmla="*/ 123 w 136"/>
                <a:gd name="T51" fmla="*/ 35 h 35"/>
                <a:gd name="T52" fmla="*/ 13 w 136"/>
                <a:gd name="T53" fmla="*/ 11 h 35"/>
                <a:gd name="T54" fmla="*/ 13 w 136"/>
                <a:gd name="T55" fmla="*/ 11 h 35"/>
                <a:gd name="T56" fmla="*/ 12 w 136"/>
                <a:gd name="T57" fmla="*/ 11 h 35"/>
                <a:gd name="T58" fmla="*/ 11 w 136"/>
                <a:gd name="T59" fmla="*/ 14 h 35"/>
                <a:gd name="T60" fmla="*/ 11 w 136"/>
                <a:gd name="T61" fmla="*/ 23 h 35"/>
                <a:gd name="T62" fmla="*/ 11 w 136"/>
                <a:gd name="T63" fmla="*/ 23 h 35"/>
                <a:gd name="T64" fmla="*/ 12 w 136"/>
                <a:gd name="T65" fmla="*/ 24 h 35"/>
                <a:gd name="T66" fmla="*/ 13 w 136"/>
                <a:gd name="T67" fmla="*/ 24 h 35"/>
                <a:gd name="T68" fmla="*/ 123 w 136"/>
                <a:gd name="T69" fmla="*/ 24 h 35"/>
                <a:gd name="T70" fmla="*/ 123 w 136"/>
                <a:gd name="T71" fmla="*/ 24 h 35"/>
                <a:gd name="T72" fmla="*/ 124 w 136"/>
                <a:gd name="T73" fmla="*/ 24 h 35"/>
                <a:gd name="T74" fmla="*/ 125 w 136"/>
                <a:gd name="T75" fmla="*/ 23 h 35"/>
                <a:gd name="T76" fmla="*/ 125 w 136"/>
                <a:gd name="T77" fmla="*/ 14 h 35"/>
                <a:gd name="T78" fmla="*/ 125 w 136"/>
                <a:gd name="T79" fmla="*/ 14 h 35"/>
                <a:gd name="T80" fmla="*/ 124 w 136"/>
                <a:gd name="T81" fmla="*/ 11 h 35"/>
                <a:gd name="T82" fmla="*/ 123 w 136"/>
                <a:gd name="T83" fmla="*/ 11 h 35"/>
                <a:gd name="T84" fmla="*/ 13 w 136"/>
                <a:gd name="T85"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 h="35">
                  <a:moveTo>
                    <a:pt x="123" y="35"/>
                  </a:moveTo>
                  <a:lnTo>
                    <a:pt x="13" y="35"/>
                  </a:lnTo>
                  <a:lnTo>
                    <a:pt x="13" y="35"/>
                  </a:lnTo>
                  <a:lnTo>
                    <a:pt x="8" y="34"/>
                  </a:lnTo>
                  <a:lnTo>
                    <a:pt x="4" y="32"/>
                  </a:lnTo>
                  <a:lnTo>
                    <a:pt x="1" y="27"/>
                  </a:lnTo>
                  <a:lnTo>
                    <a:pt x="0" y="23"/>
                  </a:lnTo>
                  <a:lnTo>
                    <a:pt x="0" y="14"/>
                  </a:lnTo>
                  <a:lnTo>
                    <a:pt x="0" y="14"/>
                  </a:lnTo>
                  <a:lnTo>
                    <a:pt x="1" y="8"/>
                  </a:lnTo>
                  <a:lnTo>
                    <a:pt x="4" y="3"/>
                  </a:lnTo>
                  <a:lnTo>
                    <a:pt x="8" y="1"/>
                  </a:lnTo>
                  <a:lnTo>
                    <a:pt x="13" y="0"/>
                  </a:lnTo>
                  <a:lnTo>
                    <a:pt x="123" y="0"/>
                  </a:lnTo>
                  <a:lnTo>
                    <a:pt x="123" y="0"/>
                  </a:lnTo>
                  <a:lnTo>
                    <a:pt x="128" y="1"/>
                  </a:lnTo>
                  <a:lnTo>
                    <a:pt x="132" y="3"/>
                  </a:lnTo>
                  <a:lnTo>
                    <a:pt x="136" y="8"/>
                  </a:lnTo>
                  <a:lnTo>
                    <a:pt x="136" y="14"/>
                  </a:lnTo>
                  <a:lnTo>
                    <a:pt x="136" y="23"/>
                  </a:lnTo>
                  <a:lnTo>
                    <a:pt x="136" y="23"/>
                  </a:lnTo>
                  <a:lnTo>
                    <a:pt x="136" y="27"/>
                  </a:lnTo>
                  <a:lnTo>
                    <a:pt x="132" y="32"/>
                  </a:lnTo>
                  <a:lnTo>
                    <a:pt x="128" y="34"/>
                  </a:lnTo>
                  <a:lnTo>
                    <a:pt x="123" y="35"/>
                  </a:lnTo>
                  <a:lnTo>
                    <a:pt x="123" y="35"/>
                  </a:lnTo>
                  <a:close/>
                  <a:moveTo>
                    <a:pt x="13" y="11"/>
                  </a:moveTo>
                  <a:lnTo>
                    <a:pt x="13" y="11"/>
                  </a:lnTo>
                  <a:lnTo>
                    <a:pt x="12" y="11"/>
                  </a:lnTo>
                  <a:lnTo>
                    <a:pt x="11" y="14"/>
                  </a:lnTo>
                  <a:lnTo>
                    <a:pt x="11" y="23"/>
                  </a:lnTo>
                  <a:lnTo>
                    <a:pt x="11" y="23"/>
                  </a:lnTo>
                  <a:lnTo>
                    <a:pt x="12" y="24"/>
                  </a:lnTo>
                  <a:lnTo>
                    <a:pt x="13" y="24"/>
                  </a:lnTo>
                  <a:lnTo>
                    <a:pt x="123" y="24"/>
                  </a:lnTo>
                  <a:lnTo>
                    <a:pt x="123" y="24"/>
                  </a:lnTo>
                  <a:lnTo>
                    <a:pt x="124" y="24"/>
                  </a:lnTo>
                  <a:lnTo>
                    <a:pt x="125" y="23"/>
                  </a:lnTo>
                  <a:lnTo>
                    <a:pt x="125" y="14"/>
                  </a:lnTo>
                  <a:lnTo>
                    <a:pt x="125" y="14"/>
                  </a:lnTo>
                  <a:lnTo>
                    <a:pt x="124" y="11"/>
                  </a:lnTo>
                  <a:lnTo>
                    <a:pt x="123" y="11"/>
                  </a:lnTo>
                  <a:lnTo>
                    <a:pt x="13"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9" name="Freeform 256">
              <a:extLst>
                <a:ext uri="{FF2B5EF4-FFF2-40B4-BE49-F238E27FC236}">
                  <a16:creationId xmlns:a16="http://schemas.microsoft.com/office/drawing/2014/main" id="{BF9276E7-0431-4086-869C-940EFA28F010}"/>
                </a:ext>
              </a:extLst>
            </p:cNvPr>
            <p:cNvSpPr>
              <a:spLocks noEditPoints="1"/>
            </p:cNvSpPr>
            <p:nvPr userDrawn="1"/>
          </p:nvSpPr>
          <p:spPr bwMode="auto">
            <a:xfrm>
              <a:off x="5343543" y="3617956"/>
              <a:ext cx="80963" cy="28575"/>
            </a:xfrm>
            <a:custGeom>
              <a:avLst/>
              <a:gdLst>
                <a:gd name="T0" fmla="*/ 89 w 102"/>
                <a:gd name="T1" fmla="*/ 36 h 36"/>
                <a:gd name="T2" fmla="*/ 14 w 102"/>
                <a:gd name="T3" fmla="*/ 36 h 36"/>
                <a:gd name="T4" fmla="*/ 14 w 102"/>
                <a:gd name="T5" fmla="*/ 36 h 36"/>
                <a:gd name="T6" fmla="*/ 8 w 102"/>
                <a:gd name="T7" fmla="*/ 35 h 36"/>
                <a:gd name="T8" fmla="*/ 3 w 102"/>
                <a:gd name="T9" fmla="*/ 32 h 36"/>
                <a:gd name="T10" fmla="*/ 1 w 102"/>
                <a:gd name="T11" fmla="*/ 28 h 36"/>
                <a:gd name="T12" fmla="*/ 0 w 102"/>
                <a:gd name="T13" fmla="*/ 22 h 36"/>
                <a:gd name="T14" fmla="*/ 0 w 102"/>
                <a:gd name="T15" fmla="*/ 14 h 36"/>
                <a:gd name="T16" fmla="*/ 0 w 102"/>
                <a:gd name="T17" fmla="*/ 14 h 36"/>
                <a:gd name="T18" fmla="*/ 1 w 102"/>
                <a:gd name="T19" fmla="*/ 8 h 36"/>
                <a:gd name="T20" fmla="*/ 3 w 102"/>
                <a:gd name="T21" fmla="*/ 4 h 36"/>
                <a:gd name="T22" fmla="*/ 8 w 102"/>
                <a:gd name="T23" fmla="*/ 1 h 36"/>
                <a:gd name="T24" fmla="*/ 14 w 102"/>
                <a:gd name="T25" fmla="*/ 0 h 36"/>
                <a:gd name="T26" fmla="*/ 89 w 102"/>
                <a:gd name="T27" fmla="*/ 0 h 36"/>
                <a:gd name="T28" fmla="*/ 89 w 102"/>
                <a:gd name="T29" fmla="*/ 0 h 36"/>
                <a:gd name="T30" fmla="*/ 93 w 102"/>
                <a:gd name="T31" fmla="*/ 1 h 36"/>
                <a:gd name="T32" fmla="*/ 98 w 102"/>
                <a:gd name="T33" fmla="*/ 4 h 36"/>
                <a:gd name="T34" fmla="*/ 101 w 102"/>
                <a:gd name="T35" fmla="*/ 8 h 36"/>
                <a:gd name="T36" fmla="*/ 102 w 102"/>
                <a:gd name="T37" fmla="*/ 14 h 36"/>
                <a:gd name="T38" fmla="*/ 102 w 102"/>
                <a:gd name="T39" fmla="*/ 22 h 36"/>
                <a:gd name="T40" fmla="*/ 102 w 102"/>
                <a:gd name="T41" fmla="*/ 22 h 36"/>
                <a:gd name="T42" fmla="*/ 101 w 102"/>
                <a:gd name="T43" fmla="*/ 28 h 36"/>
                <a:gd name="T44" fmla="*/ 98 w 102"/>
                <a:gd name="T45" fmla="*/ 32 h 36"/>
                <a:gd name="T46" fmla="*/ 93 w 102"/>
                <a:gd name="T47" fmla="*/ 35 h 36"/>
                <a:gd name="T48" fmla="*/ 89 w 102"/>
                <a:gd name="T49" fmla="*/ 36 h 36"/>
                <a:gd name="T50" fmla="*/ 89 w 102"/>
                <a:gd name="T51" fmla="*/ 36 h 36"/>
                <a:gd name="T52" fmla="*/ 14 w 102"/>
                <a:gd name="T53" fmla="*/ 12 h 36"/>
                <a:gd name="T54" fmla="*/ 14 w 102"/>
                <a:gd name="T55" fmla="*/ 12 h 36"/>
                <a:gd name="T56" fmla="*/ 11 w 102"/>
                <a:gd name="T57" fmla="*/ 12 h 36"/>
                <a:gd name="T58" fmla="*/ 11 w 102"/>
                <a:gd name="T59" fmla="*/ 14 h 36"/>
                <a:gd name="T60" fmla="*/ 11 w 102"/>
                <a:gd name="T61" fmla="*/ 22 h 36"/>
                <a:gd name="T62" fmla="*/ 11 w 102"/>
                <a:gd name="T63" fmla="*/ 22 h 36"/>
                <a:gd name="T64" fmla="*/ 11 w 102"/>
                <a:gd name="T65" fmla="*/ 24 h 36"/>
                <a:gd name="T66" fmla="*/ 14 w 102"/>
                <a:gd name="T67" fmla="*/ 24 h 36"/>
                <a:gd name="T68" fmla="*/ 89 w 102"/>
                <a:gd name="T69" fmla="*/ 24 h 36"/>
                <a:gd name="T70" fmla="*/ 89 w 102"/>
                <a:gd name="T71" fmla="*/ 24 h 36"/>
                <a:gd name="T72" fmla="*/ 90 w 102"/>
                <a:gd name="T73" fmla="*/ 24 h 36"/>
                <a:gd name="T74" fmla="*/ 91 w 102"/>
                <a:gd name="T75" fmla="*/ 22 h 36"/>
                <a:gd name="T76" fmla="*/ 91 w 102"/>
                <a:gd name="T77" fmla="*/ 14 h 36"/>
                <a:gd name="T78" fmla="*/ 91 w 102"/>
                <a:gd name="T79" fmla="*/ 14 h 36"/>
                <a:gd name="T80" fmla="*/ 90 w 102"/>
                <a:gd name="T81" fmla="*/ 12 h 36"/>
                <a:gd name="T82" fmla="*/ 89 w 102"/>
                <a:gd name="T83" fmla="*/ 12 h 36"/>
                <a:gd name="T84" fmla="*/ 14 w 102"/>
                <a:gd name="T85"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2" h="36">
                  <a:moveTo>
                    <a:pt x="89" y="36"/>
                  </a:moveTo>
                  <a:lnTo>
                    <a:pt x="14" y="36"/>
                  </a:lnTo>
                  <a:lnTo>
                    <a:pt x="14" y="36"/>
                  </a:lnTo>
                  <a:lnTo>
                    <a:pt x="8" y="35"/>
                  </a:lnTo>
                  <a:lnTo>
                    <a:pt x="3" y="32"/>
                  </a:lnTo>
                  <a:lnTo>
                    <a:pt x="1" y="28"/>
                  </a:lnTo>
                  <a:lnTo>
                    <a:pt x="0" y="22"/>
                  </a:lnTo>
                  <a:lnTo>
                    <a:pt x="0" y="14"/>
                  </a:lnTo>
                  <a:lnTo>
                    <a:pt x="0" y="14"/>
                  </a:lnTo>
                  <a:lnTo>
                    <a:pt x="1" y="8"/>
                  </a:lnTo>
                  <a:lnTo>
                    <a:pt x="3" y="4"/>
                  </a:lnTo>
                  <a:lnTo>
                    <a:pt x="8" y="1"/>
                  </a:lnTo>
                  <a:lnTo>
                    <a:pt x="14" y="0"/>
                  </a:lnTo>
                  <a:lnTo>
                    <a:pt x="89" y="0"/>
                  </a:lnTo>
                  <a:lnTo>
                    <a:pt x="89" y="0"/>
                  </a:lnTo>
                  <a:lnTo>
                    <a:pt x="93" y="1"/>
                  </a:lnTo>
                  <a:lnTo>
                    <a:pt x="98" y="4"/>
                  </a:lnTo>
                  <a:lnTo>
                    <a:pt x="101" y="8"/>
                  </a:lnTo>
                  <a:lnTo>
                    <a:pt x="102" y="14"/>
                  </a:lnTo>
                  <a:lnTo>
                    <a:pt x="102" y="22"/>
                  </a:lnTo>
                  <a:lnTo>
                    <a:pt x="102" y="22"/>
                  </a:lnTo>
                  <a:lnTo>
                    <a:pt x="101" y="28"/>
                  </a:lnTo>
                  <a:lnTo>
                    <a:pt x="98" y="32"/>
                  </a:lnTo>
                  <a:lnTo>
                    <a:pt x="93" y="35"/>
                  </a:lnTo>
                  <a:lnTo>
                    <a:pt x="89" y="36"/>
                  </a:lnTo>
                  <a:lnTo>
                    <a:pt x="89" y="36"/>
                  </a:lnTo>
                  <a:close/>
                  <a:moveTo>
                    <a:pt x="14" y="12"/>
                  </a:moveTo>
                  <a:lnTo>
                    <a:pt x="14" y="12"/>
                  </a:lnTo>
                  <a:lnTo>
                    <a:pt x="11" y="12"/>
                  </a:lnTo>
                  <a:lnTo>
                    <a:pt x="11" y="14"/>
                  </a:lnTo>
                  <a:lnTo>
                    <a:pt x="11" y="22"/>
                  </a:lnTo>
                  <a:lnTo>
                    <a:pt x="11" y="22"/>
                  </a:lnTo>
                  <a:lnTo>
                    <a:pt x="11" y="24"/>
                  </a:lnTo>
                  <a:lnTo>
                    <a:pt x="14" y="24"/>
                  </a:lnTo>
                  <a:lnTo>
                    <a:pt x="89" y="24"/>
                  </a:lnTo>
                  <a:lnTo>
                    <a:pt x="89" y="24"/>
                  </a:lnTo>
                  <a:lnTo>
                    <a:pt x="90" y="24"/>
                  </a:lnTo>
                  <a:lnTo>
                    <a:pt x="91" y="22"/>
                  </a:lnTo>
                  <a:lnTo>
                    <a:pt x="91" y="14"/>
                  </a:lnTo>
                  <a:lnTo>
                    <a:pt x="91" y="14"/>
                  </a:lnTo>
                  <a:lnTo>
                    <a:pt x="90" y="12"/>
                  </a:lnTo>
                  <a:lnTo>
                    <a:pt x="89" y="12"/>
                  </a:lnTo>
                  <a:lnTo>
                    <a:pt x="14"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60" name="Freeform 257">
              <a:extLst>
                <a:ext uri="{FF2B5EF4-FFF2-40B4-BE49-F238E27FC236}">
                  <a16:creationId xmlns:a16="http://schemas.microsoft.com/office/drawing/2014/main" id="{51A4F7EB-B16D-4352-BFAB-53EEE0392697}"/>
                </a:ext>
              </a:extLst>
            </p:cNvPr>
            <p:cNvSpPr>
              <a:spLocks/>
            </p:cNvSpPr>
            <p:nvPr userDrawn="1"/>
          </p:nvSpPr>
          <p:spPr bwMode="auto">
            <a:xfrm>
              <a:off x="5260993" y="3143288"/>
              <a:ext cx="100013" cy="133352"/>
            </a:xfrm>
            <a:custGeom>
              <a:avLst/>
              <a:gdLst>
                <a:gd name="T0" fmla="*/ 6 w 126"/>
                <a:gd name="T1" fmla="*/ 167 h 167"/>
                <a:gd name="T2" fmla="*/ 6 w 126"/>
                <a:gd name="T3" fmla="*/ 167 h 167"/>
                <a:gd name="T4" fmla="*/ 4 w 126"/>
                <a:gd name="T5" fmla="*/ 166 h 167"/>
                <a:gd name="T6" fmla="*/ 3 w 126"/>
                <a:gd name="T7" fmla="*/ 165 h 167"/>
                <a:gd name="T8" fmla="*/ 1 w 126"/>
                <a:gd name="T9" fmla="*/ 164 h 167"/>
                <a:gd name="T10" fmla="*/ 0 w 126"/>
                <a:gd name="T11" fmla="*/ 161 h 167"/>
                <a:gd name="T12" fmla="*/ 0 w 126"/>
                <a:gd name="T13" fmla="*/ 161 h 167"/>
                <a:gd name="T14" fmla="*/ 1 w 126"/>
                <a:gd name="T15" fmla="*/ 142 h 167"/>
                <a:gd name="T16" fmla="*/ 4 w 126"/>
                <a:gd name="T17" fmla="*/ 125 h 167"/>
                <a:gd name="T18" fmla="*/ 8 w 126"/>
                <a:gd name="T19" fmla="*/ 107 h 167"/>
                <a:gd name="T20" fmla="*/ 14 w 126"/>
                <a:gd name="T21" fmla="*/ 92 h 167"/>
                <a:gd name="T22" fmla="*/ 21 w 126"/>
                <a:gd name="T23" fmla="*/ 77 h 167"/>
                <a:gd name="T24" fmla="*/ 29 w 126"/>
                <a:gd name="T25" fmla="*/ 65 h 167"/>
                <a:gd name="T26" fmla="*/ 38 w 126"/>
                <a:gd name="T27" fmla="*/ 52 h 167"/>
                <a:gd name="T28" fmla="*/ 48 w 126"/>
                <a:gd name="T29" fmla="*/ 42 h 167"/>
                <a:gd name="T30" fmla="*/ 57 w 126"/>
                <a:gd name="T31" fmla="*/ 31 h 167"/>
                <a:gd name="T32" fmla="*/ 67 w 126"/>
                <a:gd name="T33" fmla="*/ 23 h 167"/>
                <a:gd name="T34" fmla="*/ 77 w 126"/>
                <a:gd name="T35" fmla="*/ 16 h 167"/>
                <a:gd name="T36" fmla="*/ 87 w 126"/>
                <a:gd name="T37" fmla="*/ 10 h 167"/>
                <a:gd name="T38" fmla="*/ 97 w 126"/>
                <a:gd name="T39" fmla="*/ 6 h 167"/>
                <a:gd name="T40" fmla="*/ 105 w 126"/>
                <a:gd name="T41" fmla="*/ 2 h 167"/>
                <a:gd name="T42" fmla="*/ 113 w 126"/>
                <a:gd name="T43" fmla="*/ 1 h 167"/>
                <a:gd name="T44" fmla="*/ 121 w 126"/>
                <a:gd name="T45" fmla="*/ 0 h 167"/>
                <a:gd name="T46" fmla="*/ 121 w 126"/>
                <a:gd name="T47" fmla="*/ 0 h 167"/>
                <a:gd name="T48" fmla="*/ 122 w 126"/>
                <a:gd name="T49" fmla="*/ 0 h 167"/>
                <a:gd name="T50" fmla="*/ 125 w 126"/>
                <a:gd name="T51" fmla="*/ 1 h 167"/>
                <a:gd name="T52" fmla="*/ 126 w 126"/>
                <a:gd name="T53" fmla="*/ 4 h 167"/>
                <a:gd name="T54" fmla="*/ 126 w 126"/>
                <a:gd name="T55" fmla="*/ 6 h 167"/>
                <a:gd name="T56" fmla="*/ 126 w 126"/>
                <a:gd name="T57" fmla="*/ 6 h 167"/>
                <a:gd name="T58" fmla="*/ 126 w 126"/>
                <a:gd name="T59" fmla="*/ 8 h 167"/>
                <a:gd name="T60" fmla="*/ 125 w 126"/>
                <a:gd name="T61" fmla="*/ 9 h 167"/>
                <a:gd name="T62" fmla="*/ 122 w 126"/>
                <a:gd name="T63" fmla="*/ 10 h 167"/>
                <a:gd name="T64" fmla="*/ 121 w 126"/>
                <a:gd name="T65" fmla="*/ 12 h 167"/>
                <a:gd name="T66" fmla="*/ 121 w 126"/>
                <a:gd name="T67" fmla="*/ 12 h 167"/>
                <a:gd name="T68" fmla="*/ 114 w 126"/>
                <a:gd name="T69" fmla="*/ 12 h 167"/>
                <a:gd name="T70" fmla="*/ 107 w 126"/>
                <a:gd name="T71" fmla="*/ 14 h 167"/>
                <a:gd name="T72" fmla="*/ 100 w 126"/>
                <a:gd name="T73" fmla="*/ 17 h 167"/>
                <a:gd name="T74" fmla="*/ 92 w 126"/>
                <a:gd name="T75" fmla="*/ 21 h 167"/>
                <a:gd name="T76" fmla="*/ 83 w 126"/>
                <a:gd name="T77" fmla="*/ 27 h 167"/>
                <a:gd name="T78" fmla="*/ 74 w 126"/>
                <a:gd name="T79" fmla="*/ 32 h 167"/>
                <a:gd name="T80" fmla="*/ 65 w 126"/>
                <a:gd name="T81" fmla="*/ 40 h 167"/>
                <a:gd name="T82" fmla="*/ 56 w 126"/>
                <a:gd name="T83" fmla="*/ 50 h 167"/>
                <a:gd name="T84" fmla="*/ 48 w 126"/>
                <a:gd name="T85" fmla="*/ 60 h 167"/>
                <a:gd name="T86" fmla="*/ 39 w 126"/>
                <a:gd name="T87" fmla="*/ 70 h 167"/>
                <a:gd name="T88" fmla="*/ 31 w 126"/>
                <a:gd name="T89" fmla="*/ 83 h 167"/>
                <a:gd name="T90" fmla="*/ 24 w 126"/>
                <a:gd name="T91" fmla="*/ 97 h 167"/>
                <a:gd name="T92" fmla="*/ 20 w 126"/>
                <a:gd name="T93" fmla="*/ 111 h 167"/>
                <a:gd name="T94" fmla="*/ 15 w 126"/>
                <a:gd name="T95" fmla="*/ 127 h 167"/>
                <a:gd name="T96" fmla="*/ 13 w 126"/>
                <a:gd name="T97" fmla="*/ 143 h 167"/>
                <a:gd name="T98" fmla="*/ 12 w 126"/>
                <a:gd name="T99" fmla="*/ 161 h 167"/>
                <a:gd name="T100" fmla="*/ 12 w 126"/>
                <a:gd name="T101" fmla="*/ 161 h 167"/>
                <a:gd name="T102" fmla="*/ 12 w 126"/>
                <a:gd name="T103" fmla="*/ 164 h 167"/>
                <a:gd name="T104" fmla="*/ 11 w 126"/>
                <a:gd name="T105" fmla="*/ 165 h 167"/>
                <a:gd name="T106" fmla="*/ 8 w 126"/>
                <a:gd name="T107" fmla="*/ 166 h 167"/>
                <a:gd name="T108" fmla="*/ 6 w 126"/>
                <a:gd name="T109" fmla="*/ 167 h 167"/>
                <a:gd name="T110" fmla="*/ 6 w 126"/>
                <a:gd name="T111"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6" h="167">
                  <a:moveTo>
                    <a:pt x="6" y="167"/>
                  </a:moveTo>
                  <a:lnTo>
                    <a:pt x="6" y="167"/>
                  </a:lnTo>
                  <a:lnTo>
                    <a:pt x="4" y="166"/>
                  </a:lnTo>
                  <a:lnTo>
                    <a:pt x="3" y="165"/>
                  </a:lnTo>
                  <a:lnTo>
                    <a:pt x="1" y="164"/>
                  </a:lnTo>
                  <a:lnTo>
                    <a:pt x="0" y="161"/>
                  </a:lnTo>
                  <a:lnTo>
                    <a:pt x="0" y="161"/>
                  </a:lnTo>
                  <a:lnTo>
                    <a:pt x="1" y="142"/>
                  </a:lnTo>
                  <a:lnTo>
                    <a:pt x="4" y="125"/>
                  </a:lnTo>
                  <a:lnTo>
                    <a:pt x="8" y="107"/>
                  </a:lnTo>
                  <a:lnTo>
                    <a:pt x="14" y="92"/>
                  </a:lnTo>
                  <a:lnTo>
                    <a:pt x="21" y="77"/>
                  </a:lnTo>
                  <a:lnTo>
                    <a:pt x="29" y="65"/>
                  </a:lnTo>
                  <a:lnTo>
                    <a:pt x="38" y="52"/>
                  </a:lnTo>
                  <a:lnTo>
                    <a:pt x="48" y="42"/>
                  </a:lnTo>
                  <a:lnTo>
                    <a:pt x="57" y="31"/>
                  </a:lnTo>
                  <a:lnTo>
                    <a:pt x="67" y="23"/>
                  </a:lnTo>
                  <a:lnTo>
                    <a:pt x="77" y="16"/>
                  </a:lnTo>
                  <a:lnTo>
                    <a:pt x="87" y="10"/>
                  </a:lnTo>
                  <a:lnTo>
                    <a:pt x="97" y="6"/>
                  </a:lnTo>
                  <a:lnTo>
                    <a:pt x="105" y="2"/>
                  </a:lnTo>
                  <a:lnTo>
                    <a:pt x="113" y="1"/>
                  </a:lnTo>
                  <a:lnTo>
                    <a:pt x="121" y="0"/>
                  </a:lnTo>
                  <a:lnTo>
                    <a:pt x="121" y="0"/>
                  </a:lnTo>
                  <a:lnTo>
                    <a:pt x="122" y="0"/>
                  </a:lnTo>
                  <a:lnTo>
                    <a:pt x="125" y="1"/>
                  </a:lnTo>
                  <a:lnTo>
                    <a:pt x="126" y="4"/>
                  </a:lnTo>
                  <a:lnTo>
                    <a:pt x="126" y="6"/>
                  </a:lnTo>
                  <a:lnTo>
                    <a:pt x="126" y="6"/>
                  </a:lnTo>
                  <a:lnTo>
                    <a:pt x="126" y="8"/>
                  </a:lnTo>
                  <a:lnTo>
                    <a:pt x="125" y="9"/>
                  </a:lnTo>
                  <a:lnTo>
                    <a:pt x="122" y="10"/>
                  </a:lnTo>
                  <a:lnTo>
                    <a:pt x="121" y="12"/>
                  </a:lnTo>
                  <a:lnTo>
                    <a:pt x="121" y="12"/>
                  </a:lnTo>
                  <a:lnTo>
                    <a:pt x="114" y="12"/>
                  </a:lnTo>
                  <a:lnTo>
                    <a:pt x="107" y="14"/>
                  </a:lnTo>
                  <a:lnTo>
                    <a:pt x="100" y="17"/>
                  </a:lnTo>
                  <a:lnTo>
                    <a:pt x="92" y="21"/>
                  </a:lnTo>
                  <a:lnTo>
                    <a:pt x="83" y="27"/>
                  </a:lnTo>
                  <a:lnTo>
                    <a:pt x="74" y="32"/>
                  </a:lnTo>
                  <a:lnTo>
                    <a:pt x="65" y="40"/>
                  </a:lnTo>
                  <a:lnTo>
                    <a:pt x="56" y="50"/>
                  </a:lnTo>
                  <a:lnTo>
                    <a:pt x="48" y="60"/>
                  </a:lnTo>
                  <a:lnTo>
                    <a:pt x="39" y="70"/>
                  </a:lnTo>
                  <a:lnTo>
                    <a:pt x="31" y="83"/>
                  </a:lnTo>
                  <a:lnTo>
                    <a:pt x="24" y="97"/>
                  </a:lnTo>
                  <a:lnTo>
                    <a:pt x="20" y="111"/>
                  </a:lnTo>
                  <a:lnTo>
                    <a:pt x="15" y="127"/>
                  </a:lnTo>
                  <a:lnTo>
                    <a:pt x="13" y="143"/>
                  </a:lnTo>
                  <a:lnTo>
                    <a:pt x="12" y="161"/>
                  </a:lnTo>
                  <a:lnTo>
                    <a:pt x="12" y="161"/>
                  </a:lnTo>
                  <a:lnTo>
                    <a:pt x="12" y="164"/>
                  </a:lnTo>
                  <a:lnTo>
                    <a:pt x="11" y="165"/>
                  </a:lnTo>
                  <a:lnTo>
                    <a:pt x="8" y="166"/>
                  </a:lnTo>
                  <a:lnTo>
                    <a:pt x="6" y="167"/>
                  </a:lnTo>
                  <a:lnTo>
                    <a:pt x="6" y="16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2317585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68C5-178A-2CAE-9994-255F3DE635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90BB2C-BE52-7AEA-2B75-C435038780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D0F8C2-82F5-FF8E-3C00-C1BDF00F9684}"/>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5" name="Footer Placeholder 4">
            <a:extLst>
              <a:ext uri="{FF2B5EF4-FFF2-40B4-BE49-F238E27FC236}">
                <a16:creationId xmlns:a16="http://schemas.microsoft.com/office/drawing/2014/main" id="{C0D3BC77-979B-80FE-7CA8-4FDAF0914D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DFDBF-F4C9-C998-2387-F432F6EC4261}"/>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4293479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CA46-D013-E59A-8D87-57DCDF4A6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6A0AE9-E628-D85E-3336-C5D499AEE6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1CC694-6A7F-124F-E62F-6BBDF7ACAE6F}"/>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5" name="Footer Placeholder 4">
            <a:extLst>
              <a:ext uri="{FF2B5EF4-FFF2-40B4-BE49-F238E27FC236}">
                <a16:creationId xmlns:a16="http://schemas.microsoft.com/office/drawing/2014/main" id="{F3C9923D-C379-36D8-27D3-46421C374F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ED1C0-8F08-03CC-360B-839DB06CE668}"/>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1295080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EEEF-796A-B061-9706-2A2C0B2CF4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8013FA-313A-6049-6D01-9E56D9F7A2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42D820-E69C-A479-4E10-3E1CC97F3348}"/>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5" name="Footer Placeholder 4">
            <a:extLst>
              <a:ext uri="{FF2B5EF4-FFF2-40B4-BE49-F238E27FC236}">
                <a16:creationId xmlns:a16="http://schemas.microsoft.com/office/drawing/2014/main" id="{CF257C8B-AD28-1007-4669-FDC00FABF2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3D523E-5CB5-D16C-B0D4-8A281DEEF02F}"/>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413283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470A-0AF4-1D30-3CFB-B52E91826A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A13517-B135-4E24-CB07-808700163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F6CC00-2C63-7EA8-4F8F-4607EFD21C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3CABD6-A5E8-F969-CA9B-F8B0ACC93ADF}"/>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6" name="Footer Placeholder 5">
            <a:extLst>
              <a:ext uri="{FF2B5EF4-FFF2-40B4-BE49-F238E27FC236}">
                <a16:creationId xmlns:a16="http://schemas.microsoft.com/office/drawing/2014/main" id="{CF6F5FEE-624A-D2B6-61A7-9882ABAAE0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BA40B-AB1B-CAD8-6BFF-24D9FE68FAA7}"/>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2849355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071F4-4A0A-B44E-7E6A-70F3D8D0B1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B163A7-89F9-890B-6107-65560D1F2A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751C3E-C35F-721A-368E-10CB02C8C5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C8C5F6-C81F-8233-F7A2-68B67098E1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B933C9-9D32-B02F-8795-88FC6FACB4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7BDAE6-D6CE-D083-C840-2A5A3B05AA12}"/>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8" name="Footer Placeholder 7">
            <a:extLst>
              <a:ext uri="{FF2B5EF4-FFF2-40B4-BE49-F238E27FC236}">
                <a16:creationId xmlns:a16="http://schemas.microsoft.com/office/drawing/2014/main" id="{3A1367A9-EDE6-EF09-7631-81038B2A77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BA33A9-3C54-DC33-674E-B4734E9E3F40}"/>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10615985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E5F8-CA4E-0AC0-0BEF-F49B63C6F1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2913E7-7115-EEFA-1D17-14CE46E2F9FC}"/>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4" name="Footer Placeholder 3">
            <a:extLst>
              <a:ext uri="{FF2B5EF4-FFF2-40B4-BE49-F238E27FC236}">
                <a16:creationId xmlns:a16="http://schemas.microsoft.com/office/drawing/2014/main" id="{27F83C3D-1D94-A43F-A1F7-85F2C33081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DC45B3-472D-AEC7-EEAD-C0F32D8E3443}"/>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13674957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702A2E-8DE4-1044-07CA-530D71C87B54}"/>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3" name="Footer Placeholder 2">
            <a:extLst>
              <a:ext uri="{FF2B5EF4-FFF2-40B4-BE49-F238E27FC236}">
                <a16:creationId xmlns:a16="http://schemas.microsoft.com/office/drawing/2014/main" id="{B876443E-905C-4477-C422-5B3DF3DCE2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D36293-5458-4A88-2C1C-F2F9697FA4DE}"/>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2807452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25370-324E-7930-C01E-6D0A3B8ED6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EBE720-E73E-73EB-E5B6-DF8E540394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74078A-2E33-E74E-8D98-B32F9C096E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05B2BC-301C-0CE2-64C8-4D57D1A51873}"/>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6" name="Footer Placeholder 5">
            <a:extLst>
              <a:ext uri="{FF2B5EF4-FFF2-40B4-BE49-F238E27FC236}">
                <a16:creationId xmlns:a16="http://schemas.microsoft.com/office/drawing/2014/main" id="{8BF538FA-158F-8525-FE47-C84F62BEC7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44AAD-B3FA-2CD7-8F8F-0801F241154E}"/>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18979330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CA0D4-CF92-F613-0D76-B93EABFFCE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6F0C5F-D9C5-8F1B-EB12-BE14A97A70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522726-BF81-7373-79DB-A67843A65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E43561-6226-62F4-0DD8-6B01B8C4842F}"/>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6" name="Footer Placeholder 5">
            <a:extLst>
              <a:ext uri="{FF2B5EF4-FFF2-40B4-BE49-F238E27FC236}">
                <a16:creationId xmlns:a16="http://schemas.microsoft.com/office/drawing/2014/main" id="{A6CA5A98-82EB-A163-A006-967DCA94FA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267AE5-F44C-CA7A-AFB1-77913773F4E4}"/>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664263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552F5-4EC3-9225-024D-7BCFBE0CB4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933844-C77A-4630-37B5-A0902531B0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82725D-9772-482B-14DA-038F03C014FA}"/>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5" name="Footer Placeholder 4">
            <a:extLst>
              <a:ext uri="{FF2B5EF4-FFF2-40B4-BE49-F238E27FC236}">
                <a16:creationId xmlns:a16="http://schemas.microsoft.com/office/drawing/2014/main" id="{03055D91-ECEC-0CA0-84FE-097C04B71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B2D67-5246-29AB-AF20-64C83359C54A}"/>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35894938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2FD2BD-96CE-E70A-37B4-D9797E1CB9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703553-A8F4-F4F0-DE8A-9B0288D082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CB08B-0A46-F9DD-FE56-59C22BF17705}"/>
              </a:ext>
            </a:extLst>
          </p:cNvPr>
          <p:cNvSpPr>
            <a:spLocks noGrp="1"/>
          </p:cNvSpPr>
          <p:nvPr>
            <p:ph type="dt" sz="half" idx="10"/>
          </p:nvPr>
        </p:nvSpPr>
        <p:spPr/>
        <p:txBody>
          <a:bodyPr/>
          <a:lstStyle/>
          <a:p>
            <a:fld id="{DD7BF180-FE72-4398-80CB-5AAF52E9CEF6}" type="datetimeFigureOut">
              <a:rPr lang="en-US" smtClean="0"/>
              <a:t>3/30/2026</a:t>
            </a:fld>
            <a:endParaRPr lang="en-US"/>
          </a:p>
        </p:txBody>
      </p:sp>
      <p:sp>
        <p:nvSpPr>
          <p:cNvPr id="5" name="Footer Placeholder 4">
            <a:extLst>
              <a:ext uri="{FF2B5EF4-FFF2-40B4-BE49-F238E27FC236}">
                <a16:creationId xmlns:a16="http://schemas.microsoft.com/office/drawing/2014/main" id="{07CEEE96-9C49-65F6-A120-729870AE81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239FC-076E-A2F1-DDBE-D99129CDA066}"/>
              </a:ext>
            </a:extLst>
          </p:cNvPr>
          <p:cNvSpPr>
            <a:spLocks noGrp="1"/>
          </p:cNvSpPr>
          <p:nvPr>
            <p:ph type="sldNum" sz="quarter" idx="12"/>
          </p:nvPr>
        </p:nvSpPr>
        <p:spPr/>
        <p:txBody>
          <a:bodyPr/>
          <a:lstStyle/>
          <a:p>
            <a:fld id="{404243CC-81FB-44D1-9674-816BABF4133F}" type="slidenum">
              <a:rPr lang="en-US" smtClean="0"/>
              <a:t>‹#›</a:t>
            </a:fld>
            <a:endParaRPr lang="en-US"/>
          </a:p>
        </p:txBody>
      </p:sp>
    </p:spTree>
    <p:extLst>
      <p:ext uri="{BB962C8B-B14F-4D97-AF65-F5344CB8AC3E}">
        <p14:creationId xmlns:p14="http://schemas.microsoft.com/office/powerpoint/2010/main" val="3626896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3C6B45-5093-430E-924A-5DBCA6ED8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AD6363-8A04-BC7C-E7D0-26A0DD200C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2E432-1403-35BF-71BB-7877A7CCBD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FCDD30-F29B-4784-A53A-FD57B2A8D090}" type="datetimeFigureOut">
              <a:rPr lang="en-IN" smtClean="0"/>
              <a:t>30-03-2026</a:t>
            </a:fld>
            <a:endParaRPr lang="en-IN"/>
          </a:p>
        </p:txBody>
      </p:sp>
      <p:sp>
        <p:nvSpPr>
          <p:cNvPr id="5" name="Footer Placeholder 4">
            <a:extLst>
              <a:ext uri="{FF2B5EF4-FFF2-40B4-BE49-F238E27FC236}">
                <a16:creationId xmlns:a16="http://schemas.microsoft.com/office/drawing/2014/main" id="{026119F0-4C47-0784-2A17-00CE1078D0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AA275C-4B68-B021-77A6-79DE1E51C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328A26-4087-4AB9-86C2-17F35B0FF7B4}" type="slidenum">
              <a:rPr lang="en-IN" smtClean="0"/>
              <a:t>‹#›</a:t>
            </a:fld>
            <a:endParaRPr lang="en-IN"/>
          </a:p>
        </p:txBody>
      </p:sp>
    </p:spTree>
    <p:extLst>
      <p:ext uri="{BB962C8B-B14F-4D97-AF65-F5344CB8AC3E}">
        <p14:creationId xmlns:p14="http://schemas.microsoft.com/office/powerpoint/2010/main" val="1569445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8CD8-BF6F-4C62-6DB3-F2E28F0047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95835A-5679-2D14-01D0-BCAAC5D93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AC12A-6469-67DD-3F66-7342C2EE96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7BF180-FE72-4398-80CB-5AAF52E9CEF6}" type="datetimeFigureOut">
              <a:rPr lang="en-US" smtClean="0"/>
              <a:t>3/30/2026</a:t>
            </a:fld>
            <a:endParaRPr lang="en-US"/>
          </a:p>
        </p:txBody>
      </p:sp>
      <p:sp>
        <p:nvSpPr>
          <p:cNvPr id="5" name="Footer Placeholder 4">
            <a:extLst>
              <a:ext uri="{FF2B5EF4-FFF2-40B4-BE49-F238E27FC236}">
                <a16:creationId xmlns:a16="http://schemas.microsoft.com/office/drawing/2014/main" id="{E5375CBB-030E-25C1-80F2-66830B1AF0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6E0DE5-77BE-9F41-CD53-EDF37FAD23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43CC-81FB-44D1-9674-816BABF4133F}" type="slidenum">
              <a:rPr lang="en-US" smtClean="0"/>
              <a:t>‹#›</a:t>
            </a:fld>
            <a:endParaRPr lang="en-US"/>
          </a:p>
        </p:txBody>
      </p:sp>
    </p:spTree>
    <p:extLst>
      <p:ext uri="{BB962C8B-B14F-4D97-AF65-F5344CB8AC3E}">
        <p14:creationId xmlns:p14="http://schemas.microsoft.com/office/powerpoint/2010/main" val="11138447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gif"/><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7C5B-A9BA-45D4-AB6C-21E22D7C32DC}"/>
              </a:ext>
            </a:extLst>
          </p:cNvPr>
          <p:cNvSpPr>
            <a:spLocks noGrp="1"/>
          </p:cNvSpPr>
          <p:nvPr>
            <p:ph type="title"/>
          </p:nvPr>
        </p:nvSpPr>
        <p:spPr>
          <a:xfrm>
            <a:off x="6019831" y="2410983"/>
            <a:ext cx="5131055" cy="1143000"/>
          </a:xfrm>
        </p:spPr>
        <p:txBody>
          <a:bodyPr>
            <a:normAutofit fontScale="90000"/>
          </a:bodyPr>
          <a:lstStyle/>
          <a:p>
            <a:pPr algn="ctr"/>
            <a:r>
              <a:rPr lang="en-US" b="1" i="0" dirty="0">
                <a:effectLst/>
                <a:latin typeface="YouTube Sans"/>
              </a:rPr>
              <a:t>Deep Learning </a:t>
            </a:r>
            <a:r>
              <a:rPr lang="en-US" b="1" dirty="0">
                <a:latin typeface="YouTube Sans"/>
              </a:rPr>
              <a:t>Fundamentals</a:t>
            </a:r>
            <a:endParaRPr lang="en-US" dirty="0"/>
          </a:p>
        </p:txBody>
      </p:sp>
      <p:sp>
        <p:nvSpPr>
          <p:cNvPr id="4" name="TextBox 3">
            <a:extLst>
              <a:ext uri="{FF2B5EF4-FFF2-40B4-BE49-F238E27FC236}">
                <a16:creationId xmlns:a16="http://schemas.microsoft.com/office/drawing/2014/main" id="{42285606-1260-4D13-8AAA-80226E1F6554}"/>
              </a:ext>
            </a:extLst>
          </p:cNvPr>
          <p:cNvSpPr txBox="1"/>
          <p:nvPr/>
        </p:nvSpPr>
        <p:spPr>
          <a:xfrm>
            <a:off x="4622821" y="-410369"/>
            <a:ext cx="2340321" cy="379656"/>
          </a:xfrm>
          <a:prstGeom prst="rect">
            <a:avLst/>
          </a:prstGeom>
          <a:noFill/>
        </p:spPr>
        <p:txBody>
          <a:bodyPr wrap="none" rtlCol="0">
            <a:spAutoFit/>
          </a:bodyPr>
          <a:lstStyle/>
          <a:p>
            <a:r>
              <a:rPr lang="en-US" sz="1867" dirty="0">
                <a:solidFill>
                  <a:schemeClr val="tx1">
                    <a:lumMod val="65000"/>
                    <a:lumOff val="35000"/>
                  </a:schemeClr>
                </a:solidFill>
              </a:rPr>
              <a:t>© Templateswise.com</a:t>
            </a:r>
          </a:p>
        </p:txBody>
      </p:sp>
      <p:sp>
        <p:nvSpPr>
          <p:cNvPr id="10" name="Rectangle 9">
            <a:extLst>
              <a:ext uri="{FF2B5EF4-FFF2-40B4-BE49-F238E27FC236}">
                <a16:creationId xmlns:a16="http://schemas.microsoft.com/office/drawing/2014/main" id="{0CA7A650-5ABB-0404-5FA6-F91454B65A9A}"/>
              </a:ext>
            </a:extLst>
          </p:cNvPr>
          <p:cNvSpPr/>
          <p:nvPr/>
        </p:nvSpPr>
        <p:spPr>
          <a:xfrm>
            <a:off x="10161142" y="6462446"/>
            <a:ext cx="1979488" cy="3544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ANKIT MIRAJKAR</a:t>
            </a:r>
          </a:p>
        </p:txBody>
      </p:sp>
    </p:spTree>
    <p:extLst>
      <p:ext uri="{BB962C8B-B14F-4D97-AF65-F5344CB8AC3E}">
        <p14:creationId xmlns:p14="http://schemas.microsoft.com/office/powerpoint/2010/main" val="3446047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D1CFAFE-EEBB-BD94-CB6A-DB204F1C4A90}"/>
              </a:ext>
            </a:extLst>
          </p:cNvPr>
          <p:cNvSpPr>
            <a:spLocks noGrp="1"/>
          </p:cNvSpPr>
          <p:nvPr>
            <p:ph type="ctrTitle"/>
          </p:nvPr>
        </p:nvSpPr>
        <p:spPr>
          <a:xfrm>
            <a:off x="213295" y="336395"/>
            <a:ext cx="12503244" cy="1194693"/>
          </a:xfrm>
        </p:spPr>
        <p:txBody>
          <a:bodyPr anchor="b">
            <a:noAutofit/>
          </a:bodyPr>
          <a:lstStyle/>
          <a:p>
            <a:pPr algn="l" fontAlgn="base"/>
            <a:r>
              <a:rPr lang="en-US" sz="4000" dirty="0"/>
              <a:t>What is the difference between Artificial Intelligence, Machine Learning and Deep Learning?</a:t>
            </a:r>
          </a:p>
        </p:txBody>
      </p:sp>
      <p:pic>
        <p:nvPicPr>
          <p:cNvPr id="1028" name="Picture 4" descr="AL, ML, DL (i2tutorials)">
            <a:extLst>
              <a:ext uri="{FF2B5EF4-FFF2-40B4-BE49-F238E27FC236}">
                <a16:creationId xmlns:a16="http://schemas.microsoft.com/office/drawing/2014/main" id="{7607743B-26E9-1624-C14B-5DDC7E79CF6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6452" b="95853" l="1902" r="96355">
                        <a14:foregroundMark x1="37401" y1="79877" x2="42948" y2="89862"/>
                        <a14:foregroundMark x1="42948" y1="89862" x2="66403" y2="87711"/>
                        <a14:foregroundMark x1="66403" y1="87711" x2="73693" y2="82335"/>
                        <a14:foregroundMark x1="37084" y1="86943" x2="45483" y2="92780"/>
                        <a14:foregroundMark x1="45483" y1="92780" x2="55943" y2="96006"/>
                        <a14:foregroundMark x1="20444" y1="54992" x2="6656" y2="33180"/>
                        <a14:foregroundMark x1="11727" y1="30261" x2="58003" y2="18740"/>
                        <a14:foregroundMark x1="38669" y1="20737" x2="3291" y2="52959"/>
                        <a14:foregroundMark x1="2353" y1="52995" x2="5230" y2="45161"/>
                        <a14:foregroundMark x1="2222" y1="53353" x2="2353" y2="52995"/>
                        <a14:foregroundMark x1="24406" y1="33026" x2="85895" y2="37942"/>
                        <a14:foregroundMark x1="25198" y1="18740" x2="72583" y2="14900"/>
                        <a14:foregroundMark x1="70048" y1="17819" x2="28368" y2="24117"/>
                        <a14:foregroundMark x1="61173" y1="25499" x2="73217" y2="30568"/>
                        <a14:foregroundMark x1="73217" y1="30568" x2="92076" y2="50077"/>
                        <a14:foregroundMark x1="92076" y1="50077" x2="92393" y2="52074"/>
                        <a14:foregroundMark x1="91918" y1="47926" x2="91601" y2="58833"/>
                        <a14:foregroundMark x1="93819" y1="48848" x2="96197" y2="52381"/>
                        <a14:foregroundMark x1="96197" y1="52381" x2="96513" y2="54685"/>
                        <a14:foregroundMark x1="92174" y1="34035" x2="62441" y2="9524"/>
                        <a14:foregroundMark x1="62441" y1="9524" x2="45310" y2="6824"/>
                        <a14:foregroundMark x1="29778" y1="10808" x2="46751" y2="13364"/>
                        <a14:backgroundMark x1="37718" y1="2458" x2="16165" y2="11982"/>
                        <a14:backgroundMark x1="34231" y1="6759" x2="39620" y2="7373"/>
                        <a14:backgroundMark x1="14422" y1="6759" x2="8399" y2="9370"/>
                        <a14:backgroundMark x1="40887" y1="6605" x2="42314" y2="6298"/>
                        <a14:backgroundMark x1="94453" y1="33180" x2="96197" y2="37327"/>
                        <a14:backgroundMark x1="40729" y1="7220" x2="43899" y2="6298"/>
                        <a14:backgroundMark x1="38193" y1="7527" x2="41363" y2="7527"/>
                        <a14:backgroundMark x1="28209" y1="11521" x2="29952" y2="10445"/>
                        <a14:backgroundMark x1="94295" y1="36866" x2="96989" y2="38095"/>
                        <a14:backgroundMark x1="1109" y1="53763" x2="1743" y2="55300"/>
                        <a14:backgroundMark x1="2377" y1="52995" x2="2377" y2="52995"/>
                        <a14:backgroundMark x1="45166" y1="6605" x2="43582" y2="6605"/>
                      </a14:backgroundRemoval>
                    </a14:imgEffect>
                  </a14:imgLayer>
                </a14:imgProps>
              </a:ext>
              <a:ext uri="{28A0092B-C50C-407E-A947-70E740481C1C}">
                <a14:useLocalDpi xmlns:a14="http://schemas.microsoft.com/office/drawing/2010/main" val="0"/>
              </a:ext>
            </a:extLst>
          </a:blip>
          <a:srcRect/>
          <a:stretch>
            <a:fillRect/>
          </a:stretch>
        </p:blipFill>
        <p:spPr bwMode="auto">
          <a:xfrm>
            <a:off x="3726200" y="1770569"/>
            <a:ext cx="4737315" cy="488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57796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E318BA-7CD1-690C-3037-2BF61347D2F0}"/>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WHAT IS DEEP LEARNING?</a:t>
            </a:r>
          </a:p>
        </p:txBody>
      </p:sp>
      <p:sp>
        <p:nvSpPr>
          <p:cNvPr id="5" name="Rectangle: Rounded Corners 4">
            <a:extLst>
              <a:ext uri="{FF2B5EF4-FFF2-40B4-BE49-F238E27FC236}">
                <a16:creationId xmlns:a16="http://schemas.microsoft.com/office/drawing/2014/main" id="{2DC7000E-CA48-7FA0-AB83-0B380D6711E8}"/>
              </a:ext>
            </a:extLst>
          </p:cNvPr>
          <p:cNvSpPr/>
          <p:nvPr/>
        </p:nvSpPr>
        <p:spPr>
          <a:xfrm>
            <a:off x="459921" y="989055"/>
            <a:ext cx="11106150" cy="3288664"/>
          </a:xfrm>
          <a:prstGeom prst="roundRect">
            <a:avLst/>
          </a:prstGeom>
          <a:noFill/>
          <a:ln w="1905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0" i="1" dirty="0">
                <a:solidFill>
                  <a:schemeClr val="accent4">
                    <a:lumMod val="75000"/>
                  </a:schemeClr>
                </a:solidFill>
                <a:effectLst/>
                <a:latin typeface="Arial" panose="020B0604020202020204" pitchFamily="34" charset="0"/>
                <a:cs typeface="Arial" panose="020B0604020202020204" pitchFamily="34" charset="0"/>
              </a:rPr>
              <a:t>Deep learning </a:t>
            </a:r>
            <a:r>
              <a:rPr lang="en-US" b="0" i="0" dirty="0">
                <a:solidFill>
                  <a:schemeClr val="tx1"/>
                </a:solidFill>
                <a:effectLst/>
                <a:latin typeface="Arial" panose="020B0604020202020204" pitchFamily="34" charset="0"/>
                <a:cs typeface="Arial" panose="020B0604020202020204" pitchFamily="34" charset="0"/>
              </a:rPr>
              <a:t>is a type of machine learning that imitates the way humans gain certain types of knowledge.</a:t>
            </a:r>
          </a:p>
          <a:p>
            <a:pPr marL="285750" indent="-285750">
              <a:buFont typeface="Arial" panose="020B0604020202020204" pitchFamily="34" charset="0"/>
              <a:buChar char="•"/>
            </a:pPr>
            <a:endParaRPr lang="en-US"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i="0" dirty="0">
                <a:solidFill>
                  <a:schemeClr val="tx1"/>
                </a:solidFill>
                <a:effectLst/>
                <a:latin typeface="Arial" panose="020B0604020202020204" pitchFamily="34" charset="0"/>
                <a:cs typeface="Arial" panose="020B0604020202020204" pitchFamily="34" charset="0"/>
              </a:rPr>
              <a:t>Deep Learning is based on artificial neural networks (ANNs) with multiple layers, also known as deep neural networks (DNNs)</a:t>
            </a:r>
          </a:p>
          <a:p>
            <a:pPr marL="285750" indent="-285750">
              <a:buFont typeface="Arial" panose="020B0604020202020204" pitchFamily="34" charset="0"/>
              <a:buChar char="•"/>
            </a:pPr>
            <a:endParaRPr lang="en-US"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These neural networks are inspired by the structure and function of the human brain, and they are designed to learn from large amounts of data in an unsupervised or semi-supervised manner.</a:t>
            </a:r>
          </a:p>
          <a:p>
            <a:pPr marL="285750" indent="-285750">
              <a:buFont typeface="Arial" panose="020B0604020202020204" pitchFamily="34" charset="0"/>
              <a:buChar char="•"/>
            </a:pPr>
            <a:endParaRPr lang="en-US"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Deep Learning models are able to automatically learn features from the data, which makes them well-suited for tasks such as image recognition, speech recognition, and natural language processing. </a:t>
            </a:r>
            <a:endParaRPr lang="en-IN" dirty="0">
              <a:solidFill>
                <a:schemeClr val="tx1"/>
              </a:solidFill>
              <a:latin typeface="Arial" panose="020B0604020202020204" pitchFamily="34" charset="0"/>
              <a:cs typeface="Arial" panose="020B0604020202020204" pitchFamily="34" charset="0"/>
            </a:endParaRPr>
          </a:p>
        </p:txBody>
      </p:sp>
      <p:pic>
        <p:nvPicPr>
          <p:cNvPr id="1026" name="Picture 2" descr="Deep Learning Spreads">
            <a:extLst>
              <a:ext uri="{FF2B5EF4-FFF2-40B4-BE49-F238E27FC236}">
                <a16:creationId xmlns:a16="http://schemas.microsoft.com/office/drawing/2014/main" id="{524B9171-E987-675A-6271-ED73779B14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26" b="10384"/>
          <a:stretch/>
        </p:blipFill>
        <p:spPr bwMode="auto">
          <a:xfrm>
            <a:off x="3273864" y="4277719"/>
            <a:ext cx="5644272" cy="2471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217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1AB0-1692-DA16-761D-3731E349DC71}"/>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WHY DEEP LEARNING?</a:t>
            </a:r>
          </a:p>
        </p:txBody>
      </p:sp>
      <p:sp>
        <p:nvSpPr>
          <p:cNvPr id="3" name="TextBox 2">
            <a:extLst>
              <a:ext uri="{FF2B5EF4-FFF2-40B4-BE49-F238E27FC236}">
                <a16:creationId xmlns:a16="http://schemas.microsoft.com/office/drawing/2014/main" id="{23EC565A-5140-0B6B-3A36-7A8A3ACF49CF}"/>
              </a:ext>
            </a:extLst>
          </p:cNvPr>
          <p:cNvSpPr txBox="1"/>
          <p:nvPr/>
        </p:nvSpPr>
        <p:spPr>
          <a:xfrm>
            <a:off x="757874" y="1121413"/>
            <a:ext cx="10907529"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Problems with long list of rules: </a:t>
            </a:r>
            <a:r>
              <a:rPr lang="en-US" dirty="0">
                <a:latin typeface="Arial" panose="020B0604020202020204" pitchFamily="34" charset="0"/>
                <a:cs typeface="Arial" panose="020B0604020202020204" pitchFamily="34" charset="0"/>
              </a:rPr>
              <a:t>when traditional approach fails, Machine Learning/Deep Learning may help. </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Continually changing environments: </a:t>
            </a:r>
            <a:r>
              <a:rPr lang="en-US" dirty="0">
                <a:latin typeface="Arial" panose="020B0604020202020204" pitchFamily="34" charset="0"/>
                <a:cs typeface="Arial" panose="020B0604020202020204" pitchFamily="34" charset="0"/>
              </a:rPr>
              <a:t>Deep Learning can adapt (“learn”) new scenarios.</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Discovering insights within large collections of data: </a:t>
            </a:r>
            <a:r>
              <a:rPr lang="en-US" dirty="0">
                <a:latin typeface="Arial" panose="020B0604020202020204" pitchFamily="34" charset="0"/>
                <a:cs typeface="Arial" panose="020B0604020202020204" pitchFamily="34" charset="0"/>
              </a:rPr>
              <a:t>Can you imagine trying to hand-craft rules for what 101 different kinds of food looks like? </a:t>
            </a:r>
            <a:endParaRPr lang="en-IN" b="1"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69201B2F-0E3A-C69E-95B2-2311238C4146}"/>
              </a:ext>
            </a:extLst>
          </p:cNvPr>
          <p:cNvSpPr txBox="1">
            <a:spLocks/>
          </p:cNvSpPr>
          <p:nvPr/>
        </p:nvSpPr>
        <p:spPr>
          <a:xfrm>
            <a:off x="691200" y="303439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What DEEP LEARNING is not good for?</a:t>
            </a:r>
          </a:p>
        </p:txBody>
      </p:sp>
      <p:sp>
        <p:nvSpPr>
          <p:cNvPr id="5" name="TextBox 4">
            <a:extLst>
              <a:ext uri="{FF2B5EF4-FFF2-40B4-BE49-F238E27FC236}">
                <a16:creationId xmlns:a16="http://schemas.microsoft.com/office/drawing/2014/main" id="{5A46DB3E-BCA0-06C9-1160-C909F13C45B4}"/>
              </a:ext>
            </a:extLst>
          </p:cNvPr>
          <p:cNvSpPr txBox="1"/>
          <p:nvPr/>
        </p:nvSpPr>
        <p:spPr>
          <a:xfrm>
            <a:off x="724538" y="3705263"/>
            <a:ext cx="10907528"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you need explainability </a:t>
            </a:r>
            <a:r>
              <a:rPr lang="en-US" dirty="0">
                <a:latin typeface="Arial" panose="020B0604020202020204" pitchFamily="34" charset="0"/>
                <a:cs typeface="Arial" panose="020B0604020202020204" pitchFamily="34" charset="0"/>
              </a:rPr>
              <a:t>– Patterns learned by deep learning are typically uninterpretable by human.</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b="1" dirty="0">
                <a:latin typeface="Arial" panose="020B0604020202020204" pitchFamily="34" charset="0"/>
                <a:cs typeface="Arial" panose="020B0604020202020204" pitchFamily="34" charset="0"/>
              </a:rPr>
              <a:t>When the traditional approach is better option </a:t>
            </a:r>
            <a:r>
              <a:rPr lang="en-IN" dirty="0">
                <a:latin typeface="Arial" panose="020B0604020202020204" pitchFamily="34" charset="0"/>
                <a:cs typeface="Arial" panose="020B0604020202020204" pitchFamily="34" charset="0"/>
              </a:rPr>
              <a:t>– if you can accomplish what you need with a simple rule-based system</a:t>
            </a:r>
          </a:p>
          <a:p>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b="1" dirty="0">
                <a:latin typeface="Arial" panose="020B0604020202020204" pitchFamily="34" charset="0"/>
                <a:cs typeface="Arial" panose="020B0604020202020204" pitchFamily="34" charset="0"/>
              </a:rPr>
              <a:t>When errors are unacceptable </a:t>
            </a:r>
            <a:r>
              <a:rPr lang="en-IN" dirty="0">
                <a:latin typeface="Arial" panose="020B0604020202020204" pitchFamily="34" charset="0"/>
                <a:cs typeface="Arial" panose="020B0604020202020204" pitchFamily="34" charset="0"/>
              </a:rPr>
              <a:t>– Since the output of deep learning models aren’t always predictable</a:t>
            </a:r>
          </a:p>
          <a:p>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b="1" dirty="0">
                <a:latin typeface="Arial" panose="020B0604020202020204" pitchFamily="34" charset="0"/>
                <a:cs typeface="Arial" panose="020B0604020202020204" pitchFamily="34" charset="0"/>
              </a:rPr>
              <a:t>When you don’t have much data </a:t>
            </a:r>
            <a:r>
              <a:rPr lang="en-IN" dirty="0">
                <a:latin typeface="Arial" panose="020B0604020202020204" pitchFamily="34" charset="0"/>
                <a:cs typeface="Arial" panose="020B0604020202020204" pitchFamily="34" charset="0"/>
              </a:rPr>
              <a:t>– Deep learning model usually require a fairly large amount of data to produce great results</a:t>
            </a:r>
          </a:p>
        </p:txBody>
      </p:sp>
    </p:spTree>
    <p:extLst>
      <p:ext uri="{BB962C8B-B14F-4D97-AF65-F5344CB8AC3E}">
        <p14:creationId xmlns:p14="http://schemas.microsoft.com/office/powerpoint/2010/main" val="1409331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199C-E040-CC31-DF5F-0C1537F187F2}"/>
              </a:ext>
            </a:extLst>
          </p:cNvPr>
          <p:cNvSpPr txBox="1">
            <a:spLocks/>
          </p:cNvSpPr>
          <p:nvPr/>
        </p:nvSpPr>
        <p:spPr>
          <a:xfrm>
            <a:off x="757875" y="19594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What is neural networks?</a:t>
            </a:r>
          </a:p>
        </p:txBody>
      </p:sp>
      <p:pic>
        <p:nvPicPr>
          <p:cNvPr id="2050" name="Picture 2" descr="Neural network - Wikipedia">
            <a:extLst>
              <a:ext uri="{FF2B5EF4-FFF2-40B4-BE49-F238E27FC236}">
                <a16:creationId xmlns:a16="http://schemas.microsoft.com/office/drawing/2014/main" id="{6BA931CB-4445-BB72-173F-DC0A63E876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417"/>
          <a:stretch/>
        </p:blipFill>
        <p:spPr bwMode="auto">
          <a:xfrm>
            <a:off x="8582025" y="1876425"/>
            <a:ext cx="3293436" cy="39338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2F108BE-D952-DC2F-7412-F3B0FD3C7838}"/>
              </a:ext>
            </a:extLst>
          </p:cNvPr>
          <p:cNvSpPr txBox="1"/>
          <p:nvPr/>
        </p:nvSpPr>
        <p:spPr>
          <a:xfrm>
            <a:off x="657225" y="1876425"/>
            <a:ext cx="7753350"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a:t>
            </a:r>
            <a:r>
              <a:rPr lang="en-US" b="1" i="1" dirty="0">
                <a:latin typeface="Arial" panose="020B0604020202020204" pitchFamily="34" charset="0"/>
                <a:cs typeface="Arial" panose="020B0604020202020204" pitchFamily="34" charset="0"/>
              </a:rPr>
              <a:t>neural network </a:t>
            </a:r>
            <a:r>
              <a:rPr lang="en-US" dirty="0">
                <a:latin typeface="Arial" panose="020B0604020202020204" pitchFamily="34" charset="0"/>
                <a:cs typeface="Arial" panose="020B0604020202020204" pitchFamily="34" charset="0"/>
              </a:rPr>
              <a:t>is a computing model whose layered structure resembles the networked structure of neurons in the brain</a:t>
            </a: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Artificial Neural Networks are normally called Neural Networks (NN) which is composed of layers of node</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Each node is designed to behave similarly to a neuron in the brain</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first layer of a neural net is called the input layer, </a:t>
            </a:r>
            <a:r>
              <a:rPr lang="en-IN" dirty="0">
                <a:latin typeface="Arial" panose="020B0604020202020204" pitchFamily="34" charset="0"/>
                <a:cs typeface="Arial" panose="020B0604020202020204" pitchFamily="34" charset="0"/>
              </a:rPr>
              <a:t>followed by hidden layer, then finally the output layer</a:t>
            </a:r>
          </a:p>
          <a:p>
            <a:pPr marL="285750" indent="-285750">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Each node in the neural net performs some sort of calculation, which is passed on to other nodes deeper in the neural net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7743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A9C3A3-9301-67C7-B3D9-2972E840AF54}"/>
              </a:ext>
            </a:extLst>
          </p:cNvPr>
          <p:cNvSpPr>
            <a:spLocks noGrp="1"/>
          </p:cNvSpPr>
          <p:nvPr>
            <p:ph type="title"/>
          </p:nvPr>
        </p:nvSpPr>
        <p:spPr>
          <a:xfrm>
            <a:off x="7123007" y="603501"/>
            <a:ext cx="4361693" cy="1527049"/>
          </a:xfrm>
        </p:spPr>
        <p:txBody>
          <a:bodyPr vert="horz" lIns="91440" tIns="45720" rIns="91440" bIns="45720" rtlCol="0" anchor="b">
            <a:normAutofit/>
          </a:bodyPr>
          <a:lstStyle/>
          <a:p>
            <a:r>
              <a:rPr lang="en-US" sz="3600" b="1" dirty="0"/>
              <a:t>Rule of Thumb</a:t>
            </a:r>
            <a:endParaRPr lang="en-US" sz="3600" b="1" kern="1200" dirty="0">
              <a:solidFill>
                <a:schemeClr val="tx1"/>
              </a:solidFill>
              <a:latin typeface="+mj-lt"/>
              <a:ea typeface="+mj-ea"/>
              <a:cs typeface="+mj-cs"/>
            </a:endParaRPr>
          </a:p>
        </p:txBody>
      </p:sp>
      <p:pic>
        <p:nvPicPr>
          <p:cNvPr id="5" name="Content Placeholder 4" descr="Angle view of circuit shaped like a brain">
            <a:extLst>
              <a:ext uri="{FF2B5EF4-FFF2-40B4-BE49-F238E27FC236}">
                <a16:creationId xmlns:a16="http://schemas.microsoft.com/office/drawing/2014/main" id="{424694C6-12F1-4428-8FB3-534A4F2D87F5}"/>
              </a:ext>
            </a:extLst>
          </p:cNvPr>
          <p:cNvPicPr>
            <a:picLocks noGrp="1" noChangeAspect="1"/>
          </p:cNvPicPr>
          <p:nvPr>
            <p:ph sz="half" idx="1"/>
          </p:nvPr>
        </p:nvPicPr>
        <p:blipFill>
          <a:blip r:embed="rId3"/>
          <a:srcRect l="18329" r="16851" b="2"/>
          <a:stretch>
            <a:fillRect/>
          </a:stretch>
        </p:blipFill>
        <p:spPr>
          <a:xfrm>
            <a:off x="1" y="10"/>
            <a:ext cx="6373368" cy="6857990"/>
          </a:xfrm>
          <a:prstGeom prst="rect">
            <a:avLst/>
          </a:prstGeom>
        </p:spPr>
      </p:pic>
      <p:sp>
        <p:nvSpPr>
          <p:cNvPr id="4" name="Content Placeholder 3">
            <a:extLst>
              <a:ext uri="{FF2B5EF4-FFF2-40B4-BE49-F238E27FC236}">
                <a16:creationId xmlns:a16="http://schemas.microsoft.com/office/drawing/2014/main" id="{8A4D83B0-91CC-CFDF-9B5E-8D7112CCE732}"/>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7123007" y="2212846"/>
            <a:ext cx="4700398" cy="4096514"/>
          </a:xfrm>
        </p:spPr>
        <p:txBody>
          <a:bodyPr>
            <a:normAutofit/>
          </a:bodyPr>
          <a:lstStyle/>
          <a:p>
            <a:pPr marL="0" indent="0">
              <a:buNone/>
            </a:pPr>
            <a:r>
              <a:rPr lang="en-US" sz="2000" dirty="0"/>
              <a:t>Start with </a:t>
            </a:r>
            <a:r>
              <a:rPr lang="en-US" sz="2000" b="1" dirty="0"/>
              <a:t>traditional ML</a:t>
            </a:r>
            <a:r>
              <a:rPr lang="en-US" sz="2000" dirty="0"/>
              <a:t> — it’s simpler, faster, and interpretable.</a:t>
            </a:r>
            <a:br>
              <a:rPr lang="en-US" sz="2000" dirty="0"/>
            </a:br>
            <a:r>
              <a:rPr lang="en-US" sz="2000" dirty="0"/>
              <a:t>Move to </a:t>
            </a:r>
            <a:r>
              <a:rPr lang="en-US" sz="2000" b="1" dirty="0"/>
              <a:t>Deep Learning</a:t>
            </a:r>
            <a:r>
              <a:rPr lang="en-US" sz="2000" dirty="0"/>
              <a:t> only when:</a:t>
            </a:r>
          </a:p>
          <a:p>
            <a:r>
              <a:rPr lang="en-US" sz="2000" dirty="0"/>
              <a:t>Data is unstructured or very large</a:t>
            </a:r>
          </a:p>
          <a:p>
            <a:r>
              <a:rPr lang="en-US" sz="2000" dirty="0"/>
              <a:t>Simpler ML models hit a performance ceiling</a:t>
            </a:r>
          </a:p>
        </p:txBody>
      </p:sp>
    </p:spTree>
    <p:extLst>
      <p:ext uri="{BB962C8B-B14F-4D97-AF65-F5344CB8AC3E}">
        <p14:creationId xmlns:p14="http://schemas.microsoft.com/office/powerpoint/2010/main" val="334680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 name="Title 7">
            <a:extLst>
              <a:ext uri="{FF2B5EF4-FFF2-40B4-BE49-F238E27FC236}">
                <a16:creationId xmlns:a16="http://schemas.microsoft.com/office/drawing/2014/main" id="{EBDDF1B4-0AFC-9418-1D27-8D42EB5D9A0F}"/>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dirty="0">
                <a:solidFill>
                  <a:schemeClr val="bg1"/>
                </a:solidFill>
              </a:rPr>
              <a:t>Quick Comparison</a:t>
            </a:r>
            <a:endParaRPr lang="en-US" sz="4000" kern="1200" dirty="0">
              <a:solidFill>
                <a:schemeClr val="bg1"/>
              </a:solidFill>
              <a:latin typeface="+mj-lt"/>
              <a:ea typeface="+mj-ea"/>
              <a:cs typeface="+mj-cs"/>
            </a:endParaRPr>
          </a:p>
        </p:txBody>
      </p:sp>
      <p:graphicFrame>
        <p:nvGraphicFramePr>
          <p:cNvPr id="15" name="Content Placeholder 11">
            <a:extLst>
              <a:ext uri="{FF2B5EF4-FFF2-40B4-BE49-F238E27FC236}">
                <a16:creationId xmlns:a16="http://schemas.microsoft.com/office/drawing/2014/main" id="{33A70BF0-D380-79C4-CA3B-ED326F5CCCA9}"/>
              </a:ext>
            </a:extLst>
          </p:cNvPr>
          <p:cNvGraphicFramePr>
            <a:graphicFrameLocks noGrp="1"/>
          </p:cNvGraphicFramePr>
          <p:nvPr>
            <p:ph sz="half" idx="2"/>
          </p:nvPr>
        </p:nvGraphicFramePr>
        <p:xfrm>
          <a:off x="644056" y="2117318"/>
          <a:ext cx="10927830" cy="4183335"/>
        </p:xfrm>
        <a:graphic>
          <a:graphicData uri="http://schemas.openxmlformats.org/drawingml/2006/table">
            <a:tbl>
              <a:tblPr/>
              <a:tblGrid>
                <a:gridCol w="3430387">
                  <a:extLst>
                    <a:ext uri="{9D8B030D-6E8A-4147-A177-3AD203B41FA5}">
                      <a16:colId xmlns:a16="http://schemas.microsoft.com/office/drawing/2014/main" val="1038053458"/>
                    </a:ext>
                  </a:extLst>
                </a:gridCol>
                <a:gridCol w="3543781">
                  <a:extLst>
                    <a:ext uri="{9D8B030D-6E8A-4147-A177-3AD203B41FA5}">
                      <a16:colId xmlns:a16="http://schemas.microsoft.com/office/drawing/2014/main" val="1265136759"/>
                    </a:ext>
                  </a:extLst>
                </a:gridCol>
                <a:gridCol w="3953662">
                  <a:extLst>
                    <a:ext uri="{9D8B030D-6E8A-4147-A177-3AD203B41FA5}">
                      <a16:colId xmlns:a16="http://schemas.microsoft.com/office/drawing/2014/main" val="2416064255"/>
                    </a:ext>
                  </a:extLst>
                </a:gridCol>
              </a:tblGrid>
              <a:tr h="464815">
                <a:tc>
                  <a:txBody>
                    <a:bodyPr/>
                    <a:lstStyle/>
                    <a:p>
                      <a:pPr>
                        <a:buNone/>
                      </a:pPr>
                      <a:r>
                        <a:rPr lang="en-US" sz="2000" b="1" dirty="0">
                          <a:effectLst>
                            <a:outerShdw blurRad="38100" dist="38100" dir="2700000" algn="tl">
                              <a:srgbClr val="000000">
                                <a:alpha val="43137"/>
                              </a:srgbClr>
                            </a:outerShdw>
                          </a:effectLst>
                        </a:rPr>
                        <a:t>Factor</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2000" b="1" dirty="0">
                          <a:effectLst>
                            <a:outerShdw blurRad="38100" dist="38100" dir="2700000" algn="tl">
                              <a:srgbClr val="000000">
                                <a:alpha val="43137"/>
                              </a:srgbClr>
                            </a:outerShdw>
                          </a:effectLst>
                        </a:rPr>
                        <a:t>Machine Learning</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buNone/>
                      </a:pPr>
                      <a:r>
                        <a:rPr lang="en-US" sz="2000" b="1" dirty="0">
                          <a:effectLst>
                            <a:outerShdw blurRad="38100" dist="38100" dir="2700000" algn="tl">
                              <a:srgbClr val="000000">
                                <a:alpha val="43137"/>
                              </a:srgbClr>
                            </a:outerShdw>
                          </a:effectLst>
                        </a:rPr>
                        <a:t>Deep Learning</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582591238"/>
                  </a:ext>
                </a:extLst>
              </a:tr>
              <a:tr h="464815">
                <a:tc>
                  <a:txBody>
                    <a:bodyPr/>
                    <a:lstStyle/>
                    <a:p>
                      <a:pPr>
                        <a:buNone/>
                      </a:pPr>
                      <a:r>
                        <a:rPr lang="en-US" sz="2000" b="1" dirty="0"/>
                        <a:t>Data type</a:t>
                      </a:r>
                      <a:endParaRPr lang="en-US" sz="2000" dirty="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Structured</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Unstructured (image, text, audio)</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6476163"/>
                  </a:ext>
                </a:extLst>
              </a:tr>
              <a:tr h="464815">
                <a:tc>
                  <a:txBody>
                    <a:bodyPr/>
                    <a:lstStyle/>
                    <a:p>
                      <a:pPr>
                        <a:buNone/>
                      </a:pPr>
                      <a:r>
                        <a:rPr lang="en-US" sz="2000" b="1"/>
                        <a:t>Data size</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Small to medium</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Large</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902030"/>
                  </a:ext>
                </a:extLst>
              </a:tr>
              <a:tr h="464815">
                <a:tc>
                  <a:txBody>
                    <a:bodyPr/>
                    <a:lstStyle/>
                    <a:p>
                      <a:pPr>
                        <a:buNone/>
                      </a:pPr>
                      <a:r>
                        <a:rPr lang="en-US" sz="2000" b="1"/>
                        <a:t>Feature engineering</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Manual</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Automatic</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8741338"/>
                  </a:ext>
                </a:extLst>
              </a:tr>
              <a:tr h="464815">
                <a:tc>
                  <a:txBody>
                    <a:bodyPr/>
                    <a:lstStyle/>
                    <a:p>
                      <a:pPr>
                        <a:buNone/>
                      </a:pPr>
                      <a:r>
                        <a:rPr lang="en-US" sz="2000" b="1"/>
                        <a:t>Training time</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Fast</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Slow</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0945952"/>
                  </a:ext>
                </a:extLst>
              </a:tr>
              <a:tr h="464815">
                <a:tc>
                  <a:txBody>
                    <a:bodyPr/>
                    <a:lstStyle/>
                    <a:p>
                      <a:pPr>
                        <a:buNone/>
                      </a:pPr>
                      <a:r>
                        <a:rPr lang="en-US" sz="2000" b="1"/>
                        <a:t>Compute required</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CPU</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GPU/TPU</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9139018"/>
                  </a:ext>
                </a:extLst>
              </a:tr>
              <a:tr h="464815">
                <a:tc>
                  <a:txBody>
                    <a:bodyPr/>
                    <a:lstStyle/>
                    <a:p>
                      <a:pPr>
                        <a:buNone/>
                      </a:pPr>
                      <a:r>
                        <a:rPr lang="en-US" sz="2000" b="1"/>
                        <a:t>Interpretability</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High</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Low</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535461"/>
                  </a:ext>
                </a:extLst>
              </a:tr>
              <a:tr h="464815">
                <a:tc>
                  <a:txBody>
                    <a:bodyPr/>
                    <a:lstStyle/>
                    <a:p>
                      <a:pPr>
                        <a:buNone/>
                      </a:pPr>
                      <a:r>
                        <a:rPr lang="en-US" sz="2000" b="1"/>
                        <a:t>Accuracy (with large data)</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Moderate</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High</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5778107"/>
                  </a:ext>
                </a:extLst>
              </a:tr>
              <a:tr h="464815">
                <a:tc>
                  <a:txBody>
                    <a:bodyPr/>
                    <a:lstStyle/>
                    <a:p>
                      <a:pPr>
                        <a:buNone/>
                      </a:pPr>
                      <a:r>
                        <a:rPr lang="en-US" sz="2000" b="1"/>
                        <a:t>Examples</a:t>
                      </a:r>
                      <a:endParaRPr lang="en-US" sz="2000"/>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t>Logistic Regression, XGBoost</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t>CNN, Transformer, LSTM</a:t>
                      </a:r>
                    </a:p>
                  </a:txBody>
                  <a:tcPr marL="89488" marR="89488" marT="44745" marB="447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2157750"/>
                  </a:ext>
                </a:extLst>
              </a:tr>
            </a:tbl>
          </a:graphicData>
        </a:graphic>
      </p:graphicFrame>
    </p:spTree>
    <p:extLst>
      <p:ext uri="{BB962C8B-B14F-4D97-AF65-F5344CB8AC3E}">
        <p14:creationId xmlns:p14="http://schemas.microsoft.com/office/powerpoint/2010/main" val="109329174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ood Png Images - Free Download on Freepik">
            <a:extLst>
              <a:ext uri="{FF2B5EF4-FFF2-40B4-BE49-F238E27FC236}">
                <a16:creationId xmlns:a16="http://schemas.microsoft.com/office/drawing/2014/main" id="{CB3A6781-3500-F2DB-E6CC-F063F9F4A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6" y="952501"/>
            <a:ext cx="2423170" cy="116204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urning tweets into vector images">
            <a:extLst>
              <a:ext uri="{FF2B5EF4-FFF2-40B4-BE49-F238E27FC236}">
                <a16:creationId xmlns:a16="http://schemas.microsoft.com/office/drawing/2014/main" id="{68B2582C-F729-EE2A-8978-F50660BE6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6" y="2719388"/>
            <a:ext cx="2423170" cy="1196487"/>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pic>
        <p:nvPicPr>
          <p:cNvPr id="4108" name="Picture 12" descr="Audio Signal Icons - Free SVG &amp; PNG Audio Signal Images - Noun Project">
            <a:extLst>
              <a:ext uri="{FF2B5EF4-FFF2-40B4-BE49-F238E27FC236}">
                <a16:creationId xmlns:a16="http://schemas.microsoft.com/office/drawing/2014/main" id="{F860617D-5FE8-1A72-7068-B324878587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691" b="12808"/>
          <a:stretch/>
        </p:blipFill>
        <p:spPr bwMode="auto">
          <a:xfrm>
            <a:off x="535311" y="4559085"/>
            <a:ext cx="1905000" cy="1476376"/>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Multidimensional Arrays - MATLAB &amp; Simulink">
            <a:extLst>
              <a:ext uri="{FF2B5EF4-FFF2-40B4-BE49-F238E27FC236}">
                <a16:creationId xmlns:a16="http://schemas.microsoft.com/office/drawing/2014/main" id="{DB577FF1-EFCD-E5BC-2612-C1AD62DC4BE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658" t="19012" r="-518" b="-2479"/>
          <a:stretch/>
        </p:blipFill>
        <p:spPr bwMode="auto">
          <a:xfrm>
            <a:off x="3747093" y="2719388"/>
            <a:ext cx="2160239" cy="127213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5723F087-DF4B-7B9F-2BC1-E8F92C5CF9BF}"/>
              </a:ext>
            </a:extLst>
          </p:cNvPr>
          <p:cNvCxnSpPr>
            <a:cxnSpLocks/>
          </p:cNvCxnSpPr>
          <p:nvPr/>
        </p:nvCxnSpPr>
        <p:spPr>
          <a:xfrm>
            <a:off x="2905125" y="1790700"/>
            <a:ext cx="1076325" cy="7048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7A8AD301-37ED-E7FD-86F2-44E25C8BD354}"/>
              </a:ext>
            </a:extLst>
          </p:cNvPr>
          <p:cNvCxnSpPr>
            <a:cxnSpLocks/>
          </p:cNvCxnSpPr>
          <p:nvPr/>
        </p:nvCxnSpPr>
        <p:spPr>
          <a:xfrm>
            <a:off x="2813643" y="3286949"/>
            <a:ext cx="9334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70CBDCD-4BE1-D6F7-D8E7-B0572C21F920}"/>
              </a:ext>
            </a:extLst>
          </p:cNvPr>
          <p:cNvCxnSpPr>
            <a:cxnSpLocks/>
          </p:cNvCxnSpPr>
          <p:nvPr/>
        </p:nvCxnSpPr>
        <p:spPr>
          <a:xfrm flipV="1">
            <a:off x="2905125" y="4215362"/>
            <a:ext cx="1209675" cy="9009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7DB33-44A4-0094-EFB0-3AF7F2511E5E}"/>
              </a:ext>
            </a:extLst>
          </p:cNvPr>
          <p:cNvSpPr txBox="1"/>
          <p:nvPr/>
        </p:nvSpPr>
        <p:spPr>
          <a:xfrm>
            <a:off x="3685181" y="1424185"/>
            <a:ext cx="1652588" cy="830997"/>
          </a:xfrm>
          <a:prstGeom prst="rect">
            <a:avLst/>
          </a:prstGeom>
          <a:noFill/>
        </p:spPr>
        <p:txBody>
          <a:bodyPr wrap="square" rtlCol="0">
            <a:spAutoFit/>
          </a:bodyPr>
          <a:lstStyle/>
          <a:p>
            <a:r>
              <a:rPr lang="en-US" sz="1200" i="1" dirty="0"/>
              <a:t>Before data gets used with neural network, it needs to be turned into numbers</a:t>
            </a:r>
            <a:endParaRPr lang="en-IN" sz="1200" i="1" dirty="0"/>
          </a:p>
        </p:txBody>
      </p:sp>
      <p:pic>
        <p:nvPicPr>
          <p:cNvPr id="4112" name="Picture 16" descr="Data Visualization with Network Diagram in Tableau and its Business  Applications">
            <a:extLst>
              <a:ext uri="{FF2B5EF4-FFF2-40B4-BE49-F238E27FC236}">
                <a16:creationId xmlns:a16="http://schemas.microsoft.com/office/drawing/2014/main" id="{C07AE05E-6DA6-A64D-442B-98E64D57F7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5798216" y="2696593"/>
            <a:ext cx="2783323" cy="1317730"/>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descr="NumPy - 3D matrix multiplication - GeeksforGeeks">
            <a:extLst>
              <a:ext uri="{FF2B5EF4-FFF2-40B4-BE49-F238E27FC236}">
                <a16:creationId xmlns:a16="http://schemas.microsoft.com/office/drawing/2014/main" id="{2D99A381-E2A3-D609-89FD-B8A3EE12A1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8636" r="46901"/>
          <a:stretch/>
        </p:blipFill>
        <p:spPr bwMode="auto">
          <a:xfrm>
            <a:off x="8300482" y="2407394"/>
            <a:ext cx="2117985" cy="2258436"/>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D9CD5F05-781C-1D40-CDEE-BF51D99933E7}"/>
              </a:ext>
            </a:extLst>
          </p:cNvPr>
          <p:cNvCxnSpPr>
            <a:cxnSpLocks/>
          </p:cNvCxnSpPr>
          <p:nvPr/>
        </p:nvCxnSpPr>
        <p:spPr>
          <a:xfrm>
            <a:off x="6096000" y="3323492"/>
            <a:ext cx="4790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C91D3C8-4889-3B08-2B4B-486556EA48FF}"/>
              </a:ext>
            </a:extLst>
          </p:cNvPr>
          <p:cNvCxnSpPr>
            <a:cxnSpLocks/>
          </p:cNvCxnSpPr>
          <p:nvPr/>
        </p:nvCxnSpPr>
        <p:spPr>
          <a:xfrm>
            <a:off x="7850606" y="3335673"/>
            <a:ext cx="4790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38A4C09-2636-7FD0-7BCC-329F4F2B21E0}"/>
              </a:ext>
            </a:extLst>
          </p:cNvPr>
          <p:cNvSpPr txBox="1"/>
          <p:nvPr/>
        </p:nvSpPr>
        <p:spPr>
          <a:xfrm>
            <a:off x="371475" y="6115050"/>
            <a:ext cx="2152650" cy="369332"/>
          </a:xfrm>
          <a:prstGeom prst="rect">
            <a:avLst/>
          </a:prstGeom>
          <a:noFill/>
        </p:spPr>
        <p:txBody>
          <a:bodyPr wrap="square" rtlCol="0">
            <a:spAutoFit/>
          </a:bodyPr>
          <a:lstStyle/>
          <a:p>
            <a:pPr algn="ctr"/>
            <a:r>
              <a:rPr lang="en-US" b="1" dirty="0">
                <a:solidFill>
                  <a:schemeClr val="accent4">
                    <a:lumMod val="75000"/>
                  </a:schemeClr>
                </a:solidFill>
                <a:effectLst>
                  <a:outerShdw blurRad="38100" dist="38100" dir="2700000" algn="tl">
                    <a:srgbClr val="000000">
                      <a:alpha val="43137"/>
                    </a:srgbClr>
                  </a:outerShdw>
                </a:effectLst>
              </a:rPr>
              <a:t>INPUTS</a:t>
            </a:r>
            <a:endParaRPr lang="en-IN" b="1" dirty="0">
              <a:solidFill>
                <a:schemeClr val="accent4">
                  <a:lumMod val="75000"/>
                </a:schemeClr>
              </a:solidFill>
              <a:effectLst>
                <a:outerShdw blurRad="38100" dist="38100" dir="2700000" algn="tl">
                  <a:srgbClr val="000000">
                    <a:alpha val="43137"/>
                  </a:srgbClr>
                </a:outerShdw>
              </a:effectLst>
            </a:endParaRPr>
          </a:p>
        </p:txBody>
      </p:sp>
      <p:sp>
        <p:nvSpPr>
          <p:cNvPr id="14" name="TextBox 13">
            <a:extLst>
              <a:ext uri="{FF2B5EF4-FFF2-40B4-BE49-F238E27FC236}">
                <a16:creationId xmlns:a16="http://schemas.microsoft.com/office/drawing/2014/main" id="{AB3CD8F2-4ADF-B436-1A6C-096AEAAFAFEF}"/>
              </a:ext>
            </a:extLst>
          </p:cNvPr>
          <p:cNvSpPr txBox="1"/>
          <p:nvPr/>
        </p:nvSpPr>
        <p:spPr>
          <a:xfrm>
            <a:off x="3685180" y="5976550"/>
            <a:ext cx="2152650" cy="646331"/>
          </a:xfrm>
          <a:prstGeom prst="rect">
            <a:avLst/>
          </a:prstGeom>
          <a:noFill/>
        </p:spPr>
        <p:txBody>
          <a:bodyPr wrap="square" rtlCol="0">
            <a:spAutoFit/>
          </a:bodyPr>
          <a:lstStyle/>
          <a:p>
            <a:pPr algn="ctr"/>
            <a:r>
              <a:rPr lang="en-US" b="1" dirty="0">
                <a:solidFill>
                  <a:schemeClr val="accent4">
                    <a:lumMod val="75000"/>
                  </a:schemeClr>
                </a:solidFill>
                <a:effectLst>
                  <a:outerShdw blurRad="38100" dist="38100" dir="2700000" algn="tl">
                    <a:srgbClr val="000000">
                      <a:alpha val="43137"/>
                    </a:srgbClr>
                  </a:outerShdw>
                </a:effectLst>
              </a:rPr>
              <a:t>NUMERICAL ENCODING</a:t>
            </a:r>
            <a:endParaRPr lang="en-IN" b="1" dirty="0">
              <a:solidFill>
                <a:schemeClr val="accent4">
                  <a:lumMod val="75000"/>
                </a:schemeClr>
              </a:solidFill>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6B833C6F-1D9A-E1CA-6E4B-AE425DD5DE67}"/>
              </a:ext>
            </a:extLst>
          </p:cNvPr>
          <p:cNvSpPr txBox="1"/>
          <p:nvPr/>
        </p:nvSpPr>
        <p:spPr>
          <a:xfrm>
            <a:off x="6075703" y="5928925"/>
            <a:ext cx="2152650" cy="646331"/>
          </a:xfrm>
          <a:prstGeom prst="rect">
            <a:avLst/>
          </a:prstGeom>
          <a:noFill/>
        </p:spPr>
        <p:txBody>
          <a:bodyPr wrap="square" rtlCol="0">
            <a:spAutoFit/>
          </a:bodyPr>
          <a:lstStyle/>
          <a:p>
            <a:pPr algn="ctr"/>
            <a:r>
              <a:rPr lang="en-US" b="1" dirty="0">
                <a:solidFill>
                  <a:schemeClr val="accent4">
                    <a:lumMod val="75000"/>
                  </a:schemeClr>
                </a:solidFill>
                <a:effectLst>
                  <a:outerShdw blurRad="38100" dist="38100" dir="2700000" algn="tl">
                    <a:srgbClr val="000000">
                      <a:alpha val="43137"/>
                    </a:srgbClr>
                  </a:outerShdw>
                </a:effectLst>
              </a:rPr>
              <a:t>LEARNS REPRESENTATIONS</a:t>
            </a:r>
            <a:endParaRPr lang="en-IN" b="1" dirty="0">
              <a:solidFill>
                <a:schemeClr val="accent4">
                  <a:lumMod val="75000"/>
                </a:schemeClr>
              </a:solidFill>
              <a:effectLst>
                <a:outerShdw blurRad="38100" dist="38100" dir="2700000" algn="tl">
                  <a:srgbClr val="000000">
                    <a:alpha val="43137"/>
                  </a:srgbClr>
                </a:outerShdw>
              </a:effectLst>
            </a:endParaRPr>
          </a:p>
        </p:txBody>
      </p:sp>
      <p:sp>
        <p:nvSpPr>
          <p:cNvPr id="16" name="TextBox 15">
            <a:extLst>
              <a:ext uri="{FF2B5EF4-FFF2-40B4-BE49-F238E27FC236}">
                <a16:creationId xmlns:a16="http://schemas.microsoft.com/office/drawing/2014/main" id="{8CEA2432-F45D-E261-0C52-D6C0218CAE36}"/>
              </a:ext>
            </a:extLst>
          </p:cNvPr>
          <p:cNvSpPr txBox="1"/>
          <p:nvPr/>
        </p:nvSpPr>
        <p:spPr>
          <a:xfrm>
            <a:off x="10418467" y="6035461"/>
            <a:ext cx="2152650" cy="369332"/>
          </a:xfrm>
          <a:prstGeom prst="rect">
            <a:avLst/>
          </a:prstGeom>
          <a:noFill/>
        </p:spPr>
        <p:txBody>
          <a:bodyPr wrap="square" rtlCol="0">
            <a:spAutoFit/>
          </a:bodyPr>
          <a:lstStyle/>
          <a:p>
            <a:pPr algn="ctr"/>
            <a:r>
              <a:rPr lang="en-US" b="1" dirty="0">
                <a:solidFill>
                  <a:schemeClr val="accent4">
                    <a:lumMod val="75000"/>
                  </a:schemeClr>
                </a:solidFill>
                <a:effectLst>
                  <a:outerShdw blurRad="38100" dist="38100" dir="2700000" algn="tl">
                    <a:srgbClr val="000000">
                      <a:alpha val="43137"/>
                    </a:srgbClr>
                  </a:outerShdw>
                </a:effectLst>
              </a:rPr>
              <a:t>OUTPUT</a:t>
            </a:r>
            <a:endParaRPr lang="en-IN" b="1" dirty="0">
              <a:solidFill>
                <a:schemeClr val="accent4">
                  <a:lumMod val="75000"/>
                </a:schemeClr>
              </a:solidFill>
              <a:effectLst>
                <a:outerShdw blurRad="38100" dist="38100" dir="2700000" algn="tl">
                  <a:srgbClr val="000000">
                    <a:alpha val="43137"/>
                  </a:srgbClr>
                </a:outerShdw>
              </a:effectLst>
            </a:endParaRPr>
          </a:p>
        </p:txBody>
      </p:sp>
      <p:cxnSp>
        <p:nvCxnSpPr>
          <p:cNvPr id="17" name="Straight Arrow Connector 16">
            <a:extLst>
              <a:ext uri="{FF2B5EF4-FFF2-40B4-BE49-F238E27FC236}">
                <a16:creationId xmlns:a16="http://schemas.microsoft.com/office/drawing/2014/main" id="{45BA1AC9-18DE-186A-E200-207F6465327A}"/>
              </a:ext>
            </a:extLst>
          </p:cNvPr>
          <p:cNvCxnSpPr>
            <a:cxnSpLocks/>
          </p:cNvCxnSpPr>
          <p:nvPr/>
        </p:nvCxnSpPr>
        <p:spPr>
          <a:xfrm flipV="1">
            <a:off x="10264955" y="1790700"/>
            <a:ext cx="612595" cy="58238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85FA750-6307-A8F2-FC65-92E3CD77D90D}"/>
              </a:ext>
            </a:extLst>
          </p:cNvPr>
          <p:cNvCxnSpPr>
            <a:cxnSpLocks/>
          </p:cNvCxnSpPr>
          <p:nvPr/>
        </p:nvCxnSpPr>
        <p:spPr>
          <a:xfrm>
            <a:off x="10398305" y="4590714"/>
            <a:ext cx="593545" cy="5255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0C7F6B4-B353-4137-489C-82B26141DAF6}"/>
              </a:ext>
            </a:extLst>
          </p:cNvPr>
          <p:cNvCxnSpPr>
            <a:cxnSpLocks/>
          </p:cNvCxnSpPr>
          <p:nvPr/>
        </p:nvCxnSpPr>
        <p:spPr>
          <a:xfrm>
            <a:off x="10331748" y="3449973"/>
            <a:ext cx="4790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7FBE6EB-5DAD-A6E6-D593-7972860B1E14}"/>
              </a:ext>
            </a:extLst>
          </p:cNvPr>
          <p:cNvSpPr txBox="1"/>
          <p:nvPr/>
        </p:nvSpPr>
        <p:spPr>
          <a:xfrm>
            <a:off x="10810755" y="1566286"/>
            <a:ext cx="1038225" cy="276999"/>
          </a:xfrm>
          <a:prstGeom prst="rect">
            <a:avLst/>
          </a:prstGeom>
          <a:noFill/>
        </p:spPr>
        <p:txBody>
          <a:bodyPr wrap="square" rtlCol="0">
            <a:spAutoFit/>
          </a:bodyPr>
          <a:lstStyle/>
          <a:p>
            <a:pPr algn="ctr"/>
            <a:r>
              <a:rPr lang="en-US" sz="1200" dirty="0"/>
              <a:t>Burger</a:t>
            </a:r>
          </a:p>
        </p:txBody>
      </p:sp>
      <p:sp>
        <p:nvSpPr>
          <p:cNvPr id="24" name="TextBox 23">
            <a:extLst>
              <a:ext uri="{FF2B5EF4-FFF2-40B4-BE49-F238E27FC236}">
                <a16:creationId xmlns:a16="http://schemas.microsoft.com/office/drawing/2014/main" id="{262D96A8-6505-6041-4AFA-EE802C50835A}"/>
              </a:ext>
            </a:extLst>
          </p:cNvPr>
          <p:cNvSpPr txBox="1"/>
          <p:nvPr/>
        </p:nvSpPr>
        <p:spPr>
          <a:xfrm>
            <a:off x="10925373" y="3265307"/>
            <a:ext cx="1038225" cy="276999"/>
          </a:xfrm>
          <a:prstGeom prst="rect">
            <a:avLst/>
          </a:prstGeom>
          <a:noFill/>
        </p:spPr>
        <p:txBody>
          <a:bodyPr wrap="square" rtlCol="0">
            <a:spAutoFit/>
          </a:bodyPr>
          <a:lstStyle/>
          <a:p>
            <a:pPr algn="ctr"/>
            <a:r>
              <a:rPr lang="en-US" sz="1200" dirty="0"/>
              <a:t>PDF Link</a:t>
            </a:r>
          </a:p>
        </p:txBody>
      </p:sp>
      <p:sp>
        <p:nvSpPr>
          <p:cNvPr id="25" name="TextBox 24">
            <a:extLst>
              <a:ext uri="{FF2B5EF4-FFF2-40B4-BE49-F238E27FC236}">
                <a16:creationId xmlns:a16="http://schemas.microsoft.com/office/drawing/2014/main" id="{DFEC5718-25BB-2F24-CD97-32F4E7EAAF93}"/>
              </a:ext>
            </a:extLst>
          </p:cNvPr>
          <p:cNvSpPr txBox="1"/>
          <p:nvPr/>
        </p:nvSpPr>
        <p:spPr>
          <a:xfrm>
            <a:off x="10695077" y="5156816"/>
            <a:ext cx="1373325" cy="461665"/>
          </a:xfrm>
          <a:prstGeom prst="rect">
            <a:avLst/>
          </a:prstGeom>
          <a:noFill/>
        </p:spPr>
        <p:txBody>
          <a:bodyPr wrap="square" rtlCol="0">
            <a:spAutoFit/>
          </a:bodyPr>
          <a:lstStyle/>
          <a:p>
            <a:pPr algn="ctr"/>
            <a:r>
              <a:rPr lang="en-US" sz="1200" dirty="0"/>
              <a:t>“Hey Siri, play some song”</a:t>
            </a:r>
          </a:p>
        </p:txBody>
      </p:sp>
      <p:sp>
        <p:nvSpPr>
          <p:cNvPr id="26" name="TextBox 25">
            <a:extLst>
              <a:ext uri="{FF2B5EF4-FFF2-40B4-BE49-F238E27FC236}">
                <a16:creationId xmlns:a16="http://schemas.microsoft.com/office/drawing/2014/main" id="{5DAB46CD-5B38-D406-065A-C7F771247BD8}"/>
              </a:ext>
            </a:extLst>
          </p:cNvPr>
          <p:cNvSpPr txBox="1"/>
          <p:nvPr/>
        </p:nvSpPr>
        <p:spPr>
          <a:xfrm>
            <a:off x="8466226" y="5928925"/>
            <a:ext cx="2152650" cy="646331"/>
          </a:xfrm>
          <a:prstGeom prst="rect">
            <a:avLst/>
          </a:prstGeom>
          <a:noFill/>
        </p:spPr>
        <p:txBody>
          <a:bodyPr wrap="square" rtlCol="0">
            <a:spAutoFit/>
          </a:bodyPr>
          <a:lstStyle/>
          <a:p>
            <a:pPr algn="ctr"/>
            <a:r>
              <a:rPr lang="en-US" b="1" dirty="0">
                <a:solidFill>
                  <a:schemeClr val="accent4">
                    <a:lumMod val="75000"/>
                  </a:schemeClr>
                </a:solidFill>
                <a:effectLst>
                  <a:outerShdw blurRad="38100" dist="38100" dir="2700000" algn="tl">
                    <a:srgbClr val="000000">
                      <a:alpha val="43137"/>
                    </a:srgbClr>
                  </a:outerShdw>
                </a:effectLst>
              </a:rPr>
              <a:t>REPRESENTATION</a:t>
            </a:r>
          </a:p>
          <a:p>
            <a:pPr algn="ctr"/>
            <a:r>
              <a:rPr lang="en-US" b="1" dirty="0">
                <a:solidFill>
                  <a:schemeClr val="accent4">
                    <a:lumMod val="75000"/>
                  </a:schemeClr>
                </a:solidFill>
                <a:effectLst>
                  <a:outerShdw blurRad="38100" dist="38100" dir="2700000" algn="tl">
                    <a:srgbClr val="000000">
                      <a:alpha val="43137"/>
                    </a:srgbClr>
                  </a:outerShdw>
                </a:effectLst>
              </a:rPr>
              <a:t>OUTPUT</a:t>
            </a:r>
            <a:endParaRPr lang="en-IN" b="1" dirty="0">
              <a:solidFill>
                <a:schemeClr val="accent4">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5675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1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11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1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5" grpId="0"/>
      <p:bldP spid="16" grpId="0"/>
      <p:bldP spid="23" grpId="0"/>
      <p:bldP spid="24"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3DB6F6-106D-CFFD-8843-B0D727CD0E7B}"/>
              </a:ext>
            </a:extLst>
          </p:cNvPr>
          <p:cNvSpPr txBox="1"/>
          <p:nvPr/>
        </p:nvSpPr>
        <p:spPr>
          <a:xfrm>
            <a:off x="590550" y="1073788"/>
            <a:ext cx="11010900" cy="2862322"/>
          </a:xfrm>
          <a:prstGeom prst="rect">
            <a:avLst/>
          </a:prstGeom>
          <a:noFill/>
        </p:spPr>
        <p:txBody>
          <a:bodyPr wrap="square">
            <a:spAutoFit/>
          </a:bodyPr>
          <a:lstStyle/>
          <a:p>
            <a:pPr marL="285750" indent="-285750" algn="l">
              <a:buFont typeface="Arial" panose="020B0604020202020204" pitchFamily="34" charset="0"/>
              <a:buChar char="•"/>
            </a:pPr>
            <a:r>
              <a:rPr lang="en-US" b="1" i="1" dirty="0">
                <a:latin typeface="Arial" panose="020B0604020202020204" pitchFamily="34" charset="0"/>
                <a:cs typeface="Arial" panose="020B0604020202020204" pitchFamily="34" charset="0"/>
              </a:rPr>
              <a:t>TensorFlow</a:t>
            </a:r>
            <a:r>
              <a:rPr lang="en-US" dirty="0">
                <a:latin typeface="Arial" panose="020B0604020202020204" pitchFamily="34" charset="0"/>
                <a:cs typeface="Arial" panose="020B0604020202020204" pitchFamily="34" charset="0"/>
              </a:rPr>
              <a:t> is a Python-friendly open source library for numerical computation that makes machine learning and developing neural networks faster and easier</a:t>
            </a:r>
          </a:p>
          <a:p>
            <a:pPr marL="285750" indent="-285750" algn="l">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End-to-end machine learning platform</a:t>
            </a:r>
          </a:p>
          <a:p>
            <a:pPr marL="285750" indent="-285750" algn="l">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Able to access many pre-built deep learning models (TensorFlow hub)</a:t>
            </a:r>
          </a:p>
          <a:p>
            <a:pPr marL="285750" indent="-285750" algn="l">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Whole stack: Preprocess data, model data, deploy data in your application</a:t>
            </a:r>
          </a:p>
          <a:p>
            <a:pPr marL="285750" indent="-285750" algn="l">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l">
              <a:buFont typeface="Arial" panose="020B0604020202020204" pitchFamily="34" charset="0"/>
              <a:buChar char="•"/>
            </a:pPr>
            <a:r>
              <a:rPr lang="en-US" dirty="0">
                <a:latin typeface="Arial" panose="020B0604020202020204" pitchFamily="34" charset="0"/>
                <a:cs typeface="Arial" panose="020B0604020202020204" pitchFamily="34" charset="0"/>
              </a:rPr>
              <a:t>Originally designed and used in-house by Google (now open-source)</a:t>
            </a:r>
          </a:p>
        </p:txBody>
      </p:sp>
      <p:sp>
        <p:nvSpPr>
          <p:cNvPr id="4" name="Title 1">
            <a:extLst>
              <a:ext uri="{FF2B5EF4-FFF2-40B4-BE49-F238E27FC236}">
                <a16:creationId xmlns:a16="http://schemas.microsoft.com/office/drawing/2014/main" id="{6E326372-E46F-F553-D69D-D545E32395DE}"/>
              </a:ext>
            </a:extLst>
          </p:cNvPr>
          <p:cNvSpPr txBox="1">
            <a:spLocks/>
          </p:cNvSpPr>
          <p:nvPr/>
        </p:nvSpPr>
        <p:spPr>
          <a:xfrm>
            <a:off x="757875" y="148318"/>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What is TENSORFLOW?</a:t>
            </a:r>
          </a:p>
        </p:txBody>
      </p:sp>
      <p:pic>
        <p:nvPicPr>
          <p:cNvPr id="5122" name="Picture 2" descr="TensorFlow - Wikipedia">
            <a:extLst>
              <a:ext uri="{FF2B5EF4-FFF2-40B4-BE49-F238E27FC236}">
                <a16:creationId xmlns:a16="http://schemas.microsoft.com/office/drawing/2014/main" id="{1F1888CD-2B33-3C8A-259C-EEE4472580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282" t="14079" r="9314" b="14802"/>
          <a:stretch/>
        </p:blipFill>
        <p:spPr bwMode="auto">
          <a:xfrm>
            <a:off x="8610599" y="2061229"/>
            <a:ext cx="3314701" cy="18764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8A3316-9346-A9B1-A283-384BAB6769B4}"/>
              </a:ext>
            </a:extLst>
          </p:cNvPr>
          <p:cNvSpPr txBox="1"/>
          <p:nvPr/>
        </p:nvSpPr>
        <p:spPr>
          <a:xfrm>
            <a:off x="590550" y="5035451"/>
            <a:ext cx="6858000" cy="923330"/>
          </a:xfrm>
          <a:prstGeom prst="rect">
            <a:avLst/>
          </a:prstGeom>
          <a:noFill/>
        </p:spPr>
        <p:txBody>
          <a:bodyPr wrap="square">
            <a:spAutoFit/>
          </a:bodyPr>
          <a:lstStyle/>
          <a:p>
            <a:pPr marL="285750" indent="-285750" algn="l" fontAlgn="base">
              <a:buFont typeface="Wingdings" panose="05000000000000000000" pitchFamily="2" charset="2"/>
              <a:buChar char="§"/>
            </a:pPr>
            <a:r>
              <a:rPr lang="en-US" dirty="0">
                <a:latin typeface="Arial" panose="020B0604020202020204" pitchFamily="34" charset="0"/>
                <a:cs typeface="Arial" panose="020B0604020202020204" pitchFamily="34" charset="0"/>
              </a:rPr>
              <a:t>Image and Face recognition</a:t>
            </a:r>
          </a:p>
          <a:p>
            <a:pPr marL="285750" indent="-285750" algn="l" fontAlgn="base">
              <a:buFont typeface="Wingdings" panose="05000000000000000000" pitchFamily="2" charset="2"/>
              <a:buChar char="§"/>
            </a:pPr>
            <a:r>
              <a:rPr lang="en-US" dirty="0">
                <a:latin typeface="Arial" panose="020B0604020202020204" pitchFamily="34" charset="0"/>
                <a:cs typeface="Arial" panose="020B0604020202020204" pitchFamily="34" charset="0"/>
              </a:rPr>
              <a:t>HealthCare related applications like cancer, etc.</a:t>
            </a:r>
          </a:p>
          <a:p>
            <a:pPr marL="285750" indent="-285750" algn="l" fontAlgn="base">
              <a:buFont typeface="Wingdings" panose="05000000000000000000" pitchFamily="2" charset="2"/>
              <a:buChar char="§"/>
            </a:pPr>
            <a:r>
              <a:rPr lang="en-US" dirty="0">
                <a:latin typeface="Arial" panose="020B0604020202020204" pitchFamily="34" charset="0"/>
                <a:cs typeface="Arial" panose="020B0604020202020204" pitchFamily="34" charset="0"/>
              </a:rPr>
              <a:t>Recommendation Systems</a:t>
            </a:r>
          </a:p>
        </p:txBody>
      </p:sp>
      <p:sp>
        <p:nvSpPr>
          <p:cNvPr id="8" name="TextBox 7">
            <a:extLst>
              <a:ext uri="{FF2B5EF4-FFF2-40B4-BE49-F238E27FC236}">
                <a16:creationId xmlns:a16="http://schemas.microsoft.com/office/drawing/2014/main" id="{54C4654A-3BE9-BF67-5C86-F2EA0045F79A}"/>
              </a:ext>
            </a:extLst>
          </p:cNvPr>
          <p:cNvSpPr txBox="1"/>
          <p:nvPr/>
        </p:nvSpPr>
        <p:spPr>
          <a:xfrm>
            <a:off x="6591299" y="5035451"/>
            <a:ext cx="4257675" cy="923330"/>
          </a:xfrm>
          <a:prstGeom prst="rect">
            <a:avLst/>
          </a:prstGeom>
          <a:noFill/>
        </p:spPr>
        <p:txBody>
          <a:bodyPr wrap="square">
            <a:spAutoFit/>
          </a:bodyPr>
          <a:lstStyle/>
          <a:p>
            <a:pPr marL="285750" indent="-285750" algn="l" fontAlgn="base">
              <a:buFont typeface="Wingdings" panose="05000000000000000000" pitchFamily="2" charset="2"/>
              <a:buChar char="§"/>
            </a:pPr>
            <a:r>
              <a:rPr lang="en-US" dirty="0">
                <a:latin typeface="Arial" panose="020B0604020202020204" pitchFamily="34" charset="0"/>
                <a:cs typeface="Arial" panose="020B0604020202020204" pitchFamily="34" charset="0"/>
              </a:rPr>
              <a:t>Virtual Assistants</a:t>
            </a:r>
          </a:p>
          <a:p>
            <a:pPr marL="285750" indent="-285750" algn="l" fontAlgn="base">
              <a:buFont typeface="Wingdings" panose="05000000000000000000" pitchFamily="2" charset="2"/>
              <a:buChar char="§"/>
            </a:pPr>
            <a:r>
              <a:rPr lang="en-US" dirty="0">
                <a:latin typeface="Arial" panose="020B0604020202020204" pitchFamily="34" charset="0"/>
                <a:cs typeface="Arial" panose="020B0604020202020204" pitchFamily="34" charset="0"/>
              </a:rPr>
              <a:t>Self-driving cars</a:t>
            </a:r>
          </a:p>
          <a:p>
            <a:pPr marL="285750" indent="-285750" algn="l" fontAlgn="base">
              <a:buFont typeface="Wingdings" panose="05000000000000000000" pitchFamily="2" charset="2"/>
              <a:buChar char="§"/>
            </a:pPr>
            <a:r>
              <a:rPr lang="en-US" dirty="0">
                <a:latin typeface="Arial" panose="020B0604020202020204" pitchFamily="34" charset="0"/>
                <a:cs typeface="Arial" panose="020B0604020202020204" pitchFamily="34" charset="0"/>
              </a:rPr>
              <a:t>Natural Language Processing</a:t>
            </a:r>
          </a:p>
        </p:txBody>
      </p:sp>
      <p:sp>
        <p:nvSpPr>
          <p:cNvPr id="10" name="TextBox 9">
            <a:extLst>
              <a:ext uri="{FF2B5EF4-FFF2-40B4-BE49-F238E27FC236}">
                <a16:creationId xmlns:a16="http://schemas.microsoft.com/office/drawing/2014/main" id="{C28D0636-81E0-7D9D-4252-C36B29D5C8BC}"/>
              </a:ext>
            </a:extLst>
          </p:cNvPr>
          <p:cNvSpPr txBox="1"/>
          <p:nvPr/>
        </p:nvSpPr>
        <p:spPr>
          <a:xfrm>
            <a:off x="2952750" y="4461470"/>
            <a:ext cx="6096000" cy="400110"/>
          </a:xfrm>
          <a:prstGeom prst="rect">
            <a:avLst/>
          </a:prstGeom>
          <a:noFill/>
        </p:spPr>
        <p:txBody>
          <a:bodyPr wrap="square">
            <a:spAutoFit/>
          </a:bodyPr>
          <a:lstStyle/>
          <a:p>
            <a:pPr algn="ctr" fontAlgn="base"/>
            <a:r>
              <a:rPr lang="en-US" sz="2000" b="1" i="0" dirty="0">
                <a:solidFill>
                  <a:srgbClr val="273239"/>
                </a:solidFill>
                <a:effectLst/>
                <a:latin typeface="urw-din"/>
              </a:rPr>
              <a:t>Applications and uses</a:t>
            </a:r>
          </a:p>
        </p:txBody>
      </p:sp>
    </p:spTree>
    <p:extLst>
      <p:ext uri="{BB962C8B-B14F-4D97-AF65-F5344CB8AC3E}">
        <p14:creationId xmlns:p14="http://schemas.microsoft.com/office/powerpoint/2010/main" val="80452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069ADE-518E-AC1C-2DE8-07FD772258B3}"/>
              </a:ext>
            </a:extLst>
          </p:cNvPr>
          <p:cNvSpPr txBox="1">
            <a:spLocks/>
          </p:cNvSpPr>
          <p:nvPr/>
        </p:nvSpPr>
        <p:spPr>
          <a:xfrm>
            <a:off x="757875" y="148318"/>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Types of Deep Learning Networks</a:t>
            </a:r>
          </a:p>
          <a:p>
            <a:endParaRPr lang="en-US" sz="2000" b="1" i="1" cap="all" dirty="0">
              <a:solidFill>
                <a:schemeClr val="accent5">
                  <a:lumMod val="50000"/>
                </a:schemeClr>
              </a:solidFill>
              <a:latin typeface="Michelin SemiBold" panose="02000000000000000000" pitchFamily="50" charset="0"/>
            </a:endParaRPr>
          </a:p>
        </p:txBody>
      </p:sp>
      <p:sp>
        <p:nvSpPr>
          <p:cNvPr id="5" name="TextBox 4">
            <a:extLst>
              <a:ext uri="{FF2B5EF4-FFF2-40B4-BE49-F238E27FC236}">
                <a16:creationId xmlns:a16="http://schemas.microsoft.com/office/drawing/2014/main" id="{A87EB32A-1E00-7FD2-D4F4-DE7B0BC50436}"/>
              </a:ext>
            </a:extLst>
          </p:cNvPr>
          <p:cNvSpPr txBox="1"/>
          <p:nvPr/>
        </p:nvSpPr>
        <p:spPr>
          <a:xfrm>
            <a:off x="657225" y="1073788"/>
            <a:ext cx="10776900" cy="2031325"/>
          </a:xfrm>
          <a:prstGeom prst="rect">
            <a:avLst/>
          </a:prstGeom>
          <a:noFill/>
        </p:spPr>
        <p:txBody>
          <a:bodyPr wrap="square" rtlCol="0">
            <a:spAutoFit/>
          </a:bodyPr>
          <a:lstStyle/>
          <a:p>
            <a:r>
              <a:rPr lang="en-US" b="1" dirty="0">
                <a:solidFill>
                  <a:schemeClr val="accent1">
                    <a:lumMod val="50000"/>
                  </a:schemeClr>
                </a:solidFill>
              </a:rPr>
              <a:t>FEED FORWARD NEURAL NETWORK:</a:t>
            </a:r>
          </a:p>
          <a:p>
            <a:r>
              <a:rPr lang="en-US" dirty="0">
                <a:solidFill>
                  <a:srgbClr val="222222"/>
                </a:solidFill>
                <a:effectLst/>
              </a:rPr>
              <a:t>A Feed Forward Neural Network is an artificial Neural Network in which the nodes are connected circularly. The data always flows in one direction and never backwards/opposite. A sequence of inputs enter the layer and are multiplied by the weights in this model. The weighted input values are then summed together to form a total. </a:t>
            </a:r>
          </a:p>
          <a:p>
            <a:r>
              <a:rPr lang="en-US" b="0" i="0" dirty="0">
                <a:solidFill>
                  <a:srgbClr val="222222"/>
                </a:solidFill>
                <a:effectLst/>
                <a:latin typeface="Lato" panose="020F0502020204030203" pitchFamily="34" charset="0"/>
              </a:rPr>
              <a:t>If the sum of the values is more than a predetermined threshold, which is normally set at zero, the output value is usually 1, and if the sum is less than the threshold, the output value is usually -1. The single-layer perceptron is a popular feed-forward neural network model that is frequently used for classification. </a:t>
            </a:r>
            <a:endParaRPr lang="en-IN" dirty="0"/>
          </a:p>
        </p:txBody>
      </p:sp>
      <p:pic>
        <p:nvPicPr>
          <p:cNvPr id="1026" name="Picture 2" descr="Feed-Foward Network">
            <a:extLst>
              <a:ext uri="{FF2B5EF4-FFF2-40B4-BE49-F238E27FC236}">
                <a16:creationId xmlns:a16="http://schemas.microsoft.com/office/drawing/2014/main" id="{E6E3EFAA-1B6B-FE12-3739-71763ED3E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152" y="3562350"/>
            <a:ext cx="5838825" cy="276614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5A2F995-F494-25A0-22E7-19DFE85D829B}"/>
              </a:ext>
            </a:extLst>
          </p:cNvPr>
          <p:cNvSpPr txBox="1"/>
          <p:nvPr/>
        </p:nvSpPr>
        <p:spPr>
          <a:xfrm>
            <a:off x="6791325" y="3659108"/>
            <a:ext cx="5099298" cy="2308324"/>
          </a:xfrm>
          <a:prstGeom prst="rect">
            <a:avLst/>
          </a:prstGeom>
          <a:noFill/>
        </p:spPr>
        <p:txBody>
          <a:bodyPr wrap="square">
            <a:spAutoFit/>
          </a:bodyPr>
          <a:lstStyle/>
          <a:p>
            <a:pPr algn="just"/>
            <a:r>
              <a:rPr lang="en-US" b="1" i="0" dirty="0">
                <a:solidFill>
                  <a:srgbClr val="333333"/>
                </a:solidFill>
                <a:effectLst/>
                <a:latin typeface="inter-bold"/>
              </a:rPr>
              <a:t>Applications:</a:t>
            </a:r>
          </a:p>
          <a:p>
            <a:pPr algn="just"/>
            <a:endParaRPr lang="en-US"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000000"/>
                </a:solidFill>
                <a:effectLst/>
                <a:latin typeface="inter-regular"/>
              </a:rPr>
              <a:t>Data Compression</a:t>
            </a:r>
          </a:p>
          <a:p>
            <a:pPr marL="285750" indent="-285750" algn="just">
              <a:buFont typeface="Arial" panose="020B0604020202020204" pitchFamily="34" charset="0"/>
              <a:buChar char="•"/>
            </a:pPr>
            <a:r>
              <a:rPr lang="en-US" b="0" i="0" dirty="0">
                <a:solidFill>
                  <a:srgbClr val="000000"/>
                </a:solidFill>
                <a:effectLst/>
                <a:latin typeface="inter-regular"/>
              </a:rPr>
              <a:t>Pattern Recognition</a:t>
            </a:r>
          </a:p>
          <a:p>
            <a:pPr marL="285750" indent="-285750" algn="just">
              <a:buFont typeface="Arial" panose="020B0604020202020204" pitchFamily="34" charset="0"/>
              <a:buChar char="•"/>
            </a:pPr>
            <a:r>
              <a:rPr lang="en-US" b="0" i="0" dirty="0">
                <a:solidFill>
                  <a:srgbClr val="000000"/>
                </a:solidFill>
                <a:effectLst/>
                <a:latin typeface="inter-regular"/>
              </a:rPr>
              <a:t>Computer Vision</a:t>
            </a:r>
          </a:p>
          <a:p>
            <a:pPr marL="285750" indent="-285750" algn="just">
              <a:buFont typeface="Arial" panose="020B0604020202020204" pitchFamily="34" charset="0"/>
              <a:buChar char="•"/>
            </a:pPr>
            <a:r>
              <a:rPr lang="en-US" b="0" i="0" dirty="0">
                <a:solidFill>
                  <a:srgbClr val="000000"/>
                </a:solidFill>
                <a:effectLst/>
                <a:latin typeface="inter-regular"/>
              </a:rPr>
              <a:t>Sonar Target Recognition</a:t>
            </a:r>
          </a:p>
          <a:p>
            <a:pPr marL="285750" indent="-285750" algn="just">
              <a:buFont typeface="Arial" panose="020B0604020202020204" pitchFamily="34" charset="0"/>
              <a:buChar char="•"/>
            </a:pPr>
            <a:r>
              <a:rPr lang="en-US" b="0" i="0" dirty="0">
                <a:solidFill>
                  <a:srgbClr val="000000"/>
                </a:solidFill>
                <a:effectLst/>
                <a:latin typeface="inter-regular"/>
              </a:rPr>
              <a:t>Speech Recognition</a:t>
            </a:r>
          </a:p>
          <a:p>
            <a:pPr marL="285750" indent="-285750" algn="just">
              <a:buFont typeface="Arial" panose="020B0604020202020204" pitchFamily="34" charset="0"/>
              <a:buChar char="•"/>
            </a:pPr>
            <a:r>
              <a:rPr lang="en-US" b="0" i="0" dirty="0">
                <a:solidFill>
                  <a:srgbClr val="000000"/>
                </a:solidFill>
                <a:effectLst/>
                <a:latin typeface="inter-regular"/>
              </a:rPr>
              <a:t>Handwritten Characters Recognition</a:t>
            </a:r>
          </a:p>
        </p:txBody>
      </p:sp>
    </p:spTree>
    <p:extLst>
      <p:ext uri="{BB962C8B-B14F-4D97-AF65-F5344CB8AC3E}">
        <p14:creationId xmlns:p14="http://schemas.microsoft.com/office/powerpoint/2010/main" val="1213768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4A0DB-E45E-4F60-2485-DC22A2B9713E}"/>
              </a:ext>
            </a:extLst>
          </p:cNvPr>
          <p:cNvSpPr txBox="1">
            <a:spLocks/>
          </p:cNvSpPr>
          <p:nvPr/>
        </p:nvSpPr>
        <p:spPr>
          <a:xfrm>
            <a:off x="757875" y="10069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Types of Deep Learning Networks</a:t>
            </a:r>
          </a:p>
          <a:p>
            <a:endParaRPr lang="en-US" sz="2000" b="1" i="1" cap="all" dirty="0">
              <a:solidFill>
                <a:schemeClr val="accent5">
                  <a:lumMod val="50000"/>
                </a:schemeClr>
              </a:solidFill>
              <a:latin typeface="Michelin SemiBold" panose="02000000000000000000" pitchFamily="50" charset="0"/>
            </a:endParaRPr>
          </a:p>
        </p:txBody>
      </p:sp>
      <p:sp>
        <p:nvSpPr>
          <p:cNvPr id="3" name="TextBox 2">
            <a:extLst>
              <a:ext uri="{FF2B5EF4-FFF2-40B4-BE49-F238E27FC236}">
                <a16:creationId xmlns:a16="http://schemas.microsoft.com/office/drawing/2014/main" id="{20EA1F75-55FE-5409-3554-4A9BA41B73B5}"/>
              </a:ext>
            </a:extLst>
          </p:cNvPr>
          <p:cNvSpPr txBox="1"/>
          <p:nvPr/>
        </p:nvSpPr>
        <p:spPr>
          <a:xfrm>
            <a:off x="657225" y="1026163"/>
            <a:ext cx="10776900" cy="1754326"/>
          </a:xfrm>
          <a:prstGeom prst="rect">
            <a:avLst/>
          </a:prstGeom>
          <a:noFill/>
        </p:spPr>
        <p:txBody>
          <a:bodyPr wrap="square" rtlCol="0">
            <a:spAutoFit/>
          </a:bodyPr>
          <a:lstStyle/>
          <a:p>
            <a:r>
              <a:rPr lang="en-US" b="1" dirty="0">
                <a:solidFill>
                  <a:schemeClr val="accent1">
                    <a:lumMod val="50000"/>
                  </a:schemeClr>
                </a:solidFill>
              </a:rPr>
              <a:t>RECURRENT NEURAL NETWORK:</a:t>
            </a:r>
          </a:p>
          <a:p>
            <a:r>
              <a:rPr lang="en-US" b="0" i="0" dirty="0">
                <a:solidFill>
                  <a:srgbClr val="161616"/>
                </a:solidFill>
                <a:effectLst/>
              </a:rPr>
              <a:t>A </a:t>
            </a:r>
            <a:r>
              <a:rPr lang="en-US" b="0" i="0" dirty="0">
                <a:effectLst/>
              </a:rPr>
              <a:t>recurrent neural network (RNN) is a type of artificial neural network which uses sequential data or time series data. The Recurrent neural network mainly accesses the preceding info of existing iterations.  It does not let the size of the model to increase with the increase in the input size. However, the only problem with this recurrent neural network is that it has slow computational speed as well as it does not contemplate any future input for the current state. It has a problem with reminiscing prior information.</a:t>
            </a:r>
            <a:endParaRPr lang="en-IN" dirty="0"/>
          </a:p>
        </p:txBody>
      </p:sp>
      <p:sp>
        <p:nvSpPr>
          <p:cNvPr id="5" name="TextBox 4">
            <a:extLst>
              <a:ext uri="{FF2B5EF4-FFF2-40B4-BE49-F238E27FC236}">
                <a16:creationId xmlns:a16="http://schemas.microsoft.com/office/drawing/2014/main" id="{94E21558-B30A-5787-32CC-E6CD88799B57}"/>
              </a:ext>
            </a:extLst>
          </p:cNvPr>
          <p:cNvSpPr txBox="1"/>
          <p:nvPr/>
        </p:nvSpPr>
        <p:spPr>
          <a:xfrm>
            <a:off x="8181975" y="3753584"/>
            <a:ext cx="4010025" cy="2585323"/>
          </a:xfrm>
          <a:prstGeom prst="rect">
            <a:avLst/>
          </a:prstGeom>
          <a:noFill/>
        </p:spPr>
        <p:txBody>
          <a:bodyPr wrap="square">
            <a:spAutoFit/>
          </a:bodyPr>
          <a:lstStyle/>
          <a:p>
            <a:pPr algn="just"/>
            <a:r>
              <a:rPr lang="en-US" b="1" i="0" dirty="0">
                <a:solidFill>
                  <a:srgbClr val="333333"/>
                </a:solidFill>
                <a:effectLst/>
                <a:latin typeface="inter-bold"/>
              </a:rPr>
              <a:t>Applications:</a:t>
            </a:r>
            <a:endParaRPr lang="en-US"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000000"/>
                </a:solidFill>
                <a:effectLst/>
                <a:latin typeface="inter-regular"/>
              </a:rPr>
              <a:t>Machine Translation</a:t>
            </a:r>
          </a:p>
          <a:p>
            <a:pPr marL="285750" indent="-285750" algn="just">
              <a:buFont typeface="Arial" panose="020B0604020202020204" pitchFamily="34" charset="0"/>
              <a:buChar char="•"/>
            </a:pPr>
            <a:r>
              <a:rPr lang="en-US" b="0" i="0" dirty="0">
                <a:solidFill>
                  <a:srgbClr val="000000"/>
                </a:solidFill>
                <a:effectLst/>
                <a:latin typeface="inter-regular"/>
              </a:rPr>
              <a:t>Robot Control</a:t>
            </a:r>
          </a:p>
          <a:p>
            <a:pPr marL="285750" indent="-285750" algn="just">
              <a:buFont typeface="Arial" panose="020B0604020202020204" pitchFamily="34" charset="0"/>
              <a:buChar char="•"/>
            </a:pPr>
            <a:r>
              <a:rPr lang="en-US" b="0" i="0" dirty="0">
                <a:solidFill>
                  <a:srgbClr val="000000"/>
                </a:solidFill>
                <a:effectLst/>
                <a:latin typeface="inter-regular"/>
              </a:rPr>
              <a:t>Time Series Prediction</a:t>
            </a:r>
          </a:p>
          <a:p>
            <a:pPr marL="285750" indent="-285750" algn="just">
              <a:buFont typeface="Arial" panose="020B0604020202020204" pitchFamily="34" charset="0"/>
              <a:buChar char="•"/>
            </a:pPr>
            <a:r>
              <a:rPr lang="en-US" b="0" i="0" dirty="0">
                <a:solidFill>
                  <a:srgbClr val="000000"/>
                </a:solidFill>
                <a:effectLst/>
                <a:latin typeface="inter-regular"/>
              </a:rPr>
              <a:t>Speech Recognition</a:t>
            </a:r>
          </a:p>
          <a:p>
            <a:pPr marL="285750" indent="-285750" algn="just">
              <a:buFont typeface="Arial" panose="020B0604020202020204" pitchFamily="34" charset="0"/>
              <a:buChar char="•"/>
            </a:pPr>
            <a:r>
              <a:rPr lang="en-US" b="0" i="0" dirty="0">
                <a:solidFill>
                  <a:srgbClr val="000000"/>
                </a:solidFill>
                <a:effectLst/>
                <a:latin typeface="inter-regular"/>
              </a:rPr>
              <a:t>Speech Synthesis</a:t>
            </a:r>
          </a:p>
          <a:p>
            <a:pPr marL="285750" indent="-285750" algn="just">
              <a:buFont typeface="Arial" panose="020B0604020202020204" pitchFamily="34" charset="0"/>
              <a:buChar char="•"/>
            </a:pPr>
            <a:r>
              <a:rPr lang="en-US" b="0" i="0" dirty="0">
                <a:solidFill>
                  <a:srgbClr val="000000"/>
                </a:solidFill>
                <a:effectLst/>
                <a:latin typeface="inter-regular"/>
              </a:rPr>
              <a:t>Time Series Anomaly Detection</a:t>
            </a:r>
          </a:p>
          <a:p>
            <a:pPr marL="285750" indent="-285750" algn="just">
              <a:buFont typeface="Arial" panose="020B0604020202020204" pitchFamily="34" charset="0"/>
              <a:buChar char="•"/>
            </a:pPr>
            <a:r>
              <a:rPr lang="en-US" b="0" i="0" dirty="0">
                <a:solidFill>
                  <a:srgbClr val="000000"/>
                </a:solidFill>
                <a:effectLst/>
                <a:latin typeface="inter-regular"/>
              </a:rPr>
              <a:t>Rhythm Learning</a:t>
            </a:r>
          </a:p>
          <a:p>
            <a:pPr marL="285750" indent="-285750" algn="just">
              <a:buFont typeface="Arial" panose="020B0604020202020204" pitchFamily="34" charset="0"/>
              <a:buChar char="•"/>
            </a:pPr>
            <a:r>
              <a:rPr lang="en-US" b="0" i="0" dirty="0">
                <a:solidFill>
                  <a:srgbClr val="000000"/>
                </a:solidFill>
                <a:effectLst/>
                <a:latin typeface="inter-regular"/>
              </a:rPr>
              <a:t>Music Composition</a:t>
            </a:r>
          </a:p>
        </p:txBody>
      </p:sp>
      <p:pic>
        <p:nvPicPr>
          <p:cNvPr id="2052" name="Picture 4" descr="A Brief Overview of Recurrent Neural Networks (RNN) - Analytics Vidhya">
            <a:extLst>
              <a:ext uri="{FF2B5EF4-FFF2-40B4-BE49-F238E27FC236}">
                <a16:creationId xmlns:a16="http://schemas.microsoft.com/office/drawing/2014/main" id="{CE5E60E0-1DB9-3F08-A39E-9E9836DF1C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735"/>
          <a:stretch/>
        </p:blipFill>
        <p:spPr bwMode="auto">
          <a:xfrm>
            <a:off x="171451" y="3753584"/>
            <a:ext cx="7848600" cy="2414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8137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40B800-850D-6F52-4387-CC67173D228F}"/>
              </a:ext>
            </a:extLst>
          </p:cNvPr>
          <p:cNvSpPr txBox="1"/>
          <p:nvPr/>
        </p:nvSpPr>
        <p:spPr>
          <a:xfrm>
            <a:off x="557047" y="524782"/>
            <a:ext cx="8008883" cy="369332"/>
          </a:xfrm>
          <a:prstGeom prst="rect">
            <a:avLst/>
          </a:prstGeom>
          <a:noFill/>
        </p:spPr>
        <p:txBody>
          <a:bodyPr wrap="square">
            <a:spAutoFit/>
          </a:bodyPr>
          <a:lstStyle/>
          <a:p>
            <a:r>
              <a:rPr lang="en-IN" b="1" dirty="0">
                <a:solidFill>
                  <a:schemeClr val="accent1">
                    <a:lumMod val="50000"/>
                  </a:schemeClr>
                </a:solidFill>
              </a:rPr>
              <a:t>LONG SHORT-TERM MEMORY(LSTM) NETWORKS</a:t>
            </a:r>
            <a:endParaRPr lang="en-US" b="1" dirty="0">
              <a:solidFill>
                <a:schemeClr val="accent1">
                  <a:lumMod val="50000"/>
                </a:schemeClr>
              </a:solidFill>
            </a:endParaRPr>
          </a:p>
        </p:txBody>
      </p:sp>
      <p:sp>
        <p:nvSpPr>
          <p:cNvPr id="5" name="TextBox 4">
            <a:extLst>
              <a:ext uri="{FF2B5EF4-FFF2-40B4-BE49-F238E27FC236}">
                <a16:creationId xmlns:a16="http://schemas.microsoft.com/office/drawing/2014/main" id="{D908E64B-7B4A-077A-282E-51E56173CA71}"/>
              </a:ext>
            </a:extLst>
          </p:cNvPr>
          <p:cNvSpPr txBox="1"/>
          <p:nvPr/>
        </p:nvSpPr>
        <p:spPr>
          <a:xfrm>
            <a:off x="557046" y="990287"/>
            <a:ext cx="11098925" cy="1754326"/>
          </a:xfrm>
          <a:prstGeom prst="rect">
            <a:avLst/>
          </a:prstGeom>
          <a:noFill/>
        </p:spPr>
        <p:txBody>
          <a:bodyPr wrap="square">
            <a:spAutoFit/>
          </a:bodyPr>
          <a:lstStyle/>
          <a:p>
            <a:r>
              <a:rPr lang="en-US" b="0" i="0" dirty="0">
                <a:solidFill>
                  <a:srgbClr val="222222"/>
                </a:solidFill>
                <a:effectLst/>
              </a:rPr>
              <a:t>Long Short-Term Memory Networks is a deep learning, sequential neural network that allows information to persist. It is a special type of Recurrent Neural Network which is capable of handling the vanishing gradient problem faced by RNN.</a:t>
            </a:r>
          </a:p>
          <a:p>
            <a:endParaRPr lang="en-US" dirty="0">
              <a:solidFill>
                <a:srgbClr val="222222"/>
              </a:solidFill>
            </a:endParaRPr>
          </a:p>
          <a:p>
            <a:r>
              <a:rPr lang="en-US" b="0" i="0" dirty="0">
                <a:solidFill>
                  <a:srgbClr val="222222"/>
                </a:solidFill>
                <a:effectLst/>
              </a:rPr>
              <a:t>The shortcoming of RNN is they cannot remember long-term dependencies due to vanishing gradient. LSTMs are explicitly designed to avoid long-term dependency problems.</a:t>
            </a:r>
            <a:endParaRPr lang="en-IN" dirty="0"/>
          </a:p>
        </p:txBody>
      </p:sp>
      <p:sp>
        <p:nvSpPr>
          <p:cNvPr id="7" name="TextBox 6">
            <a:extLst>
              <a:ext uri="{FF2B5EF4-FFF2-40B4-BE49-F238E27FC236}">
                <a16:creationId xmlns:a16="http://schemas.microsoft.com/office/drawing/2014/main" id="{71E47083-4EBF-1905-16E4-C3F3373AC99B}"/>
              </a:ext>
            </a:extLst>
          </p:cNvPr>
          <p:cNvSpPr txBox="1"/>
          <p:nvPr/>
        </p:nvSpPr>
        <p:spPr>
          <a:xfrm>
            <a:off x="672662" y="2840786"/>
            <a:ext cx="6096000" cy="369332"/>
          </a:xfrm>
          <a:prstGeom prst="rect">
            <a:avLst/>
          </a:prstGeom>
          <a:noFill/>
        </p:spPr>
        <p:txBody>
          <a:bodyPr wrap="square">
            <a:spAutoFit/>
          </a:bodyPr>
          <a:lstStyle/>
          <a:p>
            <a:pPr algn="l"/>
            <a:r>
              <a:rPr lang="en-IN" b="1" i="1" dirty="0">
                <a:solidFill>
                  <a:srgbClr val="222222"/>
                </a:solidFill>
                <a:effectLst/>
                <a:latin typeface="Lato" panose="020F0502020204030203" pitchFamily="34" charset="0"/>
              </a:rPr>
              <a:t>LSTM Architecture</a:t>
            </a:r>
          </a:p>
        </p:txBody>
      </p:sp>
      <p:sp>
        <p:nvSpPr>
          <p:cNvPr id="9" name="TextBox 8">
            <a:extLst>
              <a:ext uri="{FF2B5EF4-FFF2-40B4-BE49-F238E27FC236}">
                <a16:creationId xmlns:a16="http://schemas.microsoft.com/office/drawing/2014/main" id="{B164E976-7343-B8B2-3EC9-366CE0870CFF}"/>
              </a:ext>
            </a:extLst>
          </p:cNvPr>
          <p:cNvSpPr txBox="1"/>
          <p:nvPr/>
        </p:nvSpPr>
        <p:spPr>
          <a:xfrm>
            <a:off x="557046" y="3210118"/>
            <a:ext cx="11298623" cy="646331"/>
          </a:xfrm>
          <a:prstGeom prst="rect">
            <a:avLst/>
          </a:prstGeom>
          <a:noFill/>
        </p:spPr>
        <p:txBody>
          <a:bodyPr wrap="square">
            <a:spAutoFit/>
          </a:bodyPr>
          <a:lstStyle/>
          <a:p>
            <a:r>
              <a:rPr lang="en-US" dirty="0">
                <a:solidFill>
                  <a:srgbClr val="222222"/>
                </a:solidFill>
              </a:rPr>
              <a:t>The LSTM network architecture consists of three parts, as shown in the image below, and each part performs an individual function</a:t>
            </a:r>
            <a:endParaRPr lang="en-IN" dirty="0">
              <a:solidFill>
                <a:srgbClr val="222222"/>
              </a:solidFill>
            </a:endParaRPr>
          </a:p>
        </p:txBody>
      </p:sp>
      <p:pic>
        <p:nvPicPr>
          <p:cNvPr id="4098" name="Picture 2" descr="LSTM Architecture">
            <a:extLst>
              <a:ext uri="{FF2B5EF4-FFF2-40B4-BE49-F238E27FC236}">
                <a16:creationId xmlns:a16="http://schemas.microsoft.com/office/drawing/2014/main" id="{779683A6-4F1B-DF1C-FA6F-F439C938E6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948"/>
          <a:stretch/>
        </p:blipFill>
        <p:spPr bwMode="auto">
          <a:xfrm>
            <a:off x="3095173" y="3621723"/>
            <a:ext cx="6306449" cy="257758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C80ED1-6AE3-0CBE-5F00-75DAC75C0A38}"/>
              </a:ext>
            </a:extLst>
          </p:cNvPr>
          <p:cNvSpPr txBox="1"/>
          <p:nvPr/>
        </p:nvSpPr>
        <p:spPr>
          <a:xfrm>
            <a:off x="515005" y="6199307"/>
            <a:ext cx="11466786" cy="369332"/>
          </a:xfrm>
          <a:prstGeom prst="rect">
            <a:avLst/>
          </a:prstGeom>
          <a:noFill/>
        </p:spPr>
        <p:txBody>
          <a:bodyPr wrap="square">
            <a:spAutoFit/>
          </a:bodyPr>
          <a:lstStyle/>
          <a:p>
            <a:r>
              <a:rPr lang="en-US" b="0" i="0" dirty="0">
                <a:solidFill>
                  <a:srgbClr val="222222"/>
                </a:solidFill>
                <a:effectLst/>
                <a:latin typeface="Lato" panose="020F0502020204030203" pitchFamily="34" charset="0"/>
              </a:rPr>
              <a:t> </a:t>
            </a:r>
            <a:r>
              <a:rPr lang="en-US" dirty="0">
                <a:solidFill>
                  <a:srgbClr val="222222"/>
                </a:solidFill>
              </a:rPr>
              <a:t>The first gate is called</a:t>
            </a:r>
            <a:r>
              <a:rPr lang="en-US" b="1" i="1" dirty="0">
                <a:solidFill>
                  <a:srgbClr val="222222"/>
                </a:solidFill>
              </a:rPr>
              <a:t> Forget gate</a:t>
            </a:r>
            <a:r>
              <a:rPr lang="en-US" dirty="0">
                <a:solidFill>
                  <a:srgbClr val="222222"/>
                </a:solidFill>
              </a:rPr>
              <a:t>, the second gate is known as the </a:t>
            </a:r>
            <a:r>
              <a:rPr lang="en-US" b="1" i="1" dirty="0">
                <a:solidFill>
                  <a:srgbClr val="222222"/>
                </a:solidFill>
              </a:rPr>
              <a:t>Input gate</a:t>
            </a:r>
            <a:r>
              <a:rPr lang="en-US" dirty="0">
                <a:solidFill>
                  <a:srgbClr val="222222"/>
                </a:solidFill>
              </a:rPr>
              <a:t>, and the last one is the </a:t>
            </a:r>
            <a:r>
              <a:rPr lang="en-US" b="1" i="1" dirty="0">
                <a:solidFill>
                  <a:srgbClr val="222222"/>
                </a:solidFill>
              </a:rPr>
              <a:t>Output gate</a:t>
            </a:r>
            <a:endParaRPr lang="en-IN" b="1" i="1" dirty="0">
              <a:solidFill>
                <a:srgbClr val="222222"/>
              </a:solidFill>
            </a:endParaRPr>
          </a:p>
        </p:txBody>
      </p:sp>
    </p:spTree>
    <p:extLst>
      <p:ext uri="{BB962C8B-B14F-4D97-AF65-F5344CB8AC3E}">
        <p14:creationId xmlns:p14="http://schemas.microsoft.com/office/powerpoint/2010/main" val="130322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50C1AB-F14E-CD95-1521-786F01D0BA1A}"/>
              </a:ext>
            </a:extLst>
          </p:cNvPr>
          <p:cNvSpPr txBox="1"/>
          <p:nvPr/>
        </p:nvSpPr>
        <p:spPr>
          <a:xfrm>
            <a:off x="546538" y="406623"/>
            <a:ext cx="11035862" cy="1754326"/>
          </a:xfrm>
          <a:prstGeom prst="rect">
            <a:avLst/>
          </a:prstGeom>
          <a:noFill/>
        </p:spPr>
        <p:txBody>
          <a:bodyPr wrap="square">
            <a:spAutoFit/>
          </a:bodyPr>
          <a:lstStyle/>
          <a:p>
            <a:r>
              <a:rPr lang="en-US" b="0" i="0" dirty="0">
                <a:solidFill>
                  <a:srgbClr val="222222"/>
                </a:solidFill>
                <a:effectLst/>
                <a:latin typeface="Lato" panose="020F0502020204030203" pitchFamily="34" charset="0"/>
              </a:rPr>
              <a:t>STEPS:</a:t>
            </a:r>
          </a:p>
          <a:p>
            <a:pPr marL="342900" indent="-342900">
              <a:buAutoNum type="arabicPeriod"/>
            </a:pPr>
            <a:r>
              <a:rPr lang="en-US" b="0" i="0" dirty="0">
                <a:solidFill>
                  <a:srgbClr val="222222"/>
                </a:solidFill>
                <a:effectLst/>
              </a:rPr>
              <a:t>The first part chooses whether the information coming from the previous timestamp is to be remembered or is irrelevant and can be forgotten. </a:t>
            </a:r>
          </a:p>
          <a:p>
            <a:pPr marL="342900" indent="-342900">
              <a:buAutoNum type="arabicPeriod"/>
            </a:pPr>
            <a:r>
              <a:rPr lang="en-US" b="0" i="0" dirty="0">
                <a:solidFill>
                  <a:srgbClr val="222222"/>
                </a:solidFill>
                <a:effectLst/>
              </a:rPr>
              <a:t>In the second part, the cell tries to learn new information from the input to this cell. </a:t>
            </a:r>
          </a:p>
          <a:p>
            <a:pPr marL="342900" indent="-342900">
              <a:buAutoNum type="arabicPeriod"/>
            </a:pPr>
            <a:r>
              <a:rPr lang="en-US" b="0" i="0" dirty="0">
                <a:solidFill>
                  <a:srgbClr val="222222"/>
                </a:solidFill>
                <a:effectLst/>
              </a:rPr>
              <a:t>At last, in the third part, the cell passes the updated information from the current timestamp to the next timestamp. This one cycle of LSTM is considered a single-time step.</a:t>
            </a:r>
            <a:endParaRPr lang="en-IN" dirty="0"/>
          </a:p>
        </p:txBody>
      </p:sp>
      <p:sp>
        <p:nvSpPr>
          <p:cNvPr id="7" name="TextBox 6">
            <a:extLst>
              <a:ext uri="{FF2B5EF4-FFF2-40B4-BE49-F238E27FC236}">
                <a16:creationId xmlns:a16="http://schemas.microsoft.com/office/drawing/2014/main" id="{135C27CB-1EB6-7F3D-5DD3-EBE6A68D5E4B}"/>
              </a:ext>
            </a:extLst>
          </p:cNvPr>
          <p:cNvSpPr txBox="1"/>
          <p:nvPr/>
        </p:nvSpPr>
        <p:spPr>
          <a:xfrm>
            <a:off x="399393" y="2297583"/>
            <a:ext cx="6096000" cy="369332"/>
          </a:xfrm>
          <a:prstGeom prst="rect">
            <a:avLst/>
          </a:prstGeom>
          <a:noFill/>
        </p:spPr>
        <p:txBody>
          <a:bodyPr wrap="square">
            <a:spAutoFit/>
          </a:bodyPr>
          <a:lstStyle/>
          <a:p>
            <a:r>
              <a:rPr lang="en-US" b="1" i="0" dirty="0">
                <a:solidFill>
                  <a:srgbClr val="273239"/>
                </a:solidFill>
                <a:effectLst/>
                <a:latin typeface="Nunito" pitchFamily="2" charset="0"/>
              </a:rPr>
              <a:t>Some of the applications of LSTM includes:</a:t>
            </a:r>
            <a:r>
              <a:rPr lang="en-US" b="0" i="0" dirty="0">
                <a:solidFill>
                  <a:srgbClr val="273239"/>
                </a:solidFill>
                <a:effectLst/>
                <a:latin typeface="Nunito" pitchFamily="2" charset="0"/>
              </a:rPr>
              <a:t>  </a:t>
            </a:r>
            <a:endParaRPr lang="en-IN" dirty="0"/>
          </a:p>
        </p:txBody>
      </p:sp>
      <p:sp>
        <p:nvSpPr>
          <p:cNvPr id="9" name="TextBox 8">
            <a:extLst>
              <a:ext uri="{FF2B5EF4-FFF2-40B4-BE49-F238E27FC236}">
                <a16:creationId xmlns:a16="http://schemas.microsoft.com/office/drawing/2014/main" id="{96056027-174A-7E5B-C37F-2FE1CF93AE3E}"/>
              </a:ext>
            </a:extLst>
          </p:cNvPr>
          <p:cNvSpPr txBox="1"/>
          <p:nvPr/>
        </p:nvSpPr>
        <p:spPr>
          <a:xfrm>
            <a:off x="399392" y="2666915"/>
            <a:ext cx="11477297" cy="3970318"/>
          </a:xfrm>
          <a:prstGeom prst="rect">
            <a:avLst/>
          </a:prstGeom>
          <a:noFill/>
        </p:spPr>
        <p:txBody>
          <a:bodyPr wrap="square">
            <a:spAutoFit/>
          </a:bodyPr>
          <a:lstStyle/>
          <a:p>
            <a:pPr algn="l" fontAlgn="base">
              <a:buFont typeface="+mj-lt"/>
              <a:buAutoNum type="arabicPeriod"/>
            </a:pPr>
            <a:r>
              <a:rPr lang="en-US" b="1" dirty="0">
                <a:solidFill>
                  <a:srgbClr val="222222"/>
                </a:solidFill>
              </a:rPr>
              <a:t>Language Modeling: </a:t>
            </a:r>
            <a:r>
              <a:rPr lang="en-US" dirty="0">
                <a:solidFill>
                  <a:srgbClr val="222222"/>
                </a:solidFill>
              </a:rPr>
              <a:t>LSTMs have been used for natural language processing tasks such as language modeling, machine translation, and text summarization. They can be trained to generate coherent and grammatically correct sentences by learning the dependencies between words in a sentence.</a:t>
            </a:r>
          </a:p>
          <a:p>
            <a:pPr algn="l" fontAlgn="base">
              <a:buFont typeface="+mj-lt"/>
              <a:buAutoNum type="arabicPeriod"/>
            </a:pPr>
            <a:endParaRPr lang="en-US" dirty="0">
              <a:solidFill>
                <a:srgbClr val="222222"/>
              </a:solidFill>
            </a:endParaRPr>
          </a:p>
          <a:p>
            <a:pPr algn="l" fontAlgn="base">
              <a:buFont typeface="+mj-lt"/>
              <a:buAutoNum type="arabicPeriod"/>
            </a:pPr>
            <a:r>
              <a:rPr lang="en-US" b="1" dirty="0">
                <a:solidFill>
                  <a:srgbClr val="222222"/>
                </a:solidFill>
              </a:rPr>
              <a:t>Speech Recognition</a:t>
            </a:r>
            <a:r>
              <a:rPr lang="en-US" dirty="0">
                <a:solidFill>
                  <a:srgbClr val="222222"/>
                </a:solidFill>
              </a:rPr>
              <a:t>: LSTMs have been used for speech recognition tasks such as transcribing speech to text and recognizing spoken commands. They can be trained to recognize patterns in speech and match them to the corresponding text.</a:t>
            </a:r>
          </a:p>
          <a:p>
            <a:pPr algn="l" fontAlgn="base">
              <a:buFont typeface="+mj-lt"/>
              <a:buAutoNum type="arabicPeriod"/>
            </a:pPr>
            <a:endParaRPr lang="en-US" dirty="0">
              <a:solidFill>
                <a:srgbClr val="222222"/>
              </a:solidFill>
            </a:endParaRPr>
          </a:p>
          <a:p>
            <a:pPr algn="l" fontAlgn="base">
              <a:buFont typeface="+mj-lt"/>
              <a:buAutoNum type="arabicPeriod"/>
            </a:pPr>
            <a:r>
              <a:rPr lang="en-US" b="1" dirty="0">
                <a:solidFill>
                  <a:srgbClr val="222222"/>
                </a:solidFill>
              </a:rPr>
              <a:t>Time Series Forecasting</a:t>
            </a:r>
            <a:r>
              <a:rPr lang="en-US" dirty="0">
                <a:solidFill>
                  <a:srgbClr val="222222"/>
                </a:solidFill>
              </a:rPr>
              <a:t>: LSTMs have been used for time series forecasting tasks such as predicting stock prices, weather, and energy consumption. They can learn patterns in time series data and use them to make predictions about future events.</a:t>
            </a:r>
          </a:p>
          <a:p>
            <a:pPr algn="l" fontAlgn="base">
              <a:buFont typeface="+mj-lt"/>
              <a:buAutoNum type="arabicPeriod"/>
            </a:pPr>
            <a:endParaRPr lang="en-US" dirty="0">
              <a:solidFill>
                <a:srgbClr val="222222"/>
              </a:solidFill>
            </a:endParaRPr>
          </a:p>
          <a:p>
            <a:pPr algn="l" fontAlgn="base">
              <a:buFont typeface="+mj-lt"/>
              <a:buAutoNum type="arabicPeriod"/>
            </a:pPr>
            <a:r>
              <a:rPr lang="en-US" b="1" dirty="0">
                <a:solidFill>
                  <a:srgbClr val="222222"/>
                </a:solidFill>
              </a:rPr>
              <a:t>Anomaly Detection: </a:t>
            </a:r>
            <a:r>
              <a:rPr lang="en-US" dirty="0">
                <a:solidFill>
                  <a:srgbClr val="222222"/>
                </a:solidFill>
              </a:rPr>
              <a:t>LSTMs have been used for anomaly detection tasks such as detecting fraud and network intrusion. They can be trained to identify patterns in data that deviate from the norm and flag them as potential anomalies.</a:t>
            </a:r>
          </a:p>
        </p:txBody>
      </p:sp>
    </p:spTree>
    <p:extLst>
      <p:ext uri="{BB962C8B-B14F-4D97-AF65-F5344CB8AC3E}">
        <p14:creationId xmlns:p14="http://schemas.microsoft.com/office/powerpoint/2010/main" val="4205673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14F69-8060-2870-6BDF-659849C0BC91}"/>
              </a:ext>
            </a:extLst>
          </p:cNvPr>
          <p:cNvSpPr txBox="1">
            <a:spLocks/>
          </p:cNvSpPr>
          <p:nvPr/>
        </p:nvSpPr>
        <p:spPr>
          <a:xfrm>
            <a:off x="757875" y="10069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Types of Deep Learning Networks</a:t>
            </a:r>
          </a:p>
          <a:p>
            <a:endParaRPr lang="en-US" sz="2000" b="1" i="1" cap="all" dirty="0">
              <a:solidFill>
                <a:schemeClr val="accent5">
                  <a:lumMod val="50000"/>
                </a:schemeClr>
              </a:solidFill>
              <a:latin typeface="Michelin SemiBold" panose="02000000000000000000" pitchFamily="50" charset="0"/>
            </a:endParaRPr>
          </a:p>
        </p:txBody>
      </p:sp>
      <p:sp>
        <p:nvSpPr>
          <p:cNvPr id="3" name="TextBox 2">
            <a:extLst>
              <a:ext uri="{FF2B5EF4-FFF2-40B4-BE49-F238E27FC236}">
                <a16:creationId xmlns:a16="http://schemas.microsoft.com/office/drawing/2014/main" id="{FBB9C98B-097C-5CC7-3BB1-641E73F48364}"/>
              </a:ext>
            </a:extLst>
          </p:cNvPr>
          <p:cNvSpPr txBox="1"/>
          <p:nvPr/>
        </p:nvSpPr>
        <p:spPr>
          <a:xfrm>
            <a:off x="657225" y="1026163"/>
            <a:ext cx="10776900" cy="1754326"/>
          </a:xfrm>
          <a:prstGeom prst="rect">
            <a:avLst/>
          </a:prstGeom>
          <a:noFill/>
        </p:spPr>
        <p:txBody>
          <a:bodyPr wrap="square" rtlCol="0">
            <a:spAutoFit/>
          </a:bodyPr>
          <a:lstStyle/>
          <a:p>
            <a:r>
              <a:rPr lang="en-US" b="1" dirty="0">
                <a:solidFill>
                  <a:schemeClr val="accent1">
                    <a:lumMod val="50000"/>
                  </a:schemeClr>
                </a:solidFill>
              </a:rPr>
              <a:t>CONVOLUTIONAL NEURAL NETWORK:</a:t>
            </a:r>
          </a:p>
          <a:p>
            <a:r>
              <a:rPr lang="en-US" dirty="0"/>
              <a:t>Convolutional neural network (CNN/</a:t>
            </a:r>
            <a:r>
              <a:rPr lang="en-US" dirty="0" err="1"/>
              <a:t>ConvNet</a:t>
            </a:r>
            <a:r>
              <a:rPr lang="en-US" dirty="0"/>
              <a:t>) is a class of deep neural networks, most commonly applied to analyze visual imagery.</a:t>
            </a:r>
            <a:r>
              <a:rPr lang="en-US" b="0" i="0" dirty="0">
                <a:solidFill>
                  <a:srgbClr val="292929"/>
                </a:solidFill>
                <a:effectLst/>
                <a:latin typeface="source-serif-pro"/>
              </a:rPr>
              <a:t> A digital image is a binary representation of visual data. It contains a series of pixels arranged in a grid-like fashion that contains pixel values to denote how bright and what color each pixel should be. </a:t>
            </a:r>
            <a:r>
              <a:rPr lang="en-US" b="0" i="0" dirty="0">
                <a:solidFill>
                  <a:srgbClr val="333333"/>
                </a:solidFill>
                <a:effectLst/>
                <a:latin typeface="inter-regular"/>
              </a:rPr>
              <a:t>DNNs enable unsupervised construction of hierarchical image representations. To achieve the best accuracy, deep convolutional neural networks are preferred more than any other neural network.</a:t>
            </a:r>
            <a:endParaRPr lang="en-IN" dirty="0"/>
          </a:p>
        </p:txBody>
      </p:sp>
      <p:sp>
        <p:nvSpPr>
          <p:cNvPr id="5" name="TextBox 4">
            <a:extLst>
              <a:ext uri="{FF2B5EF4-FFF2-40B4-BE49-F238E27FC236}">
                <a16:creationId xmlns:a16="http://schemas.microsoft.com/office/drawing/2014/main" id="{20B6DFA4-9E2A-E983-98AD-CFA8F855113B}"/>
              </a:ext>
            </a:extLst>
          </p:cNvPr>
          <p:cNvSpPr txBox="1"/>
          <p:nvPr/>
        </p:nvSpPr>
        <p:spPr>
          <a:xfrm>
            <a:off x="8239125" y="3429000"/>
            <a:ext cx="3952875" cy="2585323"/>
          </a:xfrm>
          <a:prstGeom prst="rect">
            <a:avLst/>
          </a:prstGeom>
          <a:noFill/>
        </p:spPr>
        <p:txBody>
          <a:bodyPr wrap="square">
            <a:spAutoFit/>
          </a:bodyPr>
          <a:lstStyle/>
          <a:p>
            <a:pPr algn="just"/>
            <a:r>
              <a:rPr lang="en-US" b="1" i="0" dirty="0">
                <a:solidFill>
                  <a:srgbClr val="333333"/>
                </a:solidFill>
                <a:effectLst/>
                <a:latin typeface="inter-bold"/>
              </a:rPr>
              <a:t>Applications:</a:t>
            </a:r>
            <a:endParaRPr lang="en-US" b="0" i="0" dirty="0">
              <a:solidFill>
                <a:srgbClr val="000000"/>
              </a:solidFill>
              <a:effectLst/>
              <a:latin typeface="inter-regular"/>
            </a:endParaRPr>
          </a:p>
          <a:p>
            <a:pPr marL="285750" indent="-285750" algn="just">
              <a:buFont typeface="Arial" panose="020B0604020202020204" pitchFamily="34" charset="0"/>
              <a:buChar char="•"/>
            </a:pPr>
            <a:r>
              <a:rPr lang="en-US" b="0" i="0" dirty="0">
                <a:solidFill>
                  <a:srgbClr val="000000"/>
                </a:solidFill>
                <a:effectLst/>
                <a:latin typeface="inter-regular"/>
              </a:rPr>
              <a:t>Identify Faces, Street Signs, Tumors</a:t>
            </a:r>
          </a:p>
          <a:p>
            <a:pPr marL="285750" indent="-285750" algn="just">
              <a:buFont typeface="Arial" panose="020B0604020202020204" pitchFamily="34" charset="0"/>
              <a:buChar char="•"/>
            </a:pPr>
            <a:r>
              <a:rPr lang="en-US" b="0" i="0" dirty="0">
                <a:solidFill>
                  <a:srgbClr val="000000"/>
                </a:solidFill>
                <a:effectLst/>
                <a:latin typeface="inter-regular"/>
              </a:rPr>
              <a:t>Image Recognition</a:t>
            </a:r>
          </a:p>
          <a:p>
            <a:pPr marL="285750" indent="-285750" algn="just">
              <a:buFont typeface="Arial" panose="020B0604020202020204" pitchFamily="34" charset="0"/>
              <a:buChar char="•"/>
            </a:pPr>
            <a:r>
              <a:rPr lang="en-US" b="0" i="0" dirty="0">
                <a:solidFill>
                  <a:srgbClr val="000000"/>
                </a:solidFill>
                <a:effectLst/>
                <a:latin typeface="inter-regular"/>
              </a:rPr>
              <a:t>Video Analysis</a:t>
            </a:r>
          </a:p>
          <a:p>
            <a:pPr marL="285750" indent="-285750" algn="just">
              <a:buFont typeface="Arial" panose="020B0604020202020204" pitchFamily="34" charset="0"/>
              <a:buChar char="•"/>
            </a:pPr>
            <a:r>
              <a:rPr lang="en-US" b="0" i="0" dirty="0">
                <a:solidFill>
                  <a:srgbClr val="000000"/>
                </a:solidFill>
                <a:effectLst/>
                <a:latin typeface="inter-regular"/>
              </a:rPr>
              <a:t>NLP</a:t>
            </a:r>
          </a:p>
          <a:p>
            <a:pPr marL="285750" indent="-285750" algn="just">
              <a:buFont typeface="Arial" panose="020B0604020202020204" pitchFamily="34" charset="0"/>
              <a:buChar char="•"/>
            </a:pPr>
            <a:r>
              <a:rPr lang="en-US" b="0" i="0" dirty="0">
                <a:solidFill>
                  <a:srgbClr val="000000"/>
                </a:solidFill>
                <a:effectLst/>
                <a:latin typeface="inter-regular"/>
              </a:rPr>
              <a:t>Anomaly Detection</a:t>
            </a:r>
          </a:p>
          <a:p>
            <a:pPr marL="285750" indent="-285750" algn="just">
              <a:buFont typeface="Arial" panose="020B0604020202020204" pitchFamily="34" charset="0"/>
              <a:buChar char="•"/>
            </a:pPr>
            <a:r>
              <a:rPr lang="en-US" b="0" i="0" dirty="0">
                <a:solidFill>
                  <a:srgbClr val="000000"/>
                </a:solidFill>
                <a:effectLst/>
                <a:latin typeface="inter-regular"/>
              </a:rPr>
              <a:t>Drug Discovery</a:t>
            </a:r>
          </a:p>
          <a:p>
            <a:pPr marL="285750" indent="-285750" algn="just">
              <a:buFont typeface="Arial" panose="020B0604020202020204" pitchFamily="34" charset="0"/>
              <a:buChar char="•"/>
            </a:pPr>
            <a:r>
              <a:rPr lang="en-US" b="0" i="0" dirty="0">
                <a:solidFill>
                  <a:srgbClr val="000000"/>
                </a:solidFill>
                <a:effectLst/>
                <a:latin typeface="inter-regular"/>
              </a:rPr>
              <a:t>Checkers Game</a:t>
            </a:r>
          </a:p>
          <a:p>
            <a:pPr marL="285750" indent="-285750" algn="just">
              <a:buFont typeface="Arial" panose="020B0604020202020204" pitchFamily="34" charset="0"/>
              <a:buChar char="•"/>
            </a:pPr>
            <a:r>
              <a:rPr lang="en-US" b="0" i="0" dirty="0">
                <a:solidFill>
                  <a:srgbClr val="000000"/>
                </a:solidFill>
                <a:effectLst/>
                <a:latin typeface="inter-regular"/>
              </a:rPr>
              <a:t>Time Series Forecasting</a:t>
            </a:r>
          </a:p>
        </p:txBody>
      </p:sp>
      <p:pic>
        <p:nvPicPr>
          <p:cNvPr id="3074" name="Picture 2" descr="CNN for Deep Learning | Convolutional Neural Networks">
            <a:extLst>
              <a:ext uri="{FF2B5EF4-FFF2-40B4-BE49-F238E27FC236}">
                <a16:creationId xmlns:a16="http://schemas.microsoft.com/office/drawing/2014/main" id="{0A597260-7C1C-9C31-207B-7E7F8BED5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3429000"/>
            <a:ext cx="8115300" cy="305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99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A31E3-E6F0-73A3-8610-7E994F124DB4}"/>
              </a:ext>
            </a:extLst>
          </p:cNvPr>
          <p:cNvSpPr txBox="1">
            <a:spLocks/>
          </p:cNvSpPr>
          <p:nvPr/>
        </p:nvSpPr>
        <p:spPr>
          <a:xfrm>
            <a:off x="757875" y="100693"/>
            <a:ext cx="10974204" cy="925470"/>
          </a:xfrm>
          <a:prstGeom prst="rect">
            <a:avLst/>
          </a:prstGeom>
        </p:spPr>
        <p:txBody>
          <a:bodyPr>
            <a:normAutofit/>
          </a:bodyPr>
          <a:lstStyle>
            <a:lvl1pPr algn="l" defTabSz="914400" rtl="0" eaLnBrk="1" latinLnBrk="0" hangingPunct="1">
              <a:lnSpc>
                <a:spcPct val="90000"/>
              </a:lnSpc>
              <a:spcBef>
                <a:spcPct val="0"/>
              </a:spcBef>
              <a:buNone/>
              <a:defRPr sz="4000" kern="1200">
                <a:solidFill>
                  <a:schemeClr val="tx1"/>
                </a:solidFill>
                <a:latin typeface="Michelin Unit Titling Black" panose="02000000000000000000" pitchFamily="50" charset="0"/>
                <a:ea typeface="+mj-ea"/>
                <a:cs typeface="+mj-cs"/>
              </a:defRPr>
            </a:lvl1pPr>
          </a:lstStyle>
          <a:p>
            <a:pPr algn="ctr"/>
            <a:endParaRPr lang="en-US" sz="2000" b="1" i="1" cap="all" dirty="0">
              <a:solidFill>
                <a:srgbClr val="27509B"/>
              </a:solidFill>
              <a:latin typeface="Michelin SemiBold" panose="02000000000000000000" pitchFamily="50" charset="0"/>
            </a:endParaRPr>
          </a:p>
          <a:p>
            <a:r>
              <a:rPr lang="en-US" sz="2000" b="1" i="1" cap="all" dirty="0">
                <a:solidFill>
                  <a:schemeClr val="accent5">
                    <a:lumMod val="50000"/>
                  </a:schemeClr>
                </a:solidFill>
                <a:latin typeface="Michelin SemiBold" panose="02000000000000000000" pitchFamily="50" charset="0"/>
              </a:rPr>
              <a:t>TEXT MINING</a:t>
            </a:r>
          </a:p>
          <a:p>
            <a:endParaRPr lang="en-US" sz="2000" b="1" i="1" cap="all" dirty="0">
              <a:solidFill>
                <a:schemeClr val="accent5">
                  <a:lumMod val="50000"/>
                </a:schemeClr>
              </a:solidFill>
              <a:latin typeface="Michelin SemiBold" panose="02000000000000000000" pitchFamily="50" charset="0"/>
            </a:endParaRPr>
          </a:p>
        </p:txBody>
      </p:sp>
      <p:sp>
        <p:nvSpPr>
          <p:cNvPr id="4" name="TextBox 3">
            <a:extLst>
              <a:ext uri="{FF2B5EF4-FFF2-40B4-BE49-F238E27FC236}">
                <a16:creationId xmlns:a16="http://schemas.microsoft.com/office/drawing/2014/main" id="{B1C4CB08-BC8D-D0A5-0450-03EF6FB84D48}"/>
              </a:ext>
            </a:extLst>
          </p:cNvPr>
          <p:cNvSpPr txBox="1"/>
          <p:nvPr/>
        </p:nvSpPr>
        <p:spPr>
          <a:xfrm>
            <a:off x="459920" y="813477"/>
            <a:ext cx="11490341" cy="923330"/>
          </a:xfrm>
          <a:prstGeom prst="rect">
            <a:avLst/>
          </a:prstGeom>
          <a:noFill/>
        </p:spPr>
        <p:txBody>
          <a:bodyPr wrap="square">
            <a:spAutoFit/>
          </a:bodyPr>
          <a:lstStyle/>
          <a:p>
            <a:r>
              <a:rPr lang="en-US" dirty="0">
                <a:solidFill>
                  <a:srgbClr val="292929"/>
                </a:solidFill>
                <a:latin typeface="source-serif-pro"/>
              </a:rPr>
              <a:t>Text mining is the process of extracting information from text data.</a:t>
            </a:r>
          </a:p>
          <a:p>
            <a:r>
              <a:rPr lang="en-US" dirty="0">
                <a:solidFill>
                  <a:srgbClr val="292929"/>
                </a:solidFill>
                <a:latin typeface="source-serif-pro"/>
              </a:rPr>
              <a:t>It involves a variety of tasks such as text categorization, text clustering, concept/entity extraction, sentiment analysis, document summarization, and context-related modeling</a:t>
            </a:r>
            <a:endParaRPr lang="en-IN" dirty="0">
              <a:solidFill>
                <a:srgbClr val="292929"/>
              </a:solidFill>
              <a:latin typeface="source-serif-pro"/>
            </a:endParaRPr>
          </a:p>
        </p:txBody>
      </p:sp>
      <p:sp>
        <p:nvSpPr>
          <p:cNvPr id="6" name="TextBox 5">
            <a:extLst>
              <a:ext uri="{FF2B5EF4-FFF2-40B4-BE49-F238E27FC236}">
                <a16:creationId xmlns:a16="http://schemas.microsoft.com/office/drawing/2014/main" id="{D0954EB7-5EBC-BA0C-1EAF-F598355EEF59}"/>
              </a:ext>
            </a:extLst>
          </p:cNvPr>
          <p:cNvSpPr txBox="1"/>
          <p:nvPr/>
        </p:nvSpPr>
        <p:spPr>
          <a:xfrm>
            <a:off x="459920" y="2008157"/>
            <a:ext cx="9112469" cy="1200329"/>
          </a:xfrm>
          <a:prstGeom prst="rect">
            <a:avLst/>
          </a:prstGeom>
          <a:noFill/>
        </p:spPr>
        <p:txBody>
          <a:bodyPr wrap="square">
            <a:spAutoFit/>
          </a:bodyPr>
          <a:lstStyle/>
          <a:p>
            <a:pPr algn="l" fontAlgn="base"/>
            <a:r>
              <a:rPr lang="en-US" b="1" dirty="0">
                <a:solidFill>
                  <a:srgbClr val="0A0C10"/>
                </a:solidFill>
                <a:effectLst>
                  <a:outerShdw blurRad="38100" dist="38100" dir="2700000" algn="tl">
                    <a:srgbClr val="000000">
                      <a:alpha val="43137"/>
                    </a:srgbClr>
                  </a:outerShdw>
                </a:effectLst>
                <a:latin typeface="-apple-system"/>
              </a:rPr>
              <a:t>ADVANTAGES:</a:t>
            </a:r>
            <a:endParaRPr lang="en-US" b="1" i="0" dirty="0">
              <a:solidFill>
                <a:srgbClr val="0A0C10"/>
              </a:solidFill>
              <a:effectLst>
                <a:outerShdw blurRad="38100" dist="38100" dir="2700000" algn="tl">
                  <a:srgbClr val="000000">
                    <a:alpha val="43137"/>
                  </a:srgbClr>
                </a:outerShdw>
              </a:effectLst>
              <a:latin typeface="-apple-system"/>
            </a:endParaRPr>
          </a:p>
          <a:p>
            <a:pPr marL="285750" indent="-285750" algn="l" fontAlgn="base">
              <a:buFont typeface="Arial" panose="020B0604020202020204" pitchFamily="34" charset="0"/>
              <a:buChar char="•"/>
            </a:pPr>
            <a:r>
              <a:rPr lang="en-US" b="0" i="0" dirty="0">
                <a:solidFill>
                  <a:srgbClr val="0A0C10"/>
                </a:solidFill>
                <a:effectLst/>
                <a:latin typeface="-apple-system"/>
              </a:rPr>
              <a:t>It structures unstructured data for further analysis.</a:t>
            </a:r>
          </a:p>
          <a:p>
            <a:pPr marL="285750" indent="-285750" algn="l" fontAlgn="base">
              <a:buFont typeface="Arial" panose="020B0604020202020204" pitchFamily="34" charset="0"/>
              <a:buChar char="•"/>
            </a:pPr>
            <a:r>
              <a:rPr lang="en-US" b="0" i="0" dirty="0">
                <a:solidFill>
                  <a:srgbClr val="0A0C10"/>
                </a:solidFill>
                <a:effectLst/>
                <a:latin typeface="-apple-system"/>
              </a:rPr>
              <a:t>It reduces the risks of false insights.</a:t>
            </a:r>
          </a:p>
          <a:p>
            <a:pPr marL="285750" indent="-285750" algn="l" fontAlgn="base">
              <a:buFont typeface="Arial" panose="020B0604020202020204" pitchFamily="34" charset="0"/>
              <a:buChar char="•"/>
            </a:pPr>
            <a:r>
              <a:rPr lang="en-US" b="0" i="0" dirty="0">
                <a:solidFill>
                  <a:srgbClr val="0A0C10"/>
                </a:solidFill>
                <a:effectLst/>
                <a:latin typeface="-apple-system"/>
              </a:rPr>
              <a:t>It creates informative decisions, automotive processes, and research analysis.</a:t>
            </a:r>
          </a:p>
        </p:txBody>
      </p:sp>
      <p:sp>
        <p:nvSpPr>
          <p:cNvPr id="7" name="Rectangle: Rounded Corners 6">
            <a:extLst>
              <a:ext uri="{FF2B5EF4-FFF2-40B4-BE49-F238E27FC236}">
                <a16:creationId xmlns:a16="http://schemas.microsoft.com/office/drawing/2014/main" id="{34DD3F09-B049-CC56-9B31-8AEDF229B63E}"/>
              </a:ext>
            </a:extLst>
          </p:cNvPr>
          <p:cNvSpPr/>
          <p:nvPr/>
        </p:nvSpPr>
        <p:spPr>
          <a:xfrm>
            <a:off x="459920" y="813477"/>
            <a:ext cx="11154011" cy="923330"/>
          </a:xfrm>
          <a:prstGeom prst="roundRect">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text mining">
            <a:extLst>
              <a:ext uri="{FF2B5EF4-FFF2-40B4-BE49-F238E27FC236}">
                <a16:creationId xmlns:a16="http://schemas.microsoft.com/office/drawing/2014/main" id="{11225F7A-E1DB-48C2-C83B-C900FF478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6833" y="4033619"/>
            <a:ext cx="7534966" cy="2175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379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2EA8C5-163C-62D3-9AA1-1A3E905C4B82}"/>
              </a:ext>
            </a:extLst>
          </p:cNvPr>
          <p:cNvSpPr txBox="1"/>
          <p:nvPr/>
        </p:nvSpPr>
        <p:spPr>
          <a:xfrm>
            <a:off x="504496" y="590216"/>
            <a:ext cx="11151475" cy="2031325"/>
          </a:xfrm>
          <a:prstGeom prst="rect">
            <a:avLst/>
          </a:prstGeom>
          <a:noFill/>
        </p:spPr>
        <p:txBody>
          <a:bodyPr wrap="square">
            <a:spAutoFit/>
          </a:bodyPr>
          <a:lstStyle/>
          <a:p>
            <a:pPr fontAlgn="base"/>
            <a:r>
              <a:rPr lang="en-US" b="1" dirty="0">
                <a:solidFill>
                  <a:srgbClr val="0A0C10"/>
                </a:solidFill>
                <a:effectLst>
                  <a:outerShdw blurRad="38100" dist="38100" dir="2700000" algn="tl">
                    <a:srgbClr val="000000">
                      <a:alpha val="43137"/>
                    </a:srgbClr>
                  </a:outerShdw>
                </a:effectLst>
                <a:latin typeface="-apple-system"/>
              </a:rPr>
              <a:t>APPLICATIONS OF TEXT MINING</a:t>
            </a:r>
          </a:p>
          <a:p>
            <a:pPr marL="285750" indent="-285750" algn="l" fontAlgn="base">
              <a:buFont typeface="Arial" panose="020B0604020202020204" pitchFamily="34" charset="0"/>
              <a:buChar char="•"/>
            </a:pPr>
            <a:r>
              <a:rPr lang="en-US" b="1" i="0" dirty="0">
                <a:solidFill>
                  <a:srgbClr val="0A0C10"/>
                </a:solidFill>
                <a:effectLst/>
                <a:latin typeface="-apple-system"/>
              </a:rPr>
              <a:t>Information Extraction</a:t>
            </a:r>
            <a:r>
              <a:rPr lang="en-US" b="0" i="0" dirty="0">
                <a:solidFill>
                  <a:srgbClr val="0A0C10"/>
                </a:solidFill>
                <a:effectLst/>
                <a:latin typeface="-apple-system"/>
              </a:rPr>
              <a:t>: Identification and extraction of relevant facts from the unstructured data.</a:t>
            </a:r>
          </a:p>
          <a:p>
            <a:pPr marL="285750" indent="-285750" algn="l" fontAlgn="base">
              <a:buFont typeface="Arial" panose="020B0604020202020204" pitchFamily="34" charset="0"/>
              <a:buChar char="•"/>
            </a:pPr>
            <a:r>
              <a:rPr lang="en-US" b="1" i="0" dirty="0">
                <a:solidFill>
                  <a:srgbClr val="0A0C10"/>
                </a:solidFill>
                <a:effectLst/>
                <a:latin typeface="-apple-system"/>
              </a:rPr>
              <a:t>Document classifications and clustering</a:t>
            </a:r>
            <a:r>
              <a:rPr lang="en-US" b="0" i="0" dirty="0">
                <a:solidFill>
                  <a:srgbClr val="0A0C10"/>
                </a:solidFill>
                <a:effectLst/>
                <a:latin typeface="-apple-system"/>
              </a:rPr>
              <a:t>: It aims for grouping and categorizes terms by classifications and clustering methods.</a:t>
            </a:r>
          </a:p>
          <a:p>
            <a:pPr marL="285750" indent="-285750" algn="l" fontAlgn="base">
              <a:buFont typeface="Arial" panose="020B0604020202020204" pitchFamily="34" charset="0"/>
              <a:buChar char="•"/>
            </a:pPr>
            <a:r>
              <a:rPr lang="en-US" b="1" i="0" dirty="0">
                <a:solidFill>
                  <a:srgbClr val="0A0C10"/>
                </a:solidFill>
                <a:effectLst/>
                <a:latin typeface="-apple-system"/>
              </a:rPr>
              <a:t>Information Retrieval</a:t>
            </a:r>
            <a:r>
              <a:rPr lang="en-US" b="0" i="0" dirty="0">
                <a:solidFill>
                  <a:srgbClr val="0A0C10"/>
                </a:solidFill>
                <a:effectLst/>
                <a:latin typeface="-apple-system"/>
              </a:rPr>
              <a:t>: It aims at stringifying the retrieved text in a text document.</a:t>
            </a:r>
          </a:p>
          <a:p>
            <a:pPr marL="285750" indent="-285750" algn="l" fontAlgn="base">
              <a:buFont typeface="Arial" panose="020B0604020202020204" pitchFamily="34" charset="0"/>
              <a:buChar char="•"/>
            </a:pPr>
            <a:r>
              <a:rPr lang="en-US" b="1" i="0" u="none" strike="noStrike" dirty="0">
                <a:solidFill>
                  <a:srgbClr val="0A0C10"/>
                </a:solidFill>
                <a:effectLst/>
                <a:latin typeface="-apple-system"/>
              </a:rPr>
              <a:t>Natural Language Processing</a:t>
            </a:r>
            <a:r>
              <a:rPr lang="en-US" b="1" i="0" dirty="0">
                <a:solidFill>
                  <a:srgbClr val="0A0C10"/>
                </a:solidFill>
                <a:effectLst/>
                <a:latin typeface="-apple-system"/>
              </a:rPr>
              <a:t>:</a:t>
            </a:r>
            <a:r>
              <a:rPr lang="en-US" b="0" i="0" dirty="0">
                <a:solidFill>
                  <a:srgbClr val="0A0C10"/>
                </a:solidFill>
                <a:effectLst/>
                <a:latin typeface="-apple-system"/>
              </a:rPr>
              <a:t> It is a major part of text mining. Here we use different computational tasks for understanding and analyzing the unstructured data from a text file.</a:t>
            </a:r>
          </a:p>
        </p:txBody>
      </p:sp>
      <p:pic>
        <p:nvPicPr>
          <p:cNvPr id="2050" name="Picture 2" descr="text mining areas">
            <a:extLst>
              <a:ext uri="{FF2B5EF4-FFF2-40B4-BE49-F238E27FC236}">
                <a16:creationId xmlns:a16="http://schemas.microsoft.com/office/drawing/2014/main" id="{AF888482-8AB3-3D83-06F3-9382897DCD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122"/>
          <a:stretch/>
        </p:blipFill>
        <p:spPr bwMode="auto">
          <a:xfrm>
            <a:off x="2967831" y="2653071"/>
            <a:ext cx="5398403" cy="4115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851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1837</Words>
  <Application>Microsoft Office PowerPoint</Application>
  <PresentationFormat>Widescreen</PresentationFormat>
  <Paragraphs>187</Paragraphs>
  <Slides>16</Slides>
  <Notes>5</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16</vt:i4>
      </vt:variant>
    </vt:vector>
  </HeadingPairs>
  <TitlesOfParts>
    <vt:vector size="35" baseType="lpstr">
      <vt:lpstr>-apple-system</vt:lpstr>
      <vt:lpstr>Aptos</vt:lpstr>
      <vt:lpstr>Aptos Display</vt:lpstr>
      <vt:lpstr>Arial</vt:lpstr>
      <vt:lpstr>Calibri</vt:lpstr>
      <vt:lpstr>Calibri Light</vt:lpstr>
      <vt:lpstr>inter-bold</vt:lpstr>
      <vt:lpstr>inter-regular</vt:lpstr>
      <vt:lpstr>Lato</vt:lpstr>
      <vt:lpstr>Michelin SemiBold</vt:lpstr>
      <vt:lpstr>Neue Haas Grotesk Text Pro</vt:lpstr>
      <vt:lpstr>Nunito</vt:lpstr>
      <vt:lpstr>source-serif-pro</vt:lpstr>
      <vt:lpstr>unset</vt:lpstr>
      <vt:lpstr>urw-din</vt:lpstr>
      <vt:lpstr>Wingdings</vt:lpstr>
      <vt:lpstr>YouTube Sans</vt:lpstr>
      <vt:lpstr>Office Theme</vt:lpstr>
      <vt:lpstr>1_Office Theme</vt:lpstr>
      <vt:lpstr>Deep Learning Fundamentals</vt:lpstr>
      <vt:lpstr>What is the difference between Artificial Intelligence, Machine Learning and Deep Learning?</vt:lpstr>
      <vt:lpstr>PowerPoint Presentation</vt:lpstr>
      <vt:lpstr>PowerPoint Presentation</vt:lpstr>
      <vt:lpstr>PowerPoint Presentation</vt:lpstr>
      <vt:lpstr>Rule of Thumb</vt:lpstr>
      <vt:lpstr>Quick Comparison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Ankit Mirajkar</dc:creator>
  <cp:lastModifiedBy>Ankit Mirajkar</cp:lastModifiedBy>
  <cp:revision>32</cp:revision>
  <dcterms:created xsi:type="dcterms:W3CDTF">2023-06-29T13:30:41Z</dcterms:created>
  <dcterms:modified xsi:type="dcterms:W3CDTF">2026-03-30T08:22:28Z</dcterms:modified>
</cp:coreProperties>
</file>