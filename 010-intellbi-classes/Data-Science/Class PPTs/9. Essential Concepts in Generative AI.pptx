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1" r:id="rId2"/>
    <p:sldId id="2611" r:id="rId3"/>
    <p:sldId id="2612" r:id="rId4"/>
    <p:sldId id="2613" r:id="rId5"/>
    <p:sldId id="2610" r:id="rId6"/>
    <p:sldId id="2587" r:id="rId7"/>
    <p:sldId id="2563" r:id="rId8"/>
    <p:sldId id="2594" r:id="rId9"/>
    <p:sldId id="2564" r:id="rId10"/>
    <p:sldId id="2595" r:id="rId11"/>
    <p:sldId id="2565" r:id="rId12"/>
    <p:sldId id="2596" r:id="rId13"/>
    <p:sldId id="2566" r:id="rId14"/>
    <p:sldId id="2597" r:id="rId15"/>
    <p:sldId id="2590" r:id="rId16"/>
    <p:sldId id="2598" r:id="rId17"/>
    <p:sldId id="2591" r:id="rId18"/>
    <p:sldId id="2599" r:id="rId19"/>
    <p:sldId id="2593" r:id="rId20"/>
    <p:sldId id="2568" r:id="rId21"/>
    <p:sldId id="2600" r:id="rId22"/>
    <p:sldId id="2569" r:id="rId23"/>
    <p:sldId id="2601" r:id="rId24"/>
    <p:sldId id="2570" r:id="rId25"/>
    <p:sldId id="2571" r:id="rId26"/>
    <p:sldId id="2602" r:id="rId27"/>
    <p:sldId id="2572" r:id="rId28"/>
    <p:sldId id="2603" r:id="rId29"/>
    <p:sldId id="2573" r:id="rId30"/>
    <p:sldId id="2604" r:id="rId31"/>
    <p:sldId id="2574" r:id="rId32"/>
    <p:sldId id="2605" r:id="rId33"/>
    <p:sldId id="2575" r:id="rId34"/>
    <p:sldId id="2606" r:id="rId35"/>
    <p:sldId id="2576" r:id="rId36"/>
    <p:sldId id="2582" r:id="rId37"/>
    <p:sldId id="2607" r:id="rId38"/>
    <p:sldId id="2583" r:id="rId39"/>
    <p:sldId id="2608" r:id="rId40"/>
    <p:sldId id="2584" r:id="rId41"/>
    <p:sldId id="2609" r:id="rId42"/>
    <p:sldId id="2585" r:id="rId43"/>
    <p:sldId id="258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ssential Concepts in Generative AI" id="{D090CAE5-81D7-4F2C-91B8-846DFC692795}">
          <p14:sldIdLst>
            <p14:sldId id="2561"/>
            <p14:sldId id="2611"/>
            <p14:sldId id="2612"/>
            <p14:sldId id="2613"/>
            <p14:sldId id="2610"/>
            <p14:sldId id="2587"/>
          </p14:sldIdLst>
        </p14:section>
        <p14:section name="Core Concepts in Generative AI" id="{0F3DE3A6-EE62-43CF-9AC8-72B7500D114B}">
          <p14:sldIdLst>
            <p14:sldId id="2563"/>
            <p14:sldId id="2594"/>
            <p14:sldId id="2564"/>
            <p14:sldId id="2595"/>
            <p14:sldId id="2565"/>
            <p14:sldId id="2596"/>
            <p14:sldId id="2566"/>
            <p14:sldId id="2597"/>
            <p14:sldId id="2590"/>
            <p14:sldId id="2598"/>
            <p14:sldId id="2591"/>
            <p14:sldId id="2599"/>
            <p14:sldId id="2593"/>
          </p14:sldIdLst>
        </p14:section>
        <p14:section name="Embeddings and Chain of Thought Reasoning" id="{680C255A-9A55-4D6C-ACCE-9FFF6810426F}">
          <p14:sldIdLst>
            <p14:sldId id="2568"/>
            <p14:sldId id="2600"/>
            <p14:sldId id="2569"/>
            <p14:sldId id="2601"/>
            <p14:sldId id="2570"/>
          </p14:sldIdLst>
        </p14:section>
        <p14:section name="Retrieval &amp; Knowledge Augmentation Concepts" id="{55BB01C3-0D62-40EC-B6ED-B85339A563A9}">
          <p14:sldIdLst>
            <p14:sldId id="2571"/>
            <p14:sldId id="2602"/>
            <p14:sldId id="2572"/>
            <p14:sldId id="2603"/>
            <p14:sldId id="2573"/>
            <p14:sldId id="2604"/>
            <p14:sldId id="2574"/>
            <p14:sldId id="2605"/>
            <p14:sldId id="2575"/>
            <p14:sldId id="2606"/>
            <p14:sldId id="2576"/>
          </p14:sldIdLst>
        </p14:section>
        <p14:section name="Evaluation &amp; Safety Concepts" id="{5412AA05-DE62-463C-9639-EC646AA395EB}">
          <p14:sldIdLst>
            <p14:sldId id="2582"/>
            <p14:sldId id="2607"/>
            <p14:sldId id="2583"/>
            <p14:sldId id="2608"/>
            <p14:sldId id="2584"/>
            <p14:sldId id="2609"/>
            <p14:sldId id="2585"/>
          </p14:sldIdLst>
        </p14:section>
        <p14:section name="Conclusion" id="{3FF1AE22-5BC0-450A-B2B4-F3BB3F6CE762}">
          <p14:sldIdLst>
            <p14:sldId id="25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sorterViewPr>
    <p:cViewPr>
      <p:scale>
        <a:sx n="100" d="100"/>
        <a:sy n="100" d="100"/>
      </p:scale>
      <p:origin x="0" y="-1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37112A-FD42-41BE-BFF3-C799E5C07336}"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0FC33115-258A-4870-9222-3050F2333679}">
      <dgm:prSet custT="1"/>
      <dgm:spPr/>
      <dgm:t>
        <a:bodyPr/>
        <a:lstStyle/>
        <a:p>
          <a:pPr>
            <a:lnSpc>
              <a:spcPct val="100000"/>
            </a:lnSpc>
            <a:defRPr b="1"/>
          </a:pPr>
          <a:r>
            <a:rPr lang="en-US" sz="2000"/>
            <a:t>Definition of Reranking</a:t>
          </a:r>
        </a:p>
      </dgm:t>
    </dgm:pt>
    <dgm:pt modelId="{CFE4C44C-ACA0-4083-80C6-0A263B054AB7}" type="parTrans" cxnId="{D5E92A70-8A14-4A7A-8A0B-D9EACFDE9371}">
      <dgm:prSet/>
      <dgm:spPr/>
      <dgm:t>
        <a:bodyPr/>
        <a:lstStyle/>
        <a:p>
          <a:endParaRPr lang="en-US"/>
        </a:p>
      </dgm:t>
    </dgm:pt>
    <dgm:pt modelId="{9F0BEB10-2EF8-490E-846F-3862357BCE29}" type="sibTrans" cxnId="{D5E92A70-8A14-4A7A-8A0B-D9EACFDE9371}">
      <dgm:prSet/>
      <dgm:spPr/>
      <dgm:t>
        <a:bodyPr/>
        <a:lstStyle/>
        <a:p>
          <a:pPr>
            <a:lnSpc>
              <a:spcPct val="100000"/>
            </a:lnSpc>
            <a:defRPr b="1"/>
          </a:pPr>
          <a:endParaRPr lang="en-US"/>
        </a:p>
      </dgm:t>
    </dgm:pt>
    <dgm:pt modelId="{48411176-C0D9-49B4-A1BE-26E38EEFCBED}">
      <dgm:prSet custT="1"/>
      <dgm:spPr/>
      <dgm:t>
        <a:bodyPr/>
        <a:lstStyle/>
        <a:p>
          <a:pPr>
            <a:lnSpc>
              <a:spcPct val="100000"/>
            </a:lnSpc>
          </a:pPr>
          <a:r>
            <a:rPr lang="en-US" sz="1600" dirty="0"/>
            <a:t>Reranking reorders search results to prioritize the most relevant information at the top.</a:t>
          </a:r>
        </a:p>
      </dgm:t>
    </dgm:pt>
    <dgm:pt modelId="{9459D691-3A5C-4C1F-A0EC-DE9E4D76DEE9}" type="parTrans" cxnId="{F07538E4-6A3C-4FCE-BDFC-F6A9C9656439}">
      <dgm:prSet/>
      <dgm:spPr/>
      <dgm:t>
        <a:bodyPr/>
        <a:lstStyle/>
        <a:p>
          <a:endParaRPr lang="en-US"/>
        </a:p>
      </dgm:t>
    </dgm:pt>
    <dgm:pt modelId="{80B30351-6AA7-4618-A3CA-D7DD11453257}" type="sibTrans" cxnId="{F07538E4-6A3C-4FCE-BDFC-F6A9C9656439}">
      <dgm:prSet/>
      <dgm:spPr/>
      <dgm:t>
        <a:bodyPr/>
        <a:lstStyle/>
        <a:p>
          <a:endParaRPr lang="en-US"/>
        </a:p>
      </dgm:t>
    </dgm:pt>
    <dgm:pt modelId="{A0CD07D1-94B5-48CD-B3CF-0E158EC04927}">
      <dgm:prSet custT="1"/>
      <dgm:spPr/>
      <dgm:t>
        <a:bodyPr/>
        <a:lstStyle/>
        <a:p>
          <a:pPr>
            <a:lnSpc>
              <a:spcPct val="100000"/>
            </a:lnSpc>
            <a:defRPr b="1"/>
          </a:pPr>
          <a:r>
            <a:rPr lang="en-US" sz="2000" dirty="0"/>
            <a:t>Role in Language Models</a:t>
          </a:r>
        </a:p>
      </dgm:t>
    </dgm:pt>
    <dgm:pt modelId="{48258B71-34D7-4EFA-B53D-4646D23B5292}" type="parTrans" cxnId="{5B4B1B9A-A197-474B-9282-FCA1F844B9FE}">
      <dgm:prSet/>
      <dgm:spPr/>
      <dgm:t>
        <a:bodyPr/>
        <a:lstStyle/>
        <a:p>
          <a:endParaRPr lang="en-US"/>
        </a:p>
      </dgm:t>
    </dgm:pt>
    <dgm:pt modelId="{38A07FE1-8D8E-43B4-9C8C-799AF351828B}" type="sibTrans" cxnId="{5B4B1B9A-A197-474B-9282-FCA1F844B9FE}">
      <dgm:prSet/>
      <dgm:spPr/>
      <dgm:t>
        <a:bodyPr/>
        <a:lstStyle/>
        <a:p>
          <a:pPr>
            <a:lnSpc>
              <a:spcPct val="100000"/>
            </a:lnSpc>
            <a:defRPr b="1"/>
          </a:pPr>
          <a:endParaRPr lang="en-US"/>
        </a:p>
      </dgm:t>
    </dgm:pt>
    <dgm:pt modelId="{E6373F8C-2772-48EB-A0A8-0380C4E3ECA5}">
      <dgm:prSet custT="1"/>
      <dgm:spPr/>
      <dgm:t>
        <a:bodyPr/>
        <a:lstStyle/>
        <a:p>
          <a:pPr>
            <a:lnSpc>
              <a:spcPct val="100000"/>
            </a:lnSpc>
          </a:pPr>
          <a:r>
            <a:rPr lang="en-US" sz="1600"/>
            <a:t>Reranking enhances the input quality for language models, improving their response accuracy.</a:t>
          </a:r>
        </a:p>
      </dgm:t>
    </dgm:pt>
    <dgm:pt modelId="{BCBD5D5E-B2A1-442D-A200-5217DEF09B6A}" type="parTrans" cxnId="{FEE13AD8-6D77-4FC6-AAD6-1FD7AF949ECD}">
      <dgm:prSet/>
      <dgm:spPr/>
      <dgm:t>
        <a:bodyPr/>
        <a:lstStyle/>
        <a:p>
          <a:endParaRPr lang="en-US"/>
        </a:p>
      </dgm:t>
    </dgm:pt>
    <dgm:pt modelId="{7C92B559-4557-4057-B237-515F899DD675}" type="sibTrans" cxnId="{FEE13AD8-6D77-4FC6-AAD6-1FD7AF949ECD}">
      <dgm:prSet/>
      <dgm:spPr/>
      <dgm:t>
        <a:bodyPr/>
        <a:lstStyle/>
        <a:p>
          <a:endParaRPr lang="en-US"/>
        </a:p>
      </dgm:t>
    </dgm:pt>
    <dgm:pt modelId="{BAE09BD8-3163-400C-B070-849952EDC249}">
      <dgm:prSet custT="1"/>
      <dgm:spPr/>
      <dgm:t>
        <a:bodyPr/>
        <a:lstStyle/>
        <a:p>
          <a:pPr>
            <a:lnSpc>
              <a:spcPct val="100000"/>
            </a:lnSpc>
            <a:defRPr b="1"/>
          </a:pPr>
          <a:r>
            <a:rPr lang="en-US" sz="2000"/>
            <a:t>Practical Use Case</a:t>
          </a:r>
        </a:p>
      </dgm:t>
    </dgm:pt>
    <dgm:pt modelId="{AFB7E62B-7287-4627-BA29-B8AFE8E21114}" type="parTrans" cxnId="{48A0C353-A9DB-48B7-A514-4F5E1A41AD85}">
      <dgm:prSet/>
      <dgm:spPr/>
      <dgm:t>
        <a:bodyPr/>
        <a:lstStyle/>
        <a:p>
          <a:endParaRPr lang="en-US"/>
        </a:p>
      </dgm:t>
    </dgm:pt>
    <dgm:pt modelId="{2C887578-0FD7-4DA3-9B3F-EB62C679F8C5}" type="sibTrans" cxnId="{48A0C353-A9DB-48B7-A514-4F5E1A41AD85}">
      <dgm:prSet/>
      <dgm:spPr/>
      <dgm:t>
        <a:bodyPr/>
        <a:lstStyle/>
        <a:p>
          <a:endParaRPr lang="en-US"/>
        </a:p>
      </dgm:t>
    </dgm:pt>
    <dgm:pt modelId="{94E66A0F-F035-4C29-8409-C3F56E873208}">
      <dgm:prSet custT="1"/>
      <dgm:spPr/>
      <dgm:t>
        <a:bodyPr/>
        <a:lstStyle/>
        <a:p>
          <a:pPr>
            <a:lnSpc>
              <a:spcPct val="100000"/>
            </a:lnSpc>
          </a:pPr>
          <a:r>
            <a:rPr lang="en-US" sz="1600" dirty="0"/>
            <a:t>Research assistants use reranking to highlight the most relevant academic papers effectively.</a:t>
          </a:r>
        </a:p>
      </dgm:t>
    </dgm:pt>
    <dgm:pt modelId="{DC8E4995-9197-477D-A5C6-F5DE86FE41BA}" type="parTrans" cxnId="{51914AD0-995B-4334-B9BC-6C51B3E23611}">
      <dgm:prSet/>
      <dgm:spPr/>
      <dgm:t>
        <a:bodyPr/>
        <a:lstStyle/>
        <a:p>
          <a:endParaRPr lang="en-US"/>
        </a:p>
      </dgm:t>
    </dgm:pt>
    <dgm:pt modelId="{01171DB8-B50A-4E86-BA0C-CA3FCD43EC9E}" type="sibTrans" cxnId="{51914AD0-995B-4334-B9BC-6C51B3E23611}">
      <dgm:prSet/>
      <dgm:spPr/>
      <dgm:t>
        <a:bodyPr/>
        <a:lstStyle/>
        <a:p>
          <a:endParaRPr lang="en-US"/>
        </a:p>
      </dgm:t>
    </dgm:pt>
    <dgm:pt modelId="{5C3F5A14-91BB-4CB2-9170-AB58521A07D1}" type="pres">
      <dgm:prSet presAssocID="{2E37112A-FD42-41BE-BFF3-C799E5C07336}" presName="Root" presStyleCnt="0">
        <dgm:presLayoutVars>
          <dgm:dir/>
          <dgm:resizeHandles val="exact"/>
        </dgm:presLayoutVars>
      </dgm:prSet>
      <dgm:spPr/>
    </dgm:pt>
    <dgm:pt modelId="{1FAA9EE6-C3BF-4ECC-A09B-44AF19A9E929}" type="pres">
      <dgm:prSet presAssocID="{0FC33115-258A-4870-9222-3050F2333679}" presName="Composite" presStyleCnt="0"/>
      <dgm:spPr/>
    </dgm:pt>
    <dgm:pt modelId="{985DCFA9-A14F-4095-90CC-FD59A6058DFD}" type="pres">
      <dgm:prSet presAssocID="{0FC33115-258A-4870-9222-3050F233367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3249" r="4" b="4"/>
          <a:stretch/>
        </a:blipFill>
      </dgm:spPr>
      <dgm:extLst>
        <a:ext uri="{E40237B7-FDA0-4F09-8148-C483321AD2D9}">
          <dgm14:cNvPr xmlns:dgm14="http://schemas.microsoft.com/office/drawing/2010/diagram" id="0" name="" descr="Business and technology concepts. Round magnifying glass on laptop computer keyboard.  Various concepts:  online security, searching, discovery, analyzing, education, research, survelliance, and investigation."/>
        </a:ext>
      </dgm:extLst>
    </dgm:pt>
    <dgm:pt modelId="{B5B7CEBF-9B68-4F40-880A-AE3C32EB0B44}" type="pres">
      <dgm:prSet presAssocID="{0FC33115-258A-4870-9222-3050F2333679}" presName="Subtitle" presStyleLbl="revTx" presStyleIdx="0" presStyleCnt="6">
        <dgm:presLayoutVars>
          <dgm:chMax val="0"/>
          <dgm:bulletEnabled/>
        </dgm:presLayoutVars>
      </dgm:prSet>
      <dgm:spPr/>
    </dgm:pt>
    <dgm:pt modelId="{0A4C7043-FDD4-42AF-9216-981A28608F1D}" type="pres">
      <dgm:prSet presAssocID="{0FC33115-258A-4870-9222-3050F2333679}" presName="Description" presStyleLbl="revTx" presStyleIdx="1" presStyleCnt="6">
        <dgm:presLayoutVars>
          <dgm:bulletEnabled/>
        </dgm:presLayoutVars>
      </dgm:prSet>
      <dgm:spPr/>
    </dgm:pt>
    <dgm:pt modelId="{00EC8F1F-12AA-40A6-A6AE-6289C929EB9F}" type="pres">
      <dgm:prSet presAssocID="{9F0BEB10-2EF8-490E-846F-3862357BCE29}" presName="sibTrans" presStyleLbl="sibTrans2D1" presStyleIdx="0" presStyleCnt="0"/>
      <dgm:spPr/>
    </dgm:pt>
    <dgm:pt modelId="{A89A3C4D-E811-47E3-B434-E111D60736B3}" type="pres">
      <dgm:prSet presAssocID="{A0CD07D1-94B5-48CD-B3CF-0E158EC04927}" presName="Composite" presStyleCnt="0"/>
      <dgm:spPr/>
    </dgm:pt>
    <dgm:pt modelId="{C3443128-E1B4-405D-93F3-E41707D60D2E}" type="pres">
      <dgm:prSet presAssocID="{A0CD07D1-94B5-48CD-B3CF-0E158EC0492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24997" b="-4"/>
          <a:stretch/>
        </a:blipFill>
      </dgm:spPr>
      <dgm:extLst>
        <a:ext uri="{E40237B7-FDA0-4F09-8148-C483321AD2D9}">
          <dgm14:cNvPr xmlns:dgm14="http://schemas.microsoft.com/office/drawing/2010/diagram" id="0" name="" descr="Digital display with binary code, 3d generated image"/>
        </a:ext>
      </dgm:extLst>
    </dgm:pt>
    <dgm:pt modelId="{20897F57-CAF7-46B4-BE00-6B56D0AE9106}" type="pres">
      <dgm:prSet presAssocID="{A0CD07D1-94B5-48CD-B3CF-0E158EC04927}" presName="Subtitle" presStyleLbl="revTx" presStyleIdx="2" presStyleCnt="6">
        <dgm:presLayoutVars>
          <dgm:chMax val="0"/>
          <dgm:bulletEnabled/>
        </dgm:presLayoutVars>
      </dgm:prSet>
      <dgm:spPr/>
    </dgm:pt>
    <dgm:pt modelId="{4997BBFD-56A8-4424-A531-7D4E6FBDDCAB}" type="pres">
      <dgm:prSet presAssocID="{A0CD07D1-94B5-48CD-B3CF-0E158EC04927}" presName="Description" presStyleLbl="revTx" presStyleIdx="3" presStyleCnt="6">
        <dgm:presLayoutVars>
          <dgm:bulletEnabled/>
        </dgm:presLayoutVars>
      </dgm:prSet>
      <dgm:spPr/>
    </dgm:pt>
    <dgm:pt modelId="{82416B88-0E0A-4241-961B-89B4E97CFB96}" type="pres">
      <dgm:prSet presAssocID="{38A07FE1-8D8E-43B4-9C8C-799AF351828B}" presName="sibTrans" presStyleLbl="sibTrans2D1" presStyleIdx="0" presStyleCnt="0"/>
      <dgm:spPr/>
    </dgm:pt>
    <dgm:pt modelId="{5B2B6783-ABBD-4A67-8E9B-34DC1972F216}" type="pres">
      <dgm:prSet presAssocID="{BAE09BD8-3163-400C-B070-849952EDC249}" presName="Composite" presStyleCnt="0"/>
      <dgm:spPr/>
    </dgm:pt>
    <dgm:pt modelId="{4F53BCBD-A492-469D-A285-0652EE8DC8A3}" type="pres">
      <dgm:prSet presAssocID="{BAE09BD8-3163-400C-B070-849952EDC24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1937" r="11814" b="1"/>
          <a:stretch/>
        </a:blipFill>
      </dgm:spPr>
      <dgm:extLst>
        <a:ext uri="{E40237B7-FDA0-4F09-8148-C483321AD2D9}">
          <dgm14:cNvPr xmlns:dgm14="http://schemas.microsoft.com/office/drawing/2010/diagram" id="0" name="" descr="Digital financial graph"/>
        </a:ext>
      </dgm:extLst>
    </dgm:pt>
    <dgm:pt modelId="{15AED45F-AAAB-4F7D-9740-F55B351AE9EB}" type="pres">
      <dgm:prSet presAssocID="{BAE09BD8-3163-400C-B070-849952EDC249}" presName="Subtitle" presStyleLbl="revTx" presStyleIdx="4" presStyleCnt="6">
        <dgm:presLayoutVars>
          <dgm:chMax val="0"/>
          <dgm:bulletEnabled/>
        </dgm:presLayoutVars>
      </dgm:prSet>
      <dgm:spPr/>
    </dgm:pt>
    <dgm:pt modelId="{84562636-6ACC-4BA6-BFD0-CB2B47AB8C69}" type="pres">
      <dgm:prSet presAssocID="{BAE09BD8-3163-400C-B070-849952EDC249}" presName="Description" presStyleLbl="revTx" presStyleIdx="5" presStyleCnt="6">
        <dgm:presLayoutVars>
          <dgm:bulletEnabled/>
        </dgm:presLayoutVars>
      </dgm:prSet>
      <dgm:spPr/>
    </dgm:pt>
  </dgm:ptLst>
  <dgm:cxnLst>
    <dgm:cxn modelId="{06E7580C-291A-4657-B21C-DAAD1BDEB63A}" type="presOf" srcId="{E6373F8C-2772-48EB-A0A8-0380C4E3ECA5}" destId="{4997BBFD-56A8-4424-A531-7D4E6FBDDCAB}" srcOrd="0" destOrd="0" presId="urn:microsoft.com/office/officeart/2024/3/layout/verticalVisualTextBlock1"/>
    <dgm:cxn modelId="{E4B47A3D-EEF4-4F9B-B7DB-115AC4B1AFA0}" type="presOf" srcId="{9F0BEB10-2EF8-490E-846F-3862357BCE29}" destId="{00EC8F1F-12AA-40A6-A6AE-6289C929EB9F}" srcOrd="0" destOrd="0" presId="urn:microsoft.com/office/officeart/2024/3/layout/verticalVisualTextBlock1"/>
    <dgm:cxn modelId="{5A000841-6A2C-42B7-AED7-CE7D28567F00}" type="presOf" srcId="{2E37112A-FD42-41BE-BFF3-C799E5C07336}" destId="{5C3F5A14-91BB-4CB2-9170-AB58521A07D1}" srcOrd="0" destOrd="0" presId="urn:microsoft.com/office/officeart/2024/3/layout/verticalVisualTextBlock1"/>
    <dgm:cxn modelId="{0141D06C-FB65-4066-A939-78195E1E31FE}" type="presOf" srcId="{A0CD07D1-94B5-48CD-B3CF-0E158EC04927}" destId="{20897F57-CAF7-46B4-BE00-6B56D0AE9106}" srcOrd="0" destOrd="0" presId="urn:microsoft.com/office/officeart/2024/3/layout/verticalVisualTextBlock1"/>
    <dgm:cxn modelId="{D5E92A70-8A14-4A7A-8A0B-D9EACFDE9371}" srcId="{2E37112A-FD42-41BE-BFF3-C799E5C07336}" destId="{0FC33115-258A-4870-9222-3050F2333679}" srcOrd="0" destOrd="0" parTransId="{CFE4C44C-ACA0-4083-80C6-0A263B054AB7}" sibTransId="{9F0BEB10-2EF8-490E-846F-3862357BCE29}"/>
    <dgm:cxn modelId="{48A0C353-A9DB-48B7-A514-4F5E1A41AD85}" srcId="{2E37112A-FD42-41BE-BFF3-C799E5C07336}" destId="{BAE09BD8-3163-400C-B070-849952EDC249}" srcOrd="2" destOrd="0" parTransId="{AFB7E62B-7287-4627-BA29-B8AFE8E21114}" sibTransId="{2C887578-0FD7-4DA3-9B3F-EB62C679F8C5}"/>
    <dgm:cxn modelId="{5B4B1B9A-A197-474B-9282-FCA1F844B9FE}" srcId="{2E37112A-FD42-41BE-BFF3-C799E5C07336}" destId="{A0CD07D1-94B5-48CD-B3CF-0E158EC04927}" srcOrd="1" destOrd="0" parTransId="{48258B71-34D7-4EFA-B53D-4646D23B5292}" sibTransId="{38A07FE1-8D8E-43B4-9C8C-799AF351828B}"/>
    <dgm:cxn modelId="{794C8AAE-22D5-4A82-A670-9AE62AC11B94}" type="presOf" srcId="{48411176-C0D9-49B4-A1BE-26E38EEFCBED}" destId="{0A4C7043-FDD4-42AF-9216-981A28608F1D}" srcOrd="0" destOrd="0" presId="urn:microsoft.com/office/officeart/2024/3/layout/verticalVisualTextBlock1"/>
    <dgm:cxn modelId="{D3E1ABB2-8D15-4921-A4AB-1134F3A595FA}" type="presOf" srcId="{0FC33115-258A-4870-9222-3050F2333679}" destId="{B5B7CEBF-9B68-4F40-880A-AE3C32EB0B44}" srcOrd="0" destOrd="0" presId="urn:microsoft.com/office/officeart/2024/3/layout/verticalVisualTextBlock1"/>
    <dgm:cxn modelId="{141E50B5-E0EC-4000-BB21-71AD5CEA62C8}" type="presOf" srcId="{94E66A0F-F035-4C29-8409-C3F56E873208}" destId="{84562636-6ACC-4BA6-BFD0-CB2B47AB8C69}" srcOrd="0" destOrd="0" presId="urn:microsoft.com/office/officeart/2024/3/layout/verticalVisualTextBlock1"/>
    <dgm:cxn modelId="{B37435BF-BA35-4C94-B7EB-EE90118F7E34}" type="presOf" srcId="{38A07FE1-8D8E-43B4-9C8C-799AF351828B}" destId="{82416B88-0E0A-4241-961B-89B4E97CFB96}" srcOrd="0" destOrd="0" presId="urn:microsoft.com/office/officeart/2024/3/layout/verticalVisualTextBlock1"/>
    <dgm:cxn modelId="{67E87DC0-8B32-4870-8110-EC3E438D484B}" type="presOf" srcId="{BAE09BD8-3163-400C-B070-849952EDC249}" destId="{15AED45F-AAAB-4F7D-9740-F55B351AE9EB}" srcOrd="0" destOrd="0" presId="urn:microsoft.com/office/officeart/2024/3/layout/verticalVisualTextBlock1"/>
    <dgm:cxn modelId="{51914AD0-995B-4334-B9BC-6C51B3E23611}" srcId="{BAE09BD8-3163-400C-B070-849952EDC249}" destId="{94E66A0F-F035-4C29-8409-C3F56E873208}" srcOrd="0" destOrd="0" parTransId="{DC8E4995-9197-477D-A5C6-F5DE86FE41BA}" sibTransId="{01171DB8-B50A-4E86-BA0C-CA3FCD43EC9E}"/>
    <dgm:cxn modelId="{FEE13AD8-6D77-4FC6-AAD6-1FD7AF949ECD}" srcId="{A0CD07D1-94B5-48CD-B3CF-0E158EC04927}" destId="{E6373F8C-2772-48EB-A0A8-0380C4E3ECA5}" srcOrd="0" destOrd="0" parTransId="{BCBD5D5E-B2A1-442D-A200-5217DEF09B6A}" sibTransId="{7C92B559-4557-4057-B237-515F899DD675}"/>
    <dgm:cxn modelId="{F07538E4-6A3C-4FCE-BDFC-F6A9C9656439}" srcId="{0FC33115-258A-4870-9222-3050F2333679}" destId="{48411176-C0D9-49B4-A1BE-26E38EEFCBED}" srcOrd="0" destOrd="0" parTransId="{9459D691-3A5C-4C1F-A0EC-DE9E4D76DEE9}" sibTransId="{80B30351-6AA7-4618-A3CA-D7DD11453257}"/>
    <dgm:cxn modelId="{1F65C6EA-9662-43E9-A224-25104585C79A}" type="presParOf" srcId="{5C3F5A14-91BB-4CB2-9170-AB58521A07D1}" destId="{1FAA9EE6-C3BF-4ECC-A09B-44AF19A9E929}" srcOrd="0" destOrd="0" presId="urn:microsoft.com/office/officeart/2024/3/layout/verticalVisualTextBlock1"/>
    <dgm:cxn modelId="{34235272-F893-4F4A-A7BC-4F8BEFCA0A42}" type="presParOf" srcId="{1FAA9EE6-C3BF-4ECC-A09B-44AF19A9E929}" destId="{985DCFA9-A14F-4095-90CC-FD59A6058DFD}" srcOrd="0" destOrd="0" presId="urn:microsoft.com/office/officeart/2024/3/layout/verticalVisualTextBlock1"/>
    <dgm:cxn modelId="{D615D129-9D17-4E33-B322-CA909CA83756}" type="presParOf" srcId="{1FAA9EE6-C3BF-4ECC-A09B-44AF19A9E929}" destId="{B5B7CEBF-9B68-4F40-880A-AE3C32EB0B44}" srcOrd="1" destOrd="0" presId="urn:microsoft.com/office/officeart/2024/3/layout/verticalVisualTextBlock1"/>
    <dgm:cxn modelId="{07265B25-25BF-413C-8B35-BDDA588F58AE}" type="presParOf" srcId="{1FAA9EE6-C3BF-4ECC-A09B-44AF19A9E929}" destId="{0A4C7043-FDD4-42AF-9216-981A28608F1D}" srcOrd="2" destOrd="0" presId="urn:microsoft.com/office/officeart/2024/3/layout/verticalVisualTextBlock1"/>
    <dgm:cxn modelId="{4CAFB75C-838C-4269-8BCC-7FE28FDD6C1D}" type="presParOf" srcId="{5C3F5A14-91BB-4CB2-9170-AB58521A07D1}" destId="{00EC8F1F-12AA-40A6-A6AE-6289C929EB9F}" srcOrd="1" destOrd="0" presId="urn:microsoft.com/office/officeart/2024/3/layout/verticalVisualTextBlock1"/>
    <dgm:cxn modelId="{B616B391-165A-46DE-9126-754C96ABAD9C}" type="presParOf" srcId="{5C3F5A14-91BB-4CB2-9170-AB58521A07D1}" destId="{A89A3C4D-E811-47E3-B434-E111D60736B3}" srcOrd="2" destOrd="0" presId="urn:microsoft.com/office/officeart/2024/3/layout/verticalVisualTextBlock1"/>
    <dgm:cxn modelId="{A72F3AD3-65A8-49F2-9D48-9F69498958CB}" type="presParOf" srcId="{A89A3C4D-E811-47E3-B434-E111D60736B3}" destId="{C3443128-E1B4-405D-93F3-E41707D60D2E}" srcOrd="0" destOrd="0" presId="urn:microsoft.com/office/officeart/2024/3/layout/verticalVisualTextBlock1"/>
    <dgm:cxn modelId="{C8A98F6B-43DA-4CF9-BF2C-4EB35605BC47}" type="presParOf" srcId="{A89A3C4D-E811-47E3-B434-E111D60736B3}" destId="{20897F57-CAF7-46B4-BE00-6B56D0AE9106}" srcOrd="1" destOrd="0" presId="urn:microsoft.com/office/officeart/2024/3/layout/verticalVisualTextBlock1"/>
    <dgm:cxn modelId="{9EFB9C2A-7ECA-4885-A805-A3ADF0E8C5FC}" type="presParOf" srcId="{A89A3C4D-E811-47E3-B434-E111D60736B3}" destId="{4997BBFD-56A8-4424-A531-7D4E6FBDDCAB}" srcOrd="2" destOrd="0" presId="urn:microsoft.com/office/officeart/2024/3/layout/verticalVisualTextBlock1"/>
    <dgm:cxn modelId="{856879C6-ADAD-4C7F-AA32-DAAABEB52710}" type="presParOf" srcId="{5C3F5A14-91BB-4CB2-9170-AB58521A07D1}" destId="{82416B88-0E0A-4241-961B-89B4E97CFB96}" srcOrd="3" destOrd="0" presId="urn:microsoft.com/office/officeart/2024/3/layout/verticalVisualTextBlock1"/>
    <dgm:cxn modelId="{2814A869-361C-4F1B-87A0-78DBF857C506}" type="presParOf" srcId="{5C3F5A14-91BB-4CB2-9170-AB58521A07D1}" destId="{5B2B6783-ABBD-4A67-8E9B-34DC1972F216}" srcOrd="4" destOrd="0" presId="urn:microsoft.com/office/officeart/2024/3/layout/verticalVisualTextBlock1"/>
    <dgm:cxn modelId="{368F73B4-EBC0-49E1-A1B5-92F33E5F95BF}" type="presParOf" srcId="{5B2B6783-ABBD-4A67-8E9B-34DC1972F216}" destId="{4F53BCBD-A492-469D-A285-0652EE8DC8A3}" srcOrd="0" destOrd="0" presId="urn:microsoft.com/office/officeart/2024/3/layout/verticalVisualTextBlock1"/>
    <dgm:cxn modelId="{44F0F6E3-E94A-4065-8D26-A0E6025F3C9B}" type="presParOf" srcId="{5B2B6783-ABBD-4A67-8E9B-34DC1972F216}" destId="{15AED45F-AAAB-4F7D-9740-F55B351AE9EB}" srcOrd="1" destOrd="0" presId="urn:microsoft.com/office/officeart/2024/3/layout/verticalVisualTextBlock1"/>
    <dgm:cxn modelId="{87D429FE-6B95-4FF8-9174-DBAB27AED163}" type="presParOf" srcId="{5B2B6783-ABBD-4A67-8E9B-34DC1972F216}" destId="{84562636-6ACC-4BA6-BFD0-CB2B47AB8C6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E566FC-A23D-495A-AB86-E7353314A09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5711962-6C46-461B-B7C0-E7022148EBB2}">
      <dgm:prSet/>
      <dgm:spPr/>
      <dgm:t>
        <a:bodyPr/>
        <a:lstStyle/>
        <a:p>
          <a:pPr>
            <a:lnSpc>
              <a:spcPct val="100000"/>
            </a:lnSpc>
            <a:defRPr b="1"/>
          </a:pPr>
          <a:r>
            <a:rPr lang="en-US" dirty="0"/>
            <a:t>Generative AI Scope</a:t>
          </a:r>
        </a:p>
      </dgm:t>
    </dgm:pt>
    <dgm:pt modelId="{AAED8008-A38A-41FE-830F-7CEF82C23C8A}" type="parTrans" cxnId="{68375B67-02A7-4AF9-9ABA-3BB7FC5C7E67}">
      <dgm:prSet/>
      <dgm:spPr/>
      <dgm:t>
        <a:bodyPr/>
        <a:lstStyle/>
        <a:p>
          <a:endParaRPr lang="en-US"/>
        </a:p>
      </dgm:t>
    </dgm:pt>
    <dgm:pt modelId="{94871966-ACA7-45CA-B805-0AAC21FDE27E}" type="sibTrans" cxnId="{68375B67-02A7-4AF9-9ABA-3BB7FC5C7E67}">
      <dgm:prSet/>
      <dgm:spPr/>
      <dgm:t>
        <a:bodyPr/>
        <a:lstStyle/>
        <a:p>
          <a:pPr>
            <a:lnSpc>
              <a:spcPct val="100000"/>
            </a:lnSpc>
            <a:defRPr b="1"/>
          </a:pPr>
          <a:endParaRPr lang="en-US"/>
        </a:p>
      </dgm:t>
    </dgm:pt>
    <dgm:pt modelId="{FC4DD5F1-FD28-4624-AB56-4D5FD2514210}">
      <dgm:prSet/>
      <dgm:spPr/>
      <dgm:t>
        <a:bodyPr/>
        <a:lstStyle/>
        <a:p>
          <a:pPr>
            <a:lnSpc>
              <a:spcPct val="100000"/>
            </a:lnSpc>
          </a:pPr>
          <a:r>
            <a:rPr lang="en-US" dirty="0"/>
            <a:t>Generative AI includes foundational principles and advanced techniques across multiple domains.</a:t>
          </a:r>
        </a:p>
      </dgm:t>
    </dgm:pt>
    <dgm:pt modelId="{45FD0BE8-3C8D-466C-AC0C-0B5E57F0A690}" type="parTrans" cxnId="{8C0779CF-7CD0-4908-A3E8-1BC1E0350C10}">
      <dgm:prSet/>
      <dgm:spPr/>
      <dgm:t>
        <a:bodyPr/>
        <a:lstStyle/>
        <a:p>
          <a:endParaRPr lang="en-US"/>
        </a:p>
      </dgm:t>
    </dgm:pt>
    <dgm:pt modelId="{E5E5F605-E91D-4786-B8D0-A8FF8B35457C}" type="sibTrans" cxnId="{8C0779CF-7CD0-4908-A3E8-1BC1E0350C10}">
      <dgm:prSet/>
      <dgm:spPr/>
      <dgm:t>
        <a:bodyPr/>
        <a:lstStyle/>
        <a:p>
          <a:endParaRPr lang="en-US"/>
        </a:p>
      </dgm:t>
    </dgm:pt>
    <dgm:pt modelId="{F6C5977F-1BF9-48EE-9AED-6211F6AF1FDE}">
      <dgm:prSet/>
      <dgm:spPr/>
      <dgm:t>
        <a:bodyPr/>
        <a:lstStyle/>
        <a:p>
          <a:pPr>
            <a:lnSpc>
              <a:spcPct val="100000"/>
            </a:lnSpc>
            <a:defRPr b="1"/>
          </a:pPr>
          <a:r>
            <a:rPr lang="en-US"/>
            <a:t>Importance of Understanding</a:t>
          </a:r>
        </a:p>
      </dgm:t>
    </dgm:pt>
    <dgm:pt modelId="{50099377-B111-4D66-9127-F45CE354A6B7}" type="parTrans" cxnId="{D127E4F6-5D93-452C-9D5D-DFE43FC98D22}">
      <dgm:prSet/>
      <dgm:spPr/>
      <dgm:t>
        <a:bodyPr/>
        <a:lstStyle/>
        <a:p>
          <a:endParaRPr lang="en-US"/>
        </a:p>
      </dgm:t>
    </dgm:pt>
    <dgm:pt modelId="{EA1FDB55-F675-4973-8F98-DD2F9448F4AF}" type="sibTrans" cxnId="{D127E4F6-5D93-452C-9D5D-DFE43FC98D22}">
      <dgm:prSet/>
      <dgm:spPr/>
      <dgm:t>
        <a:bodyPr/>
        <a:lstStyle/>
        <a:p>
          <a:endParaRPr lang="en-US"/>
        </a:p>
      </dgm:t>
    </dgm:pt>
    <dgm:pt modelId="{E7AC06E0-E9EB-43B0-BDDF-B26D238EB849}">
      <dgm:prSet/>
      <dgm:spPr/>
      <dgm:t>
        <a:bodyPr/>
        <a:lstStyle/>
        <a:p>
          <a:pPr>
            <a:lnSpc>
              <a:spcPct val="100000"/>
            </a:lnSpc>
          </a:pPr>
          <a:r>
            <a:rPr lang="en-US"/>
            <a:t>Grasping AI essentials is crucial for developing effective and responsible AI applications.</a:t>
          </a:r>
        </a:p>
      </dgm:t>
    </dgm:pt>
    <dgm:pt modelId="{0F7C0D7D-3DD6-4D34-9E22-9FB1DEE79C98}" type="parTrans" cxnId="{CE4DED2C-882D-4759-B5DA-A0216CC8D59D}">
      <dgm:prSet/>
      <dgm:spPr/>
      <dgm:t>
        <a:bodyPr/>
        <a:lstStyle/>
        <a:p>
          <a:endParaRPr lang="en-US"/>
        </a:p>
      </dgm:t>
    </dgm:pt>
    <dgm:pt modelId="{32CE5AB6-F5A4-46F2-9845-499C724EEA50}" type="sibTrans" cxnId="{CE4DED2C-882D-4759-B5DA-A0216CC8D59D}">
      <dgm:prSet/>
      <dgm:spPr/>
      <dgm:t>
        <a:bodyPr/>
        <a:lstStyle/>
        <a:p>
          <a:endParaRPr lang="en-US"/>
        </a:p>
      </dgm:t>
    </dgm:pt>
    <dgm:pt modelId="{03A22A66-DD92-4482-962B-B3FDD7135C22}" type="pres">
      <dgm:prSet presAssocID="{CCE566FC-A23D-495A-AB86-E7353314A090}" presName="Name0" presStyleCnt="0">
        <dgm:presLayoutVars>
          <dgm:dir/>
          <dgm:resizeHandles val="exact"/>
        </dgm:presLayoutVars>
      </dgm:prSet>
      <dgm:spPr/>
    </dgm:pt>
    <dgm:pt modelId="{1A74F733-4AD1-4C16-9ADF-3A164D73F68D}" type="pres">
      <dgm:prSet presAssocID="{15711962-6C46-461B-B7C0-E7022148EBB2}" presName="compNode" presStyleCnt="0"/>
      <dgm:spPr/>
    </dgm:pt>
    <dgm:pt modelId="{657842C1-71C1-47BA-8786-92003C64D892}" type="pres">
      <dgm:prSet presAssocID="{15711962-6C46-461B-B7C0-E7022148EBB2}" presName="pictRect" presStyleLbl="revTx" presStyleIdx="0" presStyleCnt="4">
        <dgm:presLayoutVars>
          <dgm:chMax val="0"/>
          <dgm:bulletEnabled/>
        </dgm:presLayoutVars>
      </dgm:prSet>
      <dgm:spPr/>
    </dgm:pt>
    <dgm:pt modelId="{ACD4BF00-FD7F-4887-A81A-25319DF3F212}" type="pres">
      <dgm:prSet presAssocID="{15711962-6C46-461B-B7C0-E7022148EBB2}" presName="textRect" presStyleLbl="revTx" presStyleIdx="1" presStyleCnt="4">
        <dgm:presLayoutVars>
          <dgm:bulletEnabled/>
        </dgm:presLayoutVars>
      </dgm:prSet>
      <dgm:spPr/>
    </dgm:pt>
    <dgm:pt modelId="{A460E61F-E457-4F02-A6FC-249DA6F188AF}" type="pres">
      <dgm:prSet presAssocID="{94871966-ACA7-45CA-B805-0AAC21FDE27E}" presName="sibTrans" presStyleLbl="sibTrans2D1" presStyleIdx="0" presStyleCnt="0"/>
      <dgm:spPr/>
    </dgm:pt>
    <dgm:pt modelId="{F6245994-3D21-4D50-9A4E-8FC23C3D311D}" type="pres">
      <dgm:prSet presAssocID="{F6C5977F-1BF9-48EE-9AED-6211F6AF1FDE}" presName="compNode" presStyleCnt="0"/>
      <dgm:spPr/>
    </dgm:pt>
    <dgm:pt modelId="{613AFD40-DE1A-49F3-A632-B9B476220AFC}" type="pres">
      <dgm:prSet presAssocID="{F6C5977F-1BF9-48EE-9AED-6211F6AF1FDE}" presName="pictRect" presStyleLbl="revTx" presStyleIdx="2" presStyleCnt="4">
        <dgm:presLayoutVars>
          <dgm:chMax val="0"/>
          <dgm:bulletEnabled/>
        </dgm:presLayoutVars>
      </dgm:prSet>
      <dgm:spPr/>
    </dgm:pt>
    <dgm:pt modelId="{F5D04DD5-4D4B-406D-8E57-243B2449C83E}" type="pres">
      <dgm:prSet presAssocID="{F6C5977F-1BF9-48EE-9AED-6211F6AF1FDE}" presName="textRect" presStyleLbl="revTx" presStyleIdx="3" presStyleCnt="4">
        <dgm:presLayoutVars>
          <dgm:bulletEnabled/>
        </dgm:presLayoutVars>
      </dgm:prSet>
      <dgm:spPr/>
    </dgm:pt>
  </dgm:ptLst>
  <dgm:cxnLst>
    <dgm:cxn modelId="{9E32E50F-2D3F-4780-B3B3-6B1B80904C52}" type="presOf" srcId="{FC4DD5F1-FD28-4624-AB56-4D5FD2514210}" destId="{ACD4BF00-FD7F-4887-A81A-25319DF3F212}" srcOrd="0" destOrd="0" presId="urn:microsoft.com/office/officeart/2024/3/layout/hArchList1"/>
    <dgm:cxn modelId="{CE4DED2C-882D-4759-B5DA-A0216CC8D59D}" srcId="{F6C5977F-1BF9-48EE-9AED-6211F6AF1FDE}" destId="{E7AC06E0-E9EB-43B0-BDDF-B26D238EB849}" srcOrd="0" destOrd="0" parTransId="{0F7C0D7D-3DD6-4D34-9E22-9FB1DEE79C98}" sibTransId="{32CE5AB6-F5A4-46F2-9845-499C724EEA50}"/>
    <dgm:cxn modelId="{05CD855B-D332-4E74-9BB7-47DDE3C4EBD2}" type="presOf" srcId="{15711962-6C46-461B-B7C0-E7022148EBB2}" destId="{657842C1-71C1-47BA-8786-92003C64D892}" srcOrd="0" destOrd="0" presId="urn:microsoft.com/office/officeart/2024/3/layout/hArchList1"/>
    <dgm:cxn modelId="{68375B67-02A7-4AF9-9ABA-3BB7FC5C7E67}" srcId="{CCE566FC-A23D-495A-AB86-E7353314A090}" destId="{15711962-6C46-461B-B7C0-E7022148EBB2}" srcOrd="0" destOrd="0" parTransId="{AAED8008-A38A-41FE-830F-7CEF82C23C8A}" sibTransId="{94871966-ACA7-45CA-B805-0AAC21FDE27E}"/>
    <dgm:cxn modelId="{09F18F7A-FEC9-45C1-B124-4403FC093F8A}" type="presOf" srcId="{E7AC06E0-E9EB-43B0-BDDF-B26D238EB849}" destId="{F5D04DD5-4D4B-406D-8E57-243B2449C83E}" srcOrd="0" destOrd="0" presId="urn:microsoft.com/office/officeart/2024/3/layout/hArchList1"/>
    <dgm:cxn modelId="{99983BB7-7ACA-4D6F-A2F7-38EC0DC648C9}" type="presOf" srcId="{F6C5977F-1BF9-48EE-9AED-6211F6AF1FDE}" destId="{613AFD40-DE1A-49F3-A632-B9B476220AFC}" srcOrd="0" destOrd="0" presId="urn:microsoft.com/office/officeart/2024/3/layout/hArchList1"/>
    <dgm:cxn modelId="{C096E9BE-D9E7-42C2-B603-8739DAFBBFDA}" type="presOf" srcId="{CCE566FC-A23D-495A-AB86-E7353314A090}" destId="{03A22A66-DD92-4482-962B-B3FDD7135C22}" srcOrd="0" destOrd="0" presId="urn:microsoft.com/office/officeart/2024/3/layout/hArchList1"/>
    <dgm:cxn modelId="{8C0779CF-7CD0-4908-A3E8-1BC1E0350C10}" srcId="{15711962-6C46-461B-B7C0-E7022148EBB2}" destId="{FC4DD5F1-FD28-4624-AB56-4D5FD2514210}" srcOrd="0" destOrd="0" parTransId="{45FD0BE8-3C8D-466C-AC0C-0B5E57F0A690}" sibTransId="{E5E5F605-E91D-4786-B8D0-A8FF8B35457C}"/>
    <dgm:cxn modelId="{E7A01EEE-7A7F-4C41-8635-FF9C4C789138}" type="presOf" srcId="{94871966-ACA7-45CA-B805-0AAC21FDE27E}" destId="{A460E61F-E457-4F02-A6FC-249DA6F188AF}" srcOrd="0" destOrd="0" presId="urn:microsoft.com/office/officeart/2024/3/layout/hArchList1"/>
    <dgm:cxn modelId="{D127E4F6-5D93-452C-9D5D-DFE43FC98D22}" srcId="{CCE566FC-A23D-495A-AB86-E7353314A090}" destId="{F6C5977F-1BF9-48EE-9AED-6211F6AF1FDE}" srcOrd="1" destOrd="0" parTransId="{50099377-B111-4D66-9127-F45CE354A6B7}" sibTransId="{EA1FDB55-F675-4973-8F98-DD2F9448F4AF}"/>
    <dgm:cxn modelId="{861A250A-62D7-4A24-B9ED-BCDEB316182B}" type="presParOf" srcId="{03A22A66-DD92-4482-962B-B3FDD7135C22}" destId="{1A74F733-4AD1-4C16-9ADF-3A164D73F68D}" srcOrd="0" destOrd="0" presId="urn:microsoft.com/office/officeart/2024/3/layout/hArchList1"/>
    <dgm:cxn modelId="{6D35867D-26B3-475D-83F6-7CEF37BC39FA}" type="presParOf" srcId="{1A74F733-4AD1-4C16-9ADF-3A164D73F68D}" destId="{657842C1-71C1-47BA-8786-92003C64D892}" srcOrd="0" destOrd="0" presId="urn:microsoft.com/office/officeart/2024/3/layout/hArchList1"/>
    <dgm:cxn modelId="{B7623C71-A996-436A-AA76-B9F1085579C3}" type="presParOf" srcId="{1A74F733-4AD1-4C16-9ADF-3A164D73F68D}" destId="{ACD4BF00-FD7F-4887-A81A-25319DF3F212}" srcOrd="1" destOrd="0" presId="urn:microsoft.com/office/officeart/2024/3/layout/hArchList1"/>
    <dgm:cxn modelId="{0CC3D1FB-5017-4257-8AD3-C2E93C9CB434}" type="presParOf" srcId="{03A22A66-DD92-4482-962B-B3FDD7135C22}" destId="{A460E61F-E457-4F02-A6FC-249DA6F188AF}" srcOrd="1" destOrd="0" presId="urn:microsoft.com/office/officeart/2024/3/layout/hArchList1"/>
    <dgm:cxn modelId="{4926AAC5-335E-4F11-89D3-E237FBBD10CC}" type="presParOf" srcId="{03A22A66-DD92-4482-962B-B3FDD7135C22}" destId="{F6245994-3D21-4D50-9A4E-8FC23C3D311D}" srcOrd="2" destOrd="0" presId="urn:microsoft.com/office/officeart/2024/3/layout/hArchList1"/>
    <dgm:cxn modelId="{F2BE4B1A-6206-431A-95F3-57A9B693AAA9}" type="presParOf" srcId="{F6245994-3D21-4D50-9A4E-8FC23C3D311D}" destId="{613AFD40-DE1A-49F3-A632-B9B476220AFC}" srcOrd="0" destOrd="0" presId="urn:microsoft.com/office/officeart/2024/3/layout/hArchList1"/>
    <dgm:cxn modelId="{9E31D2BD-2A65-4891-B237-930526E9D3BC}" type="presParOf" srcId="{F6245994-3D21-4D50-9A4E-8FC23C3D311D}" destId="{F5D04DD5-4D4B-406D-8E57-243B2449C83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DCFA9-A14F-4095-90CC-FD59A6058DFD}">
      <dsp:nvSpPr>
        <dsp:cNvPr id="0" name=""/>
        <dsp:cNvSpPr/>
      </dsp:nvSpPr>
      <dsp:spPr>
        <a:xfrm>
          <a:off x="0" y="0"/>
          <a:ext cx="1680960" cy="168096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3249" r="4" b="4"/>
          <a:stretch/>
        </a:blipFill>
        <a:ln>
          <a:noFill/>
        </a:ln>
        <a:effectLst/>
      </dsp:spPr>
      <dsp:style>
        <a:lnRef idx="0">
          <a:scrgbClr r="0" g="0" b="0"/>
        </a:lnRef>
        <a:fillRef idx="3">
          <a:scrgbClr r="0" g="0" b="0"/>
        </a:fillRef>
        <a:effectRef idx="2">
          <a:scrgbClr r="0" g="0" b="0"/>
        </a:effectRef>
        <a:fontRef idx="minor">
          <a:schemeClr val="lt1"/>
        </a:fontRef>
      </dsp:style>
    </dsp:sp>
    <dsp:sp modelId="{B5B7CEBF-9B68-4F40-880A-AE3C32EB0B44}">
      <dsp:nvSpPr>
        <dsp:cNvPr id="0" name=""/>
        <dsp:cNvSpPr/>
      </dsp:nvSpPr>
      <dsp:spPr>
        <a:xfrm>
          <a:off x="1860960" y="0"/>
          <a:ext cx="5170775" cy="40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t>Definition of Reranking</a:t>
          </a:r>
        </a:p>
      </dsp:txBody>
      <dsp:txXfrm>
        <a:off x="1860960" y="0"/>
        <a:ext cx="5170775" cy="405622"/>
      </dsp:txXfrm>
    </dsp:sp>
    <dsp:sp modelId="{0A4C7043-FDD4-42AF-9216-981A28608F1D}">
      <dsp:nvSpPr>
        <dsp:cNvPr id="0" name=""/>
        <dsp:cNvSpPr/>
      </dsp:nvSpPr>
      <dsp:spPr>
        <a:xfrm>
          <a:off x="1860960" y="405622"/>
          <a:ext cx="5170775" cy="1275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en-US" sz="1600" kern="1200" dirty="0"/>
            <a:t>Reranking reorders search results to prioritize the most relevant information at the top.</a:t>
          </a:r>
        </a:p>
      </dsp:txBody>
      <dsp:txXfrm>
        <a:off x="1860960" y="405622"/>
        <a:ext cx="5170775" cy="1275337"/>
      </dsp:txXfrm>
    </dsp:sp>
    <dsp:sp modelId="{C3443128-E1B4-405D-93F3-E41707D60D2E}">
      <dsp:nvSpPr>
        <dsp:cNvPr id="0" name=""/>
        <dsp:cNvSpPr/>
      </dsp:nvSpPr>
      <dsp:spPr>
        <a:xfrm>
          <a:off x="0" y="1815436"/>
          <a:ext cx="1680960" cy="168096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24997" b="-4"/>
          <a:stretch/>
        </a:blipFill>
        <a:ln>
          <a:noFill/>
        </a:ln>
        <a:effectLst/>
      </dsp:spPr>
      <dsp:style>
        <a:lnRef idx="0">
          <a:scrgbClr r="0" g="0" b="0"/>
        </a:lnRef>
        <a:fillRef idx="3">
          <a:scrgbClr r="0" g="0" b="0"/>
        </a:fillRef>
        <a:effectRef idx="2">
          <a:scrgbClr r="0" g="0" b="0"/>
        </a:effectRef>
        <a:fontRef idx="minor">
          <a:schemeClr val="lt1"/>
        </a:fontRef>
      </dsp:style>
    </dsp:sp>
    <dsp:sp modelId="{20897F57-CAF7-46B4-BE00-6B56D0AE9106}">
      <dsp:nvSpPr>
        <dsp:cNvPr id="0" name=""/>
        <dsp:cNvSpPr/>
      </dsp:nvSpPr>
      <dsp:spPr>
        <a:xfrm>
          <a:off x="1860960" y="1815436"/>
          <a:ext cx="5170775" cy="40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dirty="0"/>
            <a:t>Role in Language Models</a:t>
          </a:r>
        </a:p>
      </dsp:txBody>
      <dsp:txXfrm>
        <a:off x="1860960" y="1815436"/>
        <a:ext cx="5170775" cy="405622"/>
      </dsp:txXfrm>
    </dsp:sp>
    <dsp:sp modelId="{4997BBFD-56A8-4424-A531-7D4E6FBDDCAB}">
      <dsp:nvSpPr>
        <dsp:cNvPr id="0" name=""/>
        <dsp:cNvSpPr/>
      </dsp:nvSpPr>
      <dsp:spPr>
        <a:xfrm>
          <a:off x="1860960" y="2221059"/>
          <a:ext cx="5170775" cy="1275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en-US" sz="1600" kern="1200"/>
            <a:t>Reranking enhances the input quality for language models, improving their response accuracy.</a:t>
          </a:r>
        </a:p>
      </dsp:txBody>
      <dsp:txXfrm>
        <a:off x="1860960" y="2221059"/>
        <a:ext cx="5170775" cy="1275337"/>
      </dsp:txXfrm>
    </dsp:sp>
    <dsp:sp modelId="{4F53BCBD-A492-469D-A285-0652EE8DC8A3}">
      <dsp:nvSpPr>
        <dsp:cNvPr id="0" name=""/>
        <dsp:cNvSpPr/>
      </dsp:nvSpPr>
      <dsp:spPr>
        <a:xfrm>
          <a:off x="0" y="3630873"/>
          <a:ext cx="1680960" cy="168096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1937" r="11814" b="1"/>
          <a:stretch/>
        </a:blipFill>
        <a:ln>
          <a:noFill/>
        </a:ln>
        <a:effectLst/>
      </dsp:spPr>
      <dsp:style>
        <a:lnRef idx="0">
          <a:scrgbClr r="0" g="0" b="0"/>
        </a:lnRef>
        <a:fillRef idx="3">
          <a:scrgbClr r="0" g="0" b="0"/>
        </a:fillRef>
        <a:effectRef idx="2">
          <a:scrgbClr r="0" g="0" b="0"/>
        </a:effectRef>
        <a:fontRef idx="minor">
          <a:schemeClr val="lt1"/>
        </a:fontRef>
      </dsp:style>
    </dsp:sp>
    <dsp:sp modelId="{15AED45F-AAAB-4F7D-9740-F55B351AE9EB}">
      <dsp:nvSpPr>
        <dsp:cNvPr id="0" name=""/>
        <dsp:cNvSpPr/>
      </dsp:nvSpPr>
      <dsp:spPr>
        <a:xfrm>
          <a:off x="1860960" y="3630873"/>
          <a:ext cx="5170775" cy="40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t>Practical Use Case</a:t>
          </a:r>
        </a:p>
      </dsp:txBody>
      <dsp:txXfrm>
        <a:off x="1860960" y="3630873"/>
        <a:ext cx="5170775" cy="405622"/>
      </dsp:txXfrm>
    </dsp:sp>
    <dsp:sp modelId="{84562636-6ACC-4BA6-BFD0-CB2B47AB8C69}">
      <dsp:nvSpPr>
        <dsp:cNvPr id="0" name=""/>
        <dsp:cNvSpPr/>
      </dsp:nvSpPr>
      <dsp:spPr>
        <a:xfrm>
          <a:off x="1860960" y="4036496"/>
          <a:ext cx="5170775" cy="1275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20320" bIns="20320" numCol="1" spcCol="1270" anchor="t" anchorCtr="0">
          <a:noAutofit/>
        </a:bodyPr>
        <a:lstStyle/>
        <a:p>
          <a:pPr marL="0" lvl="0" indent="0" algn="l" defTabSz="711200">
            <a:lnSpc>
              <a:spcPct val="100000"/>
            </a:lnSpc>
            <a:spcBef>
              <a:spcPct val="0"/>
            </a:spcBef>
            <a:spcAft>
              <a:spcPct val="35000"/>
            </a:spcAft>
            <a:buNone/>
          </a:pPr>
          <a:r>
            <a:rPr lang="en-US" sz="1600" kern="1200" dirty="0"/>
            <a:t>Research assistants use reranking to highlight the most relevant academic papers effectively.</a:t>
          </a:r>
        </a:p>
      </dsp:txBody>
      <dsp:txXfrm>
        <a:off x="1860960" y="4036496"/>
        <a:ext cx="5170775" cy="1275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842C1-71C1-47BA-8786-92003C64D892}">
      <dsp:nvSpPr>
        <dsp:cNvPr id="0" name=""/>
        <dsp:cNvSpPr/>
      </dsp:nvSpPr>
      <dsp:spPr>
        <a:xfrm>
          <a:off x="0" y="0"/>
          <a:ext cx="5310931" cy="329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Generative AI Scope</a:t>
          </a:r>
        </a:p>
      </dsp:txBody>
      <dsp:txXfrm>
        <a:off x="0" y="0"/>
        <a:ext cx="5310931" cy="329213"/>
      </dsp:txXfrm>
    </dsp:sp>
    <dsp:sp modelId="{ACD4BF00-FD7F-4887-A81A-25319DF3F212}">
      <dsp:nvSpPr>
        <dsp:cNvPr id="0" name=""/>
        <dsp:cNvSpPr/>
      </dsp:nvSpPr>
      <dsp:spPr>
        <a:xfrm>
          <a:off x="0" y="329213"/>
          <a:ext cx="5310931" cy="1021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Generative AI includes foundational principles and advanced techniques across multiple domains.</a:t>
          </a:r>
        </a:p>
      </dsp:txBody>
      <dsp:txXfrm>
        <a:off x="0" y="329213"/>
        <a:ext cx="5310931" cy="1021646"/>
      </dsp:txXfrm>
    </dsp:sp>
    <dsp:sp modelId="{613AFD40-DE1A-49F3-A632-B9B476220AFC}">
      <dsp:nvSpPr>
        <dsp:cNvPr id="0" name=""/>
        <dsp:cNvSpPr/>
      </dsp:nvSpPr>
      <dsp:spPr>
        <a:xfrm>
          <a:off x="5842024" y="0"/>
          <a:ext cx="5310931" cy="329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Importance of Understanding</a:t>
          </a:r>
        </a:p>
      </dsp:txBody>
      <dsp:txXfrm>
        <a:off x="5842024" y="0"/>
        <a:ext cx="5310931" cy="329213"/>
      </dsp:txXfrm>
    </dsp:sp>
    <dsp:sp modelId="{F5D04DD5-4D4B-406D-8E57-243B2449C83E}">
      <dsp:nvSpPr>
        <dsp:cNvPr id="0" name=""/>
        <dsp:cNvSpPr/>
      </dsp:nvSpPr>
      <dsp:spPr>
        <a:xfrm>
          <a:off x="5842024" y="329213"/>
          <a:ext cx="5310931" cy="1021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Grasping AI essentials is crucial for developing effective and responsible AI applications.</a:t>
          </a:r>
        </a:p>
      </dsp:txBody>
      <dsp:txXfrm>
        <a:off x="5842024" y="329213"/>
        <a:ext cx="5310931" cy="1021646"/>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20799-4F64-458F-8516-BB4934A9D1C5}"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85ED26-06C6-493A-82CE-9E7FFDEA63BA}" type="slidenum">
              <a:rPr lang="en-US" smtClean="0"/>
              <a:t>‹#›</a:t>
            </a:fld>
            <a:endParaRPr lang="en-US"/>
          </a:p>
        </p:txBody>
      </p:sp>
    </p:spTree>
    <p:extLst>
      <p:ext uri="{BB962C8B-B14F-4D97-AF65-F5344CB8AC3E}">
        <p14:creationId xmlns:p14="http://schemas.microsoft.com/office/powerpoint/2010/main" val="95774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covers the fundamental concepts in generative AI, exploring core technologies and advanced topics. We will learn about hallucination, prompt engineering, embeddings, retrieval methods, agentic AI, and safety concerns to build a comprehensive understanding of this transformative technology.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1</a:t>
            </a:fld>
            <a:endParaRPr lang="en-US"/>
          </a:p>
        </p:txBody>
      </p:sp>
    </p:spTree>
    <p:extLst>
      <p:ext uri="{BB962C8B-B14F-4D97-AF65-F5344CB8AC3E}">
        <p14:creationId xmlns:p14="http://schemas.microsoft.com/office/powerpoint/2010/main" val="3698646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https://medium.com/data-science-at-microsoft/how-large-language-models-work-91c362f5b78f</a:t>
            </a:r>
          </a:p>
        </p:txBody>
      </p:sp>
      <p:sp>
        <p:nvSpPr>
          <p:cNvPr id="4" name="Slide Number Placeholder 3"/>
          <p:cNvSpPr>
            <a:spLocks noGrp="1"/>
          </p:cNvSpPr>
          <p:nvPr>
            <p:ph type="sldNum" sz="quarter" idx="5"/>
          </p:nvPr>
        </p:nvSpPr>
        <p:spPr/>
        <p:txBody>
          <a:bodyPr/>
          <a:lstStyle/>
          <a:p>
            <a:fld id="{EE85ED26-06C6-493A-82CE-9E7FFDEA63BA}" type="slidenum">
              <a:rPr lang="en-US" smtClean="0"/>
              <a:t>5</a:t>
            </a:fld>
            <a:endParaRPr lang="en-US"/>
          </a:p>
        </p:txBody>
      </p:sp>
    </p:spTree>
    <p:extLst>
      <p:ext uri="{BB962C8B-B14F-4D97-AF65-F5344CB8AC3E}">
        <p14:creationId xmlns:p14="http://schemas.microsoft.com/office/powerpoint/2010/main" val="4065235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Hallucination: Definition, Examples, and Role in LLMs, Prompt Engineering: Techniques and Use Cases, Context Window: Capacity and Applications, Tokens, Temperature, and Learning Approaches
</a:t>
            </a:r>
          </a:p>
        </p:txBody>
      </p:sp>
      <p:sp>
        <p:nvSpPr>
          <p:cNvPr id="4" name="Slide Number Placeholder 3"/>
          <p:cNvSpPr>
            <a:spLocks noGrp="1"/>
          </p:cNvSpPr>
          <p:nvPr>
            <p:ph type="sldNum" sz="quarter" idx="5"/>
          </p:nvPr>
        </p:nvSpPr>
        <p:spPr/>
        <p:txBody>
          <a:bodyPr/>
          <a:lstStyle/>
          <a:p>
            <a:fld id="{62347A47-DD40-4570-B07A-3FB29C2F7D17}" type="slidenum">
              <a:rPr lang="en-US" smtClean="0"/>
              <a:t>7</a:t>
            </a:fld>
            <a:endParaRPr lang="en-US"/>
          </a:p>
        </p:txBody>
      </p:sp>
    </p:spTree>
    <p:extLst>
      <p:ext uri="{BB962C8B-B14F-4D97-AF65-F5344CB8AC3E}">
        <p14:creationId xmlns:p14="http://schemas.microsoft.com/office/powerpoint/2010/main" val="211607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When AI generates false or misleading information that sounds plausible but is factually incorrect
💡 Example:
 ChatGPT claiming a famous person died when they're still alive, or citing non-existent research papers
🧠 Role in LLMs:
 LLMs predict next words based on patterns, not facts, so they can create convincing but false content
🎯 Use Case:
 Medical diagnosis systems need hallucination detection to avoid giving dangerous health advice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9</a:t>
            </a:fld>
            <a:endParaRPr lang="en-US"/>
          </a:p>
        </p:txBody>
      </p:sp>
    </p:spTree>
    <p:extLst>
      <p:ext uri="{BB962C8B-B14F-4D97-AF65-F5344CB8AC3E}">
        <p14:creationId xmlns:p14="http://schemas.microsoft.com/office/powerpoint/2010/main" val="1227091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The art and science of crafting inputs to get the best outputs from AI models
💡 Example:
 Instead of 'Write about dogs,' use 'Write a 300-word informative article about dog training for new pet owners'
🧠 Role in LLMs:
 LLMs are highly sensitive to how questions are phrased - better prompts = better results
🎯 Use Case:
 Customer service chatbots use engineered prompts to provide consistent, helpful responses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11</a:t>
            </a:fld>
            <a:endParaRPr lang="en-US"/>
          </a:p>
        </p:txBody>
      </p:sp>
    </p:spTree>
    <p:extLst>
      <p:ext uri="{BB962C8B-B14F-4D97-AF65-F5344CB8AC3E}">
        <p14:creationId xmlns:p14="http://schemas.microsoft.com/office/powerpoint/2010/main" val="3965343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The maximum amount of text an AI model can remember and consider at one time
💡 Example:
 GPT-4 can remember about 32,000 tokens (~24,000 words) of conversation history
</a:t>
            </a:r>
          </a:p>
          <a:p>
            <a:r>
              <a:rPr lang="en-US"/>
              <a:t>
Overview
</a:t>
            </a:r>
          </a:p>
          <a:p>
            <a:r>
              <a:rPr lang="en-US"/>
              <a:t>
Core Concepts in Generative AI (8 concepts)
 Retrieval &amp; Knowledge Augmentation Concepts (6 concepts)
 Agentic AI Concepts (3 concepts)
 Evaluation &amp; Safety Concepts (3 concepts)
</a:t>
            </a:r>
          </a:p>
          <a:p>
            <a:r>
              <a:rPr lang="en-US"/>
              <a:t>
Core Concepts in Generative AI
 1. Hallucination</a:t>
            </a:r>
          </a:p>
          <a:p>
            <a:r>
              <a:rPr lang="en-US"/>
              <a:t>
2. Prompt Engineering</a:t>
            </a:r>
          </a:p>
          <a:p>
            <a:r>
              <a:rPr lang="en-US"/>
              <a:t>
3. Context Window
🧠 Role in LLMs:
 Determines how much conversation history or document text the model can process together
🎯 Use Case:
 Legal document analysis requires large context windows to understand entire contracts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13</a:t>
            </a:fld>
            <a:endParaRPr lang="en-US"/>
          </a:p>
        </p:txBody>
      </p:sp>
    </p:spTree>
    <p:extLst>
      <p:ext uri="{BB962C8B-B14F-4D97-AF65-F5344CB8AC3E}">
        <p14:creationId xmlns:p14="http://schemas.microsoft.com/office/powerpoint/2010/main" val="2786364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3565F-3712-E9B3-1A0F-8B37CF9C4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44C38-EFAD-4B8A-C8B4-90CFABAF4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8ECD0-C4AE-F6D9-EFB8-F8CCB053B342}"/>
              </a:ext>
            </a:extLst>
          </p:cNvPr>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The maximum amount of text an AI model can remember and consider at one time
💡 Example:
 GPT-4 can remember about 32,000 tokens (~24,000 words) of conversation history
</a:t>
            </a:r>
          </a:p>
          <a:p>
            <a:r>
              <a:rPr lang="en-US"/>
              <a:t>
Overview
</a:t>
            </a:r>
          </a:p>
          <a:p>
            <a:r>
              <a:rPr lang="en-US"/>
              <a:t>
Core Concepts in Generative AI (8 concepts)
 Retrieval &amp; Knowledge Augmentation Concepts (6 concepts)
 Agentic AI Concepts (3 concepts)
 Evaluation &amp; Safety Concepts (3 concepts)
</a:t>
            </a:r>
          </a:p>
          <a:p>
            <a:r>
              <a:rPr lang="en-US"/>
              <a:t>
Core Concepts in Generative AI
 1. Hallucination</a:t>
            </a:r>
          </a:p>
          <a:p>
            <a:r>
              <a:rPr lang="en-US"/>
              <a:t>
2. Prompt Engineering</a:t>
            </a:r>
          </a:p>
          <a:p>
            <a:r>
              <a:rPr lang="en-US"/>
              <a:t>
3. Context Window
🧠 Role in LLMs:
 Determines how much conversation history or document text the model can process together
🎯 Use Case:
 Legal document analysis requires large context windows to understand entire contracts
Image source: Microsoft 365 content library
</a:t>
            </a:r>
          </a:p>
        </p:txBody>
      </p:sp>
      <p:sp>
        <p:nvSpPr>
          <p:cNvPr id="4" name="Slide Number Placeholder 3">
            <a:extLst>
              <a:ext uri="{FF2B5EF4-FFF2-40B4-BE49-F238E27FC236}">
                <a16:creationId xmlns:a16="http://schemas.microsoft.com/office/drawing/2014/main" id="{48332F7C-5EBC-4AA1-C2DC-FB900B6D20F9}"/>
              </a:ext>
            </a:extLst>
          </p:cNvPr>
          <p:cNvSpPr>
            <a:spLocks noGrp="1"/>
          </p:cNvSpPr>
          <p:nvPr>
            <p:ph type="sldNum" sz="quarter" idx="5"/>
          </p:nvPr>
        </p:nvSpPr>
        <p:spPr/>
        <p:txBody>
          <a:bodyPr/>
          <a:lstStyle/>
          <a:p>
            <a:fld id="{62347A47-DD40-4570-B07A-3FB29C2F7D17}" type="slidenum">
              <a:rPr lang="en-US" smtClean="0"/>
              <a:t>15</a:t>
            </a:fld>
            <a:endParaRPr lang="en-US"/>
          </a:p>
        </p:txBody>
      </p:sp>
    </p:spTree>
    <p:extLst>
      <p:ext uri="{BB962C8B-B14F-4D97-AF65-F5344CB8AC3E}">
        <p14:creationId xmlns:p14="http://schemas.microsoft.com/office/powerpoint/2010/main" val="2901071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9B87A-B99C-48BE-511E-040C016EB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763B5-F650-3ED6-70CE-67D9FE904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3D2A1-00F5-B846-C863-D94EC90848B5}"/>
              </a:ext>
            </a:extLst>
          </p:cNvPr>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When AI generates false or misleading information that sounds plausible but is factually incorrect
💡 Example:
 ChatGPT claiming a famous person died when they're still alive, or citing non-existent research papers
🧠 Role in LLMs:
 LLMs predict next words based on patterns, not facts, so they can create convincing but false content
🎯 Use Case:
 Medical diagnosis systems need hallucination detection to avoid giving dangerous health advice
Image source: Microsoft 365 content library
</a:t>
            </a:r>
          </a:p>
        </p:txBody>
      </p:sp>
      <p:sp>
        <p:nvSpPr>
          <p:cNvPr id="4" name="Slide Number Placeholder 3">
            <a:extLst>
              <a:ext uri="{FF2B5EF4-FFF2-40B4-BE49-F238E27FC236}">
                <a16:creationId xmlns:a16="http://schemas.microsoft.com/office/drawing/2014/main" id="{8849F00E-90F8-20B6-9E3A-AE08F1EB8E8F}"/>
              </a:ext>
            </a:extLst>
          </p:cNvPr>
          <p:cNvSpPr>
            <a:spLocks noGrp="1"/>
          </p:cNvSpPr>
          <p:nvPr>
            <p:ph type="sldNum" sz="quarter" idx="5"/>
          </p:nvPr>
        </p:nvSpPr>
        <p:spPr/>
        <p:txBody>
          <a:bodyPr/>
          <a:lstStyle/>
          <a:p>
            <a:fld id="{62347A47-DD40-4570-B07A-3FB29C2F7D17}" type="slidenum">
              <a:rPr lang="en-US" smtClean="0"/>
              <a:t>17</a:t>
            </a:fld>
            <a:endParaRPr lang="en-US"/>
          </a:p>
        </p:txBody>
      </p:sp>
    </p:spTree>
    <p:extLst>
      <p:ext uri="{BB962C8B-B14F-4D97-AF65-F5344CB8AC3E}">
        <p14:creationId xmlns:p14="http://schemas.microsoft.com/office/powerpoint/2010/main" val="2504086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60643-F523-BE11-C3A0-9086B4360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218CC-E42B-2D47-7437-864F3BE08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C4991-4036-B83E-D954-6D7C04189C78}"/>
              </a:ext>
            </a:extLst>
          </p:cNvPr>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When AI generates false or misleading information that sounds plausible but is factually incorrect
💡 Example:
 ChatGPT claiming a famous person died when they're still alive, or citing non-existent research papers
🧠 Role in LLMs:
 LLMs predict next words based on patterns, not facts, so they can create convincing but false content
🎯 Use Case:
 Medical diagnosis systems need hallucination detection to avoid giving dangerous health advice
Image source: Microsoft 365 content library
</a:t>
            </a:r>
          </a:p>
        </p:txBody>
      </p:sp>
      <p:sp>
        <p:nvSpPr>
          <p:cNvPr id="4" name="Slide Number Placeholder 3">
            <a:extLst>
              <a:ext uri="{FF2B5EF4-FFF2-40B4-BE49-F238E27FC236}">
                <a16:creationId xmlns:a16="http://schemas.microsoft.com/office/drawing/2014/main" id="{19C98590-031A-FB21-706A-DB980CB88651}"/>
              </a:ext>
            </a:extLst>
          </p:cNvPr>
          <p:cNvSpPr>
            <a:spLocks noGrp="1"/>
          </p:cNvSpPr>
          <p:nvPr>
            <p:ph type="sldNum" sz="quarter" idx="5"/>
          </p:nvPr>
        </p:nvSpPr>
        <p:spPr/>
        <p:txBody>
          <a:bodyPr/>
          <a:lstStyle/>
          <a:p>
            <a:fld id="{62347A47-DD40-4570-B07A-3FB29C2F7D17}" type="slidenum">
              <a:rPr lang="en-US" smtClean="0"/>
              <a:t>19</a:t>
            </a:fld>
            <a:endParaRPr lang="en-US"/>
          </a:p>
        </p:txBody>
      </p:sp>
    </p:spTree>
    <p:extLst>
      <p:ext uri="{BB962C8B-B14F-4D97-AF65-F5344CB8AC3E}">
        <p14:creationId xmlns:p14="http://schemas.microsoft.com/office/powerpoint/2010/main" val="593940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Embeddings: Mathematical Representation and Use Cases, Chain of Thought (CoT): Step-by-Step Reasoning
</a:t>
            </a:r>
          </a:p>
        </p:txBody>
      </p:sp>
      <p:sp>
        <p:nvSpPr>
          <p:cNvPr id="4" name="Slide Number Placeholder 3"/>
          <p:cNvSpPr>
            <a:spLocks noGrp="1"/>
          </p:cNvSpPr>
          <p:nvPr>
            <p:ph type="sldNum" sz="quarter" idx="5"/>
          </p:nvPr>
        </p:nvSpPr>
        <p:spPr/>
        <p:txBody>
          <a:bodyPr/>
          <a:lstStyle/>
          <a:p>
            <a:fld id="{62347A47-DD40-4570-B07A-3FB29C2F7D17}" type="slidenum">
              <a:rPr lang="en-US" smtClean="0"/>
              <a:t>20</a:t>
            </a:fld>
            <a:endParaRPr lang="en-US"/>
          </a:p>
        </p:txBody>
      </p:sp>
    </p:spTree>
    <p:extLst>
      <p:ext uri="{BB962C8B-B14F-4D97-AF65-F5344CB8AC3E}">
        <p14:creationId xmlns:p14="http://schemas.microsoft.com/office/powerpoint/2010/main" val="2851372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Mathematical representations of words or concepts as lists of numbers that capture meaning
💡 Example:
 Words like 'king' and 'queen' have similar embeddings, while 'king' and 'banana' are very different
🧠 Role in LLMs:
 Enable models to understand relationships between concepts and perform semantic search
🎯 Use Case:
 Recommendation systems use embeddings to suggest similar products or content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22</a:t>
            </a:fld>
            <a:endParaRPr lang="en-US"/>
          </a:p>
        </p:txBody>
      </p:sp>
    </p:spTree>
    <p:extLst>
      <p:ext uri="{BB962C8B-B14F-4D97-AF65-F5344CB8AC3E}">
        <p14:creationId xmlns:p14="http://schemas.microsoft.com/office/powerpoint/2010/main" val="4022057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A technique where AI explains its reasoning step-by-step to arrive at better answers
💡 Example:
 Instead of just answering '15,' the AI shows: '5 apples + 3 apples = 8 apples, then 8 + 7 = 15 apples total'
🧠 Role in LLMs:
 Improves accuracy on complex problems by making the reasoning process explicit
🎯 Use Case:
 Math tutoring applications use CoT to help students understand problem-solving steps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24</a:t>
            </a:fld>
            <a:endParaRPr lang="en-US"/>
          </a:p>
        </p:txBody>
      </p:sp>
    </p:spTree>
    <p:extLst>
      <p:ext uri="{BB962C8B-B14F-4D97-AF65-F5344CB8AC3E}">
        <p14:creationId xmlns:p14="http://schemas.microsoft.com/office/powerpoint/2010/main" val="3686189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Grounding: Connecting AI to Real Information, Retrieval-Augmented Generation (RAG): Search and Response Generation, Vector Databases: Semantic Search and Applications, Chunking: Document Processing for AI, Reranking: Improving Search Result Relevance, Hybrid Search: Combining Search Methods
</a:t>
            </a:r>
          </a:p>
        </p:txBody>
      </p:sp>
      <p:sp>
        <p:nvSpPr>
          <p:cNvPr id="4" name="Slide Number Placeholder 3"/>
          <p:cNvSpPr>
            <a:spLocks noGrp="1"/>
          </p:cNvSpPr>
          <p:nvPr>
            <p:ph type="sldNum" sz="quarter" idx="5"/>
          </p:nvPr>
        </p:nvSpPr>
        <p:spPr/>
        <p:txBody>
          <a:bodyPr/>
          <a:lstStyle/>
          <a:p>
            <a:fld id="{62347A47-DD40-4570-B07A-3FB29C2F7D17}" type="slidenum">
              <a:rPr lang="en-US" smtClean="0"/>
              <a:t>25</a:t>
            </a:fld>
            <a:endParaRPr lang="en-US"/>
          </a:p>
        </p:txBody>
      </p:sp>
    </p:spTree>
    <p:extLst>
      <p:ext uri="{BB962C8B-B14F-4D97-AF65-F5344CB8AC3E}">
        <p14:creationId xmlns:p14="http://schemas.microsoft.com/office/powerpoint/2010/main" val="3108516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Connecting AI responses to real, verifiable information sources to reduce hallucinations
💡 Example:
 Instead of guessing stock prices, the AI looks up current market data before responding
🧠 Role in LLMs:
 Anchors model outputs to factual sources rather than relying solely on training data
🎯 Use Case:
 News summarization systems ground articles in verified sources for accuracy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27</a:t>
            </a:fld>
            <a:endParaRPr lang="en-US"/>
          </a:p>
        </p:txBody>
      </p:sp>
    </p:spTree>
    <p:extLst>
      <p:ext uri="{BB962C8B-B14F-4D97-AF65-F5344CB8AC3E}">
        <p14:creationId xmlns:p14="http://schemas.microsoft.com/office/powerpoint/2010/main" val="3592201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A method where AI first searches for relevant information, then uses it to generate responses
💡 Example:
 When asked about company policies, RAG first searches the employee handbook, then answers based on findings
🧠 Role in LLMs:
 Combines the model's language abilities with real-time access to external knowledge
🎯 Use Case:
 Customer support systems use RAG to provide accurate, up-to-date product information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29</a:t>
            </a:fld>
            <a:endParaRPr lang="en-US"/>
          </a:p>
        </p:txBody>
      </p:sp>
    </p:spTree>
    <p:extLst>
      <p:ext uri="{BB962C8B-B14F-4D97-AF65-F5344CB8AC3E}">
        <p14:creationId xmlns:p14="http://schemas.microsoft.com/office/powerpoint/2010/main" val="411924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Specialized databases that store and search information based on meaning similarity rather than exact matches
💡 Example:
 Searching for 'car problems' also finds documents about 'vehicle issues' and 'automotive troubles'
🧠 Role in LLMs:
 Enable semantic search capabilities that understand context and meaning, not just keywords
🎯 Use Case:
 E-commerce platforms use vector databases for intelligent product search and recommendations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31</a:t>
            </a:fld>
            <a:endParaRPr lang="en-US"/>
          </a:p>
        </p:txBody>
      </p:sp>
    </p:spTree>
    <p:extLst>
      <p:ext uri="{BB962C8B-B14F-4D97-AF65-F5344CB8AC3E}">
        <p14:creationId xmlns:p14="http://schemas.microsoft.com/office/powerpoint/2010/main" val="1281969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Breaking down large documents into smaller, manageable pieces for AI processing
💡 Example:
 A 100-page manual is split into sections like 'Installation,' 'Setup,' 'Troubleshooting'
🧠 Role in LLMs:
 Allows models to process documents that exceed their context window limits
🎯 Use Case:
 Legal research systems chunk long contracts to find relevant clauses quickly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33</a:t>
            </a:fld>
            <a:endParaRPr lang="en-US"/>
          </a:p>
        </p:txBody>
      </p:sp>
    </p:spTree>
    <p:extLst>
      <p:ext uri="{BB962C8B-B14F-4D97-AF65-F5344CB8AC3E}">
        <p14:creationId xmlns:p14="http://schemas.microsoft.com/office/powerpoint/2010/main" val="3896892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Reordering search results to put the most relevant information first
💡 Example:
 Initial search returns 20 results; reranking moves the 3 most relevant to the top
</a:t>
            </a:r>
          </a:p>
          <a:p>
            <a:r>
              <a:rPr lang="en-US"/>
              <a:t>
2. RAG (Retrieval-Augmented Generation)</a:t>
            </a:r>
          </a:p>
          <a:p>
            <a:r>
              <a:rPr lang="en-US"/>
              <a:t>
3. Vector Databases</a:t>
            </a:r>
          </a:p>
          <a:p>
            <a:r>
              <a:rPr lang="en-US"/>
              <a:t>
4. Chunking</a:t>
            </a:r>
          </a:p>
          <a:p>
            <a:r>
              <a:rPr lang="en-US"/>
              <a:t>
5. Reranking
🧠 Role in LLMs:
 Improves the quality of information fed to language models for better responses
🎯 Use Case:
 Research assistants use reranking to prioritize the most relevant academic papers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35</a:t>
            </a:fld>
            <a:endParaRPr lang="en-US"/>
          </a:p>
        </p:txBody>
      </p:sp>
    </p:spTree>
    <p:extLst>
      <p:ext uri="{BB962C8B-B14F-4D97-AF65-F5344CB8AC3E}">
        <p14:creationId xmlns:p14="http://schemas.microsoft.com/office/powerpoint/2010/main" val="3181504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Bias: Fairness and Detection in AI Systems, Guardrails: Safety Measures and Responsible AI, Explainability: Understanding AI Decisions
</a:t>
            </a:r>
          </a:p>
        </p:txBody>
      </p:sp>
      <p:sp>
        <p:nvSpPr>
          <p:cNvPr id="4" name="Slide Number Placeholder 3"/>
          <p:cNvSpPr>
            <a:spLocks noGrp="1"/>
          </p:cNvSpPr>
          <p:nvPr>
            <p:ph type="sldNum" sz="quarter" idx="5"/>
          </p:nvPr>
        </p:nvSpPr>
        <p:spPr/>
        <p:txBody>
          <a:bodyPr/>
          <a:lstStyle/>
          <a:p>
            <a:fld id="{62347A47-DD40-4570-B07A-3FB29C2F7D17}" type="slidenum">
              <a:rPr lang="en-US" smtClean="0"/>
              <a:t>36</a:t>
            </a:fld>
            <a:endParaRPr lang="en-US"/>
          </a:p>
        </p:txBody>
      </p:sp>
    </p:spTree>
    <p:extLst>
      <p:ext uri="{BB962C8B-B14F-4D97-AF65-F5344CB8AC3E}">
        <p14:creationId xmlns:p14="http://schemas.microsoft.com/office/powerpoint/2010/main" val="2262252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Unfair or prejudiced treatment of certain groups embedded in AI systems
💡 Example:
 A hiring AI that unfairly rejects resumes with female names or certain ethnic backgrounds
🧠 Role in LLMs:
 Can perpetuate societal biases present in training data, affecting fairness of outputs
🎯 Use Case:
 Content moderation systems need bias detection to ensure fair treatment across all users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38</a:t>
            </a:fld>
            <a:endParaRPr lang="en-US"/>
          </a:p>
        </p:txBody>
      </p:sp>
    </p:spTree>
    <p:extLst>
      <p:ext uri="{BB962C8B-B14F-4D97-AF65-F5344CB8AC3E}">
        <p14:creationId xmlns:p14="http://schemas.microsoft.com/office/powerpoint/2010/main" val="3966842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Safety measures and rules that prevent AI systems from producing harmful or inappropriate content
💡 Example:
 Blocking AI from generating instructions for dangerous activities or sharing personal information
🧠 Role in LLMs:
 Essential for safe deployment by preventing misuse and ensuring responsible behavior
🎯 Use Case:
 Educational AI tools use guardrails to ensure content is appropriate for different age groups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40</a:t>
            </a:fld>
            <a:endParaRPr lang="en-US"/>
          </a:p>
        </p:txBody>
      </p:sp>
    </p:spTree>
    <p:extLst>
      <p:ext uri="{BB962C8B-B14F-4D97-AF65-F5344CB8AC3E}">
        <p14:creationId xmlns:p14="http://schemas.microsoft.com/office/powerpoint/2010/main" val="38174058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https://michelingroup-my.sharepoint.com/personal/ankit_mirajkar_michelin_com/Documents/GenAI-Concepts-Guide.pdf
📝 Definition:
 The ability to understand and explain how an AI system made a particular decision
💡 Example:
 A loan approval system explaining: 'Approved based on credit score (40%), income (35%), debt ratio (25%)'
🧠 Role in LLMs:
 Crucial for trust and accountability, especially in high-stakes decisions
🎯 Use Case:
 Healthcare AI systems must explain diagnoses to doctors for validation and trust</a:t>
            </a:r>
          </a:p>
          <a:p>
            <a:r>
              <a:rPr lang="en-US"/>
              <a:t>
These 20 essential concepts form the foundation of understanding Generative AI systems. From core technical concepts like tokens and embeddings to advanced applications like multi-agent systems and safety considerations, each plays a crucial role in the development and deployment of modern AI systems. Understanding these concepts enables better:</a:t>
            </a:r>
          </a:p>
          <a:p>
            <a:r>
              <a:rPr lang="en-US"/>
              <a:t>
As the field continues to evolve rapidly, these fundamental concepts provide a solid foundation for further learning and practical application in the exciting world of Generative AI.
Image source: Microsoft 365 content library
</a:t>
            </a:r>
          </a:p>
        </p:txBody>
      </p:sp>
      <p:sp>
        <p:nvSpPr>
          <p:cNvPr id="4" name="Slide Number Placeholder 3"/>
          <p:cNvSpPr>
            <a:spLocks noGrp="1"/>
          </p:cNvSpPr>
          <p:nvPr>
            <p:ph type="sldNum" sz="quarter" idx="5"/>
          </p:nvPr>
        </p:nvSpPr>
        <p:spPr/>
        <p:txBody>
          <a:bodyPr/>
          <a:lstStyle/>
          <a:p>
            <a:fld id="{62347A47-DD40-4570-B07A-3FB29C2F7D17}" type="slidenum">
              <a:rPr lang="en-US" smtClean="0"/>
              <a:t>42</a:t>
            </a:fld>
            <a:endParaRPr lang="en-US"/>
          </a:p>
        </p:txBody>
      </p:sp>
    </p:spTree>
    <p:extLst>
      <p:ext uri="{BB962C8B-B14F-4D97-AF65-F5344CB8AC3E}">
        <p14:creationId xmlns:p14="http://schemas.microsoft.com/office/powerpoint/2010/main" val="3322811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Generative AI encompasses a broad range of concepts from foundational principles to advanced techniques. Understanding these essentials enables the effective development and responsible application of AI technologies.</a:t>
            </a:r>
          </a:p>
        </p:txBody>
      </p:sp>
      <p:sp>
        <p:nvSpPr>
          <p:cNvPr id="4" name="Slide Number Placeholder 3"/>
          <p:cNvSpPr>
            <a:spLocks noGrp="1"/>
          </p:cNvSpPr>
          <p:nvPr>
            <p:ph type="sldNum" sz="quarter" idx="5"/>
          </p:nvPr>
        </p:nvSpPr>
        <p:spPr/>
        <p:txBody>
          <a:bodyPr/>
          <a:lstStyle/>
          <a:p>
            <a:fld id="{62347A47-DD40-4570-B07A-3FB29C2F7D17}" type="slidenum">
              <a:rPr lang="en-US" smtClean="0"/>
              <a:t>43</a:t>
            </a:fld>
            <a:endParaRPr lang="en-US"/>
          </a:p>
        </p:txBody>
      </p:sp>
    </p:spTree>
    <p:extLst>
      <p:ext uri="{BB962C8B-B14F-4D97-AF65-F5344CB8AC3E}">
        <p14:creationId xmlns:p14="http://schemas.microsoft.com/office/powerpoint/2010/main" val="4223190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77445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99460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100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18817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74121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73458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9937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31839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40152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933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4/24/2026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22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4/24/2026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92546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hyperlink" Target="https://developers.google.com/machine-learning/glossary#parameter"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microsoft.com/office/2007/relationships/hdphoto" Target="../media/hdphoto1.wdp"/><Relationship Id="rId4" Type="http://schemas.openxmlformats.org/officeDocument/2006/relationships/diagramLayout" Target="../diagrams/layout2.xml"/><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6C5C09-0043-4549-B800-2101B70D6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5F6BC1-2EBF-FCE2-3D76-1BB4F3EF28B9}"/>
              </a:ext>
            </a:extLst>
          </p:cNvPr>
          <p:cNvSpPr>
            <a:spLocks noGrp="1"/>
          </p:cNvSpPr>
          <p:nvPr>
            <p:ph type="ctrTitle"/>
          </p:nvPr>
        </p:nvSpPr>
        <p:spPr>
          <a:xfrm>
            <a:off x="6699869" y="978407"/>
            <a:ext cx="4983480" cy="3976380"/>
          </a:xfrm>
        </p:spPr>
        <p:txBody>
          <a:bodyPr anchor="t">
            <a:normAutofit/>
          </a:bodyPr>
          <a:lstStyle/>
          <a:p>
            <a:r>
              <a:rPr lang="en-US" sz="6000" dirty="0"/>
              <a:t>Essential Concepts in Generative AI</a:t>
            </a:r>
          </a:p>
        </p:txBody>
      </p:sp>
      <p:sp>
        <p:nvSpPr>
          <p:cNvPr id="3" name="Subtitle 2">
            <a:extLst>
              <a:ext uri="{FF2B5EF4-FFF2-40B4-BE49-F238E27FC236}">
                <a16:creationId xmlns:a16="http://schemas.microsoft.com/office/drawing/2014/main" id="{5BE962FD-5E7F-3223-3C4B-A11680BC9966}"/>
              </a:ext>
            </a:extLst>
          </p:cNvPr>
          <p:cNvSpPr>
            <a:spLocks noGrp="1"/>
          </p:cNvSpPr>
          <p:nvPr>
            <p:ph type="subTitle" idx="1"/>
          </p:nvPr>
        </p:nvSpPr>
        <p:spPr>
          <a:xfrm>
            <a:off x="6699869" y="5275825"/>
            <a:ext cx="4983481" cy="1070177"/>
          </a:xfrm>
        </p:spPr>
        <p:txBody>
          <a:bodyPr anchor="t">
            <a:normAutofit/>
          </a:bodyPr>
          <a:lstStyle/>
          <a:p>
            <a:r>
              <a:rPr lang="en-US" sz="2400" dirty="0"/>
              <a:t>Understanding core concepts before getting started</a:t>
            </a:r>
          </a:p>
        </p:txBody>
      </p:sp>
      <p:pic>
        <p:nvPicPr>
          <p:cNvPr id="4" name="Picture 3" descr="Abstract picture of the brain made up of patterns">
            <a:extLst>
              <a:ext uri="{FF2B5EF4-FFF2-40B4-BE49-F238E27FC236}">
                <a16:creationId xmlns:a16="http://schemas.microsoft.com/office/drawing/2014/main" id="{1E401416-A287-40CD-BF0E-B8222590FB6F}"/>
              </a:ext>
            </a:extLst>
          </p:cNvPr>
          <p:cNvPicPr>
            <a:picLocks noChangeAspect="1"/>
          </p:cNvPicPr>
          <p:nvPr/>
        </p:nvPicPr>
        <p:blipFill>
          <a:blip r:embed="rId3"/>
          <a:srcRect l="13226" r="11871"/>
          <a:stretch>
            <a:fillRect/>
          </a:stretch>
        </p:blipFill>
        <p:spPr>
          <a:xfrm>
            <a:off x="525664" y="508090"/>
            <a:ext cx="5570336" cy="5837913"/>
          </a:xfrm>
          <a:prstGeom prst="rect">
            <a:avLst/>
          </a:prstGeom>
        </p:spPr>
      </p:pic>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3493" y="508090"/>
            <a:ext cx="4983481"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97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4" name="Rectangle 23">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
            <a:extLst>
              <a:ext uri="{FF2B5EF4-FFF2-40B4-BE49-F238E27FC236}">
                <a16:creationId xmlns:a16="http://schemas.microsoft.com/office/drawing/2014/main" id="{9B4B15EC-7FEE-D9BE-E1D8-6F81E3B7630D}"/>
              </a:ext>
            </a:extLst>
          </p:cNvPr>
          <p:cNvSpPr>
            <a:spLocks noGrp="1" noChangeArrowheads="1"/>
          </p:cNvSpPr>
          <p:nvPr>
            <p:ph type="title"/>
          </p:nvPr>
        </p:nvSpPr>
        <p:spPr bwMode="auto">
          <a:xfrm>
            <a:off x="521208" y="978408"/>
            <a:ext cx="11155680" cy="111556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0" fontAlgn="base">
              <a:spcAft>
                <a:spcPct val="0"/>
              </a:spcAft>
              <a:buClrTx/>
              <a:buSzTx/>
              <a:tabLst/>
            </a:pPr>
            <a:r>
              <a:rPr kumimoji="0" lang="en-US" altLang="en-US" b="1" i="1" u="none" strike="noStrike" kern="1200" cap="none" normalizeH="0" baseline="0">
                <a:ln>
                  <a:noFill/>
                </a:ln>
                <a:solidFill>
                  <a:schemeClr val="tx1"/>
                </a:solidFill>
                <a:effectLst/>
                <a:latin typeface="+mj-lt"/>
                <a:ea typeface="+mj-ea"/>
                <a:cs typeface="+mj-cs"/>
              </a:rPr>
              <a:t>What is a large language model?</a:t>
            </a:r>
          </a:p>
        </p:txBody>
      </p:sp>
      <p:sp>
        <p:nvSpPr>
          <p:cNvPr id="25" name="Freeform: Shape 24">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diagram of a transformer&#10;&#10;AI-generated content may be incorrect.">
            <a:extLst>
              <a:ext uri="{FF2B5EF4-FFF2-40B4-BE49-F238E27FC236}">
                <a16:creationId xmlns:a16="http://schemas.microsoft.com/office/drawing/2014/main" id="{E2237181-B7B4-DBC4-4AE0-9832F20E5A42}"/>
              </a:ext>
            </a:extLst>
          </p:cNvPr>
          <p:cNvPicPr>
            <a:picLocks noChangeAspect="1"/>
          </p:cNvPicPr>
          <p:nvPr/>
        </p:nvPicPr>
        <p:blipFill>
          <a:blip r:embed="rId2"/>
          <a:stretch>
            <a:fillRect/>
          </a:stretch>
        </p:blipFill>
        <p:spPr>
          <a:xfrm>
            <a:off x="517868" y="2918990"/>
            <a:ext cx="5639091" cy="2833643"/>
          </a:xfrm>
          <a:prstGeom prst="rect">
            <a:avLst/>
          </a:prstGeom>
        </p:spPr>
      </p:pic>
      <p:sp>
        <p:nvSpPr>
          <p:cNvPr id="6" name="TextBox 5">
            <a:extLst>
              <a:ext uri="{FF2B5EF4-FFF2-40B4-BE49-F238E27FC236}">
                <a16:creationId xmlns:a16="http://schemas.microsoft.com/office/drawing/2014/main" id="{FF4471FF-277D-635B-2290-8692F80681D2}"/>
              </a:ext>
            </a:extLst>
          </p:cNvPr>
          <p:cNvSpPr txBox="1"/>
          <p:nvPr/>
        </p:nvSpPr>
        <p:spPr>
          <a:xfrm>
            <a:off x="6547104" y="2304288"/>
            <a:ext cx="5129784" cy="4050792"/>
          </a:xfrm>
          <a:prstGeom prst="rect">
            <a:avLst/>
          </a:prstGeom>
        </p:spPr>
        <p:txBody>
          <a:bodyPr vert="horz" lIns="91440" tIns="45720" rIns="91440" bIns="45720" rtlCol="0">
            <a:normAutofit/>
          </a:bodyPr>
          <a:lstStyle/>
          <a:p>
            <a:pPr marL="285750" indent="-228600">
              <a:lnSpc>
                <a:spcPct val="110000"/>
              </a:lnSpc>
              <a:spcAft>
                <a:spcPts val="600"/>
              </a:spcAft>
              <a:buFont typeface="Arial" panose="020B0604020202020204" pitchFamily="34" charset="0"/>
              <a:buChar char="•"/>
            </a:pPr>
            <a:r>
              <a:rPr lang="en-US" b="1" i="1">
                <a:effectLst/>
              </a:rPr>
              <a:t>Large Language Models (LLMs) </a:t>
            </a:r>
            <a:r>
              <a:rPr lang="en-US" b="0" i="0">
                <a:effectLst/>
              </a:rPr>
              <a:t>are advanced AI systems built on </a:t>
            </a:r>
            <a:r>
              <a:rPr lang="en-US" b="1" i="0">
                <a:effectLst/>
              </a:rPr>
              <a:t>deep neural networks </a:t>
            </a:r>
            <a:r>
              <a:rPr lang="en-US" b="0" i="0">
                <a:effectLst/>
              </a:rPr>
              <a:t>designed to process, understand and generate human-like text.</a:t>
            </a:r>
          </a:p>
          <a:p>
            <a:pPr marL="285750" indent="-228600">
              <a:lnSpc>
                <a:spcPct val="110000"/>
              </a:lnSpc>
              <a:spcAft>
                <a:spcPts val="600"/>
              </a:spcAft>
              <a:buFont typeface="Arial" panose="020B0604020202020204" pitchFamily="34" charset="0"/>
              <a:buChar char="•"/>
            </a:pPr>
            <a:r>
              <a:rPr lang="en-US" b="0" i="0">
                <a:effectLst/>
              </a:rPr>
              <a:t>By using massive datasets and billions of parameters, LLMs have transformed the way humans interact with technology. </a:t>
            </a:r>
          </a:p>
          <a:p>
            <a:pPr marL="285750" indent="-228600">
              <a:lnSpc>
                <a:spcPct val="110000"/>
              </a:lnSpc>
              <a:spcAft>
                <a:spcPts val="600"/>
              </a:spcAft>
              <a:buFont typeface="Arial" panose="020B0604020202020204" pitchFamily="34" charset="0"/>
              <a:buChar char="•"/>
            </a:pPr>
            <a:r>
              <a:rPr lang="en-US" b="0" i="0">
                <a:effectLst/>
              </a:rPr>
              <a:t>It learns patterns, grammar and context from text and can answer questions, write content, translate languages and many more. </a:t>
            </a:r>
            <a:endParaRPr lang="en-US"/>
          </a:p>
        </p:txBody>
      </p:sp>
    </p:spTree>
    <p:extLst>
      <p:ext uri="{BB962C8B-B14F-4D97-AF65-F5344CB8AC3E}">
        <p14:creationId xmlns:p14="http://schemas.microsoft.com/office/powerpoint/2010/main" val="2957269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F27DEDD-338B-4CDB-A42A-BD8B1772F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5750"/>
            <a:ext cx="7848600" cy="65722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B3D3620-3E42-48C3-B77D-401CFD71D328}"/>
              </a:ext>
            </a:extLst>
          </p:cNvPr>
          <p:cNvSpPr txBox="1"/>
          <p:nvPr/>
        </p:nvSpPr>
        <p:spPr>
          <a:xfrm>
            <a:off x="6448425" y="2900660"/>
            <a:ext cx="5248275" cy="1015663"/>
          </a:xfrm>
          <a:prstGeom prst="rect">
            <a:avLst/>
          </a:prstGeom>
          <a:noFill/>
        </p:spPr>
        <p:txBody>
          <a:bodyPr wrap="square">
            <a:spAutoFit/>
          </a:bodyPr>
          <a:lstStyle/>
          <a:p>
            <a:r>
              <a:rPr lang="en-US" sz="2000" dirty="0"/>
              <a:t>A </a:t>
            </a:r>
            <a:r>
              <a:rPr lang="en-US" sz="2000" b="1" dirty="0"/>
              <a:t>Transformer</a:t>
            </a:r>
            <a:r>
              <a:rPr lang="en-US" sz="2000" dirty="0"/>
              <a:t> is made up of </a:t>
            </a:r>
            <a:r>
              <a:rPr lang="en-US" sz="2000" b="1" dirty="0"/>
              <a:t>two main parts</a:t>
            </a:r>
            <a:r>
              <a:rPr lang="en-US" sz="2000" dirty="0"/>
              <a:t>:</a:t>
            </a:r>
          </a:p>
          <a:p>
            <a:pPr marL="457200" indent="-457200">
              <a:buFont typeface="+mj-lt"/>
              <a:buAutoNum type="arabicPeriod"/>
            </a:pPr>
            <a:r>
              <a:rPr lang="en-US" sz="2000" b="1" dirty="0"/>
              <a:t>Encoder</a:t>
            </a:r>
            <a:r>
              <a:rPr lang="en-US" sz="2000" dirty="0"/>
              <a:t> → understands the input</a:t>
            </a:r>
          </a:p>
          <a:p>
            <a:pPr marL="457200" indent="-457200">
              <a:buFont typeface="+mj-lt"/>
              <a:buAutoNum type="arabicPeriod"/>
            </a:pPr>
            <a:r>
              <a:rPr lang="en-US" sz="2000" b="1" dirty="0"/>
              <a:t>Decoder</a:t>
            </a:r>
            <a:r>
              <a:rPr lang="en-US" sz="2000" dirty="0"/>
              <a:t> → generates the output</a:t>
            </a:r>
          </a:p>
        </p:txBody>
      </p:sp>
    </p:spTree>
    <p:extLst>
      <p:ext uri="{BB962C8B-B14F-4D97-AF65-F5344CB8AC3E}">
        <p14:creationId xmlns:p14="http://schemas.microsoft.com/office/powerpoint/2010/main" val="41464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9A644-382A-4F6B-AB41-858345304966}"/>
              </a:ext>
            </a:extLst>
          </p:cNvPr>
          <p:cNvSpPr>
            <a:spLocks noGrp="1"/>
          </p:cNvSpPr>
          <p:nvPr>
            <p:ph type="title"/>
          </p:nvPr>
        </p:nvSpPr>
        <p:spPr>
          <a:xfrm>
            <a:off x="521208" y="978408"/>
            <a:ext cx="11155680" cy="726567"/>
          </a:xfrm>
        </p:spPr>
        <p:txBody>
          <a:bodyPr>
            <a:normAutofit fontScale="90000"/>
          </a:bodyPr>
          <a:lstStyle/>
          <a:p>
            <a:r>
              <a:rPr lang="en-US" dirty="0"/>
              <a:t>Transformers architecture</a:t>
            </a:r>
          </a:p>
        </p:txBody>
      </p:sp>
      <p:sp>
        <p:nvSpPr>
          <p:cNvPr id="7" name="TextBox 6">
            <a:extLst>
              <a:ext uri="{FF2B5EF4-FFF2-40B4-BE49-F238E27FC236}">
                <a16:creationId xmlns:a16="http://schemas.microsoft.com/office/drawing/2014/main" id="{33FD65E9-D646-49A6-8A52-A161379487CB}"/>
              </a:ext>
            </a:extLst>
          </p:cNvPr>
          <p:cNvSpPr txBox="1"/>
          <p:nvPr/>
        </p:nvSpPr>
        <p:spPr>
          <a:xfrm>
            <a:off x="521208" y="1914942"/>
            <a:ext cx="10661142" cy="3477875"/>
          </a:xfrm>
          <a:prstGeom prst="rect">
            <a:avLst/>
          </a:prstGeom>
          <a:noFill/>
        </p:spPr>
        <p:txBody>
          <a:bodyPr wrap="square">
            <a:spAutoFit/>
          </a:bodyPr>
          <a:lstStyle/>
          <a:p>
            <a:r>
              <a:rPr lang="en-US" sz="2000" dirty="0"/>
              <a:t>Each part (Encoder/Decoder) has stacked layers, and every layer has:</a:t>
            </a:r>
          </a:p>
          <a:p>
            <a:r>
              <a:rPr lang="en-US" sz="2000" b="1" i="1" u="sng" dirty="0"/>
              <a:t>1. Self-Attention Layer</a:t>
            </a:r>
          </a:p>
          <a:p>
            <a:pPr marL="285750" indent="-285750">
              <a:buFont typeface="Arial" panose="020B0604020202020204" pitchFamily="34" charset="0"/>
              <a:buChar char="•"/>
            </a:pPr>
            <a:r>
              <a:rPr lang="en-US" sz="2000" dirty="0"/>
              <a:t>Learns how each word relates to others in the same sentence</a:t>
            </a:r>
          </a:p>
          <a:p>
            <a:pPr marL="285750" indent="-285750">
              <a:buFont typeface="Arial" panose="020B0604020202020204" pitchFamily="34" charset="0"/>
              <a:buChar char="•"/>
            </a:pPr>
            <a:r>
              <a:rPr lang="en-US" sz="2000" dirty="0"/>
              <a:t>Uses Q (Query), K (Key), and V (Value) vectors to compute attention scores</a:t>
            </a:r>
          </a:p>
          <a:p>
            <a:pPr marL="285750" indent="-285750">
              <a:buFont typeface="Arial" panose="020B0604020202020204" pitchFamily="34" charset="0"/>
              <a:buChar char="•"/>
            </a:pPr>
            <a:r>
              <a:rPr lang="en-US" sz="2000" dirty="0"/>
              <a:t>Example: In “The cat sat on the mat,” the word “cat” will attend to “sat” and “mat”.</a:t>
            </a:r>
          </a:p>
          <a:p>
            <a:r>
              <a:rPr lang="en-US" sz="2000" b="1" i="1" u="sng" dirty="0"/>
              <a:t> 2. Feed-Forward Neural Network</a:t>
            </a:r>
          </a:p>
          <a:p>
            <a:pPr marL="285750" indent="-285750">
              <a:buFont typeface="Arial" panose="020B0604020202020204" pitchFamily="34" charset="0"/>
              <a:buChar char="•"/>
            </a:pPr>
            <a:r>
              <a:rPr lang="en-US" sz="2000" dirty="0"/>
              <a:t>After attention finds relationships, this small network learns deeper patterns.</a:t>
            </a:r>
          </a:p>
          <a:p>
            <a:pPr marL="285750" indent="-285750">
              <a:buFont typeface="Arial" panose="020B0604020202020204" pitchFamily="34" charset="0"/>
              <a:buChar char="•"/>
            </a:pPr>
            <a:r>
              <a:rPr lang="en-US" sz="2000" dirty="0"/>
              <a:t>Works independently on each word’s representation.</a:t>
            </a:r>
          </a:p>
          <a:p>
            <a:r>
              <a:rPr lang="en-US" sz="2000" b="1" i="1" u="sng" dirty="0"/>
              <a:t>3. Add &amp; Norm</a:t>
            </a:r>
          </a:p>
          <a:p>
            <a:pPr marL="285750" indent="-285750">
              <a:buFont typeface="Arial" panose="020B0604020202020204" pitchFamily="34" charset="0"/>
              <a:buChar char="•"/>
            </a:pPr>
            <a:r>
              <a:rPr lang="en-US" sz="2000" dirty="0"/>
              <a:t>Keeps training stable by adding the original input (residual connection)and normalizing values for consistency.</a:t>
            </a:r>
          </a:p>
        </p:txBody>
      </p:sp>
    </p:spTree>
    <p:extLst>
      <p:ext uri="{BB962C8B-B14F-4D97-AF65-F5344CB8AC3E}">
        <p14:creationId xmlns:p14="http://schemas.microsoft.com/office/powerpoint/2010/main" val="431549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A close-up of a diagram&#10;&#10;AI-generated content may be incorrect.">
            <a:extLst>
              <a:ext uri="{FF2B5EF4-FFF2-40B4-BE49-F238E27FC236}">
                <a16:creationId xmlns:a16="http://schemas.microsoft.com/office/drawing/2014/main" id="{3CF600C1-6172-D137-0F93-ABF7134D8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5"/>
          <a:stretch>
            <a:fillRect/>
          </a:stretch>
        </p:blipFill>
        <p:spPr bwMode="auto">
          <a:xfrm>
            <a:off x="20" y="10"/>
            <a:ext cx="1218893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6" name="Rectangle 1035">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0631"/>
            <a:ext cx="868680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686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58BC2-209D-AC15-5034-EA919463B3DD}"/>
              </a:ext>
            </a:extLst>
          </p:cNvPr>
          <p:cNvSpPr>
            <a:spLocks noGrp="1"/>
          </p:cNvSpPr>
          <p:nvPr>
            <p:ph type="title"/>
          </p:nvPr>
        </p:nvSpPr>
        <p:spPr>
          <a:xfrm>
            <a:off x="518160" y="765466"/>
            <a:ext cx="11155680" cy="574819"/>
          </a:xfrm>
        </p:spPr>
        <p:txBody>
          <a:bodyPr>
            <a:normAutofit fontScale="90000"/>
          </a:bodyPr>
          <a:lstStyle/>
          <a:p>
            <a:r>
              <a:rPr lang="en-US" b="0" dirty="0"/>
              <a:t>What We'll Cover</a:t>
            </a:r>
            <a:endParaRPr lang="en-US" dirty="0"/>
          </a:p>
        </p:txBody>
      </p:sp>
      <p:sp>
        <p:nvSpPr>
          <p:cNvPr id="3" name="Rectangle: Rounded Corners 2">
            <a:extLst>
              <a:ext uri="{FF2B5EF4-FFF2-40B4-BE49-F238E27FC236}">
                <a16:creationId xmlns:a16="http://schemas.microsoft.com/office/drawing/2014/main" id="{992F0353-D6A3-EA61-1D72-02F3CC88C230}"/>
              </a:ext>
            </a:extLst>
          </p:cNvPr>
          <p:cNvSpPr/>
          <p:nvPr/>
        </p:nvSpPr>
        <p:spPr>
          <a:xfrm>
            <a:off x="518160" y="1615856"/>
            <a:ext cx="5278886" cy="2315230"/>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F0D0040-4641-335D-6E9A-9A7092015702}"/>
              </a:ext>
            </a:extLst>
          </p:cNvPr>
          <p:cNvSpPr/>
          <p:nvPr/>
        </p:nvSpPr>
        <p:spPr>
          <a:xfrm>
            <a:off x="6394954" y="1615855"/>
            <a:ext cx="5278886" cy="231523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CCF35D61-4383-9BA3-5877-E9239129AC4E}"/>
              </a:ext>
            </a:extLst>
          </p:cNvPr>
          <p:cNvSpPr/>
          <p:nvPr/>
        </p:nvSpPr>
        <p:spPr>
          <a:xfrm>
            <a:off x="518160" y="4235882"/>
            <a:ext cx="5278886" cy="2315230"/>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96A7CFE-24CD-9D82-88F4-A2FBED0FC156}"/>
              </a:ext>
            </a:extLst>
          </p:cNvPr>
          <p:cNvSpPr/>
          <p:nvPr/>
        </p:nvSpPr>
        <p:spPr>
          <a:xfrm>
            <a:off x="6394953" y="4235881"/>
            <a:ext cx="5278886" cy="2315230"/>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Brain with solid fill">
            <a:extLst>
              <a:ext uri="{FF2B5EF4-FFF2-40B4-BE49-F238E27FC236}">
                <a16:creationId xmlns:a16="http://schemas.microsoft.com/office/drawing/2014/main" id="{F9A3165B-5AA4-5773-241F-A5FF7C8566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00403" y="1982244"/>
            <a:ext cx="914400" cy="914400"/>
          </a:xfrm>
          <a:prstGeom prst="rect">
            <a:avLst/>
          </a:prstGeom>
        </p:spPr>
      </p:pic>
      <p:sp>
        <p:nvSpPr>
          <p:cNvPr id="10" name="TextBox 9">
            <a:extLst>
              <a:ext uri="{FF2B5EF4-FFF2-40B4-BE49-F238E27FC236}">
                <a16:creationId xmlns:a16="http://schemas.microsoft.com/office/drawing/2014/main" id="{7285DC84-D15E-9C2E-4338-E35E21363402}"/>
              </a:ext>
            </a:extLst>
          </p:cNvPr>
          <p:cNvSpPr txBox="1"/>
          <p:nvPr/>
        </p:nvSpPr>
        <p:spPr>
          <a:xfrm>
            <a:off x="110647" y="3078366"/>
            <a:ext cx="6093912" cy="369332"/>
          </a:xfrm>
          <a:prstGeom prst="rect">
            <a:avLst/>
          </a:prstGeom>
          <a:noFill/>
        </p:spPr>
        <p:txBody>
          <a:bodyPr wrap="square">
            <a:spAutoFit/>
          </a:bodyPr>
          <a:lstStyle/>
          <a:p>
            <a:pPr algn="ctr"/>
            <a:r>
              <a:rPr lang="en-US" dirty="0"/>
              <a:t>Core Concepts in Generative AI</a:t>
            </a:r>
          </a:p>
        </p:txBody>
      </p:sp>
      <p:pic>
        <p:nvPicPr>
          <p:cNvPr id="12" name="Graphic 11" descr="Magnifying glass with solid fill">
            <a:extLst>
              <a:ext uri="{FF2B5EF4-FFF2-40B4-BE49-F238E27FC236}">
                <a16:creationId xmlns:a16="http://schemas.microsoft.com/office/drawing/2014/main" id="{29548254-4858-DB1E-E124-01BFA44FFE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77197" y="1982244"/>
            <a:ext cx="914400" cy="914400"/>
          </a:xfrm>
          <a:prstGeom prst="rect">
            <a:avLst/>
          </a:prstGeom>
        </p:spPr>
      </p:pic>
      <p:pic>
        <p:nvPicPr>
          <p:cNvPr id="14" name="Graphic 13" descr="Handshake with solid fill">
            <a:extLst>
              <a:ext uri="{FF2B5EF4-FFF2-40B4-BE49-F238E27FC236}">
                <a16:creationId xmlns:a16="http://schemas.microsoft.com/office/drawing/2014/main" id="{3DB024C5-711D-21A0-0354-C98E2E0B169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00403" y="4529200"/>
            <a:ext cx="914400" cy="914400"/>
          </a:xfrm>
          <a:prstGeom prst="rect">
            <a:avLst/>
          </a:prstGeom>
        </p:spPr>
      </p:pic>
      <p:pic>
        <p:nvPicPr>
          <p:cNvPr id="16" name="Graphic 15" descr="Shield Tick with solid fill">
            <a:extLst>
              <a:ext uri="{FF2B5EF4-FFF2-40B4-BE49-F238E27FC236}">
                <a16:creationId xmlns:a16="http://schemas.microsoft.com/office/drawing/2014/main" id="{0F144FC0-BC38-903D-2840-8A199E8F62A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77197" y="4529200"/>
            <a:ext cx="914400" cy="914400"/>
          </a:xfrm>
          <a:prstGeom prst="rect">
            <a:avLst/>
          </a:prstGeom>
        </p:spPr>
      </p:pic>
      <p:sp>
        <p:nvSpPr>
          <p:cNvPr id="18" name="TextBox 17">
            <a:extLst>
              <a:ext uri="{FF2B5EF4-FFF2-40B4-BE49-F238E27FC236}">
                <a16:creationId xmlns:a16="http://schemas.microsoft.com/office/drawing/2014/main" id="{AA9DE83D-B4F7-2012-8353-8591235725BE}"/>
              </a:ext>
            </a:extLst>
          </p:cNvPr>
          <p:cNvSpPr txBox="1"/>
          <p:nvPr/>
        </p:nvSpPr>
        <p:spPr>
          <a:xfrm>
            <a:off x="5987440" y="3074282"/>
            <a:ext cx="6093912" cy="369332"/>
          </a:xfrm>
          <a:prstGeom prst="rect">
            <a:avLst/>
          </a:prstGeom>
          <a:noFill/>
        </p:spPr>
        <p:txBody>
          <a:bodyPr wrap="square">
            <a:spAutoFit/>
          </a:bodyPr>
          <a:lstStyle/>
          <a:p>
            <a:pPr algn="ctr"/>
            <a:r>
              <a:rPr lang="en-US" dirty="0"/>
              <a:t>Retrieval &amp; Knowledge Augmentation Concepts</a:t>
            </a:r>
          </a:p>
        </p:txBody>
      </p:sp>
      <p:sp>
        <p:nvSpPr>
          <p:cNvPr id="20" name="TextBox 19">
            <a:extLst>
              <a:ext uri="{FF2B5EF4-FFF2-40B4-BE49-F238E27FC236}">
                <a16:creationId xmlns:a16="http://schemas.microsoft.com/office/drawing/2014/main" id="{6D12D395-85B9-47D6-B9F3-FD178C8FECDA}"/>
              </a:ext>
            </a:extLst>
          </p:cNvPr>
          <p:cNvSpPr txBox="1"/>
          <p:nvPr/>
        </p:nvSpPr>
        <p:spPr>
          <a:xfrm>
            <a:off x="110647" y="5788964"/>
            <a:ext cx="6093912" cy="369332"/>
          </a:xfrm>
          <a:prstGeom prst="rect">
            <a:avLst/>
          </a:prstGeom>
          <a:noFill/>
        </p:spPr>
        <p:txBody>
          <a:bodyPr wrap="square">
            <a:spAutoFit/>
          </a:bodyPr>
          <a:lstStyle/>
          <a:p>
            <a:pPr algn="ctr"/>
            <a:r>
              <a:rPr lang="en-US" dirty="0"/>
              <a:t>Agentic AI Concepts</a:t>
            </a:r>
          </a:p>
        </p:txBody>
      </p:sp>
      <p:sp>
        <p:nvSpPr>
          <p:cNvPr id="22" name="TextBox 21">
            <a:extLst>
              <a:ext uri="{FF2B5EF4-FFF2-40B4-BE49-F238E27FC236}">
                <a16:creationId xmlns:a16="http://schemas.microsoft.com/office/drawing/2014/main" id="{9B0819B5-68E1-7781-6E8A-E2CD828AE13E}"/>
              </a:ext>
            </a:extLst>
          </p:cNvPr>
          <p:cNvSpPr txBox="1"/>
          <p:nvPr/>
        </p:nvSpPr>
        <p:spPr>
          <a:xfrm>
            <a:off x="5987440" y="5791312"/>
            <a:ext cx="6093912" cy="369332"/>
          </a:xfrm>
          <a:prstGeom prst="rect">
            <a:avLst/>
          </a:prstGeom>
          <a:noFill/>
        </p:spPr>
        <p:txBody>
          <a:bodyPr wrap="square">
            <a:spAutoFit/>
          </a:bodyPr>
          <a:lstStyle/>
          <a:p>
            <a:pPr algn="ctr"/>
            <a:r>
              <a:rPr lang="en-US" dirty="0"/>
              <a:t>Evaluation &amp; Safety Concepts</a:t>
            </a:r>
          </a:p>
        </p:txBody>
      </p:sp>
    </p:spTree>
    <p:extLst>
      <p:ext uri="{BB962C8B-B14F-4D97-AF65-F5344CB8AC3E}">
        <p14:creationId xmlns:p14="http://schemas.microsoft.com/office/powerpoint/2010/main" val="2334643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28E892B-31F0-D17F-1859-B3899D1AA603}"/>
              </a:ext>
            </a:extLst>
          </p:cNvPr>
          <p:cNvSpPr>
            <a:spLocks noGrp="1"/>
          </p:cNvSpPr>
          <p:nvPr>
            <p:ph type="ctrTitle"/>
          </p:nvPr>
        </p:nvSpPr>
        <p:spPr>
          <a:xfrm>
            <a:off x="521208" y="1211766"/>
            <a:ext cx="7237052" cy="4727988"/>
          </a:xfrm>
        </p:spPr>
        <p:txBody>
          <a:bodyPr anchor="b">
            <a:normAutofit/>
          </a:bodyPr>
          <a:lstStyle/>
          <a:p>
            <a:r>
              <a:rPr lang="en-US" sz="7400"/>
              <a:t>Core Concepts in Generative AI</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31785746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AEFBA8-7018-85A7-1DBD-9314B9CA345C}"/>
              </a:ext>
            </a:extLst>
          </p:cNvPr>
          <p:cNvSpPr txBox="1"/>
          <p:nvPr/>
        </p:nvSpPr>
        <p:spPr>
          <a:xfrm>
            <a:off x="1968674" y="2430049"/>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Hallucination</a:t>
            </a:r>
          </a:p>
        </p:txBody>
      </p:sp>
    </p:spTree>
    <p:extLst>
      <p:ext uri="{BB962C8B-B14F-4D97-AF65-F5344CB8AC3E}">
        <p14:creationId xmlns:p14="http://schemas.microsoft.com/office/powerpoint/2010/main" val="316633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417CE05-6D07-8FEE-F970-AA9C3B4DD187}"/>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Hallucination</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Content Placeholder 3">
            <a:extLst>
              <a:ext uri="{FF2B5EF4-FFF2-40B4-BE49-F238E27FC236}">
                <a16:creationId xmlns:a16="http://schemas.microsoft.com/office/drawing/2014/main" id="{F1DDAFBC-4196-EDCF-E740-BCD4DD5B6F85}"/>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97458"/>
            <a:ext cx="5504688" cy="5367528"/>
          </a:xfrm>
        </p:spPr>
        <p:txBody>
          <a:bodyPr>
            <a:normAutofit/>
          </a:bodyPr>
          <a:lstStyle/>
          <a:p>
            <a:pPr marL="0" indent="0">
              <a:spcBef>
                <a:spcPts val="2500"/>
              </a:spcBef>
              <a:buFont typeface="Arial" panose="020B0604020202020204" pitchFamily="34" charset="0"/>
              <a:buNone/>
            </a:pPr>
            <a:r>
              <a:rPr lang="en-US" b="1" dirty="0"/>
              <a:t>Definition of Hallucination</a:t>
            </a:r>
          </a:p>
          <a:p>
            <a:pPr marL="0" lvl="1" indent="0">
              <a:buFont typeface="Arial" panose="020B0604020202020204" pitchFamily="34" charset="0"/>
              <a:buNone/>
            </a:pPr>
            <a:r>
              <a:rPr lang="en-US" sz="1800" dirty="0"/>
              <a:t>Hallucination occurs when AI produces factually incorrect but plausible-sounding information.</a:t>
            </a:r>
          </a:p>
          <a:p>
            <a:pPr marL="0" indent="0">
              <a:spcBef>
                <a:spcPts val="2500"/>
              </a:spcBef>
              <a:buFont typeface="Arial" panose="020B0604020202020204" pitchFamily="34" charset="0"/>
              <a:buNone/>
            </a:pPr>
            <a:r>
              <a:rPr lang="en-US" b="1" dirty="0"/>
              <a:t>Examples of Hallucination</a:t>
            </a:r>
          </a:p>
          <a:p>
            <a:pPr marL="0" lvl="1" indent="0">
              <a:buFont typeface="Arial" panose="020B0604020202020204" pitchFamily="34" charset="0"/>
              <a:buNone/>
            </a:pPr>
            <a:r>
              <a:rPr lang="en-US" sz="1800" dirty="0"/>
              <a:t>Examples include AI falsely reporting events or citing non-existent sources.</a:t>
            </a:r>
          </a:p>
          <a:p>
            <a:pPr marL="0" indent="0">
              <a:spcBef>
                <a:spcPts val="2500"/>
              </a:spcBef>
              <a:buFont typeface="Arial" panose="020B0604020202020204" pitchFamily="34" charset="0"/>
              <a:buNone/>
            </a:pPr>
            <a:r>
              <a:rPr lang="en-US" b="1" dirty="0"/>
              <a:t>Role in Large Language Models</a:t>
            </a:r>
          </a:p>
          <a:p>
            <a:pPr marL="0" lvl="1" indent="0">
              <a:buFont typeface="Arial" panose="020B0604020202020204" pitchFamily="34" charset="0"/>
              <a:buNone/>
            </a:pPr>
            <a:r>
              <a:rPr lang="en-US" sz="1800" dirty="0"/>
              <a:t>LLMs generate text based on patterns, which can produce convincing but false content.</a:t>
            </a:r>
          </a:p>
        </p:txBody>
      </p:sp>
      <p:sp>
        <p:nvSpPr>
          <p:cNvPr id="8" name="Content Placeholder 7">
            <a:extLst>
              <a:ext uri="{FF2B5EF4-FFF2-40B4-BE49-F238E27FC236}">
                <a16:creationId xmlns:a16="http://schemas.microsoft.com/office/drawing/2014/main" id="{C4196202-8A44-DD5D-E3E2-717333A291E7}"/>
              </a:ext>
            </a:extLst>
          </p:cNvPr>
          <p:cNvSpPr>
            <a:spLocks noGrp="1"/>
          </p:cNvSpPr>
          <p:nvPr>
            <p:ph sz="half" idx="1"/>
          </p:nvPr>
        </p:nvSpPr>
        <p:spPr/>
        <p:txBody>
          <a:bodyPr/>
          <a:lstStyle/>
          <a:p>
            <a:endParaRPr lang="en-US"/>
          </a:p>
        </p:txBody>
      </p:sp>
      <p:pic>
        <p:nvPicPr>
          <p:cNvPr id="1026" name="Picture 2">
            <a:extLst>
              <a:ext uri="{FF2B5EF4-FFF2-40B4-BE49-F238E27FC236}">
                <a16:creationId xmlns:a16="http://schemas.microsoft.com/office/drawing/2014/main" id="{6D37D9D1-1BC7-6D8C-1651-48433DB36C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45" y="1820037"/>
            <a:ext cx="5829300" cy="485775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025EAF72-7FB2-42A5-89BA-2DC60D55D6AE}"/>
              </a:ext>
            </a:extLst>
          </p:cNvPr>
          <p:cNvSpPr/>
          <p:nvPr/>
        </p:nvSpPr>
        <p:spPr>
          <a:xfrm>
            <a:off x="11686413" y="12321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8830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D142F-3030-692B-7B9A-958E9458E8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4AF14F-11E1-230E-CAAE-6519A1F5EC9C}"/>
              </a:ext>
            </a:extLst>
          </p:cNvPr>
          <p:cNvSpPr txBox="1"/>
          <p:nvPr/>
        </p:nvSpPr>
        <p:spPr>
          <a:xfrm>
            <a:off x="1968674" y="2430049"/>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Prompt Engineering</a:t>
            </a:r>
          </a:p>
        </p:txBody>
      </p:sp>
    </p:spTree>
    <p:extLst>
      <p:ext uri="{BB962C8B-B14F-4D97-AF65-F5344CB8AC3E}">
        <p14:creationId xmlns:p14="http://schemas.microsoft.com/office/powerpoint/2010/main" val="349095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B19BD1-F088-AE99-36AA-1FE25581392B}"/>
              </a:ext>
            </a:extLst>
          </p:cNvPr>
          <p:cNvSpPr>
            <a:spLocks noGrp="1"/>
          </p:cNvSpPr>
          <p:nvPr>
            <p:ph type="title"/>
          </p:nvPr>
        </p:nvSpPr>
        <p:spPr>
          <a:xfrm>
            <a:off x="521208" y="978408"/>
            <a:ext cx="6300216" cy="1463040"/>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Prompt Engineering</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D5B77B3F-DA42-AE3E-7BBC-4689C284212C}"/>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38442" y="1979112"/>
            <a:ext cx="6282982" cy="4366824"/>
          </a:xfrm>
        </p:spPr>
        <p:txBody>
          <a:bodyPr>
            <a:normAutofit/>
          </a:bodyPr>
          <a:lstStyle/>
          <a:p>
            <a:pPr marL="0" indent="0">
              <a:spcBef>
                <a:spcPts val="2500"/>
              </a:spcBef>
              <a:buFont typeface="Arial" panose="020B0604020202020204" pitchFamily="34" charset="0"/>
              <a:buNone/>
            </a:pPr>
            <a:r>
              <a:rPr lang="en-US" b="1" dirty="0"/>
              <a:t>Definition of Prompt Engineering</a:t>
            </a:r>
          </a:p>
          <a:p>
            <a:pPr marL="0" lvl="1" indent="0">
              <a:buFont typeface="Arial" panose="020B0604020202020204" pitchFamily="34" charset="0"/>
              <a:buNone/>
            </a:pPr>
            <a:r>
              <a:rPr lang="en-US" sz="1800" dirty="0"/>
              <a:t>Prompt engineering is the art and science of crafting inputs to optimize AI model outputs effectively.</a:t>
            </a:r>
          </a:p>
          <a:p>
            <a:pPr marL="0" indent="0">
              <a:spcBef>
                <a:spcPts val="2500"/>
              </a:spcBef>
              <a:buFont typeface="Arial" panose="020B0604020202020204" pitchFamily="34" charset="0"/>
              <a:buNone/>
            </a:pPr>
            <a:r>
              <a:rPr lang="en-US" b="1" dirty="0"/>
              <a:t>Importance in Language Models</a:t>
            </a:r>
          </a:p>
          <a:p>
            <a:pPr marL="0" lvl="1" indent="0">
              <a:buFont typeface="Arial" panose="020B0604020202020204" pitchFamily="34" charset="0"/>
              <a:buNone/>
            </a:pPr>
            <a:r>
              <a:rPr lang="en-US" sz="1800" dirty="0"/>
              <a:t>Large language models are highly sensitive to prompt phrasing, making good prompts essential for better results.</a:t>
            </a:r>
          </a:p>
          <a:p>
            <a:pPr marL="0" indent="0">
              <a:spcBef>
                <a:spcPts val="2500"/>
              </a:spcBef>
              <a:buFont typeface="Arial" panose="020B0604020202020204" pitchFamily="34" charset="0"/>
              <a:buNone/>
            </a:pPr>
            <a:r>
              <a:rPr lang="en-US" b="1" dirty="0"/>
              <a:t>Practical Use Case</a:t>
            </a:r>
          </a:p>
          <a:p>
            <a:pPr marL="0" lvl="1" indent="0">
              <a:buFont typeface="Arial" panose="020B0604020202020204" pitchFamily="34" charset="0"/>
              <a:buNone/>
            </a:pPr>
            <a:r>
              <a:rPr lang="en-US" sz="1800" dirty="0"/>
              <a:t>Customer service chatbots utilize prompt engineering to deliver consistent and helpful responses to users.</a:t>
            </a:r>
          </a:p>
        </p:txBody>
      </p:sp>
      <p:pic>
        <p:nvPicPr>
          <p:cNvPr id="5" name="Content Placeholder 4" descr="Artificial Intelligence digital concept with brain shape">
            <a:extLst>
              <a:ext uri="{FF2B5EF4-FFF2-40B4-BE49-F238E27FC236}">
                <a16:creationId xmlns:a16="http://schemas.microsoft.com/office/drawing/2014/main" id="{8D790888-3FDB-4F9E-888C-F7FAB246CC18}"/>
              </a:ext>
            </a:extLst>
          </p:cNvPr>
          <p:cNvPicPr>
            <a:picLocks noGrp="1" noChangeAspect="1"/>
          </p:cNvPicPr>
          <p:nvPr>
            <p:ph sz="half" idx="1"/>
          </p:nvPr>
        </p:nvPicPr>
        <p:blipFill>
          <a:blip r:embed="rId3"/>
          <a:srcRect l="36157" r="24576" b="1"/>
          <a:stretch>
            <a:fillRect/>
          </a:stretch>
        </p:blipFill>
        <p:spPr>
          <a:xfrm>
            <a:off x="7586236" y="508090"/>
            <a:ext cx="4081805" cy="5846990"/>
          </a:xfrm>
          <a:prstGeom prst="rect">
            <a:avLst/>
          </a:prstGeom>
        </p:spPr>
      </p:pic>
      <p:sp>
        <p:nvSpPr>
          <p:cNvPr id="8" name="Oval 7">
            <a:extLst>
              <a:ext uri="{FF2B5EF4-FFF2-40B4-BE49-F238E27FC236}">
                <a16:creationId xmlns:a16="http://schemas.microsoft.com/office/drawing/2014/main" id="{59F383C1-4F6F-461A-8C7C-8152182B1DAC}"/>
              </a:ext>
            </a:extLst>
          </p:cNvPr>
          <p:cNvSpPr/>
          <p:nvPr/>
        </p:nvSpPr>
        <p:spPr>
          <a:xfrm>
            <a:off x="11686413" y="12321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5943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715B0-EAB1-223F-355E-A854E09C62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4E3082-9906-4E24-6AF9-502B8D7459C6}"/>
              </a:ext>
            </a:extLst>
          </p:cNvPr>
          <p:cNvSpPr txBox="1"/>
          <p:nvPr/>
        </p:nvSpPr>
        <p:spPr>
          <a:xfrm>
            <a:off x="1968674" y="2430049"/>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Context Window</a:t>
            </a:r>
          </a:p>
        </p:txBody>
      </p:sp>
    </p:spTree>
    <p:extLst>
      <p:ext uri="{BB962C8B-B14F-4D97-AF65-F5344CB8AC3E}">
        <p14:creationId xmlns:p14="http://schemas.microsoft.com/office/powerpoint/2010/main" val="91845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F0C444-2FFF-02FB-DE51-617BA9BB897F}"/>
              </a:ext>
            </a:extLst>
          </p:cNvPr>
          <p:cNvSpPr>
            <a:spLocks noGrp="1"/>
          </p:cNvSpPr>
          <p:nvPr>
            <p:ph type="title"/>
          </p:nvPr>
        </p:nvSpPr>
        <p:spPr>
          <a:xfrm>
            <a:off x="521208" y="978408"/>
            <a:ext cx="6300216" cy="1463040"/>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Context Window</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13525A57-4B0E-3596-E307-340BA11E4A99}"/>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7869" y="1841327"/>
            <a:ext cx="6303555" cy="4504610"/>
          </a:xfrm>
        </p:spPr>
        <p:txBody>
          <a:bodyPr>
            <a:normAutofit fontScale="92500" lnSpcReduction="10000"/>
          </a:bodyPr>
          <a:lstStyle/>
          <a:p>
            <a:pPr marL="0" indent="0">
              <a:spcBef>
                <a:spcPts val="2500"/>
              </a:spcBef>
              <a:buFont typeface="Arial" panose="020B0604020202020204" pitchFamily="34" charset="0"/>
              <a:buNone/>
            </a:pPr>
            <a:r>
              <a:rPr lang="en-US" b="1" dirty="0"/>
              <a:t>Context Window Definition</a:t>
            </a:r>
          </a:p>
          <a:p>
            <a:pPr marL="0" lvl="1" indent="0">
              <a:buFont typeface="Arial" panose="020B0604020202020204" pitchFamily="34" charset="0"/>
              <a:buNone/>
            </a:pPr>
            <a:r>
              <a:rPr lang="en-US" sz="1800" dirty="0"/>
              <a:t>The context window is the maximum text length an AI model can remember and analyze at once.</a:t>
            </a:r>
          </a:p>
          <a:p>
            <a:pPr marL="0" indent="0">
              <a:spcBef>
                <a:spcPts val="2500"/>
              </a:spcBef>
              <a:buFont typeface="Arial" panose="020B0604020202020204" pitchFamily="34" charset="0"/>
              <a:buNone/>
            </a:pPr>
            <a:r>
              <a:rPr lang="en-US" b="1" dirty="0"/>
              <a:t>Role in Language Models</a:t>
            </a:r>
          </a:p>
          <a:p>
            <a:pPr marL="0" lvl="1" indent="0">
              <a:buFont typeface="Arial" panose="020B0604020202020204" pitchFamily="34" charset="0"/>
              <a:buNone/>
            </a:pPr>
            <a:r>
              <a:rPr lang="en-US" sz="1800" dirty="0"/>
              <a:t>Context window size determines how much conversation or document text an AI can process simultaneously.</a:t>
            </a:r>
          </a:p>
          <a:p>
            <a:pPr marL="0" indent="0">
              <a:spcBef>
                <a:spcPts val="2500"/>
              </a:spcBef>
              <a:buFont typeface="Arial" panose="020B0604020202020204" pitchFamily="34" charset="0"/>
              <a:buNone/>
            </a:pPr>
            <a:r>
              <a:rPr lang="en-US" b="1" dirty="0"/>
              <a:t>Application in Legal Analysis</a:t>
            </a:r>
          </a:p>
          <a:p>
            <a:pPr marL="0" lvl="1" indent="0">
              <a:buFont typeface="Arial" panose="020B0604020202020204" pitchFamily="34" charset="0"/>
              <a:buNone/>
            </a:pPr>
            <a:r>
              <a:rPr lang="en-US" sz="1800" dirty="0"/>
              <a:t>Large context windows enable AI to analyze entire legal contracts effectively and accurately.</a:t>
            </a:r>
          </a:p>
          <a:p>
            <a:pPr marL="0" lvl="1" indent="0">
              <a:buFont typeface="Arial" panose="020B0604020202020204" pitchFamily="34" charset="0"/>
              <a:buNone/>
            </a:pPr>
            <a:endParaRPr lang="en-US" sz="1800" dirty="0"/>
          </a:p>
          <a:p>
            <a:pPr marL="0" lvl="1" indent="0">
              <a:buNone/>
            </a:pPr>
            <a:r>
              <a:rPr lang="en-US" sz="1800" b="1" dirty="0"/>
              <a:t>Example</a:t>
            </a:r>
            <a:br>
              <a:rPr lang="en-US" sz="1800" dirty="0"/>
            </a:br>
            <a:r>
              <a:rPr lang="en-US" dirty="0"/>
              <a:t>GPT-4 can remember about 32,000 tokens (~24,000 words) of conversation history</a:t>
            </a:r>
            <a:endParaRPr lang="en-US" sz="1800" dirty="0"/>
          </a:p>
        </p:txBody>
      </p:sp>
      <p:pic>
        <p:nvPicPr>
          <p:cNvPr id="5" name="Content Placeholder 4" descr="close up Artificial Intelligence technology brain for backgrounds">
            <a:extLst>
              <a:ext uri="{FF2B5EF4-FFF2-40B4-BE49-F238E27FC236}">
                <a16:creationId xmlns:a16="http://schemas.microsoft.com/office/drawing/2014/main" id="{D5226036-CD0A-48E7-BAC3-47D4C93F721A}"/>
              </a:ext>
            </a:extLst>
          </p:cNvPr>
          <p:cNvPicPr>
            <a:picLocks noGrp="1" noChangeAspect="1"/>
          </p:cNvPicPr>
          <p:nvPr>
            <p:ph sz="half" idx="1"/>
          </p:nvPr>
        </p:nvPicPr>
        <p:blipFill>
          <a:blip r:embed="rId3"/>
          <a:srcRect l="23528" r="29874" b="1"/>
          <a:stretch>
            <a:fillRect/>
          </a:stretch>
        </p:blipFill>
        <p:spPr>
          <a:xfrm>
            <a:off x="7586236" y="508090"/>
            <a:ext cx="4081805" cy="5846990"/>
          </a:xfrm>
          <a:prstGeom prst="rect">
            <a:avLst/>
          </a:prstGeom>
        </p:spPr>
      </p:pic>
      <p:sp>
        <p:nvSpPr>
          <p:cNvPr id="8" name="Oval 7">
            <a:extLst>
              <a:ext uri="{FF2B5EF4-FFF2-40B4-BE49-F238E27FC236}">
                <a16:creationId xmlns:a16="http://schemas.microsoft.com/office/drawing/2014/main" id="{FE1DEAAB-C180-403C-9AFC-E05FF0649460}"/>
              </a:ext>
            </a:extLst>
          </p:cNvPr>
          <p:cNvSpPr/>
          <p:nvPr/>
        </p:nvSpPr>
        <p:spPr>
          <a:xfrm>
            <a:off x="11686413" y="10416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3030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BB080-08B4-3906-ED15-F4D86DD0CF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9C61C7-8DB4-1136-03D5-E5D354818873}"/>
              </a:ext>
            </a:extLst>
          </p:cNvPr>
          <p:cNvSpPr txBox="1"/>
          <p:nvPr/>
        </p:nvSpPr>
        <p:spPr>
          <a:xfrm>
            <a:off x="1968674" y="2430049"/>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Token</a:t>
            </a:r>
          </a:p>
        </p:txBody>
      </p:sp>
    </p:spTree>
    <p:extLst>
      <p:ext uri="{BB962C8B-B14F-4D97-AF65-F5344CB8AC3E}">
        <p14:creationId xmlns:p14="http://schemas.microsoft.com/office/powerpoint/2010/main" val="555508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46F72-E9CF-DB4B-ECB0-1B3DF14D1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BACF9-86DA-1F84-9360-97753F9933EF}"/>
              </a:ext>
            </a:extLst>
          </p:cNvPr>
          <p:cNvSpPr>
            <a:spLocks noGrp="1"/>
          </p:cNvSpPr>
          <p:nvPr>
            <p:ph type="title"/>
          </p:nvPr>
        </p:nvSpPr>
        <p:spPr>
          <a:xfrm>
            <a:off x="521208" y="978408"/>
            <a:ext cx="6300216" cy="1463040"/>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Token</a:t>
            </a:r>
          </a:p>
        </p:txBody>
      </p:sp>
      <p:sp>
        <p:nvSpPr>
          <p:cNvPr id="4" name="Content Placeholder 3">
            <a:extLst>
              <a:ext uri="{FF2B5EF4-FFF2-40B4-BE49-F238E27FC236}">
                <a16:creationId xmlns:a16="http://schemas.microsoft.com/office/drawing/2014/main" id="{36FC01D7-6D6D-3DA8-C572-2D843292F885}"/>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7869" y="1841327"/>
            <a:ext cx="6303555" cy="4504610"/>
          </a:xfrm>
        </p:spPr>
        <p:txBody>
          <a:bodyPr>
            <a:normAutofit/>
          </a:bodyPr>
          <a:lstStyle/>
          <a:p>
            <a:pPr marL="0" indent="0">
              <a:spcBef>
                <a:spcPts val="2500"/>
              </a:spcBef>
              <a:buFont typeface="Arial" panose="020B0604020202020204" pitchFamily="34" charset="0"/>
              <a:buNone/>
            </a:pPr>
            <a:r>
              <a:rPr lang="en-US" b="1" dirty="0"/>
              <a:t>Definition</a:t>
            </a:r>
          </a:p>
          <a:p>
            <a:pPr marL="0" lvl="1" indent="0">
              <a:buNone/>
            </a:pPr>
            <a:r>
              <a:rPr lang="en-US" dirty="0"/>
              <a:t>The basic units that AI models use to process text - roughly 3-4 characters or parts of words</a:t>
            </a:r>
          </a:p>
          <a:p>
            <a:pPr marL="0" lvl="1" indent="0">
              <a:buNone/>
            </a:pPr>
            <a:endParaRPr lang="en-US" b="1" dirty="0"/>
          </a:p>
          <a:p>
            <a:pPr marL="0" lvl="1" indent="0">
              <a:buNone/>
            </a:pPr>
            <a:r>
              <a:rPr lang="en-US" b="1" dirty="0"/>
              <a:t>Role in Language Models</a:t>
            </a:r>
          </a:p>
          <a:p>
            <a:pPr marL="0" lvl="1" indent="0">
              <a:buNone/>
            </a:pPr>
            <a:r>
              <a:rPr lang="en-US" dirty="0"/>
              <a:t>LLMs process and generate text token by token, affecting cost and processing speed</a:t>
            </a:r>
          </a:p>
          <a:p>
            <a:pPr marL="0" lvl="1" indent="0">
              <a:buNone/>
            </a:pPr>
            <a:endParaRPr lang="en-US" b="1" dirty="0"/>
          </a:p>
          <a:p>
            <a:pPr marL="0" lvl="1" indent="0">
              <a:buNone/>
            </a:pPr>
            <a:r>
              <a:rPr lang="en-US" b="1" dirty="0"/>
              <a:t>Application in Legal Analysis</a:t>
            </a:r>
          </a:p>
          <a:p>
            <a:pPr marL="0" lvl="1" indent="0">
              <a:buNone/>
            </a:pPr>
            <a:r>
              <a:rPr lang="en-US" dirty="0"/>
              <a:t>API pricing is often based on token usage, so understanding tokens helps control costs</a:t>
            </a:r>
          </a:p>
          <a:p>
            <a:pPr marL="0" lvl="1" indent="0">
              <a:buNone/>
            </a:pPr>
            <a:endParaRPr lang="en-US" sz="1800" dirty="0"/>
          </a:p>
          <a:p>
            <a:pPr marL="0" lvl="1" indent="0">
              <a:buNone/>
            </a:pPr>
            <a:r>
              <a:rPr lang="en-US" sz="1800" b="1" dirty="0"/>
              <a:t>Example</a:t>
            </a:r>
            <a:br>
              <a:rPr lang="en-US" sz="1800" dirty="0"/>
            </a:br>
            <a:r>
              <a:rPr lang="en-US" dirty="0"/>
              <a:t>The word 'artificial' might be split into tokens: 'art', '</a:t>
            </a:r>
            <a:r>
              <a:rPr lang="en-US" dirty="0" err="1"/>
              <a:t>ific</a:t>
            </a:r>
            <a:r>
              <a:rPr lang="en-US" dirty="0"/>
              <a:t>', '</a:t>
            </a:r>
            <a:r>
              <a:rPr lang="en-US" dirty="0" err="1"/>
              <a:t>ial</a:t>
            </a:r>
            <a:r>
              <a:rPr lang="en-US" dirty="0"/>
              <a:t>'</a:t>
            </a:r>
            <a:endParaRPr lang="en-US" sz="1800" dirty="0"/>
          </a:p>
        </p:txBody>
      </p:sp>
      <p:pic>
        <p:nvPicPr>
          <p:cNvPr id="5" name="Content Placeholder 4" descr="close up Artificial Intelligence technology brain for backgrounds">
            <a:extLst>
              <a:ext uri="{FF2B5EF4-FFF2-40B4-BE49-F238E27FC236}">
                <a16:creationId xmlns:a16="http://schemas.microsoft.com/office/drawing/2014/main" id="{64F19CFF-7277-25CA-FBDB-C003F458DE2C}"/>
              </a:ext>
            </a:extLst>
          </p:cNvPr>
          <p:cNvPicPr>
            <a:picLocks noGrp="1" noChangeAspect="1"/>
          </p:cNvPicPr>
          <p:nvPr>
            <p:ph sz="half" idx="1"/>
          </p:nvPr>
        </p:nvPicPr>
        <p:blipFill>
          <a:blip r:embed="rId3"/>
          <a:srcRect l="23528" r="29874" b="1"/>
          <a:stretch>
            <a:fillRect/>
          </a:stretch>
        </p:blipFill>
        <p:spPr>
          <a:xfrm>
            <a:off x="7586236" y="508090"/>
            <a:ext cx="4081805" cy="5846990"/>
          </a:xfrm>
          <a:prstGeom prst="rect">
            <a:avLst/>
          </a:prstGeom>
        </p:spPr>
      </p:pic>
      <p:sp>
        <p:nvSpPr>
          <p:cNvPr id="6" name="Oval 5">
            <a:extLst>
              <a:ext uri="{FF2B5EF4-FFF2-40B4-BE49-F238E27FC236}">
                <a16:creationId xmlns:a16="http://schemas.microsoft.com/office/drawing/2014/main" id="{2C84992B-DBE9-4014-8070-C6A488424223}"/>
              </a:ext>
            </a:extLst>
          </p:cNvPr>
          <p:cNvSpPr/>
          <p:nvPr/>
        </p:nvSpPr>
        <p:spPr>
          <a:xfrm>
            <a:off x="11686413" y="10416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9215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4E04-C470-A0D7-61B5-0692EDEC95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779D5E-508F-62EB-5B98-4051ECD5C1C5}"/>
              </a:ext>
            </a:extLst>
          </p:cNvPr>
          <p:cNvSpPr txBox="1"/>
          <p:nvPr/>
        </p:nvSpPr>
        <p:spPr>
          <a:xfrm>
            <a:off x="1968674" y="2430049"/>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Temperature</a:t>
            </a:r>
          </a:p>
        </p:txBody>
      </p:sp>
    </p:spTree>
    <p:extLst>
      <p:ext uri="{BB962C8B-B14F-4D97-AF65-F5344CB8AC3E}">
        <p14:creationId xmlns:p14="http://schemas.microsoft.com/office/powerpoint/2010/main" val="2566154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EF49C-A541-4937-FEE4-6B6507B64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987B0-01C8-A7F2-16DF-149707C7C4D0}"/>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Temperature</a:t>
            </a:r>
          </a:p>
        </p:txBody>
      </p:sp>
      <p:sp>
        <p:nvSpPr>
          <p:cNvPr id="4" name="Content Placeholder 3">
            <a:extLst>
              <a:ext uri="{FF2B5EF4-FFF2-40B4-BE49-F238E27FC236}">
                <a16:creationId xmlns:a16="http://schemas.microsoft.com/office/drawing/2014/main" id="{9A8A9A51-E889-2BEC-224D-0761AA5B3186}"/>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b="1" dirty="0"/>
              <a:t>Definition</a:t>
            </a:r>
          </a:p>
          <a:p>
            <a:pPr marL="0" lvl="1" indent="0">
              <a:buNone/>
            </a:pPr>
            <a:r>
              <a:rPr lang="en-US" dirty="0"/>
              <a:t>A setting that controls how creative or predictable AI responses are (0 = predictable, 2 = very creative)</a:t>
            </a:r>
          </a:p>
          <a:p>
            <a:pPr marL="0" lvl="1" indent="0">
              <a:buNone/>
            </a:pPr>
            <a:endParaRPr lang="en-US" b="1" dirty="0"/>
          </a:p>
          <a:p>
            <a:pPr marL="0" lvl="1" indent="0">
              <a:buNone/>
            </a:pPr>
            <a:r>
              <a:rPr lang="en-US" b="1" dirty="0"/>
              <a:t>Examples of Hallucination</a:t>
            </a:r>
          </a:p>
          <a:p>
            <a:pPr marL="0" lvl="1" indent="0">
              <a:buNone/>
            </a:pPr>
            <a:r>
              <a:rPr lang="en-US" dirty="0"/>
              <a:t>Low temperature: 'The sky is blue.' High temperature: 'The sky resembles a sapphire canvas.’</a:t>
            </a:r>
          </a:p>
          <a:p>
            <a:pPr marL="0" lvl="1" indent="0">
              <a:buNone/>
            </a:pPr>
            <a:endParaRPr lang="en-US" b="1" dirty="0"/>
          </a:p>
          <a:p>
            <a:pPr marL="0" lvl="1" indent="0">
              <a:buNone/>
            </a:pPr>
            <a:r>
              <a:rPr lang="en-US" b="1" dirty="0"/>
              <a:t>Role in Large Language Models</a:t>
            </a:r>
          </a:p>
          <a:p>
            <a:pPr marL="0" lvl="1" indent="0">
              <a:buNone/>
            </a:pPr>
            <a:r>
              <a:rPr lang="en-US" dirty="0"/>
              <a:t>Controls randomness in word selection - higher values increase diversity but may reduce accuracy</a:t>
            </a:r>
          </a:p>
          <a:p>
            <a:pPr marL="0" lvl="1" indent="0">
              <a:buNone/>
            </a:pPr>
            <a:endParaRPr lang="en-US" b="1" dirty="0"/>
          </a:p>
          <a:p>
            <a:pPr marL="0" lvl="1" indent="0">
              <a:buNone/>
            </a:pPr>
            <a:r>
              <a:rPr lang="en-US" b="1" dirty="0"/>
              <a:t>Use Case in Medical Diagnosis</a:t>
            </a:r>
          </a:p>
          <a:p>
            <a:pPr marL="0" lvl="1" indent="0">
              <a:buNone/>
            </a:pPr>
            <a:r>
              <a:rPr lang="en-US" dirty="0"/>
              <a:t>Creative writing uses high temperature; factual reporting uses low temperature</a:t>
            </a:r>
            <a:endParaRPr lang="en-US" sz="1800" dirty="0"/>
          </a:p>
        </p:txBody>
      </p:sp>
      <p:sp>
        <p:nvSpPr>
          <p:cNvPr id="8" name="Content Placeholder 7">
            <a:extLst>
              <a:ext uri="{FF2B5EF4-FFF2-40B4-BE49-F238E27FC236}">
                <a16:creationId xmlns:a16="http://schemas.microsoft.com/office/drawing/2014/main" id="{7317F3FD-14FF-8992-27D8-0F435C9EC2F2}"/>
              </a:ext>
            </a:extLst>
          </p:cNvPr>
          <p:cNvSpPr>
            <a:spLocks noGrp="1"/>
          </p:cNvSpPr>
          <p:nvPr>
            <p:ph sz="half" idx="1"/>
          </p:nvPr>
        </p:nvSpPr>
        <p:spPr/>
        <p:txBody>
          <a:bodyPr/>
          <a:lstStyle/>
          <a:p>
            <a:endParaRPr lang="en-US"/>
          </a:p>
        </p:txBody>
      </p:sp>
      <p:pic>
        <p:nvPicPr>
          <p:cNvPr id="1026" name="Picture 2">
            <a:extLst>
              <a:ext uri="{FF2B5EF4-FFF2-40B4-BE49-F238E27FC236}">
                <a16:creationId xmlns:a16="http://schemas.microsoft.com/office/drawing/2014/main" id="{A17F882A-ED48-8B6F-BE4D-7A9C96F5C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45" y="1810512"/>
            <a:ext cx="5829300" cy="4857750"/>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50668705-3441-4116-B81D-B72E4AE08F07}"/>
              </a:ext>
            </a:extLst>
          </p:cNvPr>
          <p:cNvSpPr/>
          <p:nvPr/>
        </p:nvSpPr>
        <p:spPr>
          <a:xfrm>
            <a:off x="11686413" y="10416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3155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78A12-C5B3-CD60-C67D-512521D181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D6BB93-0950-481C-33B5-D5C13E0EFD03}"/>
              </a:ext>
            </a:extLst>
          </p:cNvPr>
          <p:cNvSpPr txBox="1"/>
          <p:nvPr/>
        </p:nvSpPr>
        <p:spPr>
          <a:xfrm>
            <a:off x="1968674" y="2054268"/>
            <a:ext cx="8254652" cy="2308324"/>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Few-Shot /Zero-Shot /One-Shot Learning</a:t>
            </a:r>
          </a:p>
        </p:txBody>
      </p:sp>
    </p:spTree>
    <p:extLst>
      <p:ext uri="{BB962C8B-B14F-4D97-AF65-F5344CB8AC3E}">
        <p14:creationId xmlns:p14="http://schemas.microsoft.com/office/powerpoint/2010/main" val="4119387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D3109-DD1A-7EC2-0379-D6C4CEF28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CDF69-6924-BA5C-1086-900AFC7B450E}"/>
              </a:ext>
            </a:extLst>
          </p:cNvPr>
          <p:cNvSpPr>
            <a:spLocks noGrp="1"/>
          </p:cNvSpPr>
          <p:nvPr>
            <p:ph type="title"/>
          </p:nvPr>
        </p:nvSpPr>
        <p:spPr>
          <a:xfrm>
            <a:off x="521208" y="978408"/>
            <a:ext cx="5020056" cy="1664208"/>
          </a:xfrm>
        </p:spPr>
        <p:txBody>
          <a:bodyPr vert="horz" lIns="91440" tIns="45720" rIns="91440" bIns="45720" rtlCol="0" anchor="t">
            <a:normAutofit fontScale="90000"/>
          </a:bodyPr>
          <a:lstStyle/>
          <a:p>
            <a:pPr>
              <a:lnSpc>
                <a:spcPct val="90000"/>
              </a:lnSpc>
            </a:pPr>
            <a:r>
              <a:rPr lang="en-US" sz="4000" dirty="0"/>
              <a:t>Few-Shot / Zero-Shot / One-Shot Learning</a:t>
            </a:r>
            <a:br>
              <a:rPr lang="en-US" sz="4000" dirty="0"/>
            </a:br>
            <a:endParaRPr lang="en-US" sz="3700"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84C9F40-2584-7379-EAC4-F6D48D95670B}"/>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b="1" dirty="0"/>
              <a:t>Definition</a:t>
            </a:r>
          </a:p>
          <a:p>
            <a:pPr marL="0" lvl="1" indent="0">
              <a:buNone/>
            </a:pPr>
            <a:r>
              <a:rPr lang="en-US" dirty="0"/>
              <a:t>Teaching AI by providing examples: Zero (no examples), One-Shot (1 example), Few-Shot (multiple examples)</a:t>
            </a:r>
          </a:p>
          <a:p>
            <a:pPr marL="0" lvl="1" indent="0">
              <a:buNone/>
            </a:pPr>
            <a:endParaRPr lang="en-US" b="1" dirty="0"/>
          </a:p>
          <a:p>
            <a:pPr marL="0" lvl="1" indent="0">
              <a:buNone/>
            </a:pPr>
            <a:r>
              <a:rPr lang="en-US" b="1" dirty="0"/>
              <a:t>Examples</a:t>
            </a:r>
          </a:p>
          <a:p>
            <a:pPr marL="0" lvl="1" indent="0">
              <a:buNone/>
            </a:pPr>
            <a:r>
              <a:rPr lang="en-US" dirty="0"/>
              <a:t>Zero-shot: 'Classify sentiment.' Few-shot: 'Happy=Positive, Sad=Negative. Now classify: Excited.’</a:t>
            </a:r>
          </a:p>
          <a:p>
            <a:pPr marL="0" lvl="1" indent="0">
              <a:buNone/>
            </a:pPr>
            <a:endParaRPr lang="en-US" b="1" dirty="0"/>
          </a:p>
          <a:p>
            <a:pPr marL="0" lvl="1" indent="0">
              <a:buNone/>
            </a:pPr>
            <a:r>
              <a:rPr lang="en-US" b="1" dirty="0"/>
              <a:t>Role in Large Language Models</a:t>
            </a:r>
          </a:p>
          <a:p>
            <a:pPr marL="0" indent="0">
              <a:buNone/>
            </a:pPr>
            <a:r>
              <a:rPr lang="en-US" sz="1600" dirty="0"/>
              <a:t>Allows models to perform new tasks without retraining by learning from examples in the prompt</a:t>
            </a:r>
          </a:p>
          <a:p>
            <a:pPr marL="0" indent="0">
              <a:buNone/>
            </a:pPr>
            <a:endParaRPr lang="en-US" b="1" dirty="0"/>
          </a:p>
          <a:p>
            <a:pPr marL="0" lvl="1" indent="0">
              <a:buNone/>
            </a:pPr>
            <a:r>
              <a:rPr lang="en-US" b="1" dirty="0"/>
              <a:t>Use Case in Medical Diagnosis</a:t>
            </a:r>
          </a:p>
          <a:p>
            <a:pPr marL="0" lvl="1" indent="0">
              <a:buNone/>
            </a:pPr>
            <a:r>
              <a:rPr lang="en-US" dirty="0"/>
              <a:t>Email classification systems learn to categorize emails with just a few examples</a:t>
            </a:r>
            <a:endParaRPr lang="en-US" sz="1800" dirty="0"/>
          </a:p>
        </p:txBody>
      </p:sp>
      <p:sp>
        <p:nvSpPr>
          <p:cNvPr id="8" name="Content Placeholder 7">
            <a:extLst>
              <a:ext uri="{FF2B5EF4-FFF2-40B4-BE49-F238E27FC236}">
                <a16:creationId xmlns:a16="http://schemas.microsoft.com/office/drawing/2014/main" id="{7571E65E-24F3-48EF-88E6-C166DD742605}"/>
              </a:ext>
            </a:extLst>
          </p:cNvPr>
          <p:cNvSpPr>
            <a:spLocks noGrp="1"/>
          </p:cNvSpPr>
          <p:nvPr>
            <p:ph sz="half" idx="1"/>
          </p:nvPr>
        </p:nvSpPr>
        <p:spPr/>
        <p:txBody>
          <a:bodyPr/>
          <a:lstStyle/>
          <a:p>
            <a:endParaRPr lang="en-US"/>
          </a:p>
        </p:txBody>
      </p:sp>
      <p:pic>
        <p:nvPicPr>
          <p:cNvPr id="1026" name="Picture 2">
            <a:extLst>
              <a:ext uri="{FF2B5EF4-FFF2-40B4-BE49-F238E27FC236}">
                <a16:creationId xmlns:a16="http://schemas.microsoft.com/office/drawing/2014/main" id="{88D0B1BA-9E5D-366E-88DC-FA98373FC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41" y="2232602"/>
            <a:ext cx="5428019" cy="4523349"/>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13083584-0965-40FB-B7AE-B62EA1504E72}"/>
              </a:ext>
            </a:extLst>
          </p:cNvPr>
          <p:cNvSpPr/>
          <p:nvPr/>
        </p:nvSpPr>
        <p:spPr>
          <a:xfrm>
            <a:off x="11686413" y="10416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88741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8493710-225A-F3F8-CE1D-87F2C807E3E3}"/>
              </a:ext>
            </a:extLst>
          </p:cNvPr>
          <p:cNvSpPr>
            <a:spLocks noGrp="1"/>
          </p:cNvSpPr>
          <p:nvPr>
            <p:ph type="ctrTitle"/>
          </p:nvPr>
        </p:nvSpPr>
        <p:spPr>
          <a:xfrm>
            <a:off x="521208" y="1211766"/>
            <a:ext cx="7237052" cy="4727988"/>
          </a:xfrm>
        </p:spPr>
        <p:txBody>
          <a:bodyPr anchor="b">
            <a:normAutofit/>
          </a:bodyPr>
          <a:lstStyle/>
          <a:p>
            <a:r>
              <a:rPr lang="en-US" sz="7400" dirty="0"/>
              <a:t>Embeddings and Chain of Thought Reasoning</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9497927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36468-B350-01DD-5C5B-3A89D2186F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A73312-83A2-42FC-0AE4-F94D460DA3E4}"/>
              </a:ext>
            </a:extLst>
          </p:cNvPr>
          <p:cNvSpPr txBox="1"/>
          <p:nvPr/>
        </p:nvSpPr>
        <p:spPr>
          <a:xfrm>
            <a:off x="1968674" y="2054268"/>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Embeddings</a:t>
            </a:r>
          </a:p>
        </p:txBody>
      </p:sp>
    </p:spTree>
    <p:extLst>
      <p:ext uri="{BB962C8B-B14F-4D97-AF65-F5344CB8AC3E}">
        <p14:creationId xmlns:p14="http://schemas.microsoft.com/office/powerpoint/2010/main" val="3160461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4847F3-6EC7-F9BF-3744-6D8CB43B8AB4}"/>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2800" b="1" kern="1200" dirty="0">
                <a:solidFill>
                  <a:schemeClr val="tx1"/>
                </a:solidFill>
                <a:latin typeface="+mj-lt"/>
                <a:ea typeface="+mj-ea"/>
                <a:cs typeface="+mj-cs"/>
              </a:rPr>
              <a:t>Embeddings</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A frontal view on an artificial structure made out of white cubes with binary numbers written on them.&#10;&#10;">
            <a:extLst>
              <a:ext uri="{FF2B5EF4-FFF2-40B4-BE49-F238E27FC236}">
                <a16:creationId xmlns:a16="http://schemas.microsoft.com/office/drawing/2014/main" id="{4AD3BBE1-0DF4-4363-BA16-3BAC8E999C14}"/>
              </a:ext>
            </a:extLst>
          </p:cNvPr>
          <p:cNvPicPr>
            <a:picLocks noGrp="1" noChangeAspect="1"/>
          </p:cNvPicPr>
          <p:nvPr>
            <p:ph sz="half" idx="1"/>
          </p:nvPr>
        </p:nvPicPr>
        <p:blipFill>
          <a:blip r:embed="rId3"/>
          <a:srcRect l="4319" r="15263" b="2"/>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F4B9B4B8-7903-25C0-AA5A-0421DD32E3C8}"/>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Embeddings</a:t>
            </a:r>
          </a:p>
          <a:p>
            <a:pPr marL="0" lvl="1" indent="0">
              <a:buFont typeface="Arial" panose="020B0604020202020204" pitchFamily="34" charset="0"/>
              <a:buNone/>
            </a:pPr>
            <a:r>
              <a:rPr lang="en-US" dirty="0"/>
              <a:t>Embeddings are numerical representations of words capturing their meanings in vector form.</a:t>
            </a:r>
          </a:p>
          <a:p>
            <a:pPr marL="0" indent="0">
              <a:spcBef>
                <a:spcPts val="2500"/>
              </a:spcBef>
              <a:buFont typeface="Arial" panose="020B0604020202020204" pitchFamily="34" charset="0"/>
              <a:buNone/>
            </a:pPr>
            <a:r>
              <a:rPr lang="en-US" sz="1600" b="1" dirty="0"/>
              <a:t>Semantic Similarity Example</a:t>
            </a:r>
          </a:p>
          <a:p>
            <a:pPr marL="0" lvl="1" indent="0">
              <a:buFont typeface="Arial" panose="020B0604020202020204" pitchFamily="34" charset="0"/>
              <a:buNone/>
            </a:pPr>
            <a:r>
              <a:rPr lang="en-US" dirty="0"/>
              <a:t>Words like 'king' and 'queen' have similar embeddings, showing related meanings, unlike 'king' and 'banana'.</a:t>
            </a:r>
          </a:p>
          <a:p>
            <a:pPr marL="0" indent="0">
              <a:spcBef>
                <a:spcPts val="2500"/>
              </a:spcBef>
              <a:buFont typeface="Arial" panose="020B0604020202020204" pitchFamily="34" charset="0"/>
              <a:buNone/>
            </a:pPr>
            <a:r>
              <a:rPr lang="en-US" sz="1600" b="1" dirty="0"/>
              <a:t>Role in Large Language Models</a:t>
            </a:r>
          </a:p>
          <a:p>
            <a:pPr marL="0" lvl="1" indent="0">
              <a:buFont typeface="Arial" panose="020B0604020202020204" pitchFamily="34" charset="0"/>
              <a:buNone/>
            </a:pPr>
            <a:r>
              <a:rPr lang="en-US" dirty="0"/>
              <a:t>Embeddings enable LLMs to understand concept relationships and perform semantic searches effectively.</a:t>
            </a:r>
          </a:p>
          <a:p>
            <a:pPr marL="0" indent="0">
              <a:spcBef>
                <a:spcPts val="2500"/>
              </a:spcBef>
              <a:buFont typeface="Arial" panose="020B0604020202020204" pitchFamily="34" charset="0"/>
              <a:buNone/>
            </a:pPr>
            <a:r>
              <a:rPr lang="en-US" sz="1600" b="1" dirty="0"/>
              <a:t>Practical Use Cases</a:t>
            </a:r>
          </a:p>
          <a:p>
            <a:pPr marL="0" lvl="1" indent="0">
              <a:buFont typeface="Arial" panose="020B0604020202020204" pitchFamily="34" charset="0"/>
              <a:buNone/>
            </a:pPr>
            <a:r>
              <a:rPr lang="en-US" dirty="0"/>
              <a:t>Recommendation systems use embeddings to suggest products or content based on similarity and relevance.</a:t>
            </a:r>
          </a:p>
        </p:txBody>
      </p:sp>
      <p:sp>
        <p:nvSpPr>
          <p:cNvPr id="9" name="Oval 8">
            <a:extLst>
              <a:ext uri="{FF2B5EF4-FFF2-40B4-BE49-F238E27FC236}">
                <a16:creationId xmlns:a16="http://schemas.microsoft.com/office/drawing/2014/main" id="{138F12D5-6BB4-45FA-9E2C-95586705776E}"/>
              </a:ext>
            </a:extLst>
          </p:cNvPr>
          <p:cNvSpPr/>
          <p:nvPr/>
        </p:nvSpPr>
        <p:spPr>
          <a:xfrm>
            <a:off x="11686413" y="10416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0822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9B5F-6975-1512-9093-BFDBD360BE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D9F060A-0790-3144-06C3-0DB0D148968C}"/>
              </a:ext>
            </a:extLst>
          </p:cNvPr>
          <p:cNvSpPr txBox="1"/>
          <p:nvPr/>
        </p:nvSpPr>
        <p:spPr>
          <a:xfrm>
            <a:off x="1968674" y="2054268"/>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Chain of thought</a:t>
            </a:r>
          </a:p>
        </p:txBody>
      </p:sp>
    </p:spTree>
    <p:extLst>
      <p:ext uri="{BB962C8B-B14F-4D97-AF65-F5344CB8AC3E}">
        <p14:creationId xmlns:p14="http://schemas.microsoft.com/office/powerpoint/2010/main" val="2485849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A1EDE1C-65A0-39BB-6E88-E210AC4E892D}"/>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Chain of Thought (CoT): Step-by-Step Reasoning</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Symbolic illustration of brain learning math through a funnel.">
            <a:extLst>
              <a:ext uri="{FF2B5EF4-FFF2-40B4-BE49-F238E27FC236}">
                <a16:creationId xmlns:a16="http://schemas.microsoft.com/office/drawing/2014/main" id="{7920D841-7763-477C-8C3B-0D0145A291DB}"/>
              </a:ext>
            </a:extLst>
          </p:cNvPr>
          <p:cNvPicPr>
            <a:picLocks noGrp="1" noChangeAspect="1"/>
          </p:cNvPicPr>
          <p:nvPr>
            <p:ph sz="half" idx="1"/>
          </p:nvPr>
        </p:nvPicPr>
        <p:blipFill>
          <a:blip r:embed="rId3"/>
          <a:srcRect t="44043" r="2" b="2"/>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F8EFD25C-F6FC-D2E9-8FCA-990FFC9147CE}"/>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a:t>
            </a:r>
            <a:r>
              <a:rPr lang="en-US" sz="1600" b="1" dirty="0" err="1"/>
              <a:t>CoT</a:t>
            </a:r>
            <a:endParaRPr lang="en-US" sz="1600" b="1" dirty="0"/>
          </a:p>
          <a:p>
            <a:pPr marL="0" lvl="1" indent="0">
              <a:buFont typeface="Arial" panose="020B0604020202020204" pitchFamily="34" charset="0"/>
              <a:buNone/>
            </a:pPr>
            <a:r>
              <a:rPr lang="en-US" dirty="0"/>
              <a:t>Chain of Thought is a method where AI describes its reasoning steps to improve answer clarity.</a:t>
            </a:r>
          </a:p>
          <a:p>
            <a:pPr marL="0" indent="0">
              <a:spcBef>
                <a:spcPts val="2500"/>
              </a:spcBef>
              <a:buFont typeface="Arial" panose="020B0604020202020204" pitchFamily="34" charset="0"/>
              <a:buNone/>
            </a:pPr>
            <a:r>
              <a:rPr lang="en-US" sz="1600" b="1" dirty="0"/>
              <a:t>Example Explanation</a:t>
            </a:r>
          </a:p>
          <a:p>
            <a:pPr marL="0" lvl="1" indent="0">
              <a:buNone/>
            </a:pPr>
            <a:r>
              <a:rPr lang="en-US" dirty="0"/>
              <a:t>Instead of just answering '15,' the AI shows: '5 apples + 3 apples = 8 apples, then 8 + 7 = 15 apples total’</a:t>
            </a:r>
          </a:p>
          <a:p>
            <a:pPr marL="0" lvl="1" indent="0">
              <a:buNone/>
            </a:pPr>
            <a:endParaRPr lang="en-US" b="1" dirty="0"/>
          </a:p>
          <a:p>
            <a:pPr marL="0" lvl="1" indent="0">
              <a:buNone/>
            </a:pPr>
            <a:r>
              <a:rPr lang="en-US" b="1" dirty="0"/>
              <a:t>Role in Large Language Models</a:t>
            </a:r>
          </a:p>
          <a:p>
            <a:pPr marL="0" lvl="1" indent="0">
              <a:buFont typeface="Arial" panose="020B0604020202020204" pitchFamily="34" charset="0"/>
              <a:buNone/>
            </a:pPr>
            <a:r>
              <a:rPr lang="en-US" dirty="0" err="1"/>
              <a:t>CoT</a:t>
            </a:r>
            <a:r>
              <a:rPr lang="en-US" dirty="0"/>
              <a:t> enhances accuracy in complex problems by making AI's reasoning explicit and transparent.</a:t>
            </a:r>
          </a:p>
          <a:p>
            <a:pPr marL="0" indent="0">
              <a:spcBef>
                <a:spcPts val="2500"/>
              </a:spcBef>
              <a:buFont typeface="Arial" panose="020B0604020202020204" pitchFamily="34" charset="0"/>
              <a:buNone/>
            </a:pPr>
            <a:r>
              <a:rPr lang="en-US" sz="1600" b="1" dirty="0"/>
              <a:t>Educational Use Cases</a:t>
            </a:r>
          </a:p>
          <a:p>
            <a:pPr marL="0" lvl="1" indent="0">
              <a:buFont typeface="Arial" panose="020B0604020202020204" pitchFamily="34" charset="0"/>
              <a:buNone/>
            </a:pPr>
            <a:r>
              <a:rPr lang="en-US" dirty="0"/>
              <a:t>Math tutoring apps use </a:t>
            </a:r>
            <a:r>
              <a:rPr lang="en-US" dirty="0" err="1"/>
              <a:t>CoT</a:t>
            </a:r>
            <a:r>
              <a:rPr lang="en-US" dirty="0"/>
              <a:t> to support students in understanding problem-solving steps effectively.</a:t>
            </a:r>
          </a:p>
        </p:txBody>
      </p:sp>
    </p:spTree>
    <p:extLst>
      <p:ext uri="{BB962C8B-B14F-4D97-AF65-F5344CB8AC3E}">
        <p14:creationId xmlns:p14="http://schemas.microsoft.com/office/powerpoint/2010/main" val="450947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3D84154-032B-C287-6090-2B8C3E31BBDC}"/>
              </a:ext>
            </a:extLst>
          </p:cNvPr>
          <p:cNvSpPr>
            <a:spLocks noGrp="1"/>
          </p:cNvSpPr>
          <p:nvPr>
            <p:ph type="ctrTitle"/>
          </p:nvPr>
        </p:nvSpPr>
        <p:spPr>
          <a:xfrm>
            <a:off x="521208" y="1211766"/>
            <a:ext cx="7237052" cy="4727988"/>
          </a:xfrm>
        </p:spPr>
        <p:txBody>
          <a:bodyPr anchor="b">
            <a:normAutofit/>
          </a:bodyPr>
          <a:lstStyle/>
          <a:p>
            <a:r>
              <a:rPr lang="en-US" sz="7400"/>
              <a:t>Retrieval &amp; Knowledge Augmentation Concepts</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68445563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2C60-E7E9-3E5A-BF70-E8AFE5CF96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1C3DF5-C2C6-40FB-AC50-D4BE681842CB}"/>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Grounding</a:t>
            </a:r>
          </a:p>
        </p:txBody>
      </p:sp>
    </p:spTree>
    <p:extLst>
      <p:ext uri="{BB962C8B-B14F-4D97-AF65-F5344CB8AC3E}">
        <p14:creationId xmlns:p14="http://schemas.microsoft.com/office/powerpoint/2010/main" val="2015194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76C8C-E08A-D125-6313-0915944E0FFF}"/>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Grounding: Connecting AI to Real Information</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AI Artificial intelligence abstract neural network future technology internet of things big data">
            <a:extLst>
              <a:ext uri="{FF2B5EF4-FFF2-40B4-BE49-F238E27FC236}">
                <a16:creationId xmlns:a16="http://schemas.microsoft.com/office/drawing/2014/main" id="{B0CE0B18-EC8C-40D5-8C77-72853FF71AF7}"/>
              </a:ext>
            </a:extLst>
          </p:cNvPr>
          <p:cNvPicPr>
            <a:picLocks noGrp="1" noChangeAspect="1"/>
          </p:cNvPicPr>
          <p:nvPr>
            <p:ph sz="half" idx="1"/>
          </p:nvPr>
        </p:nvPicPr>
        <p:blipFill>
          <a:blip r:embed="rId3"/>
          <a:srcRect t="1441" r="-1" b="5298"/>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9F3BBB84-2BF3-761A-3020-F8C0A2A05BCE}"/>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Grounding</a:t>
            </a:r>
          </a:p>
          <a:p>
            <a:pPr marL="0" lvl="1" indent="0">
              <a:buFont typeface="Arial" panose="020B0604020202020204" pitchFamily="34" charset="0"/>
              <a:buNone/>
            </a:pPr>
            <a:r>
              <a:rPr lang="en-US" dirty="0"/>
              <a:t>Grounding connects AI responses to real, verifiable information sources to reduce hallucinations.</a:t>
            </a:r>
          </a:p>
          <a:p>
            <a:pPr marL="0" indent="0">
              <a:spcBef>
                <a:spcPts val="2500"/>
              </a:spcBef>
              <a:buFont typeface="Arial" panose="020B0604020202020204" pitchFamily="34" charset="0"/>
              <a:buNone/>
            </a:pPr>
            <a:r>
              <a:rPr lang="en-US" sz="1600" b="1" dirty="0"/>
              <a:t>Example Application</a:t>
            </a:r>
          </a:p>
          <a:p>
            <a:pPr marL="0" lvl="1" indent="0">
              <a:buFont typeface="Arial" panose="020B0604020202020204" pitchFamily="34" charset="0"/>
              <a:buNone/>
            </a:pPr>
            <a:r>
              <a:rPr lang="en-US" dirty="0"/>
              <a:t>Instead of guessing stock prices, AI retrieves current market data before responding.</a:t>
            </a:r>
          </a:p>
          <a:p>
            <a:pPr marL="0" indent="0">
              <a:spcBef>
                <a:spcPts val="2500"/>
              </a:spcBef>
              <a:buFont typeface="Arial" panose="020B0604020202020204" pitchFamily="34" charset="0"/>
              <a:buNone/>
            </a:pPr>
            <a:r>
              <a:rPr lang="en-US" sz="1600" b="1" dirty="0"/>
              <a:t>Role in Large Language Models</a:t>
            </a:r>
          </a:p>
          <a:p>
            <a:pPr marL="0" lvl="1" indent="0">
              <a:buFont typeface="Arial" panose="020B0604020202020204" pitchFamily="34" charset="0"/>
              <a:buNone/>
            </a:pPr>
            <a:r>
              <a:rPr lang="en-US" dirty="0"/>
              <a:t>Grounding anchors model outputs to factual sources beyond the training data.</a:t>
            </a:r>
          </a:p>
          <a:p>
            <a:pPr marL="0" indent="0">
              <a:spcBef>
                <a:spcPts val="2500"/>
              </a:spcBef>
              <a:buFont typeface="Arial" panose="020B0604020202020204" pitchFamily="34" charset="0"/>
              <a:buNone/>
            </a:pPr>
            <a:r>
              <a:rPr lang="en-US" sz="1600" b="1" dirty="0"/>
              <a:t>Practical Use Case</a:t>
            </a:r>
          </a:p>
          <a:p>
            <a:pPr marL="0" lvl="1" indent="0">
              <a:buFont typeface="Arial" panose="020B0604020202020204" pitchFamily="34" charset="0"/>
              <a:buNone/>
            </a:pPr>
            <a:r>
              <a:rPr lang="en-US" dirty="0"/>
              <a:t>News summarization systems ground articles in verified sources to enhance accuracy.</a:t>
            </a:r>
          </a:p>
        </p:txBody>
      </p:sp>
      <p:sp>
        <p:nvSpPr>
          <p:cNvPr id="9" name="Oval 8">
            <a:extLst>
              <a:ext uri="{FF2B5EF4-FFF2-40B4-BE49-F238E27FC236}">
                <a16:creationId xmlns:a16="http://schemas.microsoft.com/office/drawing/2014/main" id="{49745498-22AE-4BF0-B7C1-EADDE30DEAB4}"/>
              </a:ext>
            </a:extLst>
          </p:cNvPr>
          <p:cNvSpPr/>
          <p:nvPr/>
        </p:nvSpPr>
        <p:spPr>
          <a:xfrm>
            <a:off x="11686413" y="8511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1917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493F-D09A-C3FC-1CB4-410D08796C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0E1DBB-C1DF-4F9C-561B-3A2258B0C7D7}"/>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RAG</a:t>
            </a:r>
          </a:p>
        </p:txBody>
      </p:sp>
    </p:spTree>
    <p:extLst>
      <p:ext uri="{BB962C8B-B14F-4D97-AF65-F5344CB8AC3E}">
        <p14:creationId xmlns:p14="http://schemas.microsoft.com/office/powerpoint/2010/main" val="2045427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938966-C300-2C08-D950-7C1C1D349B48}"/>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100" b="1" kern="1200" dirty="0">
                <a:solidFill>
                  <a:schemeClr val="tx1"/>
                </a:solidFill>
                <a:latin typeface="+mj-lt"/>
                <a:ea typeface="+mj-ea"/>
                <a:cs typeface="+mj-cs"/>
              </a:rPr>
              <a:t>Retrieval-Augmented Generation (RAG): Search and Response Generation</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Android, Deep Learning, Artificial Intelligence Background">
            <a:extLst>
              <a:ext uri="{FF2B5EF4-FFF2-40B4-BE49-F238E27FC236}">
                <a16:creationId xmlns:a16="http://schemas.microsoft.com/office/drawing/2014/main" id="{CFB97B95-B293-4716-9EE9-59B0079A775D}"/>
              </a:ext>
            </a:extLst>
          </p:cNvPr>
          <p:cNvPicPr>
            <a:picLocks noGrp="1" noChangeAspect="1"/>
          </p:cNvPicPr>
          <p:nvPr>
            <p:ph sz="half" idx="1"/>
          </p:nvPr>
        </p:nvPicPr>
        <p:blipFill>
          <a:blip r:embed="rId3"/>
          <a:srcRect l="4095" r="15486" b="2"/>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6A02724A-F9E2-27B4-F222-99ACD4B3B9DB}"/>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RAG</a:t>
            </a:r>
          </a:p>
          <a:p>
            <a:pPr marL="0" lvl="1" indent="0">
              <a:buFont typeface="Arial" panose="020B0604020202020204" pitchFamily="34" charset="0"/>
              <a:buNone/>
            </a:pPr>
            <a:r>
              <a:rPr lang="en-US" dirty="0"/>
              <a:t>RAG is a method where AI searches relevant information before generating informed responses.</a:t>
            </a:r>
          </a:p>
          <a:p>
            <a:pPr marL="0" indent="0">
              <a:spcBef>
                <a:spcPts val="2500"/>
              </a:spcBef>
              <a:buFont typeface="Arial" panose="020B0604020202020204" pitchFamily="34" charset="0"/>
              <a:buNone/>
            </a:pPr>
            <a:r>
              <a:rPr lang="en-US" sz="1600" b="1" dirty="0"/>
              <a:t>Practical Example</a:t>
            </a:r>
          </a:p>
          <a:p>
            <a:pPr marL="0" lvl="1" indent="0">
              <a:buFont typeface="Arial" panose="020B0604020202020204" pitchFamily="34" charset="0"/>
              <a:buNone/>
            </a:pPr>
            <a:r>
              <a:rPr lang="en-US" dirty="0"/>
              <a:t>RAG searches employee handbook to answer company policy questions accurately.</a:t>
            </a:r>
          </a:p>
          <a:p>
            <a:pPr marL="0" indent="0">
              <a:spcBef>
                <a:spcPts val="2500"/>
              </a:spcBef>
              <a:buFont typeface="Arial" panose="020B0604020202020204" pitchFamily="34" charset="0"/>
              <a:buNone/>
            </a:pPr>
            <a:r>
              <a:rPr lang="en-US" sz="1600" b="1" dirty="0"/>
              <a:t>Role in Language Models</a:t>
            </a:r>
          </a:p>
          <a:p>
            <a:pPr marL="0" lvl="1" indent="0">
              <a:buFont typeface="Arial" panose="020B0604020202020204" pitchFamily="34" charset="0"/>
              <a:buNone/>
            </a:pPr>
            <a:r>
              <a:rPr lang="en-US" dirty="0"/>
              <a:t>RAG integrates language model capabilities with real-time external knowledge access.</a:t>
            </a:r>
          </a:p>
          <a:p>
            <a:pPr marL="0" indent="0">
              <a:spcBef>
                <a:spcPts val="2500"/>
              </a:spcBef>
              <a:buFont typeface="Arial" panose="020B0604020202020204" pitchFamily="34" charset="0"/>
              <a:buNone/>
            </a:pPr>
            <a:r>
              <a:rPr lang="en-US" sz="1600" b="1" dirty="0"/>
              <a:t>Customer Support Use Case</a:t>
            </a:r>
          </a:p>
          <a:p>
            <a:pPr marL="0" lvl="1" indent="0">
              <a:buFont typeface="Arial" panose="020B0604020202020204" pitchFamily="34" charset="0"/>
              <a:buNone/>
            </a:pPr>
            <a:r>
              <a:rPr lang="en-US" dirty="0"/>
              <a:t>Customer support uses RAG to deliver precise, up-to-date product information.</a:t>
            </a:r>
          </a:p>
        </p:txBody>
      </p:sp>
      <p:sp>
        <p:nvSpPr>
          <p:cNvPr id="9" name="Oval 8">
            <a:extLst>
              <a:ext uri="{FF2B5EF4-FFF2-40B4-BE49-F238E27FC236}">
                <a16:creationId xmlns:a16="http://schemas.microsoft.com/office/drawing/2014/main" id="{787C161D-6C64-4EE4-9206-76DEA4D6229F}"/>
              </a:ext>
            </a:extLst>
          </p:cNvPr>
          <p:cNvSpPr/>
          <p:nvPr/>
        </p:nvSpPr>
        <p:spPr>
          <a:xfrm>
            <a:off x="11686413" y="85119"/>
            <a:ext cx="272986" cy="2406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4391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2D91-DC87-C09C-00B3-F07EA5FC07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4B276E-D0F8-34DA-1D6C-9C83181AD428}"/>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Vector DB</a:t>
            </a:r>
          </a:p>
        </p:txBody>
      </p:sp>
    </p:spTree>
    <p:extLst>
      <p:ext uri="{BB962C8B-B14F-4D97-AF65-F5344CB8AC3E}">
        <p14:creationId xmlns:p14="http://schemas.microsoft.com/office/powerpoint/2010/main" val="1731510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9B8181-5387-197D-0580-D70C60C6CAD3}"/>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Vector Databases: Semantic Search and Applications</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Conceptual image of supercomputer, 3D generated image.">
            <a:extLst>
              <a:ext uri="{FF2B5EF4-FFF2-40B4-BE49-F238E27FC236}">
                <a16:creationId xmlns:a16="http://schemas.microsoft.com/office/drawing/2014/main" id="{21EE9E66-5BDE-42A1-B1A5-F6CE8F6D565E}"/>
              </a:ext>
            </a:extLst>
          </p:cNvPr>
          <p:cNvPicPr>
            <a:picLocks noGrp="1" noChangeAspect="1"/>
          </p:cNvPicPr>
          <p:nvPr>
            <p:ph sz="half" idx="1"/>
          </p:nvPr>
        </p:nvPicPr>
        <p:blipFill>
          <a:blip r:embed="rId3"/>
          <a:srcRect l="331" r="4238" b="1"/>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EB03366E-C3CF-FF4E-9223-D1007CF02DDA}"/>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Vector Databases</a:t>
            </a:r>
          </a:p>
          <a:p>
            <a:pPr marL="0" lvl="1" indent="0">
              <a:buFont typeface="Arial" panose="020B0604020202020204" pitchFamily="34" charset="0"/>
              <a:buNone/>
            </a:pPr>
            <a:r>
              <a:rPr lang="en-US" dirty="0"/>
              <a:t>Vector databases store and search data based on semantic similarity instead of exact keyword matches.</a:t>
            </a:r>
          </a:p>
          <a:p>
            <a:pPr marL="0" indent="0">
              <a:spcBef>
                <a:spcPts val="2500"/>
              </a:spcBef>
              <a:buFont typeface="Arial" panose="020B0604020202020204" pitchFamily="34" charset="0"/>
              <a:buNone/>
            </a:pPr>
            <a:r>
              <a:rPr lang="en-US" sz="1600" b="1" dirty="0"/>
              <a:t>Example of Semantic Search</a:t>
            </a:r>
          </a:p>
          <a:p>
            <a:pPr marL="0" lvl="1" indent="0">
              <a:buFont typeface="Arial" panose="020B0604020202020204" pitchFamily="34" charset="0"/>
              <a:buNone/>
            </a:pPr>
            <a:r>
              <a:rPr lang="en-US" dirty="0"/>
              <a:t>Searching 'car problems' retrieves related documents about vehicle and automotive issues by meaning.</a:t>
            </a:r>
          </a:p>
          <a:p>
            <a:pPr marL="0" indent="0">
              <a:spcBef>
                <a:spcPts val="2500"/>
              </a:spcBef>
              <a:buFont typeface="Arial" panose="020B0604020202020204" pitchFamily="34" charset="0"/>
              <a:buNone/>
            </a:pPr>
            <a:r>
              <a:rPr lang="en-US" sz="1600" b="1" dirty="0"/>
              <a:t>Role in Large Language Models</a:t>
            </a:r>
          </a:p>
          <a:p>
            <a:pPr marL="0" lvl="1" indent="0">
              <a:buFont typeface="Arial" panose="020B0604020202020204" pitchFamily="34" charset="0"/>
              <a:buNone/>
            </a:pPr>
            <a:r>
              <a:rPr lang="en-US" dirty="0"/>
              <a:t>Vector databases enable LLMs to understand context and meaning, improving semantic search capabilities.</a:t>
            </a:r>
          </a:p>
          <a:p>
            <a:pPr marL="0" indent="0">
              <a:spcBef>
                <a:spcPts val="2500"/>
              </a:spcBef>
              <a:buFont typeface="Arial" panose="020B0604020202020204" pitchFamily="34" charset="0"/>
              <a:buNone/>
            </a:pPr>
            <a:r>
              <a:rPr lang="en-US" sz="1600" b="1" dirty="0"/>
              <a:t>Applications in E-Commerce</a:t>
            </a:r>
          </a:p>
          <a:p>
            <a:pPr marL="0" lvl="1" indent="0">
              <a:buFont typeface="Arial" panose="020B0604020202020204" pitchFamily="34" charset="0"/>
              <a:buNone/>
            </a:pPr>
            <a:r>
              <a:rPr lang="en-US" dirty="0"/>
              <a:t>E-commerce platforms use vector databases for smarter product search and personalized recommendations.</a:t>
            </a:r>
          </a:p>
        </p:txBody>
      </p:sp>
    </p:spTree>
    <p:extLst>
      <p:ext uri="{BB962C8B-B14F-4D97-AF65-F5344CB8AC3E}">
        <p14:creationId xmlns:p14="http://schemas.microsoft.com/office/powerpoint/2010/main" val="3623970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42847-26F8-5A83-D63A-2DE670C5FC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5C9C31-520D-0331-69B7-6172ECE40A08}"/>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Chunking</a:t>
            </a:r>
          </a:p>
        </p:txBody>
      </p:sp>
    </p:spTree>
    <p:extLst>
      <p:ext uri="{BB962C8B-B14F-4D97-AF65-F5344CB8AC3E}">
        <p14:creationId xmlns:p14="http://schemas.microsoft.com/office/powerpoint/2010/main" val="2307659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EE988D-2301-AB06-188D-B22F58ACF0E1}"/>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Chunking: Document Processing for AI</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Files on digital background">
            <a:extLst>
              <a:ext uri="{FF2B5EF4-FFF2-40B4-BE49-F238E27FC236}">
                <a16:creationId xmlns:a16="http://schemas.microsoft.com/office/drawing/2014/main" id="{185C5224-8B90-4DAB-8B28-EC40FE1B764C}"/>
              </a:ext>
            </a:extLst>
          </p:cNvPr>
          <p:cNvPicPr>
            <a:picLocks noGrp="1" noChangeAspect="1"/>
          </p:cNvPicPr>
          <p:nvPr>
            <p:ph sz="half" idx="1"/>
          </p:nvPr>
        </p:nvPicPr>
        <p:blipFill>
          <a:blip r:embed="rId3"/>
          <a:srcRect l="2804" r="1765" b="1"/>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E42699B5-152B-E05D-C43C-303E63343D01}"/>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Concept of Chunking</a:t>
            </a:r>
          </a:p>
          <a:p>
            <a:pPr marL="0" lvl="1" indent="0">
              <a:buFont typeface="Arial" panose="020B0604020202020204" pitchFamily="34" charset="0"/>
              <a:buNone/>
            </a:pPr>
            <a:r>
              <a:rPr lang="en-US" dirty="0"/>
              <a:t>Chunking breaks large documents into smaller, manageable pieces for efficient AI processing.</a:t>
            </a:r>
          </a:p>
          <a:p>
            <a:pPr marL="0" indent="0">
              <a:spcBef>
                <a:spcPts val="2500"/>
              </a:spcBef>
              <a:buFont typeface="Arial" panose="020B0604020202020204" pitchFamily="34" charset="0"/>
              <a:buNone/>
            </a:pPr>
            <a:r>
              <a:rPr lang="en-US" sz="1600" b="1" dirty="0"/>
              <a:t>Example of Document Sections</a:t>
            </a:r>
          </a:p>
          <a:p>
            <a:pPr marL="0" lvl="1" indent="0">
              <a:buFont typeface="Arial" panose="020B0604020202020204" pitchFamily="34" charset="0"/>
              <a:buNone/>
            </a:pPr>
            <a:r>
              <a:rPr lang="en-US" dirty="0"/>
              <a:t>A long manual is divided into sections such as Installation, Setup, and Troubleshooting for clarity.</a:t>
            </a:r>
          </a:p>
          <a:p>
            <a:pPr marL="0" indent="0">
              <a:spcBef>
                <a:spcPts val="2500"/>
              </a:spcBef>
              <a:buFont typeface="Arial" panose="020B0604020202020204" pitchFamily="34" charset="0"/>
              <a:buNone/>
            </a:pPr>
            <a:r>
              <a:rPr lang="en-US" sz="1600" b="1" dirty="0"/>
              <a:t>Role in Large Language Models</a:t>
            </a:r>
          </a:p>
          <a:p>
            <a:pPr marL="0" lvl="1" indent="0">
              <a:buFont typeface="Arial" panose="020B0604020202020204" pitchFamily="34" charset="0"/>
              <a:buNone/>
            </a:pPr>
            <a:r>
              <a:rPr lang="en-US" dirty="0"/>
              <a:t>Chunking enables models to handle documents exceeding their context window size effectively.</a:t>
            </a:r>
          </a:p>
          <a:p>
            <a:pPr marL="0" indent="0">
              <a:spcBef>
                <a:spcPts val="2500"/>
              </a:spcBef>
              <a:buFont typeface="Arial" panose="020B0604020202020204" pitchFamily="34" charset="0"/>
              <a:buNone/>
            </a:pPr>
            <a:r>
              <a:rPr lang="en-US" sz="1600" b="1" dirty="0"/>
              <a:t>Practical Use Case</a:t>
            </a:r>
          </a:p>
          <a:p>
            <a:pPr marL="0" lvl="1" indent="0">
              <a:buFont typeface="Arial" panose="020B0604020202020204" pitchFamily="34" charset="0"/>
              <a:buNone/>
            </a:pPr>
            <a:r>
              <a:rPr lang="en-US" dirty="0"/>
              <a:t>Legal research systems use chunking to quickly locate relevant clauses in lengthy contracts.</a:t>
            </a:r>
          </a:p>
        </p:txBody>
      </p:sp>
    </p:spTree>
    <p:extLst>
      <p:ext uri="{BB962C8B-B14F-4D97-AF65-F5344CB8AC3E}">
        <p14:creationId xmlns:p14="http://schemas.microsoft.com/office/powerpoint/2010/main" val="3817617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43E16-E3FA-6B78-2CA6-FBD862660C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F86871-10BC-46AA-BC2E-16BCE0B8AFEA}"/>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Reranking</a:t>
            </a:r>
          </a:p>
        </p:txBody>
      </p:sp>
    </p:spTree>
    <p:extLst>
      <p:ext uri="{BB962C8B-B14F-4D97-AF65-F5344CB8AC3E}">
        <p14:creationId xmlns:p14="http://schemas.microsoft.com/office/powerpoint/2010/main" val="3757616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3" name="Rectangle 12">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644F977-2076-74A4-B81A-67788599056F}"/>
              </a:ext>
            </a:extLst>
          </p:cNvPr>
          <p:cNvSpPr>
            <a:spLocks noGrp="1"/>
          </p:cNvSpPr>
          <p:nvPr>
            <p:ph type="title"/>
          </p:nvPr>
        </p:nvSpPr>
        <p:spPr>
          <a:xfrm>
            <a:off x="521208" y="978408"/>
            <a:ext cx="3410712" cy="5376672"/>
          </a:xfrm>
        </p:spPr>
        <p:txBody>
          <a:bodyPr>
            <a:normAutofit/>
          </a:bodyPr>
          <a:lstStyle/>
          <a:p>
            <a:r>
              <a:rPr lang="en-US" sz="4000"/>
              <a:t>Reranking: Improving Search Result Relevance</a:t>
            </a:r>
          </a:p>
        </p:txBody>
      </p:sp>
      <p:graphicFrame>
        <p:nvGraphicFramePr>
          <p:cNvPr id="4" name="Content Placeholder 4">
            <a:extLst>
              <a:ext uri="{FF2B5EF4-FFF2-40B4-BE49-F238E27FC236}">
                <a16:creationId xmlns:a16="http://schemas.microsoft.com/office/drawing/2014/main" id="{783C40F2-B361-42FA-B15D-C5D7AAB92E4C}"/>
              </a:ext>
            </a:extLst>
          </p:cNvPr>
          <p:cNvGraphicFramePr>
            <a:graphicFrameLocks noGrp="1"/>
          </p:cNvGraphicFramePr>
          <p:nvPr>
            <p:ph idx="1"/>
            <p:extLst>
              <p:ext uri="{D42A27DB-BD31-4B8C-83A1-F6EECF244321}">
                <p14:modId xmlns:p14="http://schemas.microsoft.com/office/powerpoint/2010/main" val="3176158301"/>
              </p:ext>
              <p:ext uri="{E7BDC344-281C-4309-B0C6-D0EE65EED2A8}">
                <p202:designPr xmlns:p202="http://schemas.microsoft.com/office/powerpoint/2020/02/main" xmlns="">
                  <p202:designTagLst>
                    <p202:designTag name="ARCH:1:CLS" val="InformationBlock"/>
                    <p202:designTag name="ARCH:1:VSVAR" val="VisualTitledTextBox"/>
                  </p202:designTagLst>
                </p202:designPr>
              </p:ext>
            </p:extLst>
          </p:nvPr>
        </p:nvGraphicFramePr>
        <p:xfrm>
          <a:off x="4636008" y="1042416"/>
          <a:ext cx="7031736" cy="5312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764068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CAA259D-A5AA-AC96-2D8C-D2E1C0686190}"/>
              </a:ext>
            </a:extLst>
          </p:cNvPr>
          <p:cNvSpPr>
            <a:spLocks noGrp="1"/>
          </p:cNvSpPr>
          <p:nvPr>
            <p:ph type="ctrTitle"/>
          </p:nvPr>
        </p:nvSpPr>
        <p:spPr>
          <a:xfrm>
            <a:off x="521208" y="1211766"/>
            <a:ext cx="7237052" cy="4727988"/>
          </a:xfrm>
        </p:spPr>
        <p:txBody>
          <a:bodyPr anchor="b">
            <a:normAutofit/>
          </a:bodyPr>
          <a:lstStyle/>
          <a:p>
            <a:r>
              <a:rPr lang="en-US" sz="7400"/>
              <a:t>Evaluation &amp; Safety Concepts</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21050633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C2D49-76FB-2FB4-DF5B-C0F3BF2E64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C2DCEC-EDC6-9363-4E66-60220C792EB6}"/>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Bias</a:t>
            </a:r>
          </a:p>
        </p:txBody>
      </p:sp>
    </p:spTree>
    <p:extLst>
      <p:ext uri="{BB962C8B-B14F-4D97-AF65-F5344CB8AC3E}">
        <p14:creationId xmlns:p14="http://schemas.microsoft.com/office/powerpoint/2010/main" val="2064530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D77BF4-0EF9-FC54-6FE2-E93B833EDF6A}"/>
              </a:ext>
            </a:extLst>
          </p:cNvPr>
          <p:cNvSpPr>
            <a:spLocks noGrp="1"/>
          </p:cNvSpPr>
          <p:nvPr>
            <p:ph type="title"/>
          </p:nvPr>
        </p:nvSpPr>
        <p:spPr>
          <a:xfrm>
            <a:off x="521208" y="978408"/>
            <a:ext cx="6300216" cy="1463040"/>
          </a:xfrm>
        </p:spPr>
        <p:txBody>
          <a:bodyPr vert="horz" lIns="91440" tIns="45720" rIns="91440" bIns="45720" rtlCol="0" anchor="t">
            <a:normAutofit/>
          </a:bodyPr>
          <a:lstStyle/>
          <a:p>
            <a:r>
              <a:rPr lang="en-US" b="1" kern="1200">
                <a:solidFill>
                  <a:schemeClr val="tx1"/>
                </a:solidFill>
                <a:latin typeface="+mj-lt"/>
                <a:ea typeface="+mj-ea"/>
                <a:cs typeface="+mj-cs"/>
              </a:rPr>
              <a:t>Bias: Fairness and Detection in AI Systems</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88EA0C5E-B108-3007-ECFD-80C74ADF2931}"/>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21208" y="2578608"/>
            <a:ext cx="6300216" cy="3767328"/>
          </a:xfrm>
        </p:spPr>
        <p:txBody>
          <a:bodyPr>
            <a:normAutofit/>
          </a:bodyPr>
          <a:lstStyle/>
          <a:p>
            <a:pPr marL="0" indent="0">
              <a:spcBef>
                <a:spcPts val="2500"/>
              </a:spcBef>
              <a:buFont typeface="Arial" panose="020B0604020202020204" pitchFamily="34" charset="0"/>
              <a:buNone/>
            </a:pPr>
            <a:r>
              <a:rPr lang="en-US" sz="1600" b="1" dirty="0"/>
              <a:t>Unfair Treatment in AI</a:t>
            </a:r>
          </a:p>
          <a:p>
            <a:pPr marL="0" lvl="1" indent="0">
              <a:buFont typeface="Arial" panose="020B0604020202020204" pitchFamily="34" charset="0"/>
              <a:buNone/>
            </a:pPr>
            <a:r>
              <a:rPr lang="en-US" dirty="0"/>
              <a:t>AI systems can embed prejudices, leading to unfair treatment of certain groups in decisions like hiring.</a:t>
            </a:r>
          </a:p>
          <a:p>
            <a:pPr marL="0" indent="0">
              <a:spcBef>
                <a:spcPts val="2500"/>
              </a:spcBef>
              <a:buFont typeface="Arial" panose="020B0604020202020204" pitchFamily="34" charset="0"/>
              <a:buNone/>
            </a:pPr>
            <a:r>
              <a:rPr lang="en-US" sz="1600" b="1" dirty="0"/>
              <a:t>Bias in Language Models</a:t>
            </a:r>
          </a:p>
          <a:p>
            <a:pPr marL="0" lvl="1" indent="0">
              <a:buFont typeface="Arial" panose="020B0604020202020204" pitchFamily="34" charset="0"/>
              <a:buNone/>
            </a:pPr>
            <a:r>
              <a:rPr lang="en-US" dirty="0"/>
              <a:t>Large language models may perpetuate societal biases present in their training data, impacting fairness of outputs.</a:t>
            </a:r>
          </a:p>
          <a:p>
            <a:pPr marL="0" indent="0">
              <a:spcBef>
                <a:spcPts val="2500"/>
              </a:spcBef>
              <a:buFont typeface="Arial" panose="020B0604020202020204" pitchFamily="34" charset="0"/>
              <a:buNone/>
            </a:pPr>
            <a:r>
              <a:rPr lang="en-US" sz="1600" b="1" dirty="0"/>
              <a:t>Bias Detection in Use Cases</a:t>
            </a:r>
          </a:p>
          <a:p>
            <a:pPr marL="0" lvl="1" indent="0">
              <a:buFont typeface="Arial" panose="020B0604020202020204" pitchFamily="34" charset="0"/>
              <a:buNone/>
            </a:pPr>
            <a:r>
              <a:rPr lang="en-US" dirty="0"/>
              <a:t>Content moderation systems require bias detection mechanisms to ensure fair treatment of all users.</a:t>
            </a:r>
          </a:p>
        </p:txBody>
      </p:sp>
      <p:pic>
        <p:nvPicPr>
          <p:cNvPr id="5" name="Content Placeholder 4" descr="Three wooden figures standing below a floating network connection symbol.These are unique and original wooden figures with accessories crafted by the photographer from recycled materials.  All the items in this image are carefully hand crafted and owned by the photographer">
            <a:extLst>
              <a:ext uri="{FF2B5EF4-FFF2-40B4-BE49-F238E27FC236}">
                <a16:creationId xmlns:a16="http://schemas.microsoft.com/office/drawing/2014/main" id="{394C35AA-CD72-4779-AFA4-31B16F8EFF69}"/>
              </a:ext>
            </a:extLst>
          </p:cNvPr>
          <p:cNvPicPr>
            <a:picLocks noGrp="1" noChangeAspect="1"/>
          </p:cNvPicPr>
          <p:nvPr>
            <p:ph sz="half" idx="1"/>
          </p:nvPr>
        </p:nvPicPr>
        <p:blipFill>
          <a:blip r:embed="rId3"/>
          <a:srcRect l="26599" r="26627" b="-1"/>
          <a:stretch>
            <a:fillRect/>
          </a:stretch>
        </p:blipFill>
        <p:spPr>
          <a:xfrm>
            <a:off x="7586236" y="508090"/>
            <a:ext cx="4081805" cy="5846990"/>
          </a:xfrm>
          <a:prstGeom prst="rect">
            <a:avLst/>
          </a:prstGeom>
        </p:spPr>
      </p:pic>
    </p:spTree>
    <p:extLst>
      <p:ext uri="{BB962C8B-B14F-4D97-AF65-F5344CB8AC3E}">
        <p14:creationId xmlns:p14="http://schemas.microsoft.com/office/powerpoint/2010/main" val="1217554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9E7D-C4CB-7736-2D70-DC608E1384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9EB622-D220-64C7-65C2-AB0211CCA422}"/>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Guardrails</a:t>
            </a:r>
          </a:p>
        </p:txBody>
      </p:sp>
    </p:spTree>
    <p:extLst>
      <p:ext uri="{BB962C8B-B14F-4D97-AF65-F5344CB8AC3E}">
        <p14:creationId xmlns:p14="http://schemas.microsoft.com/office/powerpoint/2010/main" val="3637864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8CF5B7-7046-BB1D-853E-24929891F647}"/>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Guardrails: Safety Measures and Responsible AI</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Internet Security Concept. Two-factor Authentication Background">
            <a:extLst>
              <a:ext uri="{FF2B5EF4-FFF2-40B4-BE49-F238E27FC236}">
                <a16:creationId xmlns:a16="http://schemas.microsoft.com/office/drawing/2014/main" id="{55594E90-93EE-4042-AF88-081EA3D2A916}"/>
              </a:ext>
            </a:extLst>
          </p:cNvPr>
          <p:cNvPicPr>
            <a:picLocks noGrp="1" noChangeAspect="1"/>
          </p:cNvPicPr>
          <p:nvPr>
            <p:ph sz="half" idx="1"/>
          </p:nvPr>
        </p:nvPicPr>
        <p:blipFill>
          <a:blip r:embed="rId3"/>
          <a:srcRect l="1452" r="3117" b="1"/>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3C3B0662-8DAD-3296-C86B-E9C52E7F9463}"/>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Guardrails</a:t>
            </a:r>
          </a:p>
          <a:p>
            <a:pPr marL="0" lvl="1" indent="0">
              <a:buFont typeface="Arial" panose="020B0604020202020204" pitchFamily="34" charset="0"/>
              <a:buNone/>
            </a:pPr>
            <a:r>
              <a:rPr lang="en-US" dirty="0"/>
              <a:t>Guardrails are safety measures preventing AI from producing harmful or inappropriate content.</a:t>
            </a:r>
          </a:p>
          <a:p>
            <a:pPr marL="0" indent="0">
              <a:spcBef>
                <a:spcPts val="2500"/>
              </a:spcBef>
              <a:buFont typeface="Arial" panose="020B0604020202020204" pitchFamily="34" charset="0"/>
              <a:buNone/>
            </a:pPr>
            <a:r>
              <a:rPr lang="en-US" sz="1600" b="1" dirty="0"/>
              <a:t>Examples of Guardrails</a:t>
            </a:r>
          </a:p>
          <a:p>
            <a:pPr marL="0" lvl="1" indent="0">
              <a:buFont typeface="Arial" panose="020B0604020202020204" pitchFamily="34" charset="0"/>
              <a:buNone/>
            </a:pPr>
            <a:r>
              <a:rPr lang="en-US" dirty="0"/>
              <a:t>Guardrails block AI from generating dangerous instructions or sharing personal information.</a:t>
            </a:r>
          </a:p>
          <a:p>
            <a:pPr marL="0" indent="0">
              <a:spcBef>
                <a:spcPts val="2500"/>
              </a:spcBef>
              <a:buFont typeface="Arial" panose="020B0604020202020204" pitchFamily="34" charset="0"/>
              <a:buNone/>
            </a:pPr>
            <a:r>
              <a:rPr lang="en-US" sz="1600" b="1" dirty="0"/>
              <a:t>Role in Large Language Models</a:t>
            </a:r>
          </a:p>
          <a:p>
            <a:pPr marL="0" lvl="1" indent="0">
              <a:buFont typeface="Arial" panose="020B0604020202020204" pitchFamily="34" charset="0"/>
              <a:buNone/>
            </a:pPr>
            <a:r>
              <a:rPr lang="en-US" dirty="0"/>
              <a:t>Guardrails ensure responsible AI behavior and prevent misuse during deployment.</a:t>
            </a:r>
          </a:p>
          <a:p>
            <a:pPr marL="0" indent="0">
              <a:spcBef>
                <a:spcPts val="2500"/>
              </a:spcBef>
              <a:buFont typeface="Arial" panose="020B0604020202020204" pitchFamily="34" charset="0"/>
              <a:buNone/>
            </a:pPr>
            <a:r>
              <a:rPr lang="en-US" sz="1600" b="1" dirty="0"/>
              <a:t>Use Case in Education</a:t>
            </a:r>
          </a:p>
          <a:p>
            <a:pPr marL="0" lvl="1" indent="0">
              <a:buFont typeface="Arial" panose="020B0604020202020204" pitchFamily="34" charset="0"/>
              <a:buNone/>
            </a:pPr>
            <a:r>
              <a:rPr lang="en-US" dirty="0"/>
              <a:t>Educational AI uses guardrails to keep content appropriate for different age groups.</a:t>
            </a:r>
          </a:p>
        </p:txBody>
      </p:sp>
    </p:spTree>
    <p:extLst>
      <p:ext uri="{BB962C8B-B14F-4D97-AF65-F5344CB8AC3E}">
        <p14:creationId xmlns:p14="http://schemas.microsoft.com/office/powerpoint/2010/main" val="35938156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3EFD1-3A2A-9951-7DD7-6F2B9B422D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CB0338-9119-766D-B192-2AE7208B0BC7}"/>
              </a:ext>
            </a:extLst>
          </p:cNvPr>
          <p:cNvSpPr txBox="1"/>
          <p:nvPr/>
        </p:nvSpPr>
        <p:spPr>
          <a:xfrm>
            <a:off x="1968674" y="2228671"/>
            <a:ext cx="8254652" cy="1200329"/>
          </a:xfrm>
          <a:prstGeom prst="rect">
            <a:avLst/>
          </a:prstGeom>
          <a:noFill/>
        </p:spPr>
        <p:txBody>
          <a:bodyPr wrap="square" rtlCol="0">
            <a:spAutoFit/>
          </a:bodyPr>
          <a:lstStyle/>
          <a:p>
            <a:pPr algn="ctr"/>
            <a:r>
              <a:rPr lang="en-US" sz="7200" b="1" i="1" dirty="0">
                <a:latin typeface="Calibri" panose="020F0502020204030204" pitchFamily="34" charset="0"/>
                <a:ea typeface="Calibri" panose="020F0502020204030204" pitchFamily="34" charset="0"/>
                <a:cs typeface="Calibri" panose="020F0502020204030204" pitchFamily="34" charset="0"/>
              </a:rPr>
              <a:t>Explainability</a:t>
            </a:r>
          </a:p>
        </p:txBody>
      </p:sp>
    </p:spTree>
    <p:extLst>
      <p:ext uri="{BB962C8B-B14F-4D97-AF65-F5344CB8AC3E}">
        <p14:creationId xmlns:p14="http://schemas.microsoft.com/office/powerpoint/2010/main" val="1823379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E9FB152-1554-09FF-4083-387E54822FCC}"/>
              </a:ext>
            </a:extLst>
          </p:cNvPr>
          <p:cNvSpPr>
            <a:spLocks noGrp="1"/>
          </p:cNvSpPr>
          <p:nvPr>
            <p:ph type="title"/>
          </p:nvPr>
        </p:nvSpPr>
        <p:spPr>
          <a:xfrm>
            <a:off x="521208" y="978408"/>
            <a:ext cx="5020056" cy="1664208"/>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Explainability: Understanding AI Decisions</a:t>
            </a:r>
          </a:p>
        </p:txBody>
      </p:sp>
      <p:sp>
        <p:nvSpPr>
          <p:cNvPr id="14" name="Rectangle 13">
            <a:extLst>
              <a:ext uri="{FF2B5EF4-FFF2-40B4-BE49-F238E27FC236}">
                <a16:creationId xmlns:a16="http://schemas.microsoft.com/office/drawing/2014/main" id="{B3367C65-B72C-202E-98A7-9B20F8F2F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7" y="508090"/>
            <a:ext cx="502005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AE558C32-DE71-E6B3-A032-D3EA9CB0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6463" y="611650"/>
            <a:ext cx="550468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E7D73354-9364-4CC1-9891-D4D1F6297DB5}"/>
              </a:ext>
            </a:extLst>
          </p:cNvPr>
          <p:cNvPicPr>
            <a:picLocks noGrp="1" noChangeAspect="1"/>
          </p:cNvPicPr>
          <p:nvPr>
            <p:ph sz="half" idx="1"/>
          </p:nvPr>
        </p:nvPicPr>
        <p:blipFill>
          <a:blip r:embed="rId3"/>
          <a:srcRect l="4568" r="1" b="1"/>
          <a:stretch>
            <a:fillRect/>
          </a:stretch>
        </p:blipFill>
        <p:spPr>
          <a:xfrm>
            <a:off x="517867" y="2834640"/>
            <a:ext cx="5020056" cy="3511296"/>
          </a:xfrm>
          <a:prstGeom prst="rect">
            <a:avLst/>
          </a:prstGeom>
        </p:spPr>
      </p:pic>
      <p:sp>
        <p:nvSpPr>
          <p:cNvPr id="4" name="Content Placeholder 3">
            <a:extLst>
              <a:ext uri="{FF2B5EF4-FFF2-40B4-BE49-F238E27FC236}">
                <a16:creationId xmlns:a16="http://schemas.microsoft.com/office/drawing/2014/main" id="{57521C63-76FC-E290-AF79-0991DA90C5CB}"/>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63056" y="978408"/>
            <a:ext cx="5504688" cy="5367528"/>
          </a:xfrm>
        </p:spPr>
        <p:txBody>
          <a:bodyPr>
            <a:normAutofit/>
          </a:bodyPr>
          <a:lstStyle/>
          <a:p>
            <a:pPr marL="0" indent="0">
              <a:spcBef>
                <a:spcPts val="2500"/>
              </a:spcBef>
              <a:buFont typeface="Arial" panose="020B0604020202020204" pitchFamily="34" charset="0"/>
              <a:buNone/>
            </a:pPr>
            <a:r>
              <a:rPr lang="en-US" sz="1600" b="1" dirty="0"/>
              <a:t>Definition of Explainability</a:t>
            </a:r>
          </a:p>
          <a:p>
            <a:pPr marL="0" lvl="1" indent="0">
              <a:buFont typeface="Arial" panose="020B0604020202020204" pitchFamily="34" charset="0"/>
              <a:buNone/>
            </a:pPr>
            <a:r>
              <a:rPr lang="en-US" dirty="0"/>
              <a:t>Explainability is the ability to understand and clearly explain how an AI system reaches a decision.</a:t>
            </a:r>
          </a:p>
          <a:p>
            <a:pPr marL="0" indent="0">
              <a:spcBef>
                <a:spcPts val="2500"/>
              </a:spcBef>
              <a:buFont typeface="Arial" panose="020B0604020202020204" pitchFamily="34" charset="0"/>
              <a:buNone/>
            </a:pPr>
            <a:r>
              <a:rPr lang="en-US" sz="1600" b="1" dirty="0"/>
              <a:t>Example of AI Explanation</a:t>
            </a:r>
          </a:p>
          <a:p>
            <a:pPr marL="0" lvl="1" indent="0">
              <a:buFont typeface="Arial" panose="020B0604020202020204" pitchFamily="34" charset="0"/>
              <a:buNone/>
            </a:pPr>
            <a:r>
              <a:rPr lang="en-US" dirty="0"/>
              <a:t>A loan system explains approvals based on factors like credit score, income, and debt ratio percentages.</a:t>
            </a:r>
          </a:p>
          <a:p>
            <a:pPr marL="0" indent="0">
              <a:spcBef>
                <a:spcPts val="2500"/>
              </a:spcBef>
              <a:buFont typeface="Arial" panose="020B0604020202020204" pitchFamily="34" charset="0"/>
              <a:buNone/>
            </a:pPr>
            <a:r>
              <a:rPr lang="en-US" sz="1600" b="1" dirty="0"/>
              <a:t>Role in Large Language Models</a:t>
            </a:r>
          </a:p>
          <a:p>
            <a:pPr marL="0" lvl="1" indent="0">
              <a:buFont typeface="Arial" panose="020B0604020202020204" pitchFamily="34" charset="0"/>
              <a:buNone/>
            </a:pPr>
            <a:r>
              <a:rPr lang="en-US" dirty="0"/>
              <a:t>Explainability is crucial for trust and accountability in high-stakes AI decisions, especially in LLMs.</a:t>
            </a:r>
          </a:p>
          <a:p>
            <a:pPr marL="0" indent="0">
              <a:spcBef>
                <a:spcPts val="2500"/>
              </a:spcBef>
              <a:buFont typeface="Arial" panose="020B0604020202020204" pitchFamily="34" charset="0"/>
              <a:buNone/>
            </a:pPr>
            <a:r>
              <a:rPr lang="en-US" sz="1600" b="1" dirty="0"/>
              <a:t>Healthcare Use Case</a:t>
            </a:r>
          </a:p>
          <a:p>
            <a:pPr marL="0" lvl="1" indent="0">
              <a:buFont typeface="Arial" panose="020B0604020202020204" pitchFamily="34" charset="0"/>
              <a:buNone/>
            </a:pPr>
            <a:r>
              <a:rPr lang="en-US" dirty="0"/>
              <a:t>AI systems in healthcare must explain diagnoses to doctors, ensuring validation and building trust.</a:t>
            </a:r>
          </a:p>
        </p:txBody>
      </p:sp>
    </p:spTree>
    <p:extLst>
      <p:ext uri="{BB962C8B-B14F-4D97-AF65-F5344CB8AC3E}">
        <p14:creationId xmlns:p14="http://schemas.microsoft.com/office/powerpoint/2010/main" val="35525899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845" y="3079474"/>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B35BEFE-4102-87C9-0817-6F9672EC3B43}"/>
              </a:ext>
            </a:extLst>
          </p:cNvPr>
          <p:cNvSpPr>
            <a:spLocks noGrp="1"/>
          </p:cNvSpPr>
          <p:nvPr>
            <p:ph type="title"/>
          </p:nvPr>
        </p:nvSpPr>
        <p:spPr>
          <a:xfrm>
            <a:off x="521208" y="1325880"/>
            <a:ext cx="11155680" cy="1408176"/>
          </a:xfrm>
        </p:spPr>
        <p:txBody>
          <a:bodyPr anchor="b">
            <a:normAutofit/>
          </a:bodyPr>
          <a:lstStyle/>
          <a:p>
            <a:r>
              <a:rPr lang="en-US" sz="6800" dirty="0"/>
              <a:t>Conclusion</a:t>
            </a:r>
          </a:p>
        </p:txBody>
      </p:sp>
      <p:graphicFrame>
        <p:nvGraphicFramePr>
          <p:cNvPr id="11" name="Content Placeholder 2">
            <a:extLst>
              <a:ext uri="{FF2B5EF4-FFF2-40B4-BE49-F238E27FC236}">
                <a16:creationId xmlns:a16="http://schemas.microsoft.com/office/drawing/2014/main" id="{94AC6C6A-C9B4-3908-E8D4-7B112495C737}"/>
              </a:ext>
            </a:extLst>
          </p:cNvPr>
          <p:cNvGraphicFramePr>
            <a:graphicFrameLocks noGrp="1"/>
          </p:cNvGraphicFramePr>
          <p:nvPr>
            <p:ph idx="1"/>
            <p:extLst>
              <p:ext uri="{D42A27DB-BD31-4B8C-83A1-F6EECF244321}">
                <p14:modId xmlns:p14="http://schemas.microsoft.com/office/powerpoint/2010/main" val="1894039298"/>
              </p:ex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GraphicFramePr>
        <p:xfrm>
          <a:off x="518160" y="3629248"/>
          <a:ext cx="11155680" cy="14350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61821946-2326-2914-2B6D-2CE558A0BB84}"/>
              </a:ext>
            </a:extLst>
          </p:cNvPr>
          <p:cNvSpPr txBox="1"/>
          <p:nvPr/>
        </p:nvSpPr>
        <p:spPr>
          <a:xfrm>
            <a:off x="663879" y="5064325"/>
            <a:ext cx="9532307" cy="369332"/>
          </a:xfrm>
          <a:prstGeom prst="rect">
            <a:avLst/>
          </a:prstGeom>
          <a:noFill/>
        </p:spPr>
        <p:txBody>
          <a:bodyPr wrap="square" rtlCol="0">
            <a:spAutoFit/>
          </a:bodyPr>
          <a:lstStyle/>
          <a:p>
            <a:r>
              <a:rPr lang="en-US" dirty="0"/>
              <a:t>And the glossary is endless: Link to stay updated</a:t>
            </a:r>
          </a:p>
        </p:txBody>
      </p:sp>
      <p:pic>
        <p:nvPicPr>
          <p:cNvPr id="4102" name="Picture 6" descr="Click here button in yellow colors with pointer clicking. Click here web  button illustration. 12871548 PNG">
            <a:hlinkClick r:id="rId8"/>
            <a:extLst>
              <a:ext uri="{FF2B5EF4-FFF2-40B4-BE49-F238E27FC236}">
                <a16:creationId xmlns:a16="http://schemas.microsoft.com/office/drawing/2014/main" id="{B82C9906-FA8B-9D1A-EA32-00040D803236}"/>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9600" b="88800" l="6452" r="95037">
                        <a14:foregroundMark x1="6452" y1="51200" x2="17122" y2="50400"/>
                        <a14:foregroundMark x1="88586" y1="34400" x2="92804" y2="53600"/>
                        <a14:foregroundMark x1="91563" y1="69600" x2="87593" y2="69600"/>
                        <a14:foregroundMark x1="88586" y1="60800" x2="89826" y2="58400"/>
                        <a14:foregroundMark x1="89826" y1="58400" x2="91811" y2="70400"/>
                        <a14:foregroundMark x1="92308" y1="53600" x2="44913" y2="48000"/>
                        <a14:foregroundMark x1="83127" y1="49600" x2="91811" y2="79200"/>
                        <a14:foregroundMark x1="91811" y1="79200" x2="89330" y2="80000"/>
                        <a14:foregroundMark x1="90819" y1="67200" x2="94045" y2="71200"/>
                        <a14:foregroundMark x1="95037" y1="54400" x2="94045" y2="40800"/>
                        <a14:foregroundMark x1="94045" y1="40800" x2="94045" y2="40800"/>
                        <a14:foregroundMark x1="94045" y1="40800" x2="93300" y2="56800"/>
                        <a14:foregroundMark x1="93548" y1="64000" x2="93300" y2="56800"/>
                      </a14:backgroundRemoval>
                    </a14:imgEffect>
                  </a14:imgLayer>
                </a14:imgProps>
              </a:ext>
              <a:ext uri="{28A0092B-C50C-407E-A947-70E740481C1C}">
                <a14:useLocalDpi xmlns:a14="http://schemas.microsoft.com/office/drawing/2010/main" val="0"/>
              </a:ext>
            </a:extLst>
          </a:blip>
          <a:srcRect/>
          <a:stretch>
            <a:fillRect/>
          </a:stretch>
        </p:blipFill>
        <p:spPr bwMode="auto">
          <a:xfrm>
            <a:off x="5654785" y="4899698"/>
            <a:ext cx="2413777" cy="748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026702"/>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1224</TotalTime>
  <Words>4219</Words>
  <Application>Microsoft Office PowerPoint</Application>
  <PresentationFormat>Widescreen</PresentationFormat>
  <Paragraphs>258</Paragraphs>
  <Slides>43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Arial</vt:lpstr>
      <vt:lpstr>Bierstadt</vt:lpstr>
      <vt:lpstr>Calibri</vt:lpstr>
      <vt:lpstr>GestaltVTI</vt:lpstr>
      <vt:lpstr>Essential Concepts in Generative AI</vt:lpstr>
      <vt:lpstr>What is a large language model?</vt:lpstr>
      <vt:lpstr>PowerPoint Presentation</vt:lpstr>
      <vt:lpstr>Transformers architecture</vt:lpstr>
      <vt:lpstr>PowerPoint Presentation</vt:lpstr>
      <vt:lpstr>What We'll Cover</vt:lpstr>
      <vt:lpstr>Core Concepts in Generative AI</vt:lpstr>
      <vt:lpstr>PowerPoint Presentation</vt:lpstr>
      <vt:lpstr>Hallucination</vt:lpstr>
      <vt:lpstr>PowerPoint Presentation</vt:lpstr>
      <vt:lpstr>Prompt Engineering</vt:lpstr>
      <vt:lpstr>PowerPoint Presentation</vt:lpstr>
      <vt:lpstr>Context Window</vt:lpstr>
      <vt:lpstr>PowerPoint Presentation</vt:lpstr>
      <vt:lpstr>Token</vt:lpstr>
      <vt:lpstr>PowerPoint Presentation</vt:lpstr>
      <vt:lpstr>Temperature</vt:lpstr>
      <vt:lpstr>PowerPoint Presentation</vt:lpstr>
      <vt:lpstr>Few-Shot / Zero-Shot / One-Shot Learning </vt:lpstr>
      <vt:lpstr>Embeddings and Chain of Thought Reasoning</vt:lpstr>
      <vt:lpstr>PowerPoint Presentation</vt:lpstr>
      <vt:lpstr>Embeddings</vt:lpstr>
      <vt:lpstr>PowerPoint Presentation</vt:lpstr>
      <vt:lpstr>Chain of Thought (CoT): Step-by-Step Reasoning</vt:lpstr>
      <vt:lpstr>Retrieval &amp; Knowledge Augmentation Concepts</vt:lpstr>
      <vt:lpstr>PowerPoint Presentation</vt:lpstr>
      <vt:lpstr>Grounding: Connecting AI to Real Information</vt:lpstr>
      <vt:lpstr>PowerPoint Presentation</vt:lpstr>
      <vt:lpstr>Retrieval-Augmented Generation (RAG): Search and Response Generation</vt:lpstr>
      <vt:lpstr>PowerPoint Presentation</vt:lpstr>
      <vt:lpstr>Vector Databases: Semantic Search and Applications</vt:lpstr>
      <vt:lpstr>PowerPoint Presentation</vt:lpstr>
      <vt:lpstr>Chunking: Document Processing for AI</vt:lpstr>
      <vt:lpstr>PowerPoint Presentation</vt:lpstr>
      <vt:lpstr>Reranking: Improving Search Result Relevance</vt:lpstr>
      <vt:lpstr>Evaluation &amp; Safety Concepts</vt:lpstr>
      <vt:lpstr>PowerPoint Presentation</vt:lpstr>
      <vt:lpstr>Bias: Fairness and Detection in AI Systems</vt:lpstr>
      <vt:lpstr>PowerPoint Presentation</vt:lpstr>
      <vt:lpstr>Guardrails: Safety Measures and Responsible AI</vt:lpstr>
      <vt:lpstr>PowerPoint Presentation</vt:lpstr>
      <vt:lpstr>Explainability: Understanding AI Decisions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 Concepts in Generative AI</dc:title>
  <dc:creator>Ankit Mirajkar</dc:creator>
  <cp:lastModifiedBy>Ankit Mirajkar</cp:lastModifiedBy>
  <cp:revision>79</cp:revision>
  <dcterms:created xsi:type="dcterms:W3CDTF">2025-10-12T12:44:16Z</dcterms:created>
  <dcterms:modified xsi:type="dcterms:W3CDTF">2026-04-24T01:28:09Z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9e9a456-2778-4ca9-be06-1190b1e1118a_Enabled">
    <vt:lpwstr>true</vt:lpwstr>
  </property>
  <property fmtid="{D5CDD505-2E9C-101B-9397-08002B2CF9AE}" pid="3" name="MSIP_Label_09e9a456-2778-4ca9-be06-1190b1e1118a_SetDate">
    <vt:lpwstr>2025-10-12T12:46:55Z</vt:lpwstr>
  </property>
  <property fmtid="{D5CDD505-2E9C-101B-9397-08002B2CF9AE}" pid="4" name="MSIP_Label_09e9a456-2778-4ca9-be06-1190b1e1118a_Method">
    <vt:lpwstr>Standard</vt:lpwstr>
  </property>
  <property fmtid="{D5CDD505-2E9C-101B-9397-08002B2CF9AE}" pid="5" name="MSIP_Label_09e9a456-2778-4ca9-be06-1190b1e1118a_Name">
    <vt:lpwstr>D3</vt:lpwstr>
  </property>
  <property fmtid="{D5CDD505-2E9C-101B-9397-08002B2CF9AE}" pid="6" name="MSIP_Label_09e9a456-2778-4ca9-be06-1190b1e1118a_SiteId">
    <vt:lpwstr>658ba197-6c73-4fea-91bd-1c7d8de6bf2c</vt:lpwstr>
  </property>
  <property fmtid="{D5CDD505-2E9C-101B-9397-08002B2CF9AE}" pid="7" name="MSIP_Label_09e9a456-2778-4ca9-be06-1190b1e1118a_ActionId">
    <vt:lpwstr>79b6415d-4718-4334-979b-35d5f7a6ae52</vt:lpwstr>
  </property>
  <property fmtid="{D5CDD505-2E9C-101B-9397-08002B2CF9AE}" pid="8" name="MSIP_Label_09e9a456-2778-4ca9-be06-1190b1e1118a_ContentBits">
    <vt:lpwstr>0</vt:lpwstr>
  </property>
  <property fmtid="{D5CDD505-2E9C-101B-9397-08002B2CF9AE}" pid="9" name="MSIP_Label_09e9a456-2778-4ca9-be06-1190b1e1118a_Tag">
    <vt:lpwstr>10, 3, 0, 1</vt:lpwstr>
  </property>
</Properties>
</file>