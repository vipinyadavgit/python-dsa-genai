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62" r:id="rId3"/>
    <p:sldId id="2564" r:id="rId4"/>
    <p:sldId id="2565" r:id="rId5"/>
    <p:sldId id="2568" r:id="rId6"/>
    <p:sldId id="2569" r:id="rId7"/>
    <p:sldId id="2571" r:id="rId8"/>
    <p:sldId id="2570" r:id="rId9"/>
    <p:sldId id="2572" r:id="rId10"/>
    <p:sldId id="2566" r:id="rId11"/>
    <p:sldId id="2573" r:id="rId12"/>
    <p:sldId id="257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06880D-123F-4DF9-9CE5-A0BE55641A8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0512883-8AB0-4FEA-80E3-4760D2D5C151}">
      <dgm:prSet/>
      <dgm:spPr/>
      <dgm:t>
        <a:bodyPr/>
        <a:lstStyle/>
        <a:p>
          <a:pPr>
            <a:lnSpc>
              <a:spcPct val="100000"/>
            </a:lnSpc>
          </a:pPr>
          <a:r>
            <a:rPr lang="en-US" dirty="0"/>
            <a:t>Neural networks (NN)</a:t>
          </a:r>
        </a:p>
      </dgm:t>
    </dgm:pt>
    <dgm:pt modelId="{6B79FCA3-4251-4A13-98BD-9A2C6E832F70}" type="parTrans" cxnId="{10F7AA27-1E6F-425C-92D8-D62C7DB1B847}">
      <dgm:prSet/>
      <dgm:spPr/>
      <dgm:t>
        <a:bodyPr/>
        <a:lstStyle/>
        <a:p>
          <a:endParaRPr lang="en-US"/>
        </a:p>
      </dgm:t>
    </dgm:pt>
    <dgm:pt modelId="{BD9D46C7-BE16-438F-81E3-A491D13E7EEA}" type="sibTrans" cxnId="{10F7AA27-1E6F-425C-92D8-D62C7DB1B847}">
      <dgm:prSet/>
      <dgm:spPr/>
      <dgm:t>
        <a:bodyPr/>
        <a:lstStyle/>
        <a:p>
          <a:endParaRPr lang="en-US"/>
        </a:p>
      </dgm:t>
    </dgm:pt>
    <dgm:pt modelId="{BAB90A0F-FFE9-4E36-BD2D-49B49CE54DEC}">
      <dgm:prSet/>
      <dgm:spPr/>
      <dgm:t>
        <a:bodyPr/>
        <a:lstStyle/>
        <a:p>
          <a:pPr>
            <a:lnSpc>
              <a:spcPct val="100000"/>
            </a:lnSpc>
          </a:pPr>
          <a:r>
            <a:rPr lang="en-US" b="0" i="0" dirty="0"/>
            <a:t>Deep neural networks (DNN)</a:t>
          </a:r>
          <a:endParaRPr lang="en-US" dirty="0"/>
        </a:p>
      </dgm:t>
    </dgm:pt>
    <dgm:pt modelId="{FDA10647-7EFF-4DC7-B774-D0EB091D12BD}" type="parTrans" cxnId="{2D7E35F9-D9C2-4572-83BB-3DDD4D62EB9F}">
      <dgm:prSet/>
      <dgm:spPr/>
      <dgm:t>
        <a:bodyPr/>
        <a:lstStyle/>
        <a:p>
          <a:endParaRPr lang="en-US"/>
        </a:p>
      </dgm:t>
    </dgm:pt>
    <dgm:pt modelId="{990BE620-410A-4A45-BE7F-39AEC78814EC}" type="sibTrans" cxnId="{2D7E35F9-D9C2-4572-83BB-3DDD4D62EB9F}">
      <dgm:prSet/>
      <dgm:spPr/>
      <dgm:t>
        <a:bodyPr/>
        <a:lstStyle/>
        <a:p>
          <a:endParaRPr lang="en-US"/>
        </a:p>
      </dgm:t>
    </dgm:pt>
    <dgm:pt modelId="{98F960BB-6496-4BCD-BAA2-490DFE28C532}">
      <dgm:prSet/>
      <dgm:spPr/>
      <dgm:t>
        <a:bodyPr/>
        <a:lstStyle/>
        <a:p>
          <a:pPr>
            <a:lnSpc>
              <a:spcPct val="100000"/>
            </a:lnSpc>
          </a:pPr>
          <a:r>
            <a:rPr lang="en-US" b="0" i="0" dirty="0"/>
            <a:t>Activation functions</a:t>
          </a:r>
          <a:endParaRPr lang="en-US" dirty="0"/>
        </a:p>
      </dgm:t>
    </dgm:pt>
    <dgm:pt modelId="{88AD7464-BA9C-4739-B35B-E23682D14136}" type="parTrans" cxnId="{6B32554D-6A93-4751-B438-6B0EEA039419}">
      <dgm:prSet/>
      <dgm:spPr/>
      <dgm:t>
        <a:bodyPr/>
        <a:lstStyle/>
        <a:p>
          <a:endParaRPr lang="en-US"/>
        </a:p>
      </dgm:t>
    </dgm:pt>
    <dgm:pt modelId="{44D66BFC-7520-4DDE-90FD-31281FA893E4}" type="sibTrans" cxnId="{6B32554D-6A93-4751-B438-6B0EEA039419}">
      <dgm:prSet/>
      <dgm:spPr/>
      <dgm:t>
        <a:bodyPr/>
        <a:lstStyle/>
        <a:p>
          <a:endParaRPr lang="en-US"/>
        </a:p>
      </dgm:t>
    </dgm:pt>
    <dgm:pt modelId="{2851F68B-8A2C-4213-8650-D4E1E5BC075B}">
      <dgm:prSet/>
      <dgm:spPr/>
      <dgm:t>
        <a:bodyPr/>
        <a:lstStyle/>
        <a:p>
          <a:pPr>
            <a:lnSpc>
              <a:spcPct val="100000"/>
            </a:lnSpc>
          </a:pPr>
          <a:r>
            <a:rPr lang="en-US" b="0" i="0" dirty="0"/>
            <a:t>Forward pass, loss, backpropagation</a:t>
          </a:r>
          <a:endParaRPr lang="en-US" dirty="0"/>
        </a:p>
      </dgm:t>
    </dgm:pt>
    <dgm:pt modelId="{40F75C2F-8E2B-42D5-B162-E8FBEFAE9C32}" type="parTrans" cxnId="{25E97E16-88D7-45DF-BD82-AC01D1A90877}">
      <dgm:prSet/>
      <dgm:spPr/>
      <dgm:t>
        <a:bodyPr/>
        <a:lstStyle/>
        <a:p>
          <a:endParaRPr lang="en-US"/>
        </a:p>
      </dgm:t>
    </dgm:pt>
    <dgm:pt modelId="{41E1A3DD-CDB2-49CA-A9F4-DA014116FE9C}" type="sibTrans" cxnId="{25E97E16-88D7-45DF-BD82-AC01D1A90877}">
      <dgm:prSet/>
      <dgm:spPr/>
      <dgm:t>
        <a:bodyPr/>
        <a:lstStyle/>
        <a:p>
          <a:endParaRPr lang="en-US"/>
        </a:p>
      </dgm:t>
    </dgm:pt>
    <dgm:pt modelId="{92042650-EB23-4D54-80EF-D1C4B6B7B1C1}" type="pres">
      <dgm:prSet presAssocID="{0206880D-123F-4DF9-9CE5-A0BE55641A8D}" presName="root" presStyleCnt="0">
        <dgm:presLayoutVars>
          <dgm:dir/>
          <dgm:resizeHandles val="exact"/>
        </dgm:presLayoutVars>
      </dgm:prSet>
      <dgm:spPr/>
    </dgm:pt>
    <dgm:pt modelId="{482CB31D-BEDD-47C4-99ED-B84E39C2AF25}" type="pres">
      <dgm:prSet presAssocID="{70512883-8AB0-4FEA-80E3-4760D2D5C151}" presName="compNode" presStyleCnt="0"/>
      <dgm:spPr/>
    </dgm:pt>
    <dgm:pt modelId="{2869919B-18B6-418A-8AB8-4431ECAA7602}" type="pres">
      <dgm:prSet presAssocID="{70512883-8AB0-4FEA-80E3-4760D2D5C151}" presName="bgRect" presStyleLbl="bgShp" presStyleIdx="0" presStyleCnt="4"/>
      <dgm:spPr/>
    </dgm:pt>
    <dgm:pt modelId="{EC819DAC-AAD4-4607-82AD-9F9EE0EAC629}" type="pres">
      <dgm:prSet presAssocID="{70512883-8AB0-4FEA-80E3-4760D2D5C15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in"/>
        </a:ext>
      </dgm:extLst>
    </dgm:pt>
    <dgm:pt modelId="{FA9A2BC2-13A4-486A-A77B-DF00B87FC844}" type="pres">
      <dgm:prSet presAssocID="{70512883-8AB0-4FEA-80E3-4760D2D5C151}" presName="spaceRect" presStyleCnt="0"/>
      <dgm:spPr/>
    </dgm:pt>
    <dgm:pt modelId="{AA23BD5B-C6B9-4C6D-87A2-B93986F26B4A}" type="pres">
      <dgm:prSet presAssocID="{70512883-8AB0-4FEA-80E3-4760D2D5C151}" presName="parTx" presStyleLbl="revTx" presStyleIdx="0" presStyleCnt="4">
        <dgm:presLayoutVars>
          <dgm:chMax val="0"/>
          <dgm:chPref val="0"/>
        </dgm:presLayoutVars>
      </dgm:prSet>
      <dgm:spPr/>
    </dgm:pt>
    <dgm:pt modelId="{1BCCF486-A4A9-44DD-86C5-4B66BB496D4B}" type="pres">
      <dgm:prSet presAssocID="{BD9D46C7-BE16-438F-81E3-A491D13E7EEA}" presName="sibTrans" presStyleCnt="0"/>
      <dgm:spPr/>
    </dgm:pt>
    <dgm:pt modelId="{C229BD53-F05E-49C9-BE69-783EB577FD0A}" type="pres">
      <dgm:prSet presAssocID="{BAB90A0F-FFE9-4E36-BD2D-49B49CE54DEC}" presName="compNode" presStyleCnt="0"/>
      <dgm:spPr/>
    </dgm:pt>
    <dgm:pt modelId="{F5A766C8-8DCE-4AFC-B652-43635865A8D5}" type="pres">
      <dgm:prSet presAssocID="{BAB90A0F-FFE9-4E36-BD2D-49B49CE54DEC}" presName="bgRect" presStyleLbl="bgShp" presStyleIdx="1" presStyleCnt="4"/>
      <dgm:spPr/>
    </dgm:pt>
    <dgm:pt modelId="{3E35720E-4E4B-4A1A-9BE6-E440CE75A52C}" type="pres">
      <dgm:prSet presAssocID="{BAB90A0F-FFE9-4E36-BD2D-49B49CE54DE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ain in head"/>
        </a:ext>
      </dgm:extLst>
    </dgm:pt>
    <dgm:pt modelId="{CF349C93-0D7A-4700-A463-42DF597714F5}" type="pres">
      <dgm:prSet presAssocID="{BAB90A0F-FFE9-4E36-BD2D-49B49CE54DEC}" presName="spaceRect" presStyleCnt="0"/>
      <dgm:spPr/>
    </dgm:pt>
    <dgm:pt modelId="{6E2FF560-842C-43A8-8309-88A1F2965D02}" type="pres">
      <dgm:prSet presAssocID="{BAB90A0F-FFE9-4E36-BD2D-49B49CE54DEC}" presName="parTx" presStyleLbl="revTx" presStyleIdx="1" presStyleCnt="4">
        <dgm:presLayoutVars>
          <dgm:chMax val="0"/>
          <dgm:chPref val="0"/>
        </dgm:presLayoutVars>
      </dgm:prSet>
      <dgm:spPr/>
    </dgm:pt>
    <dgm:pt modelId="{8EA102EA-FD0F-4B1D-8547-666D58B72F3D}" type="pres">
      <dgm:prSet presAssocID="{990BE620-410A-4A45-BE7F-39AEC78814EC}" presName="sibTrans" presStyleCnt="0"/>
      <dgm:spPr/>
    </dgm:pt>
    <dgm:pt modelId="{CAC23A11-11E5-4CFC-9F75-FCBE559058E4}" type="pres">
      <dgm:prSet presAssocID="{98F960BB-6496-4BCD-BAA2-490DFE28C532}" presName="compNode" presStyleCnt="0"/>
      <dgm:spPr/>
    </dgm:pt>
    <dgm:pt modelId="{95343D72-B3CB-4665-8028-8D39D8F6C000}" type="pres">
      <dgm:prSet presAssocID="{98F960BB-6496-4BCD-BAA2-490DFE28C532}" presName="bgRect" presStyleLbl="bgShp" presStyleIdx="2" presStyleCnt="4"/>
      <dgm:spPr/>
    </dgm:pt>
    <dgm:pt modelId="{E3F9F383-FC42-4FA9-9C51-09E72A98CB6E}" type="pres">
      <dgm:prSet presAssocID="{98F960BB-6496-4BCD-BAA2-490DFE28C532}"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thematics"/>
        </a:ext>
      </dgm:extLst>
    </dgm:pt>
    <dgm:pt modelId="{DA13CC9B-8852-4B03-8317-510EEB0EFC23}" type="pres">
      <dgm:prSet presAssocID="{98F960BB-6496-4BCD-BAA2-490DFE28C532}" presName="spaceRect" presStyleCnt="0"/>
      <dgm:spPr/>
    </dgm:pt>
    <dgm:pt modelId="{EAAC8153-360E-4FDB-A448-B03ACF2DA149}" type="pres">
      <dgm:prSet presAssocID="{98F960BB-6496-4BCD-BAA2-490DFE28C532}" presName="parTx" presStyleLbl="revTx" presStyleIdx="2" presStyleCnt="4">
        <dgm:presLayoutVars>
          <dgm:chMax val="0"/>
          <dgm:chPref val="0"/>
        </dgm:presLayoutVars>
      </dgm:prSet>
      <dgm:spPr/>
    </dgm:pt>
    <dgm:pt modelId="{03D709DA-AFD3-4E7A-9289-A6AA70438115}" type="pres">
      <dgm:prSet presAssocID="{44D66BFC-7520-4DDE-90FD-31281FA893E4}" presName="sibTrans" presStyleCnt="0"/>
      <dgm:spPr/>
    </dgm:pt>
    <dgm:pt modelId="{A3D5C391-77B2-4430-AFAE-74D6208AFDD7}" type="pres">
      <dgm:prSet presAssocID="{2851F68B-8A2C-4213-8650-D4E1E5BC075B}" presName="compNode" presStyleCnt="0"/>
      <dgm:spPr/>
    </dgm:pt>
    <dgm:pt modelId="{3F0F3226-5F07-4703-8A2A-AF6EE293762C}" type="pres">
      <dgm:prSet presAssocID="{2851F68B-8A2C-4213-8650-D4E1E5BC075B}" presName="bgRect" presStyleLbl="bgShp" presStyleIdx="3" presStyleCnt="4"/>
      <dgm:spPr/>
    </dgm:pt>
    <dgm:pt modelId="{91FD6336-7077-4043-ABC1-DA2207B55A03}" type="pres">
      <dgm:prSet presAssocID="{2851F68B-8A2C-4213-8650-D4E1E5BC075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ears"/>
        </a:ext>
      </dgm:extLst>
    </dgm:pt>
    <dgm:pt modelId="{F8D31BED-FC96-4E7D-B854-97E416A9C8FA}" type="pres">
      <dgm:prSet presAssocID="{2851F68B-8A2C-4213-8650-D4E1E5BC075B}" presName="spaceRect" presStyleCnt="0"/>
      <dgm:spPr/>
    </dgm:pt>
    <dgm:pt modelId="{EB345716-FF66-4CDF-830C-D91FE45C037E}" type="pres">
      <dgm:prSet presAssocID="{2851F68B-8A2C-4213-8650-D4E1E5BC075B}" presName="parTx" presStyleLbl="revTx" presStyleIdx="3" presStyleCnt="4">
        <dgm:presLayoutVars>
          <dgm:chMax val="0"/>
          <dgm:chPref val="0"/>
        </dgm:presLayoutVars>
      </dgm:prSet>
      <dgm:spPr/>
    </dgm:pt>
  </dgm:ptLst>
  <dgm:cxnLst>
    <dgm:cxn modelId="{2AFA7F01-516C-49D6-A4DE-926967CE2525}" type="presOf" srcId="{BAB90A0F-FFE9-4E36-BD2D-49B49CE54DEC}" destId="{6E2FF560-842C-43A8-8309-88A1F2965D02}" srcOrd="0" destOrd="0" presId="urn:microsoft.com/office/officeart/2018/2/layout/IconVerticalSolidList"/>
    <dgm:cxn modelId="{C20D4A09-6CE8-4729-BE60-9CED9F155268}" type="presOf" srcId="{2851F68B-8A2C-4213-8650-D4E1E5BC075B}" destId="{EB345716-FF66-4CDF-830C-D91FE45C037E}" srcOrd="0" destOrd="0" presId="urn:microsoft.com/office/officeart/2018/2/layout/IconVerticalSolidList"/>
    <dgm:cxn modelId="{25E97E16-88D7-45DF-BD82-AC01D1A90877}" srcId="{0206880D-123F-4DF9-9CE5-A0BE55641A8D}" destId="{2851F68B-8A2C-4213-8650-D4E1E5BC075B}" srcOrd="3" destOrd="0" parTransId="{40F75C2F-8E2B-42D5-B162-E8FBEFAE9C32}" sibTransId="{41E1A3DD-CDB2-49CA-A9F4-DA014116FE9C}"/>
    <dgm:cxn modelId="{10F7AA27-1E6F-425C-92D8-D62C7DB1B847}" srcId="{0206880D-123F-4DF9-9CE5-A0BE55641A8D}" destId="{70512883-8AB0-4FEA-80E3-4760D2D5C151}" srcOrd="0" destOrd="0" parTransId="{6B79FCA3-4251-4A13-98BD-9A2C6E832F70}" sibTransId="{BD9D46C7-BE16-438F-81E3-A491D13E7EEA}"/>
    <dgm:cxn modelId="{36BB9D2B-7FDA-4CA5-8973-D5E041FA57FD}" type="presOf" srcId="{70512883-8AB0-4FEA-80E3-4760D2D5C151}" destId="{AA23BD5B-C6B9-4C6D-87A2-B93986F26B4A}" srcOrd="0" destOrd="0" presId="urn:microsoft.com/office/officeart/2018/2/layout/IconVerticalSolidList"/>
    <dgm:cxn modelId="{6B32554D-6A93-4751-B438-6B0EEA039419}" srcId="{0206880D-123F-4DF9-9CE5-A0BE55641A8D}" destId="{98F960BB-6496-4BCD-BAA2-490DFE28C532}" srcOrd="2" destOrd="0" parTransId="{88AD7464-BA9C-4739-B35B-E23682D14136}" sibTransId="{44D66BFC-7520-4DDE-90FD-31281FA893E4}"/>
    <dgm:cxn modelId="{8337FE73-1F31-4CE6-9E61-9DE6089FFBEF}" type="presOf" srcId="{0206880D-123F-4DF9-9CE5-A0BE55641A8D}" destId="{92042650-EB23-4D54-80EF-D1C4B6B7B1C1}" srcOrd="0" destOrd="0" presId="urn:microsoft.com/office/officeart/2018/2/layout/IconVerticalSolidList"/>
    <dgm:cxn modelId="{C51F4AB9-F674-4391-91FD-8BB7E8D9699E}" type="presOf" srcId="{98F960BB-6496-4BCD-BAA2-490DFE28C532}" destId="{EAAC8153-360E-4FDB-A448-B03ACF2DA149}" srcOrd="0" destOrd="0" presId="urn:microsoft.com/office/officeart/2018/2/layout/IconVerticalSolidList"/>
    <dgm:cxn modelId="{2D7E35F9-D9C2-4572-83BB-3DDD4D62EB9F}" srcId="{0206880D-123F-4DF9-9CE5-A0BE55641A8D}" destId="{BAB90A0F-FFE9-4E36-BD2D-49B49CE54DEC}" srcOrd="1" destOrd="0" parTransId="{FDA10647-7EFF-4DC7-B774-D0EB091D12BD}" sibTransId="{990BE620-410A-4A45-BE7F-39AEC78814EC}"/>
    <dgm:cxn modelId="{7AD5EC3C-B187-4B39-A702-2F53019E6F7B}" type="presParOf" srcId="{92042650-EB23-4D54-80EF-D1C4B6B7B1C1}" destId="{482CB31D-BEDD-47C4-99ED-B84E39C2AF25}" srcOrd="0" destOrd="0" presId="urn:microsoft.com/office/officeart/2018/2/layout/IconVerticalSolidList"/>
    <dgm:cxn modelId="{F2EF5F45-56B2-4ECD-B30A-A4D46A512D4B}" type="presParOf" srcId="{482CB31D-BEDD-47C4-99ED-B84E39C2AF25}" destId="{2869919B-18B6-418A-8AB8-4431ECAA7602}" srcOrd="0" destOrd="0" presId="urn:microsoft.com/office/officeart/2018/2/layout/IconVerticalSolidList"/>
    <dgm:cxn modelId="{E8B53CDD-5C4B-4304-BE65-97C61FE4BF16}" type="presParOf" srcId="{482CB31D-BEDD-47C4-99ED-B84E39C2AF25}" destId="{EC819DAC-AAD4-4607-82AD-9F9EE0EAC629}" srcOrd="1" destOrd="0" presId="urn:microsoft.com/office/officeart/2018/2/layout/IconVerticalSolidList"/>
    <dgm:cxn modelId="{11DB61C0-335C-4F7A-AADC-0E526CC4FEC2}" type="presParOf" srcId="{482CB31D-BEDD-47C4-99ED-B84E39C2AF25}" destId="{FA9A2BC2-13A4-486A-A77B-DF00B87FC844}" srcOrd="2" destOrd="0" presId="urn:microsoft.com/office/officeart/2018/2/layout/IconVerticalSolidList"/>
    <dgm:cxn modelId="{00CAE151-3D49-4088-A405-9CA3958382B1}" type="presParOf" srcId="{482CB31D-BEDD-47C4-99ED-B84E39C2AF25}" destId="{AA23BD5B-C6B9-4C6D-87A2-B93986F26B4A}" srcOrd="3" destOrd="0" presId="urn:microsoft.com/office/officeart/2018/2/layout/IconVerticalSolidList"/>
    <dgm:cxn modelId="{317D52EB-7774-47D1-84AB-28AC7B55F0DB}" type="presParOf" srcId="{92042650-EB23-4D54-80EF-D1C4B6B7B1C1}" destId="{1BCCF486-A4A9-44DD-86C5-4B66BB496D4B}" srcOrd="1" destOrd="0" presId="urn:microsoft.com/office/officeart/2018/2/layout/IconVerticalSolidList"/>
    <dgm:cxn modelId="{8F60EC34-827D-468C-B024-2E7823B61B6A}" type="presParOf" srcId="{92042650-EB23-4D54-80EF-D1C4B6B7B1C1}" destId="{C229BD53-F05E-49C9-BE69-783EB577FD0A}" srcOrd="2" destOrd="0" presId="urn:microsoft.com/office/officeart/2018/2/layout/IconVerticalSolidList"/>
    <dgm:cxn modelId="{1F64138D-E733-43FC-8423-C7E1EFB97036}" type="presParOf" srcId="{C229BD53-F05E-49C9-BE69-783EB577FD0A}" destId="{F5A766C8-8DCE-4AFC-B652-43635865A8D5}" srcOrd="0" destOrd="0" presId="urn:microsoft.com/office/officeart/2018/2/layout/IconVerticalSolidList"/>
    <dgm:cxn modelId="{B0DA0856-43D4-43CB-AEAB-F0CB0762043B}" type="presParOf" srcId="{C229BD53-F05E-49C9-BE69-783EB577FD0A}" destId="{3E35720E-4E4B-4A1A-9BE6-E440CE75A52C}" srcOrd="1" destOrd="0" presId="urn:microsoft.com/office/officeart/2018/2/layout/IconVerticalSolidList"/>
    <dgm:cxn modelId="{CFB252E0-F88B-4371-A0E4-623675F1B6E6}" type="presParOf" srcId="{C229BD53-F05E-49C9-BE69-783EB577FD0A}" destId="{CF349C93-0D7A-4700-A463-42DF597714F5}" srcOrd="2" destOrd="0" presId="urn:microsoft.com/office/officeart/2018/2/layout/IconVerticalSolidList"/>
    <dgm:cxn modelId="{F995D130-DB2E-4C2A-84DF-2D9306330A41}" type="presParOf" srcId="{C229BD53-F05E-49C9-BE69-783EB577FD0A}" destId="{6E2FF560-842C-43A8-8309-88A1F2965D02}" srcOrd="3" destOrd="0" presId="urn:microsoft.com/office/officeart/2018/2/layout/IconVerticalSolidList"/>
    <dgm:cxn modelId="{20B49C01-460F-485D-8CE4-504E0535349B}" type="presParOf" srcId="{92042650-EB23-4D54-80EF-D1C4B6B7B1C1}" destId="{8EA102EA-FD0F-4B1D-8547-666D58B72F3D}" srcOrd="3" destOrd="0" presId="urn:microsoft.com/office/officeart/2018/2/layout/IconVerticalSolidList"/>
    <dgm:cxn modelId="{2B11422C-826B-44ED-A3F8-1E86EF97CA18}" type="presParOf" srcId="{92042650-EB23-4D54-80EF-D1C4B6B7B1C1}" destId="{CAC23A11-11E5-4CFC-9F75-FCBE559058E4}" srcOrd="4" destOrd="0" presId="urn:microsoft.com/office/officeart/2018/2/layout/IconVerticalSolidList"/>
    <dgm:cxn modelId="{32DF65BC-A080-47E2-82E8-7024C50CF897}" type="presParOf" srcId="{CAC23A11-11E5-4CFC-9F75-FCBE559058E4}" destId="{95343D72-B3CB-4665-8028-8D39D8F6C000}" srcOrd="0" destOrd="0" presId="urn:microsoft.com/office/officeart/2018/2/layout/IconVerticalSolidList"/>
    <dgm:cxn modelId="{D4B6BDD2-2E33-4F2A-8C64-1F85AC4D1585}" type="presParOf" srcId="{CAC23A11-11E5-4CFC-9F75-FCBE559058E4}" destId="{E3F9F383-FC42-4FA9-9C51-09E72A98CB6E}" srcOrd="1" destOrd="0" presId="urn:microsoft.com/office/officeart/2018/2/layout/IconVerticalSolidList"/>
    <dgm:cxn modelId="{0CEEEBB0-F279-4414-8B37-D07BE4ED2B46}" type="presParOf" srcId="{CAC23A11-11E5-4CFC-9F75-FCBE559058E4}" destId="{DA13CC9B-8852-4B03-8317-510EEB0EFC23}" srcOrd="2" destOrd="0" presId="urn:microsoft.com/office/officeart/2018/2/layout/IconVerticalSolidList"/>
    <dgm:cxn modelId="{5061C56D-4812-44A5-A1F2-91F0B9AC122C}" type="presParOf" srcId="{CAC23A11-11E5-4CFC-9F75-FCBE559058E4}" destId="{EAAC8153-360E-4FDB-A448-B03ACF2DA149}" srcOrd="3" destOrd="0" presId="urn:microsoft.com/office/officeart/2018/2/layout/IconVerticalSolidList"/>
    <dgm:cxn modelId="{A7E8C0E3-769F-4599-A8C1-AD0CAFA2ABCA}" type="presParOf" srcId="{92042650-EB23-4D54-80EF-D1C4B6B7B1C1}" destId="{03D709DA-AFD3-4E7A-9289-A6AA70438115}" srcOrd="5" destOrd="0" presId="urn:microsoft.com/office/officeart/2018/2/layout/IconVerticalSolidList"/>
    <dgm:cxn modelId="{99EFDA54-79ED-4D5F-A9E7-C35523FFAD8A}" type="presParOf" srcId="{92042650-EB23-4D54-80EF-D1C4B6B7B1C1}" destId="{A3D5C391-77B2-4430-AFAE-74D6208AFDD7}" srcOrd="6" destOrd="0" presId="urn:microsoft.com/office/officeart/2018/2/layout/IconVerticalSolidList"/>
    <dgm:cxn modelId="{9A19C447-3BA6-4A62-B85F-24DAC2D84D73}" type="presParOf" srcId="{A3D5C391-77B2-4430-AFAE-74D6208AFDD7}" destId="{3F0F3226-5F07-4703-8A2A-AF6EE293762C}" srcOrd="0" destOrd="0" presId="urn:microsoft.com/office/officeart/2018/2/layout/IconVerticalSolidList"/>
    <dgm:cxn modelId="{6029D124-F136-4535-BFE9-4713853468FB}" type="presParOf" srcId="{A3D5C391-77B2-4430-AFAE-74D6208AFDD7}" destId="{91FD6336-7077-4043-ABC1-DA2207B55A03}" srcOrd="1" destOrd="0" presId="urn:microsoft.com/office/officeart/2018/2/layout/IconVerticalSolidList"/>
    <dgm:cxn modelId="{96D811B3-0E6D-407B-8945-FA512935FE44}" type="presParOf" srcId="{A3D5C391-77B2-4430-AFAE-74D6208AFDD7}" destId="{F8D31BED-FC96-4E7D-B854-97E416A9C8FA}" srcOrd="2" destOrd="0" presId="urn:microsoft.com/office/officeart/2018/2/layout/IconVerticalSolidList"/>
    <dgm:cxn modelId="{B5B82171-308B-4630-B907-31F5A3214C8E}" type="presParOf" srcId="{A3D5C391-77B2-4430-AFAE-74D6208AFDD7}" destId="{EB345716-FF66-4CDF-830C-D91FE45C037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96D93E4-08CE-417A-A49C-15FD4F3080F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6B2FB64-E195-434F-ADC3-AE52DBBA2D37}">
      <dgm:prSet phldrT="[Text]"/>
      <dgm:spPr/>
      <dgm:t>
        <a:bodyPr/>
        <a:lstStyle/>
        <a:p>
          <a:pPr>
            <a:buNone/>
          </a:pPr>
          <a:r>
            <a:rPr lang="en-US" b="0" i="0" dirty="0">
              <a:effectLst/>
              <a:latin typeface="fkGrotesk"/>
            </a:rPr>
            <a:t>Advantages</a:t>
          </a:r>
          <a:endParaRPr lang="en-US" dirty="0"/>
        </a:p>
      </dgm:t>
    </dgm:pt>
    <dgm:pt modelId="{E39827A1-E4D2-40C3-B4CC-38079088EA15}" type="parTrans" cxnId="{893FFA39-5BBC-44D2-9605-F25AC33DAD08}">
      <dgm:prSet/>
      <dgm:spPr/>
      <dgm:t>
        <a:bodyPr/>
        <a:lstStyle/>
        <a:p>
          <a:endParaRPr lang="en-US"/>
        </a:p>
      </dgm:t>
    </dgm:pt>
    <dgm:pt modelId="{48717CF4-A53E-4AA6-A3EE-981B5CDAB89C}" type="sibTrans" cxnId="{893FFA39-5BBC-44D2-9605-F25AC33DAD08}">
      <dgm:prSet/>
      <dgm:spPr/>
      <dgm:t>
        <a:bodyPr/>
        <a:lstStyle/>
        <a:p>
          <a:endParaRPr lang="en-US"/>
        </a:p>
      </dgm:t>
    </dgm:pt>
    <dgm:pt modelId="{2FE65D22-B110-4EAB-AA6E-0962D16EC915}">
      <dgm:prSet phldrT="[Text]"/>
      <dgm:spPr/>
      <dgm:t>
        <a:bodyPr/>
        <a:lstStyle/>
        <a:p>
          <a:pPr>
            <a:buNone/>
          </a:pPr>
          <a:r>
            <a:rPr lang="en-US" b="0" i="0" dirty="0">
              <a:effectLst/>
              <a:latin typeface="fkGroteskNeue"/>
            </a:rPr>
            <a:t>Simple &amp; fast: easy to implement, trains quickly with the perceptron update rule, &amp; works well for small, linearly separable problems.</a:t>
          </a:r>
          <a:endParaRPr lang="en-US" dirty="0"/>
        </a:p>
      </dgm:t>
    </dgm:pt>
    <dgm:pt modelId="{E31133D9-A6DE-4188-B07A-DCB53FF737B6}" type="parTrans" cxnId="{727D8925-954D-411F-A0E8-8DF26CB5CE0C}">
      <dgm:prSet/>
      <dgm:spPr/>
      <dgm:t>
        <a:bodyPr/>
        <a:lstStyle/>
        <a:p>
          <a:endParaRPr lang="en-US"/>
        </a:p>
      </dgm:t>
    </dgm:pt>
    <dgm:pt modelId="{EE2AA2F1-AC7A-49CC-A6D6-E9053FF8CAAC}" type="sibTrans" cxnId="{727D8925-954D-411F-A0E8-8DF26CB5CE0C}">
      <dgm:prSet/>
      <dgm:spPr/>
      <dgm:t>
        <a:bodyPr/>
        <a:lstStyle/>
        <a:p>
          <a:endParaRPr lang="en-US"/>
        </a:p>
      </dgm:t>
    </dgm:pt>
    <dgm:pt modelId="{FB6DDEBE-C4B4-4D06-BB74-2759E4626966}">
      <dgm:prSet phldrT="[Text]"/>
      <dgm:spPr/>
      <dgm:t>
        <a:bodyPr/>
        <a:lstStyle/>
        <a:p>
          <a:pPr>
            <a:buNone/>
          </a:pPr>
          <a:r>
            <a:rPr lang="en-US" b="0" i="0" dirty="0">
              <a:effectLst/>
              <a:latin typeface="fkGrotesk"/>
            </a:rPr>
            <a:t>Disadvantages</a:t>
          </a:r>
          <a:endParaRPr lang="en-US" dirty="0"/>
        </a:p>
      </dgm:t>
    </dgm:pt>
    <dgm:pt modelId="{6A6D9EE0-67DD-4485-98B1-9823596309F8}" type="parTrans" cxnId="{37725A5B-8616-4345-BBD2-4EEDFD31CDBA}">
      <dgm:prSet/>
      <dgm:spPr/>
      <dgm:t>
        <a:bodyPr/>
        <a:lstStyle/>
        <a:p>
          <a:endParaRPr lang="en-US"/>
        </a:p>
      </dgm:t>
    </dgm:pt>
    <dgm:pt modelId="{2C3223A6-7E9B-47F1-BB93-68729DA67D80}" type="sibTrans" cxnId="{37725A5B-8616-4345-BBD2-4EEDFD31CDBA}">
      <dgm:prSet/>
      <dgm:spPr/>
      <dgm:t>
        <a:bodyPr/>
        <a:lstStyle/>
        <a:p>
          <a:endParaRPr lang="en-US"/>
        </a:p>
      </dgm:t>
    </dgm:pt>
    <dgm:pt modelId="{6D4CF9E4-F0AC-4687-8CDB-BEA50ED8247D}">
      <dgm:prSet phldrT="[Text]"/>
      <dgm:spPr/>
      <dgm:t>
        <a:bodyPr/>
        <a:lstStyle/>
        <a:p>
          <a:pPr>
            <a:buNone/>
          </a:pPr>
          <a:r>
            <a:rPr lang="en-US" b="0" i="0" dirty="0">
              <a:effectLst/>
              <a:latin typeface="fkGroteskNeue"/>
            </a:rPr>
            <a:t>Online friendly: updates incrementally per example, so it adapts to new data without full retraining.</a:t>
          </a:r>
          <a:endParaRPr lang="en-US" dirty="0"/>
        </a:p>
      </dgm:t>
    </dgm:pt>
    <dgm:pt modelId="{0A0F769C-9EFC-4509-A782-1AD142049892}" type="parTrans" cxnId="{0206AD8F-4BAE-4276-A609-929F63D6C8CC}">
      <dgm:prSet/>
      <dgm:spPr/>
      <dgm:t>
        <a:bodyPr/>
        <a:lstStyle/>
        <a:p>
          <a:endParaRPr lang="en-US"/>
        </a:p>
      </dgm:t>
    </dgm:pt>
    <dgm:pt modelId="{0A70318A-508E-477F-8DE7-F5FA430104C2}" type="sibTrans" cxnId="{0206AD8F-4BAE-4276-A609-929F63D6C8CC}">
      <dgm:prSet/>
      <dgm:spPr/>
      <dgm:t>
        <a:bodyPr/>
        <a:lstStyle/>
        <a:p>
          <a:endParaRPr lang="en-US"/>
        </a:p>
      </dgm:t>
    </dgm:pt>
    <dgm:pt modelId="{C8AB6974-29AB-42A1-BC68-83E6EA261894}">
      <dgm:prSet phldrT="[Text]"/>
      <dgm:spPr/>
      <dgm:t>
        <a:bodyPr/>
        <a:lstStyle/>
        <a:p>
          <a:pPr>
            <a:buNone/>
          </a:pPr>
          <a:r>
            <a:rPr lang="en-US" b="0" i="0" dirty="0">
              <a:effectLst/>
              <a:latin typeface="fkGroteskNeue"/>
            </a:rPr>
            <a:t>Interpretable geometry: decision boundary is a straight line/hyperplane, making the model’s behavior easy to visualize</a:t>
          </a:r>
          <a:endParaRPr lang="en-US" dirty="0"/>
        </a:p>
      </dgm:t>
    </dgm:pt>
    <dgm:pt modelId="{B6AB4CDD-D8BC-468A-B43E-A2113155AD4F}" type="parTrans" cxnId="{DD73FB7C-C1F7-4BEC-9D3A-1DAAA9C02A7E}">
      <dgm:prSet/>
      <dgm:spPr/>
      <dgm:t>
        <a:bodyPr/>
        <a:lstStyle/>
        <a:p>
          <a:endParaRPr lang="en-US"/>
        </a:p>
      </dgm:t>
    </dgm:pt>
    <dgm:pt modelId="{AD6DC426-0D93-48E4-9B1E-EBA7DA6E2565}" type="sibTrans" cxnId="{DD73FB7C-C1F7-4BEC-9D3A-1DAAA9C02A7E}">
      <dgm:prSet/>
      <dgm:spPr/>
      <dgm:t>
        <a:bodyPr/>
        <a:lstStyle/>
        <a:p>
          <a:endParaRPr lang="en-US"/>
        </a:p>
      </dgm:t>
    </dgm:pt>
    <dgm:pt modelId="{23E32AC4-50F4-42E1-97AF-12918D4B8AE8}">
      <dgm:prSet phldrT="[Text]"/>
      <dgm:spPr/>
      <dgm:t>
        <a:bodyPr/>
        <a:lstStyle/>
        <a:p>
          <a:pPr>
            <a:buNone/>
          </a:pPr>
          <a:r>
            <a:rPr lang="en-US" b="0" i="0" dirty="0">
              <a:effectLst/>
              <a:latin typeface="fkGroteskNeue"/>
            </a:rPr>
            <a:t>Only linear separability: cannot solve non‑linear patterns (e.g., XOR) without additional layers or feature engineering.</a:t>
          </a:r>
          <a:endParaRPr lang="en-US" dirty="0"/>
        </a:p>
      </dgm:t>
    </dgm:pt>
    <dgm:pt modelId="{047763B6-5B0A-4ECF-A75E-89243B080090}" type="parTrans" cxnId="{FE7C4192-915E-4FE5-BB42-59AC98E43AB6}">
      <dgm:prSet/>
      <dgm:spPr/>
      <dgm:t>
        <a:bodyPr/>
        <a:lstStyle/>
        <a:p>
          <a:endParaRPr lang="en-US"/>
        </a:p>
      </dgm:t>
    </dgm:pt>
    <dgm:pt modelId="{1557EF8F-75AE-403C-9C0B-206F3713AFD6}" type="sibTrans" cxnId="{FE7C4192-915E-4FE5-BB42-59AC98E43AB6}">
      <dgm:prSet/>
      <dgm:spPr/>
      <dgm:t>
        <a:bodyPr/>
        <a:lstStyle/>
        <a:p>
          <a:endParaRPr lang="en-US"/>
        </a:p>
      </dgm:t>
    </dgm:pt>
    <dgm:pt modelId="{B5DD9437-ED99-4C3C-BF97-D787C3D630DF}">
      <dgm:prSet phldrT="[Text]"/>
      <dgm:spPr/>
      <dgm:t>
        <a:bodyPr/>
        <a:lstStyle/>
        <a:p>
          <a:pPr>
            <a:buNone/>
          </a:pPr>
          <a:r>
            <a:rPr lang="en-US" b="0" i="0" dirty="0">
              <a:effectLst/>
              <a:latin typeface="fkGroteskNeue"/>
            </a:rPr>
            <a:t>Limited expressiveness: a single hyperplane can’t capture complex boundaries; performance plateaus on many real-world tasks.</a:t>
          </a:r>
          <a:endParaRPr lang="en-US" dirty="0"/>
        </a:p>
      </dgm:t>
    </dgm:pt>
    <dgm:pt modelId="{3504FC37-1229-43A2-BBAA-C0FCE0456F51}" type="parTrans" cxnId="{6DA5D17E-5483-4174-82C6-E2F19FC96D0C}">
      <dgm:prSet/>
      <dgm:spPr/>
      <dgm:t>
        <a:bodyPr/>
        <a:lstStyle/>
        <a:p>
          <a:endParaRPr lang="en-US"/>
        </a:p>
      </dgm:t>
    </dgm:pt>
    <dgm:pt modelId="{4AD5D00D-D380-4283-8962-FC94734D067D}" type="sibTrans" cxnId="{6DA5D17E-5483-4174-82C6-E2F19FC96D0C}">
      <dgm:prSet/>
      <dgm:spPr/>
      <dgm:t>
        <a:bodyPr/>
        <a:lstStyle/>
        <a:p>
          <a:endParaRPr lang="en-US"/>
        </a:p>
      </dgm:t>
    </dgm:pt>
    <dgm:pt modelId="{1E35999A-BCDA-4662-90FC-DE6D97E3F498}">
      <dgm:prSet phldrT="[Text]"/>
      <dgm:spPr/>
      <dgm:t>
        <a:bodyPr/>
        <a:lstStyle/>
        <a:p>
          <a:pPr>
            <a:buNone/>
          </a:pPr>
          <a:r>
            <a:rPr lang="en-US" b="0" i="0">
              <a:effectLst/>
              <a:latin typeface="fkGroteskNeue"/>
            </a:rPr>
            <a:t>Convergence limits: if data aren’t linearly separable, the algorithm may not converge and can oscillate; needs max-epoch safeguards.</a:t>
          </a:r>
          <a:endParaRPr lang="en-US" dirty="0"/>
        </a:p>
      </dgm:t>
    </dgm:pt>
    <dgm:pt modelId="{C7D49ADE-81A2-4076-B251-482691A1B204}" type="parTrans" cxnId="{9A822D47-8019-4B8A-B679-9F95563A6DEB}">
      <dgm:prSet/>
      <dgm:spPr/>
      <dgm:t>
        <a:bodyPr/>
        <a:lstStyle/>
        <a:p>
          <a:endParaRPr lang="en-US"/>
        </a:p>
      </dgm:t>
    </dgm:pt>
    <dgm:pt modelId="{FBAD33D9-72CB-4511-A5B1-D4201C4B9772}" type="sibTrans" cxnId="{9A822D47-8019-4B8A-B679-9F95563A6DEB}">
      <dgm:prSet/>
      <dgm:spPr/>
      <dgm:t>
        <a:bodyPr/>
        <a:lstStyle/>
        <a:p>
          <a:endParaRPr lang="en-US"/>
        </a:p>
      </dgm:t>
    </dgm:pt>
    <dgm:pt modelId="{FBA4E5C5-AACE-4F0C-93F6-0C63FB580B24}">
      <dgm:prSet phldrT="[Text]"/>
      <dgm:spPr/>
      <dgm:t>
        <a:bodyPr/>
        <a:lstStyle/>
        <a:p>
          <a:pPr>
            <a:buNone/>
          </a:pPr>
          <a:r>
            <a:rPr lang="en-US" b="0" i="0" dirty="0">
              <a:effectLst/>
              <a:latin typeface="fkGroteskNeue"/>
            </a:rPr>
            <a:t>Low compute &amp; memory: minimal parameters and no complex optimization make it suitable for resource‑constrained settings.</a:t>
          </a:r>
          <a:endParaRPr lang="en-US" dirty="0"/>
        </a:p>
      </dgm:t>
    </dgm:pt>
    <dgm:pt modelId="{C23C30A1-300F-420B-96D5-68D74EC08A8F}" type="parTrans" cxnId="{80FA3AFF-A1AC-42D0-A404-1E09F3804871}">
      <dgm:prSet/>
      <dgm:spPr/>
      <dgm:t>
        <a:bodyPr/>
        <a:lstStyle/>
        <a:p>
          <a:endParaRPr lang="en-US"/>
        </a:p>
      </dgm:t>
    </dgm:pt>
    <dgm:pt modelId="{60363CEC-0F4A-4FB7-8F1D-018CBB726828}" type="sibTrans" cxnId="{80FA3AFF-A1AC-42D0-A404-1E09F3804871}">
      <dgm:prSet/>
      <dgm:spPr/>
      <dgm:t>
        <a:bodyPr/>
        <a:lstStyle/>
        <a:p>
          <a:endParaRPr lang="en-US"/>
        </a:p>
      </dgm:t>
    </dgm:pt>
    <dgm:pt modelId="{68499CE3-30E2-4E10-8894-53C0AF4C3B7A}" type="pres">
      <dgm:prSet presAssocID="{A96D93E4-08CE-417A-A49C-15FD4F3080FC}" presName="linear" presStyleCnt="0">
        <dgm:presLayoutVars>
          <dgm:animLvl val="lvl"/>
          <dgm:resizeHandles val="exact"/>
        </dgm:presLayoutVars>
      </dgm:prSet>
      <dgm:spPr/>
    </dgm:pt>
    <dgm:pt modelId="{04335B34-EEFB-4D32-8C08-B5E4A04D3D8A}" type="pres">
      <dgm:prSet presAssocID="{26B2FB64-E195-434F-ADC3-AE52DBBA2D37}" presName="parentText" presStyleLbl="node1" presStyleIdx="0" presStyleCnt="2">
        <dgm:presLayoutVars>
          <dgm:chMax val="0"/>
          <dgm:bulletEnabled val="1"/>
        </dgm:presLayoutVars>
      </dgm:prSet>
      <dgm:spPr/>
    </dgm:pt>
    <dgm:pt modelId="{177BA075-923E-4ACE-8FCA-C0602734D26E}" type="pres">
      <dgm:prSet presAssocID="{26B2FB64-E195-434F-ADC3-AE52DBBA2D37}" presName="childText" presStyleLbl="revTx" presStyleIdx="0" presStyleCnt="2">
        <dgm:presLayoutVars>
          <dgm:bulletEnabled val="1"/>
        </dgm:presLayoutVars>
      </dgm:prSet>
      <dgm:spPr/>
    </dgm:pt>
    <dgm:pt modelId="{0E3C570F-BDE8-4BF0-B238-5EFF971A0BF3}" type="pres">
      <dgm:prSet presAssocID="{FB6DDEBE-C4B4-4D06-BB74-2759E4626966}" presName="parentText" presStyleLbl="node1" presStyleIdx="1" presStyleCnt="2">
        <dgm:presLayoutVars>
          <dgm:chMax val="0"/>
          <dgm:bulletEnabled val="1"/>
        </dgm:presLayoutVars>
      </dgm:prSet>
      <dgm:spPr/>
    </dgm:pt>
    <dgm:pt modelId="{81D8B8CB-DF8B-4159-9795-A40AFA2F3563}" type="pres">
      <dgm:prSet presAssocID="{FB6DDEBE-C4B4-4D06-BB74-2759E4626966}" presName="childText" presStyleLbl="revTx" presStyleIdx="1" presStyleCnt="2">
        <dgm:presLayoutVars>
          <dgm:bulletEnabled val="1"/>
        </dgm:presLayoutVars>
      </dgm:prSet>
      <dgm:spPr/>
    </dgm:pt>
  </dgm:ptLst>
  <dgm:cxnLst>
    <dgm:cxn modelId="{8208B20C-BA6A-47D8-B24A-B94B2B6504AA}" type="presOf" srcId="{A96D93E4-08CE-417A-A49C-15FD4F3080FC}" destId="{68499CE3-30E2-4E10-8894-53C0AF4C3B7A}" srcOrd="0" destOrd="0" presId="urn:microsoft.com/office/officeart/2005/8/layout/vList2"/>
    <dgm:cxn modelId="{727D8925-954D-411F-A0E8-8DF26CB5CE0C}" srcId="{26B2FB64-E195-434F-ADC3-AE52DBBA2D37}" destId="{2FE65D22-B110-4EAB-AA6E-0962D16EC915}" srcOrd="0" destOrd="0" parTransId="{E31133D9-A6DE-4188-B07A-DCB53FF737B6}" sibTransId="{EE2AA2F1-AC7A-49CC-A6D6-E9053FF8CAAC}"/>
    <dgm:cxn modelId="{7D1B4C27-9E47-4880-8349-5556D07465A7}" type="presOf" srcId="{B5DD9437-ED99-4C3C-BF97-D787C3D630DF}" destId="{81D8B8CB-DF8B-4159-9795-A40AFA2F3563}" srcOrd="0" destOrd="1" presId="urn:microsoft.com/office/officeart/2005/8/layout/vList2"/>
    <dgm:cxn modelId="{893FFA39-5BBC-44D2-9605-F25AC33DAD08}" srcId="{A96D93E4-08CE-417A-A49C-15FD4F3080FC}" destId="{26B2FB64-E195-434F-ADC3-AE52DBBA2D37}" srcOrd="0" destOrd="0" parTransId="{E39827A1-E4D2-40C3-B4CC-38079088EA15}" sibTransId="{48717CF4-A53E-4AA6-A3EE-981B5CDAB89C}"/>
    <dgm:cxn modelId="{37725A5B-8616-4345-BBD2-4EEDFD31CDBA}" srcId="{A96D93E4-08CE-417A-A49C-15FD4F3080FC}" destId="{FB6DDEBE-C4B4-4D06-BB74-2759E4626966}" srcOrd="1" destOrd="0" parTransId="{6A6D9EE0-67DD-4485-98B1-9823596309F8}" sibTransId="{2C3223A6-7E9B-47F1-BB93-68729DA67D80}"/>
    <dgm:cxn modelId="{22D40A61-36B8-42CF-9EDC-BE483E8F108E}" type="presOf" srcId="{1E35999A-BCDA-4662-90FC-DE6D97E3F498}" destId="{81D8B8CB-DF8B-4159-9795-A40AFA2F3563}" srcOrd="0" destOrd="2" presId="urn:microsoft.com/office/officeart/2005/8/layout/vList2"/>
    <dgm:cxn modelId="{96E9C063-529A-41C5-B08A-B43A63568FBB}" type="presOf" srcId="{6D4CF9E4-F0AC-4687-8CDB-BEA50ED8247D}" destId="{177BA075-923E-4ACE-8FCA-C0602734D26E}" srcOrd="0" destOrd="1" presId="urn:microsoft.com/office/officeart/2005/8/layout/vList2"/>
    <dgm:cxn modelId="{58237366-73C6-41CE-A9E7-D68D2AA250E6}" type="presOf" srcId="{23E32AC4-50F4-42E1-97AF-12918D4B8AE8}" destId="{81D8B8CB-DF8B-4159-9795-A40AFA2F3563}" srcOrd="0" destOrd="0" presId="urn:microsoft.com/office/officeart/2005/8/layout/vList2"/>
    <dgm:cxn modelId="{9A822D47-8019-4B8A-B679-9F95563A6DEB}" srcId="{FB6DDEBE-C4B4-4D06-BB74-2759E4626966}" destId="{1E35999A-BCDA-4662-90FC-DE6D97E3F498}" srcOrd="2" destOrd="0" parTransId="{C7D49ADE-81A2-4076-B251-482691A1B204}" sibTransId="{FBAD33D9-72CB-4511-A5B1-D4201C4B9772}"/>
    <dgm:cxn modelId="{DD73FB7C-C1F7-4BEC-9D3A-1DAAA9C02A7E}" srcId="{26B2FB64-E195-434F-ADC3-AE52DBBA2D37}" destId="{C8AB6974-29AB-42A1-BC68-83E6EA261894}" srcOrd="2" destOrd="0" parTransId="{B6AB4CDD-D8BC-468A-B43E-A2113155AD4F}" sibTransId="{AD6DC426-0D93-48E4-9B1E-EBA7DA6E2565}"/>
    <dgm:cxn modelId="{6DA5D17E-5483-4174-82C6-E2F19FC96D0C}" srcId="{FB6DDEBE-C4B4-4D06-BB74-2759E4626966}" destId="{B5DD9437-ED99-4C3C-BF97-D787C3D630DF}" srcOrd="1" destOrd="0" parTransId="{3504FC37-1229-43A2-BBAA-C0FCE0456F51}" sibTransId="{4AD5D00D-D380-4283-8962-FC94734D067D}"/>
    <dgm:cxn modelId="{0206AD8F-4BAE-4276-A609-929F63D6C8CC}" srcId="{26B2FB64-E195-434F-ADC3-AE52DBBA2D37}" destId="{6D4CF9E4-F0AC-4687-8CDB-BEA50ED8247D}" srcOrd="1" destOrd="0" parTransId="{0A0F769C-9EFC-4509-A782-1AD142049892}" sibTransId="{0A70318A-508E-477F-8DE7-F5FA430104C2}"/>
    <dgm:cxn modelId="{72E3D08F-AB0B-4A0F-9088-296F5DEB419D}" type="presOf" srcId="{FBA4E5C5-AACE-4F0C-93F6-0C63FB580B24}" destId="{177BA075-923E-4ACE-8FCA-C0602734D26E}" srcOrd="0" destOrd="3" presId="urn:microsoft.com/office/officeart/2005/8/layout/vList2"/>
    <dgm:cxn modelId="{FE7C4192-915E-4FE5-BB42-59AC98E43AB6}" srcId="{FB6DDEBE-C4B4-4D06-BB74-2759E4626966}" destId="{23E32AC4-50F4-42E1-97AF-12918D4B8AE8}" srcOrd="0" destOrd="0" parTransId="{047763B6-5B0A-4ECF-A75E-89243B080090}" sibTransId="{1557EF8F-75AE-403C-9C0B-206F3713AFD6}"/>
    <dgm:cxn modelId="{965BD79A-BC1F-4E6E-8E1A-DE0E8D30E2BC}" type="presOf" srcId="{C8AB6974-29AB-42A1-BC68-83E6EA261894}" destId="{177BA075-923E-4ACE-8FCA-C0602734D26E}" srcOrd="0" destOrd="2" presId="urn:microsoft.com/office/officeart/2005/8/layout/vList2"/>
    <dgm:cxn modelId="{721569BA-080D-47D2-9577-5BEF115D195B}" type="presOf" srcId="{2FE65D22-B110-4EAB-AA6E-0962D16EC915}" destId="{177BA075-923E-4ACE-8FCA-C0602734D26E}" srcOrd="0" destOrd="0" presId="urn:microsoft.com/office/officeart/2005/8/layout/vList2"/>
    <dgm:cxn modelId="{D17CC6BC-5BC6-4D1C-B6A2-B4A436EAF7CE}" type="presOf" srcId="{FB6DDEBE-C4B4-4D06-BB74-2759E4626966}" destId="{0E3C570F-BDE8-4BF0-B238-5EFF971A0BF3}" srcOrd="0" destOrd="0" presId="urn:microsoft.com/office/officeart/2005/8/layout/vList2"/>
    <dgm:cxn modelId="{83F08BC6-0D76-4B56-BD53-09856868A3ED}" type="presOf" srcId="{26B2FB64-E195-434F-ADC3-AE52DBBA2D37}" destId="{04335B34-EEFB-4D32-8C08-B5E4A04D3D8A}" srcOrd="0" destOrd="0" presId="urn:microsoft.com/office/officeart/2005/8/layout/vList2"/>
    <dgm:cxn modelId="{80FA3AFF-A1AC-42D0-A404-1E09F3804871}" srcId="{26B2FB64-E195-434F-ADC3-AE52DBBA2D37}" destId="{FBA4E5C5-AACE-4F0C-93F6-0C63FB580B24}" srcOrd="3" destOrd="0" parTransId="{C23C30A1-300F-420B-96D5-68D74EC08A8F}" sibTransId="{60363CEC-0F4A-4FB7-8F1D-018CBB726828}"/>
    <dgm:cxn modelId="{9F374836-C788-44A5-9F0B-0E845FBFC047}" type="presParOf" srcId="{68499CE3-30E2-4E10-8894-53C0AF4C3B7A}" destId="{04335B34-EEFB-4D32-8C08-B5E4A04D3D8A}" srcOrd="0" destOrd="0" presId="urn:microsoft.com/office/officeart/2005/8/layout/vList2"/>
    <dgm:cxn modelId="{28AF7DAB-46D0-44D7-8FB7-6ACCFD4F443C}" type="presParOf" srcId="{68499CE3-30E2-4E10-8894-53C0AF4C3B7A}" destId="{177BA075-923E-4ACE-8FCA-C0602734D26E}" srcOrd="1" destOrd="0" presId="urn:microsoft.com/office/officeart/2005/8/layout/vList2"/>
    <dgm:cxn modelId="{C50B50E6-2705-4513-9EE0-C473710090E1}" type="presParOf" srcId="{68499CE3-30E2-4E10-8894-53C0AF4C3B7A}" destId="{0E3C570F-BDE8-4BF0-B238-5EFF971A0BF3}" srcOrd="2" destOrd="0" presId="urn:microsoft.com/office/officeart/2005/8/layout/vList2"/>
    <dgm:cxn modelId="{FD92A993-6274-4872-9C31-8A08C1A6C4E4}" type="presParOf" srcId="{68499CE3-30E2-4E10-8894-53C0AF4C3B7A}" destId="{81D8B8CB-DF8B-4159-9795-A40AFA2F3563}"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69919B-18B6-418A-8AB8-4431ECAA7602}">
      <dsp:nvSpPr>
        <dsp:cNvPr id="0" name=""/>
        <dsp:cNvSpPr/>
      </dsp:nvSpPr>
      <dsp:spPr>
        <a:xfrm>
          <a:off x="0" y="2439"/>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819DAC-AAD4-4607-82AD-9F9EE0EAC629}">
      <dsp:nvSpPr>
        <dsp:cNvPr id="0" name=""/>
        <dsp:cNvSpPr/>
      </dsp:nvSpPr>
      <dsp:spPr>
        <a:xfrm>
          <a:off x="374076" y="280678"/>
          <a:ext cx="680139" cy="6801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23BD5B-C6B9-4C6D-87A2-B93986F26B4A}">
      <dsp:nvSpPr>
        <dsp:cNvPr id="0" name=""/>
        <dsp:cNvSpPr/>
      </dsp:nvSpPr>
      <dsp:spPr>
        <a:xfrm>
          <a:off x="1428292" y="2439"/>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77900">
            <a:lnSpc>
              <a:spcPct val="100000"/>
            </a:lnSpc>
            <a:spcBef>
              <a:spcPct val="0"/>
            </a:spcBef>
            <a:spcAft>
              <a:spcPct val="35000"/>
            </a:spcAft>
            <a:buNone/>
          </a:pPr>
          <a:r>
            <a:rPr lang="en-US" sz="2200" kern="1200" dirty="0"/>
            <a:t>Neural networks (NN)</a:t>
          </a:r>
        </a:p>
      </dsp:txBody>
      <dsp:txXfrm>
        <a:off x="1428292" y="2439"/>
        <a:ext cx="4873308" cy="1236616"/>
      </dsp:txXfrm>
    </dsp:sp>
    <dsp:sp modelId="{F5A766C8-8DCE-4AFC-B652-43635865A8D5}">
      <dsp:nvSpPr>
        <dsp:cNvPr id="0" name=""/>
        <dsp:cNvSpPr/>
      </dsp:nvSpPr>
      <dsp:spPr>
        <a:xfrm>
          <a:off x="0" y="1548210"/>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35720E-4E4B-4A1A-9BE6-E440CE75A52C}">
      <dsp:nvSpPr>
        <dsp:cNvPr id="0" name=""/>
        <dsp:cNvSpPr/>
      </dsp:nvSpPr>
      <dsp:spPr>
        <a:xfrm>
          <a:off x="374076" y="1826449"/>
          <a:ext cx="680139" cy="6801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2FF560-842C-43A8-8309-88A1F2965D02}">
      <dsp:nvSpPr>
        <dsp:cNvPr id="0" name=""/>
        <dsp:cNvSpPr/>
      </dsp:nvSpPr>
      <dsp:spPr>
        <a:xfrm>
          <a:off x="1428292" y="1548210"/>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77900">
            <a:lnSpc>
              <a:spcPct val="100000"/>
            </a:lnSpc>
            <a:spcBef>
              <a:spcPct val="0"/>
            </a:spcBef>
            <a:spcAft>
              <a:spcPct val="35000"/>
            </a:spcAft>
            <a:buNone/>
          </a:pPr>
          <a:r>
            <a:rPr lang="en-US" sz="2200" b="0" i="0" kern="1200" dirty="0"/>
            <a:t>Deep neural networks (DNN)</a:t>
          </a:r>
          <a:endParaRPr lang="en-US" sz="2200" kern="1200" dirty="0"/>
        </a:p>
      </dsp:txBody>
      <dsp:txXfrm>
        <a:off x="1428292" y="1548210"/>
        <a:ext cx="4873308" cy="1236616"/>
      </dsp:txXfrm>
    </dsp:sp>
    <dsp:sp modelId="{95343D72-B3CB-4665-8028-8D39D8F6C000}">
      <dsp:nvSpPr>
        <dsp:cNvPr id="0" name=""/>
        <dsp:cNvSpPr/>
      </dsp:nvSpPr>
      <dsp:spPr>
        <a:xfrm>
          <a:off x="0" y="3093981"/>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F9F383-FC42-4FA9-9C51-09E72A98CB6E}">
      <dsp:nvSpPr>
        <dsp:cNvPr id="0" name=""/>
        <dsp:cNvSpPr/>
      </dsp:nvSpPr>
      <dsp:spPr>
        <a:xfrm>
          <a:off x="374076" y="3372220"/>
          <a:ext cx="680139" cy="68013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AC8153-360E-4FDB-A448-B03ACF2DA149}">
      <dsp:nvSpPr>
        <dsp:cNvPr id="0" name=""/>
        <dsp:cNvSpPr/>
      </dsp:nvSpPr>
      <dsp:spPr>
        <a:xfrm>
          <a:off x="1428292" y="3093981"/>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77900">
            <a:lnSpc>
              <a:spcPct val="100000"/>
            </a:lnSpc>
            <a:spcBef>
              <a:spcPct val="0"/>
            </a:spcBef>
            <a:spcAft>
              <a:spcPct val="35000"/>
            </a:spcAft>
            <a:buNone/>
          </a:pPr>
          <a:r>
            <a:rPr lang="en-US" sz="2200" b="0" i="0" kern="1200" dirty="0"/>
            <a:t>Activation functions</a:t>
          </a:r>
          <a:endParaRPr lang="en-US" sz="2200" kern="1200" dirty="0"/>
        </a:p>
      </dsp:txBody>
      <dsp:txXfrm>
        <a:off x="1428292" y="3093981"/>
        <a:ext cx="4873308" cy="1236616"/>
      </dsp:txXfrm>
    </dsp:sp>
    <dsp:sp modelId="{3F0F3226-5F07-4703-8A2A-AF6EE293762C}">
      <dsp:nvSpPr>
        <dsp:cNvPr id="0" name=""/>
        <dsp:cNvSpPr/>
      </dsp:nvSpPr>
      <dsp:spPr>
        <a:xfrm>
          <a:off x="0" y="4639752"/>
          <a:ext cx="6301601" cy="123661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FD6336-7077-4043-ABC1-DA2207B55A03}">
      <dsp:nvSpPr>
        <dsp:cNvPr id="0" name=""/>
        <dsp:cNvSpPr/>
      </dsp:nvSpPr>
      <dsp:spPr>
        <a:xfrm>
          <a:off x="374076" y="4917991"/>
          <a:ext cx="680139" cy="68013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B345716-FF66-4CDF-830C-D91FE45C037E}">
      <dsp:nvSpPr>
        <dsp:cNvPr id="0" name=""/>
        <dsp:cNvSpPr/>
      </dsp:nvSpPr>
      <dsp:spPr>
        <a:xfrm>
          <a:off x="1428292" y="4639752"/>
          <a:ext cx="4873308" cy="12366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75" tIns="130875" rIns="130875" bIns="130875" numCol="1" spcCol="1270" anchor="ctr" anchorCtr="0">
          <a:noAutofit/>
        </a:bodyPr>
        <a:lstStyle/>
        <a:p>
          <a:pPr marL="0" lvl="0" indent="0" algn="l" defTabSz="977900">
            <a:lnSpc>
              <a:spcPct val="100000"/>
            </a:lnSpc>
            <a:spcBef>
              <a:spcPct val="0"/>
            </a:spcBef>
            <a:spcAft>
              <a:spcPct val="35000"/>
            </a:spcAft>
            <a:buNone/>
          </a:pPr>
          <a:r>
            <a:rPr lang="en-US" sz="2200" b="0" i="0" kern="1200" dirty="0"/>
            <a:t>Forward pass, loss, backpropagation</a:t>
          </a:r>
          <a:endParaRPr lang="en-US" sz="2200" kern="1200" dirty="0"/>
        </a:p>
      </dsp:txBody>
      <dsp:txXfrm>
        <a:off x="1428292" y="4639752"/>
        <a:ext cx="4873308" cy="12366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335B34-EEFB-4D32-8C08-B5E4A04D3D8A}">
      <dsp:nvSpPr>
        <dsp:cNvPr id="0" name=""/>
        <dsp:cNvSpPr/>
      </dsp:nvSpPr>
      <dsp:spPr>
        <a:xfrm>
          <a:off x="0" y="118326"/>
          <a:ext cx="10714972" cy="55165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dirty="0">
              <a:effectLst/>
              <a:latin typeface="fkGrotesk"/>
            </a:rPr>
            <a:t>Advantages</a:t>
          </a:r>
          <a:endParaRPr lang="en-US" sz="2300" kern="1200" dirty="0"/>
        </a:p>
      </dsp:txBody>
      <dsp:txXfrm>
        <a:off x="26930" y="145256"/>
        <a:ext cx="10661112" cy="497795"/>
      </dsp:txXfrm>
    </dsp:sp>
    <dsp:sp modelId="{177BA075-923E-4ACE-8FCA-C0602734D26E}">
      <dsp:nvSpPr>
        <dsp:cNvPr id="0" name=""/>
        <dsp:cNvSpPr/>
      </dsp:nvSpPr>
      <dsp:spPr>
        <a:xfrm>
          <a:off x="0" y="669981"/>
          <a:ext cx="10714972" cy="1999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0200" tIns="29210" rIns="163576" bIns="29210" numCol="1" spcCol="1270" anchor="t" anchorCtr="0">
          <a:noAutofit/>
        </a:bodyPr>
        <a:lstStyle/>
        <a:p>
          <a:pPr marL="171450" lvl="1" indent="-171450" algn="l" defTabSz="800100">
            <a:lnSpc>
              <a:spcPct val="90000"/>
            </a:lnSpc>
            <a:spcBef>
              <a:spcPct val="0"/>
            </a:spcBef>
            <a:spcAft>
              <a:spcPct val="20000"/>
            </a:spcAft>
            <a:buNone/>
          </a:pPr>
          <a:r>
            <a:rPr lang="en-US" sz="1800" b="0" i="0" kern="1200" dirty="0">
              <a:effectLst/>
              <a:latin typeface="fkGroteskNeue"/>
            </a:rPr>
            <a:t>Simple &amp; fast: easy to implement, trains quickly with the perceptron update rule, &amp; works well for small, linearly separable problems.</a:t>
          </a:r>
          <a:endParaRPr lang="en-US" sz="1800" kern="1200" dirty="0"/>
        </a:p>
        <a:p>
          <a:pPr marL="171450" lvl="1" indent="-171450" algn="l" defTabSz="800100">
            <a:lnSpc>
              <a:spcPct val="90000"/>
            </a:lnSpc>
            <a:spcBef>
              <a:spcPct val="0"/>
            </a:spcBef>
            <a:spcAft>
              <a:spcPct val="20000"/>
            </a:spcAft>
            <a:buNone/>
          </a:pPr>
          <a:r>
            <a:rPr lang="en-US" sz="1800" b="0" i="0" kern="1200" dirty="0">
              <a:effectLst/>
              <a:latin typeface="fkGroteskNeue"/>
            </a:rPr>
            <a:t>Online friendly: updates incrementally per example, so it adapts to new data without full retraining.</a:t>
          </a:r>
          <a:endParaRPr lang="en-US" sz="1800" kern="1200" dirty="0"/>
        </a:p>
        <a:p>
          <a:pPr marL="171450" lvl="1" indent="-171450" algn="l" defTabSz="800100">
            <a:lnSpc>
              <a:spcPct val="90000"/>
            </a:lnSpc>
            <a:spcBef>
              <a:spcPct val="0"/>
            </a:spcBef>
            <a:spcAft>
              <a:spcPct val="20000"/>
            </a:spcAft>
            <a:buNone/>
          </a:pPr>
          <a:r>
            <a:rPr lang="en-US" sz="1800" b="0" i="0" kern="1200" dirty="0">
              <a:effectLst/>
              <a:latin typeface="fkGroteskNeue"/>
            </a:rPr>
            <a:t>Interpretable geometry: decision boundary is a straight line/hyperplane, making the model’s behavior easy to visualize</a:t>
          </a:r>
          <a:endParaRPr lang="en-US" sz="1800" kern="1200" dirty="0"/>
        </a:p>
        <a:p>
          <a:pPr marL="171450" lvl="1" indent="-171450" algn="l" defTabSz="800100">
            <a:lnSpc>
              <a:spcPct val="90000"/>
            </a:lnSpc>
            <a:spcBef>
              <a:spcPct val="0"/>
            </a:spcBef>
            <a:spcAft>
              <a:spcPct val="20000"/>
            </a:spcAft>
            <a:buNone/>
          </a:pPr>
          <a:r>
            <a:rPr lang="en-US" sz="1800" b="0" i="0" kern="1200" dirty="0">
              <a:effectLst/>
              <a:latin typeface="fkGroteskNeue"/>
            </a:rPr>
            <a:t>Low compute &amp; memory: minimal parameters and no complex optimization make it suitable for resource‑constrained settings.</a:t>
          </a:r>
          <a:endParaRPr lang="en-US" sz="1800" kern="1200" dirty="0"/>
        </a:p>
      </dsp:txBody>
      <dsp:txXfrm>
        <a:off x="0" y="669981"/>
        <a:ext cx="10714972" cy="1999620"/>
      </dsp:txXfrm>
    </dsp:sp>
    <dsp:sp modelId="{0E3C570F-BDE8-4BF0-B238-5EFF971A0BF3}">
      <dsp:nvSpPr>
        <dsp:cNvPr id="0" name=""/>
        <dsp:cNvSpPr/>
      </dsp:nvSpPr>
      <dsp:spPr>
        <a:xfrm>
          <a:off x="0" y="2669601"/>
          <a:ext cx="10714972" cy="55165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dirty="0">
              <a:effectLst/>
              <a:latin typeface="fkGrotesk"/>
            </a:rPr>
            <a:t>Disadvantages</a:t>
          </a:r>
          <a:endParaRPr lang="en-US" sz="2300" kern="1200" dirty="0"/>
        </a:p>
      </dsp:txBody>
      <dsp:txXfrm>
        <a:off x="26930" y="2696531"/>
        <a:ext cx="10661112" cy="497795"/>
      </dsp:txXfrm>
    </dsp:sp>
    <dsp:sp modelId="{81D8B8CB-DF8B-4159-9795-A40AFA2F3563}">
      <dsp:nvSpPr>
        <dsp:cNvPr id="0" name=""/>
        <dsp:cNvSpPr/>
      </dsp:nvSpPr>
      <dsp:spPr>
        <a:xfrm>
          <a:off x="0" y="3221256"/>
          <a:ext cx="10714972" cy="1713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0200" tIns="29210" rIns="163576" bIns="29210" numCol="1" spcCol="1270" anchor="t" anchorCtr="0">
          <a:noAutofit/>
        </a:bodyPr>
        <a:lstStyle/>
        <a:p>
          <a:pPr marL="171450" lvl="1" indent="-171450" algn="l" defTabSz="800100">
            <a:lnSpc>
              <a:spcPct val="90000"/>
            </a:lnSpc>
            <a:spcBef>
              <a:spcPct val="0"/>
            </a:spcBef>
            <a:spcAft>
              <a:spcPct val="20000"/>
            </a:spcAft>
            <a:buNone/>
          </a:pPr>
          <a:r>
            <a:rPr lang="en-US" sz="1800" b="0" i="0" kern="1200" dirty="0">
              <a:effectLst/>
              <a:latin typeface="fkGroteskNeue"/>
            </a:rPr>
            <a:t>Only linear separability: cannot solve non‑linear patterns (e.g., XOR) without additional layers or feature engineering.</a:t>
          </a:r>
          <a:endParaRPr lang="en-US" sz="1800" kern="1200" dirty="0"/>
        </a:p>
        <a:p>
          <a:pPr marL="171450" lvl="1" indent="-171450" algn="l" defTabSz="800100">
            <a:lnSpc>
              <a:spcPct val="90000"/>
            </a:lnSpc>
            <a:spcBef>
              <a:spcPct val="0"/>
            </a:spcBef>
            <a:spcAft>
              <a:spcPct val="20000"/>
            </a:spcAft>
            <a:buNone/>
          </a:pPr>
          <a:r>
            <a:rPr lang="en-US" sz="1800" b="0" i="0" kern="1200" dirty="0">
              <a:effectLst/>
              <a:latin typeface="fkGroteskNeue"/>
            </a:rPr>
            <a:t>Limited expressiveness: a single hyperplane can’t capture complex boundaries; performance plateaus on many real-world tasks.</a:t>
          </a:r>
          <a:endParaRPr lang="en-US" sz="1800" kern="1200" dirty="0"/>
        </a:p>
        <a:p>
          <a:pPr marL="171450" lvl="1" indent="-171450" algn="l" defTabSz="800100">
            <a:lnSpc>
              <a:spcPct val="90000"/>
            </a:lnSpc>
            <a:spcBef>
              <a:spcPct val="0"/>
            </a:spcBef>
            <a:spcAft>
              <a:spcPct val="20000"/>
            </a:spcAft>
            <a:buNone/>
          </a:pPr>
          <a:r>
            <a:rPr lang="en-US" sz="1800" b="0" i="0" kern="1200">
              <a:effectLst/>
              <a:latin typeface="fkGroteskNeue"/>
            </a:rPr>
            <a:t>Convergence limits: if data aren’t linearly separable, the algorithm may not converge and can oscillate; needs max-epoch safeguards.</a:t>
          </a:r>
          <a:endParaRPr lang="en-US" sz="1800" kern="1200" dirty="0"/>
        </a:p>
      </dsp:txBody>
      <dsp:txXfrm>
        <a:off x="0" y="3221256"/>
        <a:ext cx="10714972" cy="171396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CEA051-AEDB-4822-9E58-CC028B87A075}" type="datetimeFigureOut">
              <a:rPr lang="en-US" smtClean="0"/>
              <a:t>3/30/2026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988EB9-A3E1-41C2-844E-0549AB6A332C}" type="slidenum">
              <a:rPr lang="en-US" smtClean="0"/>
              <a:t>‹#›</a:t>
            </a:fld>
            <a:endParaRPr lang="en-US"/>
          </a:p>
        </p:txBody>
      </p:sp>
    </p:spTree>
    <p:extLst>
      <p:ext uri="{BB962C8B-B14F-4D97-AF65-F5344CB8AC3E}">
        <p14:creationId xmlns:p14="http://schemas.microsoft.com/office/powerpoint/2010/main" val="1122513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It’s a way to teach computers by stacking many “layers” of math functions (a neural network) so the system can learn patterns directly from data.</a:t>
            </a:r>
          </a:p>
          <a:p>
            <a:r>
              <a:rPr lang="en-US" sz="1200" b="0" i="0" kern="1200" dirty="0">
                <a:solidFill>
                  <a:schemeClr val="tx1"/>
                </a:solidFill>
                <a:effectLst/>
                <a:latin typeface="+mn-lt"/>
                <a:ea typeface="+mn-ea"/>
                <a:cs typeface="+mn-cs"/>
              </a:rPr>
              <a:t>“Deep” just means “many layers.” More layers let the model learn simple things first (like edges in images) and then combine them into complex ideas (like faces or road signs).</a:t>
            </a:r>
          </a:p>
          <a:p>
            <a:r>
              <a:rPr lang="en-US" dirty="0"/>
              <a:t>
---
We will cover an overview of deep learning, explore the perceptron as the building block of neural networks, understand the architecture and mechanisms of artificial neural networks, and discuss the role and types of activation functions used in these networks.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0C1B5BA-7587-4F91-B75B-5A7E450464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52610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A perceptron consists of input nodes, weights, a summation function, and an activation function. It computes a weighted sum of inputs and applies a threshold to produce a binary output.
Image source: Microsoft 365 content library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0C1B5BA-7587-4F91-B75B-5A7E450464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22155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26CA0-947F-5780-9168-D6FDB02915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A2E279-F62F-204D-EB0D-B8B41E675A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74C0D0-3CB2-80DF-8204-AEFCFD3C5EDF}"/>
              </a:ext>
            </a:extLst>
          </p:cNvPr>
          <p:cNvSpPr>
            <a:spLocks noGrp="1"/>
          </p:cNvSpPr>
          <p:nvPr>
            <p:ph type="body" idx="1"/>
          </p:nvPr>
        </p:nvSpPr>
        <p:spPr/>
        <p:txBody>
          <a:bodyPr/>
          <a:lstStyle/>
          <a:p>
            <a:r>
              <a:rPr lang="en-US"/>
              <a:t>
---
A perceptron consists of input nodes, weights, a summation function, and an activation function. It computes a weighted sum of inputs and applies a threshold to produce a binary output.
Image source: Microsoft 365 content library
</a:t>
            </a:r>
          </a:p>
        </p:txBody>
      </p:sp>
      <p:sp>
        <p:nvSpPr>
          <p:cNvPr id="4" name="Slide Number Placeholder 3">
            <a:extLst>
              <a:ext uri="{FF2B5EF4-FFF2-40B4-BE49-F238E27FC236}">
                <a16:creationId xmlns:a16="http://schemas.microsoft.com/office/drawing/2014/main" id="{E3D29291-ED2A-5DAB-9BBC-2253C21DE8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0C1B5BA-7587-4F91-B75B-5A7E450464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9208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D0687-964E-C545-FC2B-0DD18DD54D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986FCB-B7BD-4D30-544F-5B67E73BE4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EC6155-FAEC-7BB7-7BD8-A94D1796D307}"/>
              </a:ext>
            </a:extLst>
          </p:cNvPr>
          <p:cNvSpPr>
            <a:spLocks noGrp="1"/>
          </p:cNvSpPr>
          <p:nvPr>
            <p:ph type="body" idx="1"/>
          </p:nvPr>
        </p:nvSpPr>
        <p:spPr/>
        <p:txBody>
          <a:bodyPr/>
          <a:lstStyle/>
          <a:p>
            <a:r>
              <a:rPr lang="en-US"/>
              <a:t>
---
A perceptron consists of input nodes, weights, a summation function, and an activation function. It computes a weighted sum of inputs and applies a threshold to produce a binary output.
Image source: Microsoft 365 content library
</a:t>
            </a:r>
          </a:p>
        </p:txBody>
      </p:sp>
      <p:sp>
        <p:nvSpPr>
          <p:cNvPr id="4" name="Slide Number Placeholder 3">
            <a:extLst>
              <a:ext uri="{FF2B5EF4-FFF2-40B4-BE49-F238E27FC236}">
                <a16:creationId xmlns:a16="http://schemas.microsoft.com/office/drawing/2014/main" id="{219616FB-105D-C0FD-EF5D-819CA5BCB0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0C1B5BA-7587-4F91-B75B-5A7E450464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46532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FD2C6-D611-366D-DB66-96618BD66E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6A6425-B083-2E52-BFB9-72A0F2F76D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454947-EB60-B859-2921-EF278D956FEA}"/>
              </a:ext>
            </a:extLst>
          </p:cNvPr>
          <p:cNvSpPr>
            <a:spLocks noGrp="1"/>
          </p:cNvSpPr>
          <p:nvPr>
            <p:ph type="body" idx="1"/>
          </p:nvPr>
        </p:nvSpPr>
        <p:spPr/>
        <p:txBody>
          <a:bodyPr/>
          <a:lstStyle/>
          <a:p>
            <a:r>
              <a:rPr lang="en-US"/>
              <a:t>
---
A perceptron consists of input nodes, weights, a summation function, and an activation function. It computes a weighted sum of inputs and applies a threshold to produce a binary output.
Image source: Microsoft 365 content library
</a:t>
            </a:r>
          </a:p>
        </p:txBody>
      </p:sp>
      <p:sp>
        <p:nvSpPr>
          <p:cNvPr id="4" name="Slide Number Placeholder 3">
            <a:extLst>
              <a:ext uri="{FF2B5EF4-FFF2-40B4-BE49-F238E27FC236}">
                <a16:creationId xmlns:a16="http://schemas.microsoft.com/office/drawing/2014/main" id="{73067F5E-5DEC-C81A-BEAC-4A2531F1B8A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0C1B5BA-7587-4F91-B75B-5A7E4504648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97523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3925D-AFB8-F936-2F2D-0875F70482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A1F310B-9676-805F-5FC8-8F15CEFDC4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11706A-FF4A-FE3D-DEE8-95B7C5426DC6}"/>
              </a:ext>
            </a:extLst>
          </p:cNvPr>
          <p:cNvSpPr>
            <a:spLocks noGrp="1"/>
          </p:cNvSpPr>
          <p:nvPr>
            <p:ph type="dt" sz="half" idx="10"/>
          </p:nvPr>
        </p:nvSpPr>
        <p:spPr/>
        <p:txBody>
          <a:bodyPr/>
          <a:lstStyle/>
          <a:p>
            <a:fld id="{BFF33A2F-0CAB-43D2-A893-48393DA9294F}" type="datetimeFigureOut">
              <a:rPr lang="en-US" smtClean="0"/>
              <a:t>3/30/2026</a:t>
            </a:fld>
            <a:endParaRPr lang="en-US"/>
          </a:p>
        </p:txBody>
      </p:sp>
      <p:sp>
        <p:nvSpPr>
          <p:cNvPr id="5" name="Footer Placeholder 4">
            <a:extLst>
              <a:ext uri="{FF2B5EF4-FFF2-40B4-BE49-F238E27FC236}">
                <a16:creationId xmlns:a16="http://schemas.microsoft.com/office/drawing/2014/main" id="{36F6298F-6C94-0F22-69A7-BB643984FB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0815DC-CBDD-A80C-1252-72370775D7EE}"/>
              </a:ext>
            </a:extLst>
          </p:cNvPr>
          <p:cNvSpPr>
            <a:spLocks noGrp="1"/>
          </p:cNvSpPr>
          <p:nvPr>
            <p:ph type="sldNum" sz="quarter" idx="12"/>
          </p:nvPr>
        </p:nvSpPr>
        <p:spPr/>
        <p:txBody>
          <a:bodyPr/>
          <a:lstStyle/>
          <a:p>
            <a:fld id="{A223E10A-F1C5-4372-8DC6-FEDDEF1D6C64}" type="slidenum">
              <a:rPr lang="en-US" smtClean="0"/>
              <a:t>‹#›</a:t>
            </a:fld>
            <a:endParaRPr lang="en-US"/>
          </a:p>
        </p:txBody>
      </p:sp>
    </p:spTree>
    <p:extLst>
      <p:ext uri="{BB962C8B-B14F-4D97-AF65-F5344CB8AC3E}">
        <p14:creationId xmlns:p14="http://schemas.microsoft.com/office/powerpoint/2010/main" val="3247198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284A9-8804-ACAC-5762-7954991C98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E654C0-4755-B55B-6206-C8156E044C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C82DCD-9C99-C2D7-D0B8-7BF57BEE4788}"/>
              </a:ext>
            </a:extLst>
          </p:cNvPr>
          <p:cNvSpPr>
            <a:spLocks noGrp="1"/>
          </p:cNvSpPr>
          <p:nvPr>
            <p:ph type="dt" sz="half" idx="10"/>
          </p:nvPr>
        </p:nvSpPr>
        <p:spPr/>
        <p:txBody>
          <a:bodyPr/>
          <a:lstStyle/>
          <a:p>
            <a:fld id="{BFF33A2F-0CAB-43D2-A893-48393DA9294F}" type="datetimeFigureOut">
              <a:rPr lang="en-US" smtClean="0"/>
              <a:t>3/30/2026</a:t>
            </a:fld>
            <a:endParaRPr lang="en-US"/>
          </a:p>
        </p:txBody>
      </p:sp>
      <p:sp>
        <p:nvSpPr>
          <p:cNvPr id="5" name="Footer Placeholder 4">
            <a:extLst>
              <a:ext uri="{FF2B5EF4-FFF2-40B4-BE49-F238E27FC236}">
                <a16:creationId xmlns:a16="http://schemas.microsoft.com/office/drawing/2014/main" id="{0E89AC37-6408-DED5-B5F8-E89EE05E41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1D7E19-22C4-4964-2F3D-8B0765BDAED7}"/>
              </a:ext>
            </a:extLst>
          </p:cNvPr>
          <p:cNvSpPr>
            <a:spLocks noGrp="1"/>
          </p:cNvSpPr>
          <p:nvPr>
            <p:ph type="sldNum" sz="quarter" idx="12"/>
          </p:nvPr>
        </p:nvSpPr>
        <p:spPr/>
        <p:txBody>
          <a:bodyPr/>
          <a:lstStyle/>
          <a:p>
            <a:fld id="{A223E10A-F1C5-4372-8DC6-FEDDEF1D6C64}" type="slidenum">
              <a:rPr lang="en-US" smtClean="0"/>
              <a:t>‹#›</a:t>
            </a:fld>
            <a:endParaRPr lang="en-US"/>
          </a:p>
        </p:txBody>
      </p:sp>
    </p:spTree>
    <p:extLst>
      <p:ext uri="{BB962C8B-B14F-4D97-AF65-F5344CB8AC3E}">
        <p14:creationId xmlns:p14="http://schemas.microsoft.com/office/powerpoint/2010/main" val="3943367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C0556-6A85-E6B1-D5FB-01D014793D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F9DB843-624F-3820-BF01-D059AB83A3D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3B3D30-673A-638C-5D93-9F5B6FC2F607}"/>
              </a:ext>
            </a:extLst>
          </p:cNvPr>
          <p:cNvSpPr>
            <a:spLocks noGrp="1"/>
          </p:cNvSpPr>
          <p:nvPr>
            <p:ph type="dt" sz="half" idx="10"/>
          </p:nvPr>
        </p:nvSpPr>
        <p:spPr/>
        <p:txBody>
          <a:bodyPr/>
          <a:lstStyle/>
          <a:p>
            <a:fld id="{BFF33A2F-0CAB-43D2-A893-48393DA9294F}" type="datetimeFigureOut">
              <a:rPr lang="en-US" smtClean="0"/>
              <a:t>3/30/2026</a:t>
            </a:fld>
            <a:endParaRPr lang="en-US"/>
          </a:p>
        </p:txBody>
      </p:sp>
      <p:sp>
        <p:nvSpPr>
          <p:cNvPr id="5" name="Footer Placeholder 4">
            <a:extLst>
              <a:ext uri="{FF2B5EF4-FFF2-40B4-BE49-F238E27FC236}">
                <a16:creationId xmlns:a16="http://schemas.microsoft.com/office/drawing/2014/main" id="{4A30C1AE-E430-0608-D8B1-B95EFDB7E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4FF68A-7F1F-67BA-993F-5B200F27F088}"/>
              </a:ext>
            </a:extLst>
          </p:cNvPr>
          <p:cNvSpPr>
            <a:spLocks noGrp="1"/>
          </p:cNvSpPr>
          <p:nvPr>
            <p:ph type="sldNum" sz="quarter" idx="12"/>
          </p:nvPr>
        </p:nvSpPr>
        <p:spPr/>
        <p:txBody>
          <a:bodyPr/>
          <a:lstStyle/>
          <a:p>
            <a:fld id="{A223E10A-F1C5-4372-8DC6-FEDDEF1D6C64}" type="slidenum">
              <a:rPr lang="en-US" smtClean="0"/>
              <a:t>‹#›</a:t>
            </a:fld>
            <a:endParaRPr lang="en-US"/>
          </a:p>
        </p:txBody>
      </p:sp>
    </p:spTree>
    <p:extLst>
      <p:ext uri="{BB962C8B-B14F-4D97-AF65-F5344CB8AC3E}">
        <p14:creationId xmlns:p14="http://schemas.microsoft.com/office/powerpoint/2010/main" val="3631311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B528E-260C-1346-A8E0-C72029B441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5543B7-BC89-A51E-3ACA-6E58298FA0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1E917BA-2921-6964-269B-617C4F6560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A73EA2D-2591-98F7-C01D-C3D186C0A791}"/>
              </a:ext>
            </a:extLst>
          </p:cNvPr>
          <p:cNvSpPr>
            <a:spLocks noGrp="1"/>
          </p:cNvSpPr>
          <p:nvPr>
            <p:ph type="dt" sz="half" idx="10"/>
          </p:nvPr>
        </p:nvSpPr>
        <p:spPr/>
        <p:txBody>
          <a:bodyPr/>
          <a:lstStyle/>
          <a:p>
            <a:fld id="{BFF33A2F-0CAB-43D2-A893-48393DA9294F}" type="datetimeFigureOut">
              <a:rPr lang="en-US" smtClean="0"/>
              <a:t>3/30/2026</a:t>
            </a:fld>
            <a:endParaRPr lang="en-US"/>
          </a:p>
        </p:txBody>
      </p:sp>
      <p:sp>
        <p:nvSpPr>
          <p:cNvPr id="6" name="Footer Placeholder 5">
            <a:extLst>
              <a:ext uri="{FF2B5EF4-FFF2-40B4-BE49-F238E27FC236}">
                <a16:creationId xmlns:a16="http://schemas.microsoft.com/office/drawing/2014/main" id="{72785598-2F23-C71D-16AF-BC1E13D07D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02A94F-993C-E5D3-65D4-1C7291118E97}"/>
              </a:ext>
            </a:extLst>
          </p:cNvPr>
          <p:cNvSpPr>
            <a:spLocks noGrp="1"/>
          </p:cNvSpPr>
          <p:nvPr>
            <p:ph type="sldNum" sz="quarter" idx="12"/>
          </p:nvPr>
        </p:nvSpPr>
        <p:spPr/>
        <p:txBody>
          <a:bodyPr/>
          <a:lstStyle/>
          <a:p>
            <a:fld id="{A223E10A-F1C5-4372-8DC6-FEDDEF1D6C64}" type="slidenum">
              <a:rPr lang="en-US" smtClean="0"/>
              <a:t>‹#›</a:t>
            </a:fld>
            <a:endParaRPr lang="en-US"/>
          </a:p>
        </p:txBody>
      </p:sp>
    </p:spTree>
    <p:extLst>
      <p:ext uri="{BB962C8B-B14F-4D97-AF65-F5344CB8AC3E}">
        <p14:creationId xmlns:p14="http://schemas.microsoft.com/office/powerpoint/2010/main" val="3899181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BFD9F-9D87-6BAE-D2E6-152FEA2A56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CE7F95-620A-0DA3-BB97-596BD51464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631B03-C4F0-0B90-D64F-9273DA4368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037D83-C5A1-6420-DD70-A19E21F7ED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A23A6F-76AB-C612-1C8D-3C5D871C9E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235A77-F0D4-BD31-9560-C2633AFED2FD}"/>
              </a:ext>
            </a:extLst>
          </p:cNvPr>
          <p:cNvSpPr>
            <a:spLocks noGrp="1"/>
          </p:cNvSpPr>
          <p:nvPr>
            <p:ph type="dt" sz="half" idx="10"/>
          </p:nvPr>
        </p:nvSpPr>
        <p:spPr/>
        <p:txBody>
          <a:bodyPr/>
          <a:lstStyle/>
          <a:p>
            <a:fld id="{BFF33A2F-0CAB-43D2-A893-48393DA9294F}" type="datetimeFigureOut">
              <a:rPr lang="en-US" smtClean="0"/>
              <a:t>3/30/2026</a:t>
            </a:fld>
            <a:endParaRPr lang="en-US"/>
          </a:p>
        </p:txBody>
      </p:sp>
      <p:sp>
        <p:nvSpPr>
          <p:cNvPr id="8" name="Footer Placeholder 7">
            <a:extLst>
              <a:ext uri="{FF2B5EF4-FFF2-40B4-BE49-F238E27FC236}">
                <a16:creationId xmlns:a16="http://schemas.microsoft.com/office/drawing/2014/main" id="{82453759-D9E5-62C0-B622-4C257B885EF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D8E841-E7D9-5B77-2BC5-F560B4DEE99C}"/>
              </a:ext>
            </a:extLst>
          </p:cNvPr>
          <p:cNvSpPr>
            <a:spLocks noGrp="1"/>
          </p:cNvSpPr>
          <p:nvPr>
            <p:ph type="sldNum" sz="quarter" idx="12"/>
          </p:nvPr>
        </p:nvSpPr>
        <p:spPr/>
        <p:txBody>
          <a:bodyPr/>
          <a:lstStyle/>
          <a:p>
            <a:fld id="{A223E10A-F1C5-4372-8DC6-FEDDEF1D6C64}" type="slidenum">
              <a:rPr lang="en-US" smtClean="0"/>
              <a:t>‹#›</a:t>
            </a:fld>
            <a:endParaRPr lang="en-US"/>
          </a:p>
        </p:txBody>
      </p:sp>
    </p:spTree>
    <p:extLst>
      <p:ext uri="{BB962C8B-B14F-4D97-AF65-F5344CB8AC3E}">
        <p14:creationId xmlns:p14="http://schemas.microsoft.com/office/powerpoint/2010/main" val="527476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48623-2AA1-768E-F6D6-126F8AC1D0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51549FB-144E-E4E4-2E76-0DEEF80DA745}"/>
              </a:ext>
            </a:extLst>
          </p:cNvPr>
          <p:cNvSpPr>
            <a:spLocks noGrp="1"/>
          </p:cNvSpPr>
          <p:nvPr>
            <p:ph type="dt" sz="half" idx="10"/>
          </p:nvPr>
        </p:nvSpPr>
        <p:spPr/>
        <p:txBody>
          <a:bodyPr/>
          <a:lstStyle/>
          <a:p>
            <a:fld id="{BFF33A2F-0CAB-43D2-A893-48393DA9294F}" type="datetimeFigureOut">
              <a:rPr lang="en-US" smtClean="0"/>
              <a:t>3/30/2026</a:t>
            </a:fld>
            <a:endParaRPr lang="en-US"/>
          </a:p>
        </p:txBody>
      </p:sp>
      <p:sp>
        <p:nvSpPr>
          <p:cNvPr id="4" name="Footer Placeholder 3">
            <a:extLst>
              <a:ext uri="{FF2B5EF4-FFF2-40B4-BE49-F238E27FC236}">
                <a16:creationId xmlns:a16="http://schemas.microsoft.com/office/drawing/2014/main" id="{14130896-2CD2-01CF-180D-25FED59FA4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F10FCE-608C-1F96-C119-98CDE0473A44}"/>
              </a:ext>
            </a:extLst>
          </p:cNvPr>
          <p:cNvSpPr>
            <a:spLocks noGrp="1"/>
          </p:cNvSpPr>
          <p:nvPr>
            <p:ph type="sldNum" sz="quarter" idx="12"/>
          </p:nvPr>
        </p:nvSpPr>
        <p:spPr/>
        <p:txBody>
          <a:bodyPr/>
          <a:lstStyle/>
          <a:p>
            <a:fld id="{A223E10A-F1C5-4372-8DC6-FEDDEF1D6C64}" type="slidenum">
              <a:rPr lang="en-US" smtClean="0"/>
              <a:t>‹#›</a:t>
            </a:fld>
            <a:endParaRPr lang="en-US"/>
          </a:p>
        </p:txBody>
      </p:sp>
    </p:spTree>
    <p:extLst>
      <p:ext uri="{BB962C8B-B14F-4D97-AF65-F5344CB8AC3E}">
        <p14:creationId xmlns:p14="http://schemas.microsoft.com/office/powerpoint/2010/main" val="39981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1E5E3C-31D5-6B69-B8F4-0F78C07DE3F6}"/>
              </a:ext>
            </a:extLst>
          </p:cNvPr>
          <p:cNvSpPr>
            <a:spLocks noGrp="1"/>
          </p:cNvSpPr>
          <p:nvPr>
            <p:ph type="dt" sz="half" idx="10"/>
          </p:nvPr>
        </p:nvSpPr>
        <p:spPr/>
        <p:txBody>
          <a:bodyPr/>
          <a:lstStyle/>
          <a:p>
            <a:fld id="{BFF33A2F-0CAB-43D2-A893-48393DA9294F}" type="datetimeFigureOut">
              <a:rPr lang="en-US" smtClean="0"/>
              <a:t>3/30/2026</a:t>
            </a:fld>
            <a:endParaRPr lang="en-US"/>
          </a:p>
        </p:txBody>
      </p:sp>
      <p:sp>
        <p:nvSpPr>
          <p:cNvPr id="3" name="Footer Placeholder 2">
            <a:extLst>
              <a:ext uri="{FF2B5EF4-FFF2-40B4-BE49-F238E27FC236}">
                <a16:creationId xmlns:a16="http://schemas.microsoft.com/office/drawing/2014/main" id="{66E1EB1B-7D20-3C20-D1F1-6E6B462D5BD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964702-2A44-EC0A-D806-8A469B8AF68D}"/>
              </a:ext>
            </a:extLst>
          </p:cNvPr>
          <p:cNvSpPr>
            <a:spLocks noGrp="1"/>
          </p:cNvSpPr>
          <p:nvPr>
            <p:ph type="sldNum" sz="quarter" idx="12"/>
          </p:nvPr>
        </p:nvSpPr>
        <p:spPr/>
        <p:txBody>
          <a:bodyPr/>
          <a:lstStyle/>
          <a:p>
            <a:fld id="{A223E10A-F1C5-4372-8DC6-FEDDEF1D6C64}" type="slidenum">
              <a:rPr lang="en-US" smtClean="0"/>
              <a:t>‹#›</a:t>
            </a:fld>
            <a:endParaRPr lang="en-US"/>
          </a:p>
        </p:txBody>
      </p:sp>
    </p:spTree>
    <p:extLst>
      <p:ext uri="{BB962C8B-B14F-4D97-AF65-F5344CB8AC3E}">
        <p14:creationId xmlns:p14="http://schemas.microsoft.com/office/powerpoint/2010/main" val="2292340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35D0C-C210-86D7-0DBD-98F889DB97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381874-93AA-6999-724C-62E2201409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A8C6E8B-7CDF-FAFC-1742-8CEBFCE388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A1AA9E-C817-BA05-1E30-49699E8B845E}"/>
              </a:ext>
            </a:extLst>
          </p:cNvPr>
          <p:cNvSpPr>
            <a:spLocks noGrp="1"/>
          </p:cNvSpPr>
          <p:nvPr>
            <p:ph type="dt" sz="half" idx="10"/>
          </p:nvPr>
        </p:nvSpPr>
        <p:spPr/>
        <p:txBody>
          <a:bodyPr/>
          <a:lstStyle/>
          <a:p>
            <a:fld id="{BFF33A2F-0CAB-43D2-A893-48393DA9294F}" type="datetimeFigureOut">
              <a:rPr lang="en-US" smtClean="0"/>
              <a:t>3/30/2026</a:t>
            </a:fld>
            <a:endParaRPr lang="en-US"/>
          </a:p>
        </p:txBody>
      </p:sp>
      <p:sp>
        <p:nvSpPr>
          <p:cNvPr id="6" name="Footer Placeholder 5">
            <a:extLst>
              <a:ext uri="{FF2B5EF4-FFF2-40B4-BE49-F238E27FC236}">
                <a16:creationId xmlns:a16="http://schemas.microsoft.com/office/drawing/2014/main" id="{0895C473-B7FA-4873-EFC8-BCEB5BE3DD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9A01A3-39D4-6722-F3E4-984A64DDAED9}"/>
              </a:ext>
            </a:extLst>
          </p:cNvPr>
          <p:cNvSpPr>
            <a:spLocks noGrp="1"/>
          </p:cNvSpPr>
          <p:nvPr>
            <p:ph type="sldNum" sz="quarter" idx="12"/>
          </p:nvPr>
        </p:nvSpPr>
        <p:spPr/>
        <p:txBody>
          <a:bodyPr/>
          <a:lstStyle/>
          <a:p>
            <a:fld id="{A223E10A-F1C5-4372-8DC6-FEDDEF1D6C64}" type="slidenum">
              <a:rPr lang="en-US" smtClean="0"/>
              <a:t>‹#›</a:t>
            </a:fld>
            <a:endParaRPr lang="en-US"/>
          </a:p>
        </p:txBody>
      </p:sp>
    </p:spTree>
    <p:extLst>
      <p:ext uri="{BB962C8B-B14F-4D97-AF65-F5344CB8AC3E}">
        <p14:creationId xmlns:p14="http://schemas.microsoft.com/office/powerpoint/2010/main" val="1379397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2F4E3-7AC2-7E63-A61F-516115FDCD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C4855F4-2023-1D21-010C-225EA190C5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7DB49D-9B7A-F465-42A1-522639F75C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2CC17C-9CB6-DC97-38F5-DAC4D9C67C9E}"/>
              </a:ext>
            </a:extLst>
          </p:cNvPr>
          <p:cNvSpPr>
            <a:spLocks noGrp="1"/>
          </p:cNvSpPr>
          <p:nvPr>
            <p:ph type="dt" sz="half" idx="10"/>
          </p:nvPr>
        </p:nvSpPr>
        <p:spPr/>
        <p:txBody>
          <a:bodyPr/>
          <a:lstStyle/>
          <a:p>
            <a:fld id="{BFF33A2F-0CAB-43D2-A893-48393DA9294F}" type="datetimeFigureOut">
              <a:rPr lang="en-US" smtClean="0"/>
              <a:t>3/30/2026</a:t>
            </a:fld>
            <a:endParaRPr lang="en-US"/>
          </a:p>
        </p:txBody>
      </p:sp>
      <p:sp>
        <p:nvSpPr>
          <p:cNvPr id="6" name="Footer Placeholder 5">
            <a:extLst>
              <a:ext uri="{FF2B5EF4-FFF2-40B4-BE49-F238E27FC236}">
                <a16:creationId xmlns:a16="http://schemas.microsoft.com/office/drawing/2014/main" id="{9ADA13EB-CBC1-C2A3-D5F1-506CB2EACB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2760A0-157F-1602-672F-A0A4CD1A3199}"/>
              </a:ext>
            </a:extLst>
          </p:cNvPr>
          <p:cNvSpPr>
            <a:spLocks noGrp="1"/>
          </p:cNvSpPr>
          <p:nvPr>
            <p:ph type="sldNum" sz="quarter" idx="12"/>
          </p:nvPr>
        </p:nvSpPr>
        <p:spPr/>
        <p:txBody>
          <a:bodyPr/>
          <a:lstStyle/>
          <a:p>
            <a:fld id="{A223E10A-F1C5-4372-8DC6-FEDDEF1D6C64}" type="slidenum">
              <a:rPr lang="en-US" smtClean="0"/>
              <a:t>‹#›</a:t>
            </a:fld>
            <a:endParaRPr lang="en-US"/>
          </a:p>
        </p:txBody>
      </p:sp>
    </p:spTree>
    <p:extLst>
      <p:ext uri="{BB962C8B-B14F-4D97-AF65-F5344CB8AC3E}">
        <p14:creationId xmlns:p14="http://schemas.microsoft.com/office/powerpoint/2010/main" val="4165639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02FA8-0728-C9E8-AAD1-EECCFB98E0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18AEE3D-C9C5-6891-0949-FDE6972BED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834816-1115-FE37-6426-D7DC56425DF0}"/>
              </a:ext>
            </a:extLst>
          </p:cNvPr>
          <p:cNvSpPr>
            <a:spLocks noGrp="1"/>
          </p:cNvSpPr>
          <p:nvPr>
            <p:ph type="dt" sz="half" idx="10"/>
          </p:nvPr>
        </p:nvSpPr>
        <p:spPr/>
        <p:txBody>
          <a:bodyPr/>
          <a:lstStyle/>
          <a:p>
            <a:fld id="{BFF33A2F-0CAB-43D2-A893-48393DA9294F}" type="datetimeFigureOut">
              <a:rPr lang="en-US" smtClean="0"/>
              <a:t>3/30/2026</a:t>
            </a:fld>
            <a:endParaRPr lang="en-US"/>
          </a:p>
        </p:txBody>
      </p:sp>
      <p:sp>
        <p:nvSpPr>
          <p:cNvPr id="5" name="Footer Placeholder 4">
            <a:extLst>
              <a:ext uri="{FF2B5EF4-FFF2-40B4-BE49-F238E27FC236}">
                <a16:creationId xmlns:a16="http://schemas.microsoft.com/office/drawing/2014/main" id="{A22E1F38-1CEC-899B-425B-3F4C94EA72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816FB0-824B-1041-E03C-FF258767F65E}"/>
              </a:ext>
            </a:extLst>
          </p:cNvPr>
          <p:cNvSpPr>
            <a:spLocks noGrp="1"/>
          </p:cNvSpPr>
          <p:nvPr>
            <p:ph type="sldNum" sz="quarter" idx="12"/>
          </p:nvPr>
        </p:nvSpPr>
        <p:spPr/>
        <p:txBody>
          <a:bodyPr/>
          <a:lstStyle/>
          <a:p>
            <a:fld id="{A223E10A-F1C5-4372-8DC6-FEDDEF1D6C64}" type="slidenum">
              <a:rPr lang="en-US" smtClean="0"/>
              <a:t>‹#›</a:t>
            </a:fld>
            <a:endParaRPr lang="en-US"/>
          </a:p>
        </p:txBody>
      </p:sp>
    </p:spTree>
    <p:extLst>
      <p:ext uri="{BB962C8B-B14F-4D97-AF65-F5344CB8AC3E}">
        <p14:creationId xmlns:p14="http://schemas.microsoft.com/office/powerpoint/2010/main" val="1617613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32D5BA-D236-F176-A346-590393BEFF2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8369E38-4D36-B0F2-7912-95654B21A4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313887-7EA4-5B04-2544-7F47382398A3}"/>
              </a:ext>
            </a:extLst>
          </p:cNvPr>
          <p:cNvSpPr>
            <a:spLocks noGrp="1"/>
          </p:cNvSpPr>
          <p:nvPr>
            <p:ph type="dt" sz="half" idx="10"/>
          </p:nvPr>
        </p:nvSpPr>
        <p:spPr/>
        <p:txBody>
          <a:bodyPr/>
          <a:lstStyle/>
          <a:p>
            <a:fld id="{BFF33A2F-0CAB-43D2-A893-48393DA9294F}" type="datetimeFigureOut">
              <a:rPr lang="en-US" smtClean="0"/>
              <a:t>3/30/2026</a:t>
            </a:fld>
            <a:endParaRPr lang="en-US"/>
          </a:p>
        </p:txBody>
      </p:sp>
      <p:sp>
        <p:nvSpPr>
          <p:cNvPr id="5" name="Footer Placeholder 4">
            <a:extLst>
              <a:ext uri="{FF2B5EF4-FFF2-40B4-BE49-F238E27FC236}">
                <a16:creationId xmlns:a16="http://schemas.microsoft.com/office/drawing/2014/main" id="{6A0282F5-6B21-21A9-2E1D-44F43F91F6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0611BF-7E1A-C3D9-34C8-1AC408E85EE1}"/>
              </a:ext>
            </a:extLst>
          </p:cNvPr>
          <p:cNvSpPr>
            <a:spLocks noGrp="1"/>
          </p:cNvSpPr>
          <p:nvPr>
            <p:ph type="sldNum" sz="quarter" idx="12"/>
          </p:nvPr>
        </p:nvSpPr>
        <p:spPr/>
        <p:txBody>
          <a:bodyPr/>
          <a:lstStyle/>
          <a:p>
            <a:fld id="{A223E10A-F1C5-4372-8DC6-FEDDEF1D6C64}" type="slidenum">
              <a:rPr lang="en-US" smtClean="0"/>
              <a:t>‹#›</a:t>
            </a:fld>
            <a:endParaRPr lang="en-US"/>
          </a:p>
        </p:txBody>
      </p:sp>
    </p:spTree>
    <p:extLst>
      <p:ext uri="{BB962C8B-B14F-4D97-AF65-F5344CB8AC3E}">
        <p14:creationId xmlns:p14="http://schemas.microsoft.com/office/powerpoint/2010/main" val="2339941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4A172B-F6EE-C21A-B960-AE18EB236F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B9C4FF4-B162-8377-C4DB-B11A93D475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291626-5CFA-3FDA-5B11-CB5CE3D9A0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F33A2F-0CAB-43D2-A893-48393DA9294F}" type="datetimeFigureOut">
              <a:rPr lang="en-US" smtClean="0"/>
              <a:t>3/30/2026</a:t>
            </a:fld>
            <a:endParaRPr lang="en-US"/>
          </a:p>
        </p:txBody>
      </p:sp>
      <p:sp>
        <p:nvSpPr>
          <p:cNvPr id="5" name="Footer Placeholder 4">
            <a:extLst>
              <a:ext uri="{FF2B5EF4-FFF2-40B4-BE49-F238E27FC236}">
                <a16:creationId xmlns:a16="http://schemas.microsoft.com/office/drawing/2014/main" id="{8326D543-5981-AF81-584F-188B07286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715E901-EBEB-49ED-9219-8FBA7D82DB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223E10A-F1C5-4372-8DC6-FEDDEF1D6C64}" type="slidenum">
              <a:rPr lang="en-US" smtClean="0"/>
              <a:t>‹#›</a:t>
            </a:fld>
            <a:endParaRPr lang="en-US"/>
          </a:p>
        </p:txBody>
      </p:sp>
    </p:spTree>
    <p:extLst>
      <p:ext uri="{BB962C8B-B14F-4D97-AF65-F5344CB8AC3E}">
        <p14:creationId xmlns:p14="http://schemas.microsoft.com/office/powerpoint/2010/main" val="5254704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68C50-7994-6252-B7AF-8ED919EEC851}"/>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16685882-6CD9-4DC5-5B2D-6F1101761710}"/>
              </a:ext>
            </a:extLst>
          </p:cNvPr>
          <p:cNvSpPr>
            <a:spLocks noGrp="1"/>
          </p:cNvSpPr>
          <p:nvPr>
            <p:ph type="subTitle" idx="1"/>
          </p:nvPr>
        </p:nvSpPr>
        <p:spPr/>
        <p:txBody>
          <a:bodyPr/>
          <a:lstStyle/>
          <a:p>
            <a:endParaRPr lang="en-US"/>
          </a:p>
        </p:txBody>
      </p:sp>
      <p:pic>
        <p:nvPicPr>
          <p:cNvPr id="4" name="Picture 3">
            <a:extLst>
              <a:ext uri="{FF2B5EF4-FFF2-40B4-BE49-F238E27FC236}">
                <a16:creationId xmlns:a16="http://schemas.microsoft.com/office/drawing/2014/main" id="{62B1DCB2-410C-4F31-800E-818C65FD84E8}"/>
              </a:ext>
              <a:ext uri="{C183D7F6-B498-43B3-948B-1728B52AA6E4}">
                <adec:decorative xmlns:adec="http://schemas.microsoft.com/office/drawing/2017/decorative" val="1"/>
              </a:ext>
            </a:extLst>
          </p:cNvPr>
          <p:cNvPicPr>
            <a:picLocks noChangeAspect="1"/>
          </p:cNvPicPr>
          <p:nvPr/>
        </p:nvPicPr>
        <p:blipFill>
          <a:blip r:embed="rId2"/>
          <a:srcRect l="-305" t="19497" r="408" b="8356"/>
          <a:stretch>
            <a:fillRect/>
          </a:stretch>
        </p:blipFill>
        <p:spPr>
          <a:xfrm>
            <a:off x="-1" y="0"/>
            <a:ext cx="12192001" cy="6858000"/>
          </a:xfrm>
          <a:prstGeom prst="rect">
            <a:avLst/>
          </a:prstGeom>
          <a:solidFill>
            <a:schemeClr val="tx2">
              <a:lumMod val="75000"/>
              <a:lumOff val="25000"/>
              <a:alpha val="69000"/>
            </a:schemeClr>
          </a:solidFill>
          <a:effectLst>
            <a:outerShdw blurRad="50800" dist="50800" dir="5400000" algn="ctr" rotWithShape="0">
              <a:srgbClr val="000000">
                <a:alpha val="29000"/>
              </a:srgbClr>
            </a:outerShdw>
          </a:effectLst>
        </p:spPr>
      </p:pic>
      <p:sp>
        <p:nvSpPr>
          <p:cNvPr id="5" name="Rectangle 4">
            <a:extLst>
              <a:ext uri="{FF2B5EF4-FFF2-40B4-BE49-F238E27FC236}">
                <a16:creationId xmlns:a16="http://schemas.microsoft.com/office/drawing/2014/main" id="{846F702A-AB82-D1FF-E61A-31D979C1B76F}"/>
              </a:ext>
            </a:extLst>
          </p:cNvPr>
          <p:cNvSpPr/>
          <p:nvPr/>
        </p:nvSpPr>
        <p:spPr>
          <a:xfrm>
            <a:off x="263046" y="2704884"/>
            <a:ext cx="8104339" cy="3441526"/>
          </a:xfrm>
          <a:prstGeom prst="rect">
            <a:avLst/>
          </a:prstGeom>
          <a:solidFill>
            <a:schemeClr val="bg1">
              <a:alpha val="5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400" b="1" dirty="0">
                <a:solidFill>
                  <a:schemeClr val="accent6">
                    <a:lumMod val="75000"/>
                  </a:schemeClr>
                </a:solidFill>
                <a:highlight>
                  <a:srgbClr val="FFFF00"/>
                </a:highlight>
                <a:latin typeface="Aptos Display" panose="020B0004020202020204" pitchFamily="34" charset="0"/>
              </a:rPr>
              <a:t>Fundamentals of Deep Learning: Perceptrons, Artificial Neural Networks, and Activation Functions</a:t>
            </a:r>
            <a:endParaRPr lang="en-US" sz="4400" b="1" dirty="0">
              <a:solidFill>
                <a:schemeClr val="accent6">
                  <a:lumMod val="75000"/>
                </a:schemeClr>
              </a:solidFill>
              <a:highlight>
                <a:srgbClr val="FFFF00"/>
              </a:highlight>
            </a:endParaRPr>
          </a:p>
        </p:txBody>
      </p:sp>
    </p:spTree>
    <p:extLst>
      <p:ext uri="{BB962C8B-B14F-4D97-AF65-F5344CB8AC3E}">
        <p14:creationId xmlns:p14="http://schemas.microsoft.com/office/powerpoint/2010/main" val="756569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C95D9F-BA3E-B80C-164A-F04014C5AE8A}"/>
              </a:ext>
            </a:extLst>
          </p:cNvPr>
          <p:cNvSpPr>
            <a:spLocks noGrp="1"/>
          </p:cNvSpPr>
          <p:nvPr>
            <p:ph type="title"/>
          </p:nvPr>
        </p:nvSpPr>
        <p:spPr>
          <a:xfrm>
            <a:off x="836679" y="723899"/>
            <a:ext cx="6002110" cy="1167532"/>
          </a:xfrm>
        </p:spPr>
        <p:txBody>
          <a:bodyPr vert="horz" lIns="91440" tIns="45720" rIns="91440" bIns="45720" rtlCol="0" anchor="ctr">
            <a:normAutofit/>
          </a:bodyPr>
          <a:lstStyle/>
          <a:p>
            <a:r>
              <a:rPr lang="en-US" sz="4000" dirty="0"/>
              <a:t>What is Deep Learning?</a:t>
            </a:r>
          </a:p>
        </p:txBody>
      </p:sp>
      <p:sp>
        <p:nvSpPr>
          <p:cNvPr id="4" name="Content Placeholder 3">
            <a:extLst>
              <a:ext uri="{FF2B5EF4-FFF2-40B4-BE49-F238E27FC236}">
                <a16:creationId xmlns:a16="http://schemas.microsoft.com/office/drawing/2014/main" id="{933FA20D-26E3-958B-F7D6-98858ED4C186}"/>
              </a:ext>
            </a:extLst>
          </p:cNvPr>
          <p:cNvSpPr>
            <a:spLocks noGrp="1"/>
          </p:cNvSpPr>
          <p:nvPr>
            <p:ph sz="half" idx="2"/>
            <p:extLst>
              <p:ext uri="{E7BDC344-281C-4309-B0C6-D0EE65EED2A8}">
                <p202:designPr xmlns:p202="http://schemas.microsoft.com/office/powerpoint/2020/02/main" xmlns="">
                  <p202:designTagLst>
                    <p202:designTag name="ARCH:1:CLS" val="BulletedText"/>
                  </p202:designTagLst>
                </p202:designPr>
              </p:ext>
            </p:extLst>
          </p:nvPr>
        </p:nvSpPr>
        <p:spPr>
          <a:xfrm>
            <a:off x="836680" y="2405067"/>
            <a:ext cx="6002110" cy="3729034"/>
          </a:xfrm>
        </p:spPr>
        <p:txBody>
          <a:bodyPr vert="horz" lIns="91440" tIns="45720" rIns="91440" bIns="45720" rtlCol="0">
            <a:normAutofit/>
          </a:bodyPr>
          <a:lstStyle/>
          <a:p>
            <a:r>
              <a:rPr lang="en-US" sz="2000" b="1" i="1" dirty="0"/>
              <a:t>Deep Learning</a:t>
            </a:r>
            <a:r>
              <a:rPr lang="en-US" sz="2000" i="1" dirty="0"/>
              <a:t> is a part (subset) of </a:t>
            </a:r>
            <a:r>
              <a:rPr lang="en-US" sz="2000" b="1" i="1" dirty="0"/>
              <a:t>Machine Learning</a:t>
            </a:r>
            <a:r>
              <a:rPr lang="en-US" sz="2000" i="1" dirty="0"/>
              <a:t> that uses </a:t>
            </a:r>
            <a:r>
              <a:rPr lang="en-US" sz="2000" b="1" i="1" dirty="0"/>
              <a:t>neural networks with many layers</a:t>
            </a:r>
            <a:r>
              <a:rPr lang="en-US" sz="2000" i="1" dirty="0"/>
              <a:t> — that’s why we call it “deep”.</a:t>
            </a:r>
          </a:p>
          <a:p>
            <a:r>
              <a:rPr lang="en-US" sz="2000" i="1" dirty="0"/>
              <a:t>Think of it like teaching a computer to learn patterns from data </a:t>
            </a:r>
            <a:r>
              <a:rPr lang="en-US" sz="2000" b="1" i="1" dirty="0"/>
              <a:t>just like our brain</a:t>
            </a:r>
            <a:r>
              <a:rPr lang="en-US" sz="2000" i="1" dirty="0"/>
              <a:t> does — using artificial “neurons.”</a:t>
            </a:r>
            <a:br>
              <a:rPr lang="en-US" sz="2000" i="1" dirty="0"/>
            </a:br>
            <a:r>
              <a:rPr lang="en-US" sz="2000" i="1" dirty="0"/>
              <a:t>Each neuron receives some information, processes it, and passes it to the next layer.</a:t>
            </a:r>
          </a:p>
        </p:txBody>
      </p:sp>
      <p:pic>
        <p:nvPicPr>
          <p:cNvPr id="5" name="Content Placeholder 4" descr="Different coloured dots on white wall">
            <a:extLst>
              <a:ext uri="{FF2B5EF4-FFF2-40B4-BE49-F238E27FC236}">
                <a16:creationId xmlns:a16="http://schemas.microsoft.com/office/drawing/2014/main" id="{0EFD61C8-A378-4420-8E52-70C6514614F8}"/>
              </a:ext>
            </a:extLst>
          </p:cNvPr>
          <p:cNvPicPr>
            <a:picLocks noGrp="1" noChangeAspect="1"/>
          </p:cNvPicPr>
          <p:nvPr>
            <p:ph sz="half" idx="1"/>
          </p:nvPr>
        </p:nvPicPr>
        <p:blipFill>
          <a:blip r:embed="rId3"/>
          <a:srcRect l="24077" r="23871"/>
          <a:stretch>
            <a:fillRect/>
          </a:stretch>
        </p:blipFill>
        <p:spPr>
          <a:xfrm>
            <a:off x="7199440" y="10"/>
            <a:ext cx="4992560" cy="6857990"/>
          </a:xfrm>
          <a:prstGeom prst="rect">
            <a:avLst/>
          </a:prstGeom>
          <a:effectLst/>
        </p:spPr>
      </p:pic>
    </p:spTree>
    <p:extLst>
      <p:ext uri="{BB962C8B-B14F-4D97-AF65-F5344CB8AC3E}">
        <p14:creationId xmlns:p14="http://schemas.microsoft.com/office/powerpoint/2010/main" val="1534567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FAF38E-F5F1-1D3F-5146-B0213FE3D83E}"/>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b="1"/>
              <a:t>How Deep Learning Works?</a:t>
            </a:r>
            <a:endParaRPr lang="en-US" sz="5400"/>
          </a:p>
        </p:txBody>
      </p:sp>
      <p:sp>
        <p:nvSpPr>
          <p:cNvPr id="48"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B3257B4-E195-9908-644F-563A35A485E6}"/>
              </a:ext>
            </a:extLst>
          </p:cNvPr>
          <p:cNvSpPr>
            <a:spLocks noGrp="1"/>
          </p:cNvSpPr>
          <p:nvPr>
            <p:ph type="body" sz="half" idx="2"/>
          </p:nvPr>
        </p:nvSpPr>
        <p:spPr>
          <a:xfrm>
            <a:off x="572493" y="2071316"/>
            <a:ext cx="6713552" cy="4119172"/>
          </a:xfrm>
        </p:spPr>
        <p:txBody>
          <a:bodyPr vert="horz" lIns="91440" tIns="45720" rIns="91440" bIns="45720" rtlCol="0" anchor="t">
            <a:normAutofit/>
          </a:bodyPr>
          <a:lstStyle/>
          <a:p>
            <a:pPr indent="-228600" fontAlgn="base">
              <a:spcAft>
                <a:spcPts val="750"/>
              </a:spcAft>
              <a:buFont typeface="Arial" panose="020B0604020202020204" pitchFamily="34" charset="0"/>
              <a:buChar char="•"/>
            </a:pPr>
            <a:r>
              <a:rPr lang="en-US" sz="2200" b="0" i="0" dirty="0">
                <a:effectLst/>
              </a:rPr>
              <a:t>Neural network consists of layers of interconnected nodes or neurons that collaborate to process input data. In a fully connected deep neural network data flows through multiple layers where each neuron performs nonlinear transformations, allowing the model to learn intricate representations of the data.</a:t>
            </a:r>
          </a:p>
          <a:p>
            <a:pPr indent="-228600" fontAlgn="base">
              <a:spcAft>
                <a:spcPts val="750"/>
              </a:spcAft>
              <a:buFont typeface="Arial" panose="020B0604020202020204" pitchFamily="34" charset="0"/>
              <a:buChar char="•"/>
            </a:pPr>
            <a:r>
              <a:rPr lang="en-US" sz="2200" b="0" i="0" dirty="0">
                <a:effectLst/>
              </a:rPr>
              <a:t>In a deep neural network, the input layer receives data which passes through hidden layers that transform the data using nonlinear functions. The final output layer generates the model’s prediction.</a:t>
            </a:r>
          </a:p>
          <a:p>
            <a:pPr indent="-228600">
              <a:buFont typeface="Arial" panose="020B0604020202020204" pitchFamily="34" charset="0"/>
              <a:buChar char="•"/>
            </a:pPr>
            <a:endParaRPr lang="en-US" sz="2200" dirty="0"/>
          </a:p>
        </p:txBody>
      </p:sp>
      <p:pic>
        <p:nvPicPr>
          <p:cNvPr id="9" name="Picture 2" descr="Lightbox">
            <a:extLst>
              <a:ext uri="{FF2B5EF4-FFF2-40B4-BE49-F238E27FC236}">
                <a16:creationId xmlns:a16="http://schemas.microsoft.com/office/drawing/2014/main" id="{0A0C3A49-ED4B-1A47-F89B-9EFE102F85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070" r="3969" b="3"/>
          <a:stretch>
            <a:fillRect/>
          </a:stretch>
        </p:blipFill>
        <p:spPr bwMode="auto">
          <a:xfrm>
            <a:off x="7139616" y="1911493"/>
            <a:ext cx="4929098" cy="4756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0650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E825DF0-E40D-928A-6A4F-3B10456D7AB3}"/>
              </a:ext>
            </a:extLst>
          </p:cNvPr>
          <p:cNvSpPr>
            <a:spLocks noGrp="1"/>
          </p:cNvSpPr>
          <p:nvPr>
            <p:ph type="title"/>
          </p:nvPr>
        </p:nvSpPr>
        <p:spPr>
          <a:xfrm>
            <a:off x="838200" y="1195697"/>
            <a:ext cx="3200400" cy="4238118"/>
          </a:xfrm>
        </p:spPr>
        <p:txBody>
          <a:bodyPr vert="horz" lIns="91440" tIns="45720" rIns="91440" bIns="45720" rtlCol="0" anchor="ctr">
            <a:normAutofit/>
          </a:bodyPr>
          <a:lstStyle/>
          <a:p>
            <a:r>
              <a:rPr lang="en-US" kern="1200" dirty="0">
                <a:solidFill>
                  <a:schemeClr val="bg1"/>
                </a:solidFill>
                <a:latin typeface="+mj-lt"/>
                <a:ea typeface="+mj-ea"/>
                <a:cs typeface="+mj-cs"/>
              </a:rPr>
              <a:t>Core concepts of deep learning</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TextBox 2">
            <a:extLst>
              <a:ext uri="{FF2B5EF4-FFF2-40B4-BE49-F238E27FC236}">
                <a16:creationId xmlns:a16="http://schemas.microsoft.com/office/drawing/2014/main" id="{18D94F63-3589-A87D-CA7D-248717B2C209}"/>
              </a:ext>
            </a:extLst>
          </p:cNvPr>
          <p:cNvGraphicFramePr/>
          <p:nvPr>
            <p:extLst>
              <p:ext uri="{D42A27DB-BD31-4B8C-83A1-F6EECF244321}">
                <p14:modId xmlns:p14="http://schemas.microsoft.com/office/powerpoint/2010/main" val="3423857572"/>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99513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837A4-F6DC-FAC5-44EF-FFEDDB094D7A}"/>
              </a:ext>
            </a:extLst>
          </p:cNvPr>
          <p:cNvSpPr>
            <a:spLocks noGrp="1"/>
          </p:cNvSpPr>
          <p:nvPr>
            <p:ph type="title"/>
          </p:nvPr>
        </p:nvSpPr>
        <p:spPr/>
        <p:txBody>
          <a:bodyPr/>
          <a:lstStyle/>
          <a:p>
            <a:r>
              <a:rPr lang="en-US" dirty="0"/>
              <a:t>Neural networks (NN)</a:t>
            </a:r>
          </a:p>
        </p:txBody>
      </p:sp>
      <p:pic>
        <p:nvPicPr>
          <p:cNvPr id="5" name="Content Placeholder 4"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5AF74EBD-2281-4D10-9535-8147CDEB757A}"/>
              </a:ext>
            </a:extLst>
          </p:cNvPr>
          <p:cNvPicPr>
            <a:picLocks noGrp="1" noChangeAspect="1"/>
          </p:cNvPicPr>
          <p:nvPr>
            <p:ph sz="half" idx="1"/>
          </p:nvPr>
        </p:nvPicPr>
        <p:blipFill>
          <a:blip r:embed="rId3"/>
          <a:stretch>
            <a:fillRect/>
          </a:stretch>
        </p:blipFill>
        <p:spPr>
          <a:xfrm>
            <a:off x="700413" y="2238125"/>
            <a:ext cx="4816687" cy="3210340"/>
          </a:xfrm>
          <a:prstGeom prst="rect">
            <a:avLst/>
          </a:prstGeom>
        </p:spPr>
      </p:pic>
      <p:sp>
        <p:nvSpPr>
          <p:cNvPr id="4" name="Content Placeholder 3">
            <a:extLst>
              <a:ext uri="{FF2B5EF4-FFF2-40B4-BE49-F238E27FC236}">
                <a16:creationId xmlns:a16="http://schemas.microsoft.com/office/drawing/2014/main" id="{F78026F3-34E2-313D-864C-97B9B11F0095}"/>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172200" y="1515649"/>
            <a:ext cx="5702474" cy="4661314"/>
          </a:xfrm>
        </p:spPr>
        <p:txBody>
          <a:bodyPr>
            <a:normAutofit fontScale="92500" lnSpcReduction="20000"/>
          </a:bodyPr>
          <a:lstStyle/>
          <a:p>
            <a:r>
              <a:rPr lang="en-US" b="0" i="0" dirty="0">
                <a:effectLst/>
                <a:latin typeface="fkGroteskNeue"/>
              </a:rPr>
              <a:t>Idea: a stack of simple math units (“neurons”) that transform inputs step by step to produce an output.</a:t>
            </a:r>
          </a:p>
          <a:p>
            <a:r>
              <a:rPr lang="en-US" b="0" i="0" dirty="0">
                <a:effectLst/>
                <a:latin typeface="fkGroteskNeue"/>
              </a:rPr>
              <a:t>Each neuron does a weighted sum plus bias, then a non-linear activation: </a:t>
            </a:r>
          </a:p>
          <a:p>
            <a:pPr marL="0" indent="0">
              <a:buNone/>
            </a:pPr>
            <a:r>
              <a:rPr lang="en-US" dirty="0">
                <a:latin typeface="fkGroteskNeue"/>
              </a:rPr>
              <a:t>	</a:t>
            </a:r>
            <a:r>
              <a:rPr lang="en-US" b="0" i="0" dirty="0">
                <a:effectLst/>
                <a:latin typeface="KaTeX_Main"/>
              </a:rPr>
              <a:t>z=</a:t>
            </a:r>
            <a:r>
              <a:rPr lang="en-US" b="0" i="0" dirty="0" err="1">
                <a:effectLst/>
                <a:latin typeface="KaTeX_Main"/>
              </a:rPr>
              <a:t>w⋅x+b</a:t>
            </a:r>
            <a:r>
              <a:rPr lang="en-US" b="0" i="0" dirty="0">
                <a:effectLst/>
                <a:latin typeface="fkGroteskNeue"/>
              </a:rPr>
              <a:t>, </a:t>
            </a:r>
            <a:r>
              <a:rPr lang="en-US" b="0" i="0" dirty="0">
                <a:effectLst/>
                <a:latin typeface="KaTeX_Main"/>
              </a:rPr>
              <a:t>a=σ(z)</a:t>
            </a:r>
            <a:endParaRPr lang="en-US" b="0" i="0" dirty="0">
              <a:effectLst/>
              <a:latin typeface="fkGroteskNeue"/>
            </a:endParaRPr>
          </a:p>
          <a:p>
            <a:r>
              <a:rPr lang="en-US" b="0" i="0" dirty="0">
                <a:effectLst/>
                <a:latin typeface="fkGroteskNeue"/>
              </a:rPr>
              <a:t>Layers: input → hidden layers → output. </a:t>
            </a:r>
          </a:p>
          <a:p>
            <a:r>
              <a:rPr lang="en-US" b="0" i="0" dirty="0">
                <a:effectLst/>
                <a:latin typeface="fkGroteskNeue"/>
              </a:rPr>
              <a:t>Learning means adjusting weights/biases so outputs match targets.</a:t>
            </a:r>
          </a:p>
          <a:p>
            <a:r>
              <a:rPr lang="en-US" b="0" i="0" dirty="0">
                <a:effectLst/>
                <a:latin typeface="fkGroteskNeue"/>
              </a:rPr>
              <a:t>Why layers? Early layers learn simple patterns; deeper layers combine them into richer concepts.</a:t>
            </a:r>
          </a:p>
        </p:txBody>
      </p:sp>
    </p:spTree>
    <p:extLst>
      <p:ext uri="{BB962C8B-B14F-4D97-AF65-F5344CB8AC3E}">
        <p14:creationId xmlns:p14="http://schemas.microsoft.com/office/powerpoint/2010/main" val="2849874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AA05B-2FD6-8D43-36BF-1904E0A559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188DBA-4F23-947C-BF43-119200B35A6C}"/>
              </a:ext>
            </a:extLst>
          </p:cNvPr>
          <p:cNvSpPr>
            <a:spLocks noGrp="1"/>
          </p:cNvSpPr>
          <p:nvPr>
            <p:ph type="title"/>
          </p:nvPr>
        </p:nvSpPr>
        <p:spPr/>
        <p:txBody>
          <a:bodyPr/>
          <a:lstStyle/>
          <a:p>
            <a:r>
              <a:rPr lang="en-US" dirty="0"/>
              <a:t>Deep neural networks (DNN)</a:t>
            </a:r>
          </a:p>
        </p:txBody>
      </p:sp>
      <p:sp>
        <p:nvSpPr>
          <p:cNvPr id="4" name="Content Placeholder 3">
            <a:extLst>
              <a:ext uri="{FF2B5EF4-FFF2-40B4-BE49-F238E27FC236}">
                <a16:creationId xmlns:a16="http://schemas.microsoft.com/office/drawing/2014/main" id="{6F34EE48-76D7-DB6D-F5DB-795B63A0858F}"/>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172200" y="2004164"/>
            <a:ext cx="5702474" cy="4172798"/>
          </a:xfrm>
        </p:spPr>
        <p:txBody>
          <a:bodyPr>
            <a:normAutofit/>
          </a:bodyPr>
          <a:lstStyle/>
          <a:p>
            <a:r>
              <a:rPr lang="en-US" dirty="0"/>
              <a:t>“Deep” = multiple hidden layers (more than one). Depth lets the model represent very complex functions.</a:t>
            </a:r>
          </a:p>
          <a:p>
            <a:r>
              <a:rPr lang="en-US" dirty="0"/>
              <a:t>Trade-offs: more capacity and accuracy potential, but needs more data, more compute, and stronger regularization to avoid overfitting.</a:t>
            </a:r>
          </a:p>
        </p:txBody>
      </p:sp>
      <p:pic>
        <p:nvPicPr>
          <p:cNvPr id="8" name="Content Placeholder 4" descr="3D laser pattern">
            <a:extLst>
              <a:ext uri="{FF2B5EF4-FFF2-40B4-BE49-F238E27FC236}">
                <a16:creationId xmlns:a16="http://schemas.microsoft.com/office/drawing/2014/main" id="{6E28250E-6F69-098D-7386-3BB98F942732}"/>
              </a:ext>
            </a:extLst>
          </p:cNvPr>
          <p:cNvPicPr>
            <a:picLocks noChangeAspect="1"/>
          </p:cNvPicPr>
          <p:nvPr/>
        </p:nvPicPr>
        <p:blipFill>
          <a:blip r:embed="rId3"/>
          <a:stretch>
            <a:fillRect/>
          </a:stretch>
        </p:blipFill>
        <p:spPr>
          <a:xfrm>
            <a:off x="838200" y="2237190"/>
            <a:ext cx="5181600" cy="3453051"/>
          </a:xfrm>
          <a:prstGeom prst="rect">
            <a:avLst/>
          </a:prstGeom>
        </p:spPr>
      </p:pic>
    </p:spTree>
    <p:extLst>
      <p:ext uri="{BB962C8B-B14F-4D97-AF65-F5344CB8AC3E}">
        <p14:creationId xmlns:p14="http://schemas.microsoft.com/office/powerpoint/2010/main" val="223220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AF924-C720-2ABC-0826-AC7205966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E1AFD5-52CA-F324-589D-12A6BD162B52}"/>
              </a:ext>
            </a:extLst>
          </p:cNvPr>
          <p:cNvSpPr>
            <a:spLocks noGrp="1"/>
          </p:cNvSpPr>
          <p:nvPr>
            <p:ph type="title"/>
          </p:nvPr>
        </p:nvSpPr>
        <p:spPr/>
        <p:txBody>
          <a:bodyPr/>
          <a:lstStyle/>
          <a:p>
            <a:r>
              <a:rPr lang="en-US" dirty="0"/>
              <a:t>Activation functions</a:t>
            </a:r>
          </a:p>
        </p:txBody>
      </p:sp>
      <p:sp>
        <p:nvSpPr>
          <p:cNvPr id="4" name="Content Placeholder 3">
            <a:extLst>
              <a:ext uri="{FF2B5EF4-FFF2-40B4-BE49-F238E27FC236}">
                <a16:creationId xmlns:a16="http://schemas.microsoft.com/office/drawing/2014/main" id="{DA5DDAF0-7F4B-6C5E-5735-A74B9E2B623B}"/>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172200" y="2004164"/>
            <a:ext cx="5702474" cy="4172798"/>
          </a:xfrm>
        </p:spPr>
        <p:txBody>
          <a:bodyPr>
            <a:normAutofit/>
          </a:bodyPr>
          <a:lstStyle/>
          <a:p>
            <a:r>
              <a:rPr lang="en-US" dirty="0"/>
              <a:t>Purpose: introduce non-linearity so the network can model complex relationships (lines alone can’t fit curves)</a:t>
            </a:r>
          </a:p>
          <a:p>
            <a:r>
              <a:rPr lang="en-US" dirty="0"/>
              <a:t>Common activation functions:</a:t>
            </a:r>
          </a:p>
          <a:p>
            <a:pPr lvl="1"/>
            <a:r>
              <a:rPr lang="en-US" dirty="0" err="1"/>
              <a:t>ReLU</a:t>
            </a:r>
            <a:r>
              <a:rPr lang="en-US" dirty="0"/>
              <a:t> </a:t>
            </a:r>
          </a:p>
          <a:p>
            <a:pPr lvl="1"/>
            <a:r>
              <a:rPr lang="en-US" dirty="0"/>
              <a:t>Sigmoid</a:t>
            </a:r>
          </a:p>
          <a:p>
            <a:pPr lvl="1"/>
            <a:r>
              <a:rPr lang="en-US" dirty="0"/>
              <a:t>Tanh</a:t>
            </a:r>
          </a:p>
        </p:txBody>
      </p:sp>
      <p:pic>
        <p:nvPicPr>
          <p:cNvPr id="8" name="Content Placeholder 4" descr="3D laser pattern">
            <a:extLst>
              <a:ext uri="{FF2B5EF4-FFF2-40B4-BE49-F238E27FC236}">
                <a16:creationId xmlns:a16="http://schemas.microsoft.com/office/drawing/2014/main" id="{2F6CBE29-09BB-AEAD-34BB-2A82ACE24740}"/>
              </a:ext>
            </a:extLst>
          </p:cNvPr>
          <p:cNvPicPr>
            <a:picLocks noChangeAspect="1"/>
          </p:cNvPicPr>
          <p:nvPr/>
        </p:nvPicPr>
        <p:blipFill>
          <a:blip r:embed="rId3"/>
          <a:stretch>
            <a:fillRect/>
          </a:stretch>
        </p:blipFill>
        <p:spPr>
          <a:xfrm>
            <a:off x="838200" y="2274768"/>
            <a:ext cx="5181600" cy="3453051"/>
          </a:xfrm>
          <a:prstGeom prst="rect">
            <a:avLst/>
          </a:prstGeom>
        </p:spPr>
      </p:pic>
    </p:spTree>
    <p:extLst>
      <p:ext uri="{BB962C8B-B14F-4D97-AF65-F5344CB8AC3E}">
        <p14:creationId xmlns:p14="http://schemas.microsoft.com/office/powerpoint/2010/main" val="4084937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69900-1725-D491-C41A-3D7451B776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C93052-49B9-6F3B-C420-2DD50948F049}"/>
              </a:ext>
            </a:extLst>
          </p:cNvPr>
          <p:cNvSpPr>
            <a:spLocks noGrp="1"/>
          </p:cNvSpPr>
          <p:nvPr>
            <p:ph type="title"/>
          </p:nvPr>
        </p:nvSpPr>
        <p:spPr/>
        <p:txBody>
          <a:bodyPr/>
          <a:lstStyle/>
          <a:p>
            <a:r>
              <a:rPr lang="en-US" dirty="0"/>
              <a:t>Forward pass, loss, backpropagation</a:t>
            </a:r>
          </a:p>
        </p:txBody>
      </p:sp>
      <p:sp>
        <p:nvSpPr>
          <p:cNvPr id="4" name="Content Placeholder 3">
            <a:extLst>
              <a:ext uri="{FF2B5EF4-FFF2-40B4-BE49-F238E27FC236}">
                <a16:creationId xmlns:a16="http://schemas.microsoft.com/office/drawing/2014/main" id="{BCEA9E3C-5A05-DF26-E046-CC59A5C2BA6C}"/>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172202" y="1690688"/>
            <a:ext cx="5702474" cy="4802187"/>
          </a:xfrm>
        </p:spPr>
        <p:txBody>
          <a:bodyPr>
            <a:normAutofit fontScale="92500"/>
          </a:bodyPr>
          <a:lstStyle/>
          <a:p>
            <a:r>
              <a:rPr lang="en-US" dirty="0"/>
              <a:t>Forward pass: data flows layer by layer to produce predictions.</a:t>
            </a:r>
          </a:p>
          <a:p>
            <a:r>
              <a:rPr lang="en-US" dirty="0"/>
              <a:t>Loss function: measures prediction error (e.g., cross-entropy for classification, MSE for regression).</a:t>
            </a:r>
          </a:p>
          <a:p>
            <a:r>
              <a:rPr lang="en-US" dirty="0"/>
              <a:t>Backpropagation: compute gradients of the loss </a:t>
            </a:r>
            <a:r>
              <a:rPr lang="en-US" dirty="0" err="1"/>
              <a:t>w.r.t.</a:t>
            </a:r>
            <a:r>
              <a:rPr lang="en-US" dirty="0"/>
              <a:t> every weight via chain rule; tells each weight how to change.</a:t>
            </a:r>
          </a:p>
          <a:p>
            <a:r>
              <a:rPr lang="en-US" dirty="0"/>
              <a:t>Optimizer (e.g., SGD, Adam): updates weights using gradients. Repeat many steps over data until loss is small.</a:t>
            </a:r>
          </a:p>
        </p:txBody>
      </p:sp>
      <p:pic>
        <p:nvPicPr>
          <p:cNvPr id="8" name="Content Placeholder 7" descr="Big and small arrows">
            <a:extLst>
              <a:ext uri="{FF2B5EF4-FFF2-40B4-BE49-F238E27FC236}">
                <a16:creationId xmlns:a16="http://schemas.microsoft.com/office/drawing/2014/main" id="{BBDD3975-EBB3-AC48-1000-E837E8AA5713}"/>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838200" y="2274094"/>
            <a:ext cx="5181600" cy="3454400"/>
          </a:xfrm>
        </p:spPr>
      </p:pic>
    </p:spTree>
    <p:extLst>
      <p:ext uri="{BB962C8B-B14F-4D97-AF65-F5344CB8AC3E}">
        <p14:creationId xmlns:p14="http://schemas.microsoft.com/office/powerpoint/2010/main" val="456091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414A4-07D2-069C-D9C5-A9E57F2759D5}"/>
              </a:ext>
            </a:extLst>
          </p:cNvPr>
          <p:cNvSpPr>
            <a:spLocks noGrp="1"/>
          </p:cNvSpPr>
          <p:nvPr>
            <p:ph type="ctrTitle"/>
          </p:nvPr>
        </p:nvSpPr>
        <p:spPr/>
        <p:txBody>
          <a:bodyPr/>
          <a:lstStyle/>
          <a:p>
            <a:r>
              <a:rPr lang="en-US" dirty="0"/>
              <a:t>Perceptron</a:t>
            </a:r>
          </a:p>
        </p:txBody>
      </p:sp>
      <p:sp>
        <p:nvSpPr>
          <p:cNvPr id="3" name="Subtitle 2">
            <a:extLst>
              <a:ext uri="{FF2B5EF4-FFF2-40B4-BE49-F238E27FC236}">
                <a16:creationId xmlns:a16="http://schemas.microsoft.com/office/drawing/2014/main" id="{801E7DEC-6A31-9E71-A411-43723B7863E6}"/>
              </a:ext>
            </a:extLst>
          </p:cNvPr>
          <p:cNvSpPr>
            <a:spLocks noGrp="1"/>
          </p:cNvSpPr>
          <p:nvPr>
            <p:ph type="subTitle" idx="1"/>
          </p:nvPr>
        </p:nvSpPr>
        <p:spPr/>
        <p:txBody>
          <a:bodyPr/>
          <a:lstStyle/>
          <a:p>
            <a:r>
              <a:rPr lang="en-US" dirty="0"/>
              <a:t>Single layered neural network</a:t>
            </a:r>
          </a:p>
        </p:txBody>
      </p:sp>
    </p:spTree>
    <p:extLst>
      <p:ext uri="{BB962C8B-B14F-4D97-AF65-F5344CB8AC3E}">
        <p14:creationId xmlns:p14="http://schemas.microsoft.com/office/powerpoint/2010/main" val="1593216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7A284D-69DD-3B86-892C-0A97366A5D92}"/>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5000" kern="1200">
                <a:solidFill>
                  <a:schemeClr val="tx1"/>
                </a:solidFill>
                <a:latin typeface="+mj-lt"/>
                <a:ea typeface="+mj-ea"/>
                <a:cs typeface="+mj-cs"/>
              </a:rPr>
              <a:t>What is a perceptron?</a:t>
            </a:r>
          </a:p>
        </p:txBody>
      </p:sp>
      <p:sp>
        <p:nvSpPr>
          <p:cNvPr id="103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05159F1-40CD-2EE5-6632-C928761429DB}"/>
              </a:ext>
            </a:extLst>
          </p:cNvPr>
          <p:cNvSpPr txBox="1"/>
          <p:nvPr/>
        </p:nvSpPr>
        <p:spPr>
          <a:xfrm>
            <a:off x="333756" y="2807208"/>
            <a:ext cx="4023360" cy="341071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900" b="0" i="0" dirty="0">
                <a:effectLst/>
              </a:rPr>
              <a:t>A perceptron is </a:t>
            </a:r>
            <a:r>
              <a:rPr lang="en-US" sz="1900" b="1" i="0" dirty="0">
                <a:effectLst/>
              </a:rPr>
              <a:t>a single “neuron” </a:t>
            </a:r>
            <a:r>
              <a:rPr lang="en-US" sz="1900" b="0" i="0" dirty="0">
                <a:effectLst/>
              </a:rPr>
              <a:t>that does binary classification.</a:t>
            </a:r>
          </a:p>
          <a:p>
            <a:pPr>
              <a:lnSpc>
                <a:spcPct val="90000"/>
              </a:lnSpc>
              <a:spcAft>
                <a:spcPts val="600"/>
              </a:spcAft>
            </a:pPr>
            <a:endParaRPr lang="en-US" sz="1900" b="0" i="0" dirty="0">
              <a:effectLst/>
            </a:endParaRPr>
          </a:p>
          <a:p>
            <a:pPr indent="-228600">
              <a:lnSpc>
                <a:spcPct val="90000"/>
              </a:lnSpc>
              <a:spcAft>
                <a:spcPts val="600"/>
              </a:spcAft>
              <a:buFont typeface="Arial" panose="020B0604020202020204" pitchFamily="34" charset="0"/>
              <a:buChar char="•"/>
            </a:pPr>
            <a:r>
              <a:rPr lang="en-US" sz="1900" b="0" i="0" dirty="0">
                <a:effectLst/>
              </a:rPr>
              <a:t>It takes inputs, multiplies them by weights, adds a bias, and passes the sum through a step-like activation to output 0 or 1.</a:t>
            </a:r>
          </a:p>
          <a:p>
            <a:pPr>
              <a:lnSpc>
                <a:spcPct val="90000"/>
              </a:lnSpc>
              <a:spcAft>
                <a:spcPts val="600"/>
              </a:spcAft>
            </a:pPr>
            <a:endParaRPr lang="en-US" sz="1900" b="0" i="0" dirty="0">
              <a:effectLst/>
            </a:endParaRPr>
          </a:p>
          <a:p>
            <a:pPr indent="-228600">
              <a:lnSpc>
                <a:spcPct val="90000"/>
              </a:lnSpc>
              <a:spcAft>
                <a:spcPts val="600"/>
              </a:spcAft>
              <a:buFont typeface="Arial" panose="020B0604020202020204" pitchFamily="34" charset="0"/>
              <a:buChar char="•"/>
            </a:pPr>
            <a:r>
              <a:rPr lang="en-US" sz="1900" b="0" i="0" dirty="0">
                <a:effectLst/>
              </a:rPr>
              <a:t>Math form: </a:t>
            </a:r>
            <a:r>
              <a:rPr lang="en-US" sz="1900" b="0" i="1" dirty="0">
                <a:effectLst/>
              </a:rPr>
              <a:t>f</a:t>
            </a:r>
            <a:r>
              <a:rPr lang="en-US" sz="1900" b="0" i="0" dirty="0">
                <a:effectLst/>
              </a:rPr>
              <a:t>(</a:t>
            </a:r>
            <a:r>
              <a:rPr lang="en-US" sz="1900" b="1" i="0" dirty="0">
                <a:effectLst/>
              </a:rPr>
              <a:t>x</a:t>
            </a:r>
            <a:r>
              <a:rPr lang="en-US" sz="1900" b="0" i="0" dirty="0">
                <a:effectLst/>
              </a:rPr>
              <a:t>)=</a:t>
            </a:r>
            <a:r>
              <a:rPr lang="en-US" sz="1900" b="0" i="1" dirty="0">
                <a:effectLst/>
              </a:rPr>
              <a:t>h</a:t>
            </a:r>
            <a:r>
              <a:rPr lang="en-US" sz="1900" b="0" i="0" dirty="0">
                <a:effectLst/>
              </a:rPr>
              <a:t>(</a:t>
            </a:r>
            <a:r>
              <a:rPr lang="en-US" sz="1900" b="1" i="0" dirty="0" err="1">
                <a:effectLst/>
              </a:rPr>
              <a:t>w</a:t>
            </a:r>
            <a:r>
              <a:rPr lang="en-US" sz="1900" b="0" i="0" dirty="0" err="1">
                <a:effectLst/>
              </a:rPr>
              <a:t>⋅</a:t>
            </a:r>
            <a:r>
              <a:rPr lang="en-US" sz="1900" b="1" i="0" dirty="0" err="1">
                <a:effectLst/>
              </a:rPr>
              <a:t>x</a:t>
            </a:r>
            <a:r>
              <a:rPr lang="en-US" sz="1900" b="0" i="0" dirty="0" err="1">
                <a:effectLst/>
              </a:rPr>
              <a:t>+</a:t>
            </a:r>
            <a:r>
              <a:rPr lang="en-US" sz="1900" b="0" i="1" dirty="0" err="1">
                <a:effectLst/>
              </a:rPr>
              <a:t>b</a:t>
            </a:r>
            <a:r>
              <a:rPr lang="en-US" sz="1900" b="0" i="0" dirty="0">
                <a:effectLst/>
              </a:rPr>
              <a:t>), where h is a step function (outputs 1 if input &gt; 0, else 0).</a:t>
            </a:r>
          </a:p>
        </p:txBody>
      </p:sp>
      <p:pic>
        <p:nvPicPr>
          <p:cNvPr id="1026" name="Picture 2" descr="Deep Learning 101: Lesson 7: Perceptron | by Muneeb S. Ahmad | Medium">
            <a:extLst>
              <a:ext uri="{FF2B5EF4-FFF2-40B4-BE49-F238E27FC236}">
                <a16:creationId xmlns:a16="http://schemas.microsoft.com/office/drawing/2014/main" id="{B1B8A924-668F-C6BF-5FE6-1905A9C6880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54296" y="1340625"/>
            <a:ext cx="6903720" cy="4176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0899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758666C-6A0B-B8AB-2165-EED22A577DFE}"/>
              </a:ext>
            </a:extLst>
          </p:cNvPr>
          <p:cNvSpPr>
            <a:spLocks noGrp="1"/>
          </p:cNvSpPr>
          <p:nvPr>
            <p:ph type="title"/>
          </p:nvPr>
        </p:nvSpPr>
        <p:spPr>
          <a:xfrm>
            <a:off x="826396" y="586855"/>
            <a:ext cx="4230100" cy="3387497"/>
          </a:xfrm>
        </p:spPr>
        <p:txBody>
          <a:bodyPr vert="horz" lIns="91440" tIns="45720" rIns="91440" bIns="45720" rtlCol="0" anchor="b">
            <a:normAutofit/>
          </a:bodyPr>
          <a:lstStyle/>
          <a:p>
            <a:pPr algn="r"/>
            <a:r>
              <a:rPr lang="en-US" sz="4000" kern="1200">
                <a:solidFill>
                  <a:srgbClr val="FFFFFF"/>
                </a:solidFill>
                <a:latin typeface="+mj-lt"/>
                <a:ea typeface="+mj-ea"/>
                <a:cs typeface="+mj-cs"/>
              </a:rPr>
              <a:t>The perceptron learning rule (online update)</a:t>
            </a:r>
          </a:p>
        </p:txBody>
      </p:sp>
      <p:sp>
        <p:nvSpPr>
          <p:cNvPr id="4" name="TextBox 3">
            <a:extLst>
              <a:ext uri="{FF2B5EF4-FFF2-40B4-BE49-F238E27FC236}">
                <a16:creationId xmlns:a16="http://schemas.microsoft.com/office/drawing/2014/main" id="{03F40770-87FD-4996-ADB8-13294B4EC5C6}"/>
              </a:ext>
            </a:extLst>
          </p:cNvPr>
          <p:cNvSpPr txBox="1"/>
          <p:nvPr/>
        </p:nvSpPr>
        <p:spPr>
          <a:xfrm>
            <a:off x="6503158" y="649480"/>
            <a:ext cx="4862447" cy="5546047"/>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b="0" i="0" dirty="0">
                <a:effectLst/>
              </a:rPr>
              <a:t>If the prediction is correct (e=0</a:t>
            </a:r>
            <a:r>
              <a:rPr lang="en-US" sz="2000" b="0" i="1" dirty="0">
                <a:effectLst/>
              </a:rPr>
              <a:t>e</a:t>
            </a:r>
            <a:r>
              <a:rPr lang="en-US" sz="2000" b="0" i="0" dirty="0">
                <a:effectLst/>
              </a:rPr>
              <a:t>=0), do nothing.</a:t>
            </a:r>
          </a:p>
          <a:p>
            <a:pPr indent="-228600">
              <a:lnSpc>
                <a:spcPct val="90000"/>
              </a:lnSpc>
              <a:spcAft>
                <a:spcPts val="600"/>
              </a:spcAft>
              <a:buFont typeface="Arial" panose="020B0604020202020204" pitchFamily="34" charset="0"/>
              <a:buChar char="•"/>
            </a:pPr>
            <a:r>
              <a:rPr lang="en-US" sz="2000" b="0" i="0" dirty="0">
                <a:effectLst/>
              </a:rPr>
              <a:t>If wrong, update toward the true label:</a:t>
            </a:r>
          </a:p>
          <a:p>
            <a:pPr marL="742950" lvl="1" indent="-228600">
              <a:lnSpc>
                <a:spcPct val="90000"/>
              </a:lnSpc>
              <a:spcAft>
                <a:spcPts val="600"/>
              </a:spcAft>
              <a:buFont typeface="Arial" panose="020B0604020202020204" pitchFamily="34" charset="0"/>
              <a:buChar char="•"/>
            </a:pPr>
            <a:r>
              <a:rPr lang="en-US" sz="2000" b="0" i="0" dirty="0">
                <a:effectLst/>
              </a:rPr>
              <a:t>Weights: </a:t>
            </a:r>
            <a:r>
              <a:rPr lang="en-US" sz="2000" b="1" i="0" dirty="0" err="1">
                <a:effectLst/>
              </a:rPr>
              <a:t>w</a:t>
            </a:r>
            <a:r>
              <a:rPr lang="en-US" sz="2000" b="0" i="0" dirty="0" err="1">
                <a:effectLst/>
              </a:rPr>
              <a:t>←</a:t>
            </a:r>
            <a:r>
              <a:rPr lang="en-US" sz="2000" b="1" i="0" dirty="0" err="1">
                <a:effectLst/>
              </a:rPr>
              <a:t>w</a:t>
            </a:r>
            <a:r>
              <a:rPr lang="en-US" sz="2000" b="0" i="0" dirty="0" err="1">
                <a:effectLst/>
              </a:rPr>
              <a:t>+</a:t>
            </a:r>
            <a:r>
              <a:rPr lang="en-US" sz="2000" b="0" i="1" dirty="0" err="1">
                <a:effectLst/>
              </a:rPr>
              <a:t>ηe</a:t>
            </a:r>
            <a:r>
              <a:rPr lang="en-US" sz="2000" b="1" i="0" dirty="0" err="1">
                <a:effectLst/>
              </a:rPr>
              <a:t>x</a:t>
            </a:r>
            <a:endParaRPr lang="en-US" sz="2000" b="0" i="0" dirty="0">
              <a:effectLst/>
            </a:endParaRPr>
          </a:p>
          <a:p>
            <a:pPr marL="742950" lvl="1" indent="-228600">
              <a:lnSpc>
                <a:spcPct val="90000"/>
              </a:lnSpc>
              <a:spcAft>
                <a:spcPts val="600"/>
              </a:spcAft>
              <a:buFont typeface="Arial" panose="020B0604020202020204" pitchFamily="34" charset="0"/>
              <a:buChar char="•"/>
            </a:pPr>
            <a:r>
              <a:rPr lang="en-US" sz="2000" b="0" i="0" dirty="0">
                <a:effectLst/>
              </a:rPr>
              <a:t>Bias:  </a:t>
            </a:r>
            <a:r>
              <a:rPr lang="en-US" sz="2000" b="0" i="0" dirty="0" err="1">
                <a:effectLst/>
              </a:rPr>
              <a:t>e</a:t>
            </a:r>
            <a:r>
              <a:rPr lang="en-US" sz="2000" b="0" i="1" dirty="0" err="1">
                <a:effectLst/>
              </a:rPr>
              <a:t>b</a:t>
            </a:r>
            <a:r>
              <a:rPr lang="en-US" sz="2000" b="0" i="0" dirty="0" err="1">
                <a:effectLst/>
              </a:rPr>
              <a:t>←</a:t>
            </a:r>
            <a:r>
              <a:rPr lang="en-US" sz="2000" b="0" i="1" dirty="0" err="1">
                <a:effectLst/>
              </a:rPr>
              <a:t>b</a:t>
            </a:r>
            <a:r>
              <a:rPr lang="en-US" sz="2000" b="0" i="0" dirty="0" err="1">
                <a:effectLst/>
              </a:rPr>
              <a:t>+</a:t>
            </a:r>
            <a:r>
              <a:rPr lang="en-US" sz="2000" b="0" i="1" dirty="0" err="1">
                <a:effectLst/>
              </a:rPr>
              <a:t>ηe</a:t>
            </a:r>
            <a:endParaRPr lang="en-US" sz="2000" b="0" i="0" dirty="0">
              <a:effectLst/>
            </a:endParaRPr>
          </a:p>
          <a:p>
            <a:pPr indent="-228600">
              <a:lnSpc>
                <a:spcPct val="90000"/>
              </a:lnSpc>
              <a:spcAft>
                <a:spcPts val="600"/>
              </a:spcAft>
              <a:buFont typeface="Arial" panose="020B0604020202020204" pitchFamily="34" charset="0"/>
              <a:buChar char="•"/>
            </a:pPr>
            <a:r>
              <a:rPr lang="en-US" sz="2000" b="0" i="0" dirty="0">
                <a:effectLst/>
              </a:rPr>
              <a:t>η is the learning rate (a small positive number).</a:t>
            </a:r>
          </a:p>
          <a:p>
            <a:pPr indent="-228600">
              <a:lnSpc>
                <a:spcPct val="90000"/>
              </a:lnSpc>
              <a:spcAft>
                <a:spcPts val="600"/>
              </a:spcAft>
              <a:buFont typeface="Arial" panose="020B0604020202020204" pitchFamily="34" charset="0"/>
              <a:buChar char="•"/>
            </a:pPr>
            <a:r>
              <a:rPr lang="en-US" sz="2000" b="0" i="0" dirty="0">
                <a:effectLst/>
              </a:rPr>
              <a:t>Intuition: If we predicted 0 but the truth is 1 (</a:t>
            </a:r>
            <a:r>
              <a:rPr lang="en-US" sz="2000" b="0" i="1" dirty="0">
                <a:effectLst/>
              </a:rPr>
              <a:t>e</a:t>
            </a:r>
            <a:r>
              <a:rPr lang="en-US" sz="2000" b="0" i="0" dirty="0">
                <a:effectLst/>
              </a:rPr>
              <a:t>=1), we add a bit of </a:t>
            </a:r>
            <a:r>
              <a:rPr lang="en-US" sz="2000" b="1" i="0" dirty="0">
                <a:effectLst/>
              </a:rPr>
              <a:t>x</a:t>
            </a:r>
            <a:r>
              <a:rPr lang="en-US" sz="2000" b="0" i="0" dirty="0">
                <a:effectLst/>
              </a:rPr>
              <a:t> to </a:t>
            </a:r>
            <a:r>
              <a:rPr lang="en-US" sz="2000" b="1" i="0" dirty="0">
                <a:effectLst/>
              </a:rPr>
              <a:t>w</a:t>
            </a:r>
            <a:r>
              <a:rPr lang="en-US" sz="2000" b="0" i="0" dirty="0">
                <a:effectLst/>
              </a:rPr>
              <a:t> and increase </a:t>
            </a:r>
            <a:r>
              <a:rPr lang="en-US" sz="2000" b="0" i="1" dirty="0">
                <a:effectLst/>
              </a:rPr>
              <a:t>b</a:t>
            </a:r>
            <a:r>
              <a:rPr lang="en-US" sz="2000" b="0" i="0" dirty="0">
                <a:effectLst/>
              </a:rPr>
              <a:t> so </a:t>
            </a:r>
            <a:r>
              <a:rPr lang="en-US" sz="2000" b="0" i="1" dirty="0">
                <a:effectLst/>
              </a:rPr>
              <a:t>z</a:t>
            </a:r>
            <a:r>
              <a:rPr lang="en-US" sz="2000" b="0" i="0" dirty="0">
                <a:effectLst/>
              </a:rPr>
              <a:t> is larger next time; the boundary moves toward correctly classifying this example. If we predicted 1 but truth is 0 (</a:t>
            </a:r>
            <a:r>
              <a:rPr lang="en-US" sz="2000" b="0" i="1" dirty="0">
                <a:effectLst/>
              </a:rPr>
              <a:t>e</a:t>
            </a:r>
            <a:r>
              <a:rPr lang="en-US" sz="2000" b="0" i="0" dirty="0">
                <a:effectLst/>
              </a:rPr>
              <a:t>=−1), we subtract a bit of </a:t>
            </a:r>
            <a:r>
              <a:rPr lang="en-US" sz="2000" b="1" i="0" dirty="0">
                <a:effectLst/>
              </a:rPr>
              <a:t>x</a:t>
            </a:r>
            <a:r>
              <a:rPr lang="en-US" sz="2000" b="0" i="0" dirty="0">
                <a:effectLst/>
              </a:rPr>
              <a:t> and decrease </a:t>
            </a:r>
            <a:r>
              <a:rPr lang="en-US" sz="2000" b="0" i="1" dirty="0">
                <a:effectLst/>
              </a:rPr>
              <a:t>b</a:t>
            </a:r>
            <a:r>
              <a:rPr lang="en-US" sz="2000" b="0" i="0" dirty="0">
                <a:effectLst/>
              </a:rPr>
              <a:t>, shrinking </a:t>
            </a:r>
            <a:r>
              <a:rPr lang="en-US" sz="2000" b="0" i="1" dirty="0">
                <a:effectLst/>
              </a:rPr>
              <a:t>z</a:t>
            </a:r>
            <a:r>
              <a:rPr lang="en-US" sz="2000" b="0" i="0" dirty="0">
                <a:effectLst/>
              </a:rPr>
              <a:t>.</a:t>
            </a:r>
          </a:p>
        </p:txBody>
      </p:sp>
    </p:spTree>
    <p:extLst>
      <p:ext uri="{BB962C8B-B14F-4D97-AF65-F5344CB8AC3E}">
        <p14:creationId xmlns:p14="http://schemas.microsoft.com/office/powerpoint/2010/main" val="3369695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4DB38-3761-84AA-A15E-B3718DD8964A}"/>
              </a:ext>
            </a:extLst>
          </p:cNvPr>
          <p:cNvSpPr>
            <a:spLocks noGrp="1"/>
          </p:cNvSpPr>
          <p:nvPr>
            <p:ph type="title"/>
          </p:nvPr>
        </p:nvSpPr>
        <p:spPr/>
        <p:txBody>
          <a:bodyPr/>
          <a:lstStyle/>
          <a:p>
            <a:r>
              <a:rPr lang="en-US" dirty="0"/>
              <a:t>Advantages &amp; disadvantages of perceptron</a:t>
            </a:r>
          </a:p>
        </p:txBody>
      </p:sp>
      <p:graphicFrame>
        <p:nvGraphicFramePr>
          <p:cNvPr id="9" name="Diagram 8">
            <a:extLst>
              <a:ext uri="{FF2B5EF4-FFF2-40B4-BE49-F238E27FC236}">
                <a16:creationId xmlns:a16="http://schemas.microsoft.com/office/drawing/2014/main" id="{C9201218-1FE6-B219-CF94-5A182F57F775}"/>
              </a:ext>
            </a:extLst>
          </p:cNvPr>
          <p:cNvGraphicFramePr/>
          <p:nvPr>
            <p:extLst>
              <p:ext uri="{D42A27DB-BD31-4B8C-83A1-F6EECF244321}">
                <p14:modId xmlns:p14="http://schemas.microsoft.com/office/powerpoint/2010/main" val="1316317862"/>
              </p:ext>
            </p:extLst>
          </p:nvPr>
        </p:nvGraphicFramePr>
        <p:xfrm>
          <a:off x="638828" y="1439334"/>
          <a:ext cx="10714972" cy="50535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42475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TotalTime>
  <Words>1144</Words>
  <Application>Microsoft Office PowerPoint</Application>
  <PresentationFormat>Widescreen</PresentationFormat>
  <Paragraphs>70</Paragraphs>
  <Slides>12</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Aptos Display</vt:lpstr>
      <vt:lpstr>Arial</vt:lpstr>
      <vt:lpstr>fkGrotesk</vt:lpstr>
      <vt:lpstr>fkGroteskNeue</vt:lpstr>
      <vt:lpstr>KaTeX_Main</vt:lpstr>
      <vt:lpstr>Office Theme</vt:lpstr>
      <vt:lpstr>PowerPoint Presentation</vt:lpstr>
      <vt:lpstr>What is Deep Learning?</vt:lpstr>
      <vt:lpstr>How Deep Learning Works?</vt:lpstr>
      <vt:lpstr>Core concepts of deep learning</vt:lpstr>
      <vt:lpstr>Neural networks (NN)</vt:lpstr>
      <vt:lpstr>Deep neural networks (DNN)</vt:lpstr>
      <vt:lpstr>Activation functions</vt:lpstr>
      <vt:lpstr>Forward pass, loss, backpropagation</vt:lpstr>
      <vt:lpstr>Perceptron</vt:lpstr>
      <vt:lpstr>What is a perceptron?</vt:lpstr>
      <vt:lpstr>The perceptron learning rule (online update)</vt:lpstr>
      <vt:lpstr>Advantages &amp; disadvantages of perceptron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Ankit Mirajkar</dc:creator>
  <cp:lastModifiedBy>Ankit Mirajkar</cp:lastModifiedBy>
  <cp:revision>33</cp:revision>
  <dcterms:created xsi:type="dcterms:W3CDTF">2025-10-04T18:06:21Z</dcterms:created>
  <dcterms:modified xsi:type="dcterms:W3CDTF">2026-03-30T08:20:52Z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9e9a456-2778-4ca9-be06-1190b1e1118a_Enabled">
    <vt:lpwstr>true</vt:lpwstr>
  </property>
  <property fmtid="{D5CDD505-2E9C-101B-9397-08002B2CF9AE}" pid="3" name="MSIP_Label_09e9a456-2778-4ca9-be06-1190b1e1118a_SetDate">
    <vt:lpwstr>2025-10-04T18:10:28Z</vt:lpwstr>
  </property>
  <property fmtid="{D5CDD505-2E9C-101B-9397-08002B2CF9AE}" pid="4" name="MSIP_Label_09e9a456-2778-4ca9-be06-1190b1e1118a_Method">
    <vt:lpwstr>Standard</vt:lpwstr>
  </property>
  <property fmtid="{D5CDD505-2E9C-101B-9397-08002B2CF9AE}" pid="5" name="MSIP_Label_09e9a456-2778-4ca9-be06-1190b1e1118a_Name">
    <vt:lpwstr>D3</vt:lpwstr>
  </property>
  <property fmtid="{D5CDD505-2E9C-101B-9397-08002B2CF9AE}" pid="6" name="MSIP_Label_09e9a456-2778-4ca9-be06-1190b1e1118a_SiteId">
    <vt:lpwstr>658ba197-6c73-4fea-91bd-1c7d8de6bf2c</vt:lpwstr>
  </property>
  <property fmtid="{D5CDD505-2E9C-101B-9397-08002B2CF9AE}" pid="7" name="MSIP_Label_09e9a456-2778-4ca9-be06-1190b1e1118a_ActionId">
    <vt:lpwstr>ac5c4b12-d015-4641-b598-d2b0924b87fc</vt:lpwstr>
  </property>
  <property fmtid="{D5CDD505-2E9C-101B-9397-08002B2CF9AE}" pid="8" name="MSIP_Label_09e9a456-2778-4ca9-be06-1190b1e1118a_ContentBits">
    <vt:lpwstr>0</vt:lpwstr>
  </property>
  <property fmtid="{D5CDD505-2E9C-101B-9397-08002B2CF9AE}" pid="9" name="MSIP_Label_09e9a456-2778-4ca9-be06-1190b1e1118a_Tag">
    <vt:lpwstr>10, 3, 0, 1</vt:lpwstr>
  </property>
</Properties>
</file>