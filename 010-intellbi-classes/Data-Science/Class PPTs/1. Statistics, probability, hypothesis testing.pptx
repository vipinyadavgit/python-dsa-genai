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87" r:id="rId3"/>
    <p:sldId id="288" r:id="rId4"/>
    <p:sldId id="302" r:id="rId5"/>
    <p:sldId id="303" r:id="rId6"/>
    <p:sldId id="304" r:id="rId7"/>
    <p:sldId id="305" r:id="rId8"/>
    <p:sldId id="306" r:id="rId9"/>
    <p:sldId id="307" r:id="rId10"/>
    <p:sldId id="308" r:id="rId11"/>
    <p:sldId id="309" r:id="rId12"/>
    <p:sldId id="310" r:id="rId13"/>
    <p:sldId id="311" r:id="rId14"/>
    <p:sldId id="312" r:id="rId15"/>
    <p:sldId id="292" r:id="rId16"/>
    <p:sldId id="293" r:id="rId17"/>
    <p:sldId id="294" r:id="rId18"/>
    <p:sldId id="295" r:id="rId19"/>
    <p:sldId id="296" r:id="rId20"/>
    <p:sldId id="297" r:id="rId21"/>
    <p:sldId id="298" r:id="rId22"/>
    <p:sldId id="299" r:id="rId23"/>
    <p:sldId id="300" r:id="rId2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804"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687448" y="2177923"/>
            <a:ext cx="8817102" cy="1387475"/>
          </a:xfrm>
          <a:prstGeom prst="rect">
            <a:avLst/>
          </a:prstGeom>
        </p:spPr>
        <p:txBody>
          <a:bodyPr wrap="square" lIns="0" tIns="0" rIns="0" bIns="0">
            <a:spAutoFit/>
          </a:bodyPr>
          <a:lstStyle>
            <a:lvl1pPr>
              <a:defRPr sz="4700" b="1" i="0">
                <a:solidFill>
                  <a:schemeClr val="bg1"/>
                </a:solidFill>
                <a:latin typeface="Calibri"/>
                <a:cs typeface="Calibri"/>
              </a:defRPr>
            </a:lvl1pPr>
          </a:lstStyle>
          <a:p>
            <a:endParaRPr/>
          </a:p>
        </p:txBody>
      </p:sp>
      <p:sp>
        <p:nvSpPr>
          <p:cNvPr id="3" name="Holder 3"/>
          <p:cNvSpPr>
            <a:spLocks noGrp="1"/>
          </p:cNvSpPr>
          <p:nvPr>
            <p:ph type="body" idx="1"/>
          </p:nvPr>
        </p:nvSpPr>
        <p:spPr>
          <a:xfrm>
            <a:off x="342772" y="3313303"/>
            <a:ext cx="11506454" cy="2494915"/>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25.png"/><Relationship Id="rId21" Type="http://schemas.openxmlformats.org/officeDocument/2006/relationships/image" Target="../media/image20.png"/><Relationship Id="rId42" Type="http://schemas.openxmlformats.org/officeDocument/2006/relationships/image" Target="../media/image41.png"/><Relationship Id="rId47" Type="http://schemas.openxmlformats.org/officeDocument/2006/relationships/image" Target="../media/image46.png"/><Relationship Id="rId63" Type="http://schemas.openxmlformats.org/officeDocument/2006/relationships/image" Target="../media/image62.png"/><Relationship Id="rId68" Type="http://schemas.openxmlformats.org/officeDocument/2006/relationships/image" Target="../media/image67.png"/><Relationship Id="rId84" Type="http://schemas.openxmlformats.org/officeDocument/2006/relationships/image" Target="../media/image83.png"/><Relationship Id="rId89" Type="http://schemas.openxmlformats.org/officeDocument/2006/relationships/image" Target="../media/image88.png"/><Relationship Id="rId16" Type="http://schemas.openxmlformats.org/officeDocument/2006/relationships/image" Target="../media/image15.png"/><Relationship Id="rId11" Type="http://schemas.openxmlformats.org/officeDocument/2006/relationships/image" Target="../media/image10.png"/><Relationship Id="rId32" Type="http://schemas.openxmlformats.org/officeDocument/2006/relationships/image" Target="../media/image31.png"/><Relationship Id="rId37" Type="http://schemas.openxmlformats.org/officeDocument/2006/relationships/image" Target="../media/image36.png"/><Relationship Id="rId53" Type="http://schemas.openxmlformats.org/officeDocument/2006/relationships/image" Target="../media/image52.png"/><Relationship Id="rId58" Type="http://schemas.openxmlformats.org/officeDocument/2006/relationships/image" Target="../media/image57.png"/><Relationship Id="rId74" Type="http://schemas.openxmlformats.org/officeDocument/2006/relationships/image" Target="../media/image73.png"/><Relationship Id="rId79" Type="http://schemas.openxmlformats.org/officeDocument/2006/relationships/image" Target="../media/image78.png"/><Relationship Id="rId5" Type="http://schemas.openxmlformats.org/officeDocument/2006/relationships/image" Target="../media/image4.png"/><Relationship Id="rId90" Type="http://schemas.openxmlformats.org/officeDocument/2006/relationships/image" Target="../media/image89.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png"/><Relationship Id="rId56" Type="http://schemas.openxmlformats.org/officeDocument/2006/relationships/image" Target="../media/image55.png"/><Relationship Id="rId64" Type="http://schemas.openxmlformats.org/officeDocument/2006/relationships/image" Target="../media/image63.png"/><Relationship Id="rId69" Type="http://schemas.openxmlformats.org/officeDocument/2006/relationships/image" Target="../media/image68.png"/><Relationship Id="rId77" Type="http://schemas.openxmlformats.org/officeDocument/2006/relationships/image" Target="../media/image76.png"/><Relationship Id="rId8" Type="http://schemas.openxmlformats.org/officeDocument/2006/relationships/image" Target="../media/image7.png"/><Relationship Id="rId51" Type="http://schemas.openxmlformats.org/officeDocument/2006/relationships/image" Target="../media/image50.png"/><Relationship Id="rId72" Type="http://schemas.openxmlformats.org/officeDocument/2006/relationships/image" Target="../media/image71.png"/><Relationship Id="rId80" Type="http://schemas.openxmlformats.org/officeDocument/2006/relationships/image" Target="../media/image79.png"/><Relationship Id="rId85" Type="http://schemas.openxmlformats.org/officeDocument/2006/relationships/image" Target="../media/image84.png"/><Relationship Id="rId3" Type="http://schemas.openxmlformats.org/officeDocument/2006/relationships/image" Target="../media/image2.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png"/><Relationship Id="rId46" Type="http://schemas.openxmlformats.org/officeDocument/2006/relationships/image" Target="../media/image45.png"/><Relationship Id="rId59" Type="http://schemas.openxmlformats.org/officeDocument/2006/relationships/image" Target="../media/image58.png"/><Relationship Id="rId67" Type="http://schemas.openxmlformats.org/officeDocument/2006/relationships/image" Target="../media/image66.png"/><Relationship Id="rId20" Type="http://schemas.openxmlformats.org/officeDocument/2006/relationships/image" Target="../media/image19.png"/><Relationship Id="rId41" Type="http://schemas.openxmlformats.org/officeDocument/2006/relationships/image" Target="../media/image40.png"/><Relationship Id="rId54" Type="http://schemas.openxmlformats.org/officeDocument/2006/relationships/image" Target="../media/image53.png"/><Relationship Id="rId62" Type="http://schemas.openxmlformats.org/officeDocument/2006/relationships/image" Target="../media/image61.png"/><Relationship Id="rId70" Type="http://schemas.openxmlformats.org/officeDocument/2006/relationships/image" Target="../media/image69.png"/><Relationship Id="rId75" Type="http://schemas.openxmlformats.org/officeDocument/2006/relationships/image" Target="../media/image74.png"/><Relationship Id="rId83" Type="http://schemas.openxmlformats.org/officeDocument/2006/relationships/image" Target="../media/image82.png"/><Relationship Id="rId88" Type="http://schemas.openxmlformats.org/officeDocument/2006/relationships/image" Target="../media/image87.png"/><Relationship Id="rId91"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5.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png"/><Relationship Id="rId49" Type="http://schemas.openxmlformats.org/officeDocument/2006/relationships/image" Target="../media/image48.png"/><Relationship Id="rId57" Type="http://schemas.openxmlformats.org/officeDocument/2006/relationships/image" Target="../media/image56.png"/><Relationship Id="rId10" Type="http://schemas.openxmlformats.org/officeDocument/2006/relationships/image" Target="../media/image9.png"/><Relationship Id="rId31" Type="http://schemas.openxmlformats.org/officeDocument/2006/relationships/image" Target="../media/image30.png"/><Relationship Id="rId44" Type="http://schemas.openxmlformats.org/officeDocument/2006/relationships/image" Target="../media/image43.png"/><Relationship Id="rId52" Type="http://schemas.openxmlformats.org/officeDocument/2006/relationships/image" Target="../media/image51.png"/><Relationship Id="rId60" Type="http://schemas.openxmlformats.org/officeDocument/2006/relationships/image" Target="../media/image59.png"/><Relationship Id="rId65" Type="http://schemas.openxmlformats.org/officeDocument/2006/relationships/image" Target="../media/image64.png"/><Relationship Id="rId73" Type="http://schemas.openxmlformats.org/officeDocument/2006/relationships/image" Target="../media/image72.png"/><Relationship Id="rId78" Type="http://schemas.openxmlformats.org/officeDocument/2006/relationships/image" Target="../media/image77.png"/><Relationship Id="rId81" Type="http://schemas.openxmlformats.org/officeDocument/2006/relationships/image" Target="../media/image80.png"/><Relationship Id="rId86" Type="http://schemas.openxmlformats.org/officeDocument/2006/relationships/image" Target="../media/image85.png"/><Relationship Id="rId4" Type="http://schemas.openxmlformats.org/officeDocument/2006/relationships/image" Target="../media/image3.png"/><Relationship Id="rId9" Type="http://schemas.openxmlformats.org/officeDocument/2006/relationships/image" Target="../media/image8.png"/><Relationship Id="rId13" Type="http://schemas.openxmlformats.org/officeDocument/2006/relationships/image" Target="../media/image12.png"/><Relationship Id="rId18" Type="http://schemas.openxmlformats.org/officeDocument/2006/relationships/image" Target="../media/image17.png"/><Relationship Id="rId39" Type="http://schemas.openxmlformats.org/officeDocument/2006/relationships/image" Target="../media/image38.png"/><Relationship Id="rId34" Type="http://schemas.openxmlformats.org/officeDocument/2006/relationships/image" Target="../media/image33.png"/><Relationship Id="rId50" Type="http://schemas.openxmlformats.org/officeDocument/2006/relationships/image" Target="../media/image49.png"/><Relationship Id="rId55" Type="http://schemas.openxmlformats.org/officeDocument/2006/relationships/image" Target="../media/image54.png"/><Relationship Id="rId76" Type="http://schemas.openxmlformats.org/officeDocument/2006/relationships/image" Target="../media/image75.png"/><Relationship Id="rId7" Type="http://schemas.openxmlformats.org/officeDocument/2006/relationships/image" Target="../media/image6.png"/><Relationship Id="rId71" Type="http://schemas.openxmlformats.org/officeDocument/2006/relationships/image" Target="../media/image70.png"/><Relationship Id="rId2" Type="http://schemas.openxmlformats.org/officeDocument/2006/relationships/image" Target="../media/image1.jpg"/><Relationship Id="rId29" Type="http://schemas.openxmlformats.org/officeDocument/2006/relationships/image" Target="../media/image28.png"/><Relationship Id="rId24" Type="http://schemas.openxmlformats.org/officeDocument/2006/relationships/image" Target="../media/image23.png"/><Relationship Id="rId40" Type="http://schemas.openxmlformats.org/officeDocument/2006/relationships/image" Target="../media/image39.png"/><Relationship Id="rId45" Type="http://schemas.openxmlformats.org/officeDocument/2006/relationships/image" Target="../media/image44.png"/><Relationship Id="rId66" Type="http://schemas.openxmlformats.org/officeDocument/2006/relationships/image" Target="../media/image65.png"/><Relationship Id="rId87" Type="http://schemas.openxmlformats.org/officeDocument/2006/relationships/image" Target="../media/image86.png"/><Relationship Id="rId61" Type="http://schemas.openxmlformats.org/officeDocument/2006/relationships/image" Target="../media/image60.png"/><Relationship Id="rId82" Type="http://schemas.openxmlformats.org/officeDocument/2006/relationships/image" Target="../media/image81.png"/><Relationship Id="rId19" Type="http://schemas.openxmlformats.org/officeDocument/2006/relationships/image" Target="../media/image18.png"/></Relationships>
</file>

<file path=ppt/slides/_rels/slide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5.xml"/><Relationship Id="rId4" Type="http://schemas.openxmlformats.org/officeDocument/2006/relationships/image" Target="../media/image9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0.gif"/><Relationship Id="rId2" Type="http://schemas.openxmlformats.org/officeDocument/2006/relationships/image" Target="../media/image99.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image" Target="../media/image107.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09.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5.xml"/><Relationship Id="rId5" Type="http://schemas.openxmlformats.org/officeDocument/2006/relationships/image" Target="../media/image114.png"/><Relationship Id="rId4" Type="http://schemas.openxmlformats.org/officeDocument/2006/relationships/image" Target="../media/image1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5.xml"/><Relationship Id="rId4" Type="http://schemas.openxmlformats.org/officeDocument/2006/relationships/image" Target="../media/image117.png"/></Relationships>
</file>

<file path=ppt/slides/_rels/slide2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4.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users.sussex.ac.uk/~grahamh/RM1web/F-ratio%20table%202005.pdf" TargetMode="External"/><Relationship Id="rId2" Type="http://schemas.openxmlformats.org/officeDocument/2006/relationships/image" Target="../media/image12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972800" y="6676569"/>
            <a:ext cx="1219199" cy="174171"/>
          </a:xfrm>
          <a:prstGeom prst="rect">
            <a:avLst/>
          </a:prstGeom>
        </p:spPr>
      </p:pic>
      <p:grpSp>
        <p:nvGrpSpPr>
          <p:cNvPr id="3" name="object 3"/>
          <p:cNvGrpSpPr/>
          <p:nvPr/>
        </p:nvGrpSpPr>
        <p:grpSpPr>
          <a:xfrm>
            <a:off x="-1270" y="0"/>
            <a:ext cx="12193270" cy="6858634"/>
            <a:chOff x="-855" y="0"/>
            <a:chExt cx="12193270" cy="6858634"/>
          </a:xfrm>
        </p:grpSpPr>
        <p:sp>
          <p:nvSpPr>
            <p:cNvPr id="4" name="object 4"/>
            <p:cNvSpPr/>
            <p:nvPr/>
          </p:nvSpPr>
          <p:spPr>
            <a:xfrm>
              <a:off x="2801" y="2770"/>
              <a:ext cx="12189460" cy="4849495"/>
            </a:xfrm>
            <a:custGeom>
              <a:avLst/>
              <a:gdLst/>
              <a:ahLst/>
              <a:cxnLst/>
              <a:rect l="l" t="t" r="r" b="b"/>
              <a:pathLst>
                <a:path w="12189460" h="4849495">
                  <a:moveTo>
                    <a:pt x="12189047" y="0"/>
                  </a:moveTo>
                  <a:lnTo>
                    <a:pt x="0" y="0"/>
                  </a:lnTo>
                  <a:lnTo>
                    <a:pt x="0" y="4849361"/>
                  </a:lnTo>
                  <a:lnTo>
                    <a:pt x="3276422" y="4705544"/>
                  </a:lnTo>
                  <a:lnTo>
                    <a:pt x="3283743" y="4705544"/>
                  </a:lnTo>
                  <a:lnTo>
                    <a:pt x="3419037" y="4699434"/>
                  </a:lnTo>
                  <a:lnTo>
                    <a:pt x="3426358" y="4698211"/>
                  </a:lnTo>
                  <a:lnTo>
                    <a:pt x="3561653" y="4693372"/>
                  </a:lnTo>
                  <a:lnTo>
                    <a:pt x="3567754" y="4692150"/>
                  </a:lnTo>
                  <a:lnTo>
                    <a:pt x="4040649" y="4671423"/>
                  </a:lnTo>
                  <a:lnTo>
                    <a:pt x="4049190" y="4671423"/>
                  </a:lnTo>
                  <a:lnTo>
                    <a:pt x="12189047" y="4313102"/>
                  </a:lnTo>
                  <a:lnTo>
                    <a:pt x="12189047" y="0"/>
                  </a:lnTo>
                  <a:close/>
                </a:path>
              </a:pathLst>
            </a:custGeom>
            <a:solidFill>
              <a:srgbClr val="636C78"/>
            </a:solidFill>
          </p:spPr>
          <p:txBody>
            <a:bodyPr wrap="square" lIns="0" tIns="0" rIns="0" bIns="0" rtlCol="0"/>
            <a:lstStyle/>
            <a:p>
              <a:endParaRPr/>
            </a:p>
          </p:txBody>
        </p:sp>
        <p:pic>
          <p:nvPicPr>
            <p:cNvPr id="5" name="object 5"/>
            <p:cNvPicPr/>
            <p:nvPr/>
          </p:nvPicPr>
          <p:blipFill>
            <a:blip r:embed="rId3" cstate="print"/>
            <a:stretch>
              <a:fillRect/>
            </a:stretch>
          </p:blipFill>
          <p:spPr>
            <a:xfrm>
              <a:off x="3967896" y="4408508"/>
              <a:ext cx="85315" cy="84080"/>
            </a:xfrm>
            <a:prstGeom prst="rect">
              <a:avLst/>
            </a:prstGeom>
          </p:spPr>
        </p:pic>
        <p:pic>
          <p:nvPicPr>
            <p:cNvPr id="6" name="object 6"/>
            <p:cNvPicPr/>
            <p:nvPr/>
          </p:nvPicPr>
          <p:blipFill>
            <a:blip r:embed="rId4" cstate="print"/>
            <a:stretch>
              <a:fillRect/>
            </a:stretch>
          </p:blipFill>
          <p:spPr>
            <a:xfrm>
              <a:off x="4332342" y="3814956"/>
              <a:ext cx="84095" cy="84129"/>
            </a:xfrm>
            <a:prstGeom prst="rect">
              <a:avLst/>
            </a:prstGeom>
          </p:spPr>
        </p:pic>
        <p:sp>
          <p:nvSpPr>
            <p:cNvPr id="7" name="object 7"/>
            <p:cNvSpPr/>
            <p:nvPr/>
          </p:nvSpPr>
          <p:spPr>
            <a:xfrm>
              <a:off x="3805796" y="3432302"/>
              <a:ext cx="875665" cy="875665"/>
            </a:xfrm>
            <a:custGeom>
              <a:avLst/>
              <a:gdLst/>
              <a:ahLst/>
              <a:cxnLst/>
              <a:rect l="l" t="t" r="r" b="b"/>
              <a:pathLst>
                <a:path w="875664" h="875664">
                  <a:moveTo>
                    <a:pt x="875169" y="871410"/>
                  </a:moveTo>
                  <a:lnTo>
                    <a:pt x="873950" y="868959"/>
                  </a:lnTo>
                  <a:lnTo>
                    <a:pt x="6057" y="1219"/>
                  </a:lnTo>
                  <a:lnTo>
                    <a:pt x="3619" y="0"/>
                  </a:lnTo>
                  <a:lnTo>
                    <a:pt x="1219" y="1219"/>
                  </a:lnTo>
                  <a:lnTo>
                    <a:pt x="0" y="3657"/>
                  </a:lnTo>
                  <a:lnTo>
                    <a:pt x="1219" y="6108"/>
                  </a:lnTo>
                  <a:lnTo>
                    <a:pt x="869073" y="873848"/>
                  </a:lnTo>
                  <a:lnTo>
                    <a:pt x="871512" y="875068"/>
                  </a:lnTo>
                  <a:lnTo>
                    <a:pt x="873950" y="873848"/>
                  </a:lnTo>
                  <a:lnTo>
                    <a:pt x="875169" y="871410"/>
                  </a:lnTo>
                  <a:close/>
                </a:path>
                <a:path w="875664" h="875664">
                  <a:moveTo>
                    <a:pt x="875169" y="728814"/>
                  </a:moveTo>
                  <a:lnTo>
                    <a:pt x="873950" y="726363"/>
                  </a:lnTo>
                  <a:lnTo>
                    <a:pt x="598487" y="450951"/>
                  </a:lnTo>
                  <a:lnTo>
                    <a:pt x="594817" y="449732"/>
                  </a:lnTo>
                  <a:lnTo>
                    <a:pt x="592378" y="450951"/>
                  </a:lnTo>
                  <a:lnTo>
                    <a:pt x="591159" y="453351"/>
                  </a:lnTo>
                  <a:lnTo>
                    <a:pt x="592378" y="455790"/>
                  </a:lnTo>
                  <a:lnTo>
                    <a:pt x="869073" y="731253"/>
                  </a:lnTo>
                  <a:lnTo>
                    <a:pt x="871512" y="732472"/>
                  </a:lnTo>
                  <a:lnTo>
                    <a:pt x="873950" y="731253"/>
                  </a:lnTo>
                  <a:lnTo>
                    <a:pt x="875169" y="728814"/>
                  </a:lnTo>
                  <a:close/>
                </a:path>
                <a:path w="875664" h="875664">
                  <a:moveTo>
                    <a:pt x="875169" y="586219"/>
                  </a:moveTo>
                  <a:lnTo>
                    <a:pt x="873950" y="583768"/>
                  </a:lnTo>
                  <a:lnTo>
                    <a:pt x="449770" y="159651"/>
                  </a:lnTo>
                  <a:lnTo>
                    <a:pt x="447319" y="158432"/>
                  </a:lnTo>
                  <a:lnTo>
                    <a:pt x="444881" y="159651"/>
                  </a:lnTo>
                  <a:lnTo>
                    <a:pt x="443661" y="162090"/>
                  </a:lnTo>
                  <a:lnTo>
                    <a:pt x="444881" y="165760"/>
                  </a:lnTo>
                  <a:lnTo>
                    <a:pt x="869073" y="588657"/>
                  </a:lnTo>
                  <a:lnTo>
                    <a:pt x="871512" y="589876"/>
                  </a:lnTo>
                  <a:lnTo>
                    <a:pt x="873950" y="588657"/>
                  </a:lnTo>
                  <a:lnTo>
                    <a:pt x="875169" y="586219"/>
                  </a:lnTo>
                  <a:close/>
                </a:path>
              </a:pathLst>
            </a:custGeom>
            <a:solidFill>
              <a:srgbClr val="929599"/>
            </a:solidFill>
          </p:spPr>
          <p:txBody>
            <a:bodyPr wrap="square" lIns="0" tIns="0" rIns="0" bIns="0" rtlCol="0"/>
            <a:lstStyle/>
            <a:p>
              <a:endParaRPr/>
            </a:p>
          </p:txBody>
        </p:sp>
        <p:pic>
          <p:nvPicPr>
            <p:cNvPr id="8" name="object 8"/>
            <p:cNvPicPr/>
            <p:nvPr/>
          </p:nvPicPr>
          <p:blipFill>
            <a:blip r:embed="rId5" cstate="print"/>
            <a:stretch>
              <a:fillRect/>
            </a:stretch>
          </p:blipFill>
          <p:spPr>
            <a:xfrm>
              <a:off x="4043450" y="4576670"/>
              <a:ext cx="101177" cy="97523"/>
            </a:xfrm>
            <a:prstGeom prst="rect">
              <a:avLst/>
            </a:prstGeom>
          </p:spPr>
        </p:pic>
        <p:pic>
          <p:nvPicPr>
            <p:cNvPr id="9" name="object 9"/>
            <p:cNvPicPr/>
            <p:nvPr/>
          </p:nvPicPr>
          <p:blipFill>
            <a:blip r:embed="rId6" cstate="print"/>
            <a:stretch>
              <a:fillRect/>
            </a:stretch>
          </p:blipFill>
          <p:spPr>
            <a:xfrm>
              <a:off x="3402316" y="4247630"/>
              <a:ext cx="168239" cy="168161"/>
            </a:xfrm>
            <a:prstGeom prst="rect">
              <a:avLst/>
            </a:prstGeom>
          </p:spPr>
        </p:pic>
        <p:sp>
          <p:nvSpPr>
            <p:cNvPr id="10" name="object 10"/>
            <p:cNvSpPr/>
            <p:nvPr/>
          </p:nvSpPr>
          <p:spPr>
            <a:xfrm>
              <a:off x="2892806" y="3921036"/>
              <a:ext cx="574675" cy="572135"/>
            </a:xfrm>
            <a:custGeom>
              <a:avLst/>
              <a:gdLst/>
              <a:ahLst/>
              <a:cxnLst/>
              <a:rect l="l" t="t" r="r" b="b"/>
              <a:pathLst>
                <a:path w="574675" h="572135">
                  <a:moveTo>
                    <a:pt x="432727" y="528929"/>
                  </a:moveTo>
                  <a:lnTo>
                    <a:pt x="431507" y="520382"/>
                  </a:lnTo>
                  <a:lnTo>
                    <a:pt x="429069" y="513041"/>
                  </a:lnTo>
                  <a:lnTo>
                    <a:pt x="425411" y="505764"/>
                  </a:lnTo>
                  <a:lnTo>
                    <a:pt x="425411" y="528929"/>
                  </a:lnTo>
                  <a:lnTo>
                    <a:pt x="424192" y="536219"/>
                  </a:lnTo>
                  <a:lnTo>
                    <a:pt x="390067" y="564273"/>
                  </a:lnTo>
                  <a:lnTo>
                    <a:pt x="382752" y="563054"/>
                  </a:lnTo>
                  <a:lnTo>
                    <a:pt x="376656" y="561835"/>
                  </a:lnTo>
                  <a:lnTo>
                    <a:pt x="370547" y="558165"/>
                  </a:lnTo>
                  <a:lnTo>
                    <a:pt x="360781" y="548386"/>
                  </a:lnTo>
                  <a:lnTo>
                    <a:pt x="358394" y="542328"/>
                  </a:lnTo>
                  <a:lnTo>
                    <a:pt x="355955" y="536219"/>
                  </a:lnTo>
                  <a:lnTo>
                    <a:pt x="354736" y="528929"/>
                  </a:lnTo>
                  <a:lnTo>
                    <a:pt x="355955" y="521601"/>
                  </a:lnTo>
                  <a:lnTo>
                    <a:pt x="358394" y="515493"/>
                  </a:lnTo>
                  <a:lnTo>
                    <a:pt x="360781" y="509422"/>
                  </a:lnTo>
                  <a:lnTo>
                    <a:pt x="370547" y="499656"/>
                  </a:lnTo>
                  <a:lnTo>
                    <a:pt x="382752" y="494766"/>
                  </a:lnTo>
                  <a:lnTo>
                    <a:pt x="397395" y="494766"/>
                  </a:lnTo>
                  <a:lnTo>
                    <a:pt x="409549" y="499656"/>
                  </a:lnTo>
                  <a:lnTo>
                    <a:pt x="419303" y="509422"/>
                  </a:lnTo>
                  <a:lnTo>
                    <a:pt x="424192" y="521601"/>
                  </a:lnTo>
                  <a:lnTo>
                    <a:pt x="425411" y="528929"/>
                  </a:lnTo>
                  <a:lnTo>
                    <a:pt x="425411" y="505764"/>
                  </a:lnTo>
                  <a:lnTo>
                    <a:pt x="414388" y="494766"/>
                  </a:lnTo>
                  <a:lnTo>
                    <a:pt x="413207" y="493585"/>
                  </a:lnTo>
                  <a:lnTo>
                    <a:pt x="405892" y="489927"/>
                  </a:lnTo>
                  <a:lnTo>
                    <a:pt x="398614" y="487476"/>
                  </a:lnTo>
                  <a:lnTo>
                    <a:pt x="383971" y="487476"/>
                  </a:lnTo>
                  <a:lnTo>
                    <a:pt x="6108" y="109651"/>
                  </a:lnTo>
                  <a:lnTo>
                    <a:pt x="3670" y="108432"/>
                  </a:lnTo>
                  <a:lnTo>
                    <a:pt x="1219" y="109651"/>
                  </a:lnTo>
                  <a:lnTo>
                    <a:pt x="0" y="112102"/>
                  </a:lnTo>
                  <a:lnTo>
                    <a:pt x="1219" y="114541"/>
                  </a:lnTo>
                  <a:lnTo>
                    <a:pt x="374891" y="489381"/>
                  </a:lnTo>
                  <a:lnTo>
                    <a:pt x="372986" y="489927"/>
                  </a:lnTo>
                  <a:lnTo>
                    <a:pt x="348640" y="520382"/>
                  </a:lnTo>
                  <a:lnTo>
                    <a:pt x="347408" y="528929"/>
                  </a:lnTo>
                  <a:lnTo>
                    <a:pt x="348640" y="537438"/>
                  </a:lnTo>
                  <a:lnTo>
                    <a:pt x="372986" y="567893"/>
                  </a:lnTo>
                  <a:lnTo>
                    <a:pt x="390067" y="571563"/>
                  </a:lnTo>
                  <a:lnTo>
                    <a:pt x="398614" y="570331"/>
                  </a:lnTo>
                  <a:lnTo>
                    <a:pt x="429069" y="545998"/>
                  </a:lnTo>
                  <a:lnTo>
                    <a:pt x="431507" y="537438"/>
                  </a:lnTo>
                  <a:lnTo>
                    <a:pt x="432727" y="528929"/>
                  </a:lnTo>
                  <a:close/>
                </a:path>
                <a:path w="574675" h="572135">
                  <a:moveTo>
                    <a:pt x="574128" y="520382"/>
                  </a:moveTo>
                  <a:lnTo>
                    <a:pt x="571690" y="513041"/>
                  </a:lnTo>
                  <a:lnTo>
                    <a:pt x="566801" y="505764"/>
                  </a:lnTo>
                  <a:lnTo>
                    <a:pt x="566801" y="521601"/>
                  </a:lnTo>
                  <a:lnTo>
                    <a:pt x="566801" y="536219"/>
                  </a:lnTo>
                  <a:lnTo>
                    <a:pt x="538784" y="563054"/>
                  </a:lnTo>
                  <a:lnTo>
                    <a:pt x="532688" y="564273"/>
                  </a:lnTo>
                  <a:lnTo>
                    <a:pt x="499745" y="542328"/>
                  </a:lnTo>
                  <a:lnTo>
                    <a:pt x="497357" y="528929"/>
                  </a:lnTo>
                  <a:lnTo>
                    <a:pt x="498525" y="521601"/>
                  </a:lnTo>
                  <a:lnTo>
                    <a:pt x="525360" y="494766"/>
                  </a:lnTo>
                  <a:lnTo>
                    <a:pt x="532688" y="494766"/>
                  </a:lnTo>
                  <a:lnTo>
                    <a:pt x="538784" y="494766"/>
                  </a:lnTo>
                  <a:lnTo>
                    <a:pt x="566801" y="521601"/>
                  </a:lnTo>
                  <a:lnTo>
                    <a:pt x="566801" y="505764"/>
                  </a:lnTo>
                  <a:lnTo>
                    <a:pt x="561924" y="499656"/>
                  </a:lnTo>
                  <a:lnTo>
                    <a:pt x="557009" y="494766"/>
                  </a:lnTo>
                  <a:lnTo>
                    <a:pt x="555828" y="493585"/>
                  </a:lnTo>
                  <a:lnTo>
                    <a:pt x="548500" y="489927"/>
                  </a:lnTo>
                  <a:lnTo>
                    <a:pt x="541223" y="487476"/>
                  </a:lnTo>
                  <a:lnTo>
                    <a:pt x="535127" y="487476"/>
                  </a:lnTo>
                  <a:lnTo>
                    <a:pt x="47536" y="1181"/>
                  </a:lnTo>
                  <a:lnTo>
                    <a:pt x="45097" y="0"/>
                  </a:lnTo>
                  <a:lnTo>
                    <a:pt x="42659" y="1181"/>
                  </a:lnTo>
                  <a:lnTo>
                    <a:pt x="41440" y="3619"/>
                  </a:lnTo>
                  <a:lnTo>
                    <a:pt x="42659" y="6070"/>
                  </a:lnTo>
                  <a:lnTo>
                    <a:pt x="524129" y="487489"/>
                  </a:lnTo>
                  <a:lnTo>
                    <a:pt x="515607" y="489927"/>
                  </a:lnTo>
                  <a:lnTo>
                    <a:pt x="491248" y="520382"/>
                  </a:lnTo>
                  <a:lnTo>
                    <a:pt x="490029" y="528929"/>
                  </a:lnTo>
                  <a:lnTo>
                    <a:pt x="491248" y="537438"/>
                  </a:lnTo>
                  <a:lnTo>
                    <a:pt x="515607" y="567893"/>
                  </a:lnTo>
                  <a:lnTo>
                    <a:pt x="532688" y="571563"/>
                  </a:lnTo>
                  <a:lnTo>
                    <a:pt x="541223" y="570331"/>
                  </a:lnTo>
                  <a:lnTo>
                    <a:pt x="548500" y="567893"/>
                  </a:lnTo>
                  <a:lnTo>
                    <a:pt x="555828" y="564273"/>
                  </a:lnTo>
                  <a:lnTo>
                    <a:pt x="561924" y="559384"/>
                  </a:lnTo>
                  <a:lnTo>
                    <a:pt x="566801" y="552056"/>
                  </a:lnTo>
                  <a:lnTo>
                    <a:pt x="571690" y="545998"/>
                  </a:lnTo>
                  <a:lnTo>
                    <a:pt x="574128" y="537438"/>
                  </a:lnTo>
                  <a:lnTo>
                    <a:pt x="574128" y="520382"/>
                  </a:lnTo>
                  <a:close/>
                </a:path>
              </a:pathLst>
            </a:custGeom>
            <a:solidFill>
              <a:srgbClr val="929599"/>
            </a:solidFill>
          </p:spPr>
          <p:txBody>
            <a:bodyPr wrap="square" lIns="0" tIns="0" rIns="0" bIns="0" rtlCol="0"/>
            <a:lstStyle/>
            <a:p>
              <a:endParaRPr/>
            </a:p>
          </p:txBody>
        </p:sp>
        <p:pic>
          <p:nvPicPr>
            <p:cNvPr id="11" name="object 11"/>
            <p:cNvPicPr/>
            <p:nvPr/>
          </p:nvPicPr>
          <p:blipFill>
            <a:blip r:embed="rId7" cstate="print"/>
            <a:stretch>
              <a:fillRect/>
            </a:stretch>
          </p:blipFill>
          <p:spPr>
            <a:xfrm>
              <a:off x="3525457" y="4408508"/>
              <a:ext cx="84095" cy="287521"/>
            </a:xfrm>
            <a:prstGeom prst="rect">
              <a:avLst/>
            </a:prstGeom>
          </p:spPr>
        </p:pic>
        <p:sp>
          <p:nvSpPr>
            <p:cNvPr id="12" name="object 12"/>
            <p:cNvSpPr/>
            <p:nvPr/>
          </p:nvSpPr>
          <p:spPr>
            <a:xfrm>
              <a:off x="3279216" y="3700843"/>
              <a:ext cx="150495" cy="1008380"/>
            </a:xfrm>
            <a:custGeom>
              <a:avLst/>
              <a:gdLst/>
              <a:ahLst/>
              <a:cxnLst/>
              <a:rect l="l" t="t" r="r" b="b"/>
              <a:pathLst>
                <a:path w="150495" h="1008379">
                  <a:moveTo>
                    <a:pt x="7327" y="788022"/>
                  </a:moveTo>
                  <a:lnTo>
                    <a:pt x="6654" y="788022"/>
                  </a:lnTo>
                  <a:lnTo>
                    <a:pt x="6654" y="785482"/>
                  </a:lnTo>
                  <a:lnTo>
                    <a:pt x="4445" y="785482"/>
                  </a:lnTo>
                  <a:lnTo>
                    <a:pt x="4445" y="784212"/>
                  </a:lnTo>
                  <a:lnTo>
                    <a:pt x="2882" y="784212"/>
                  </a:lnTo>
                  <a:lnTo>
                    <a:pt x="2882" y="785482"/>
                  </a:lnTo>
                  <a:lnTo>
                    <a:pt x="673" y="785482"/>
                  </a:lnTo>
                  <a:lnTo>
                    <a:pt x="673" y="788022"/>
                  </a:lnTo>
                  <a:lnTo>
                    <a:pt x="0" y="788022"/>
                  </a:lnTo>
                  <a:lnTo>
                    <a:pt x="0" y="1007897"/>
                  </a:lnTo>
                  <a:lnTo>
                    <a:pt x="7327" y="1007897"/>
                  </a:lnTo>
                  <a:lnTo>
                    <a:pt x="7327" y="788022"/>
                  </a:lnTo>
                  <a:close/>
                </a:path>
                <a:path w="150495" h="1008379">
                  <a:moveTo>
                    <a:pt x="130416" y="3810"/>
                  </a:moveTo>
                  <a:lnTo>
                    <a:pt x="130060" y="3810"/>
                  </a:lnTo>
                  <a:lnTo>
                    <a:pt x="130060" y="1270"/>
                  </a:lnTo>
                  <a:lnTo>
                    <a:pt x="128854" y="1270"/>
                  </a:lnTo>
                  <a:lnTo>
                    <a:pt x="128854" y="0"/>
                  </a:lnTo>
                  <a:lnTo>
                    <a:pt x="124650" y="0"/>
                  </a:lnTo>
                  <a:lnTo>
                    <a:pt x="124650" y="1270"/>
                  </a:lnTo>
                  <a:lnTo>
                    <a:pt x="123444" y="1270"/>
                  </a:lnTo>
                  <a:lnTo>
                    <a:pt x="123444" y="3810"/>
                  </a:lnTo>
                  <a:lnTo>
                    <a:pt x="123088" y="3810"/>
                  </a:lnTo>
                  <a:lnTo>
                    <a:pt x="123088" y="550341"/>
                  </a:lnTo>
                  <a:lnTo>
                    <a:pt x="123672" y="550341"/>
                  </a:lnTo>
                  <a:lnTo>
                    <a:pt x="123672" y="552881"/>
                  </a:lnTo>
                  <a:lnTo>
                    <a:pt x="125552" y="552881"/>
                  </a:lnTo>
                  <a:lnTo>
                    <a:pt x="125552" y="554151"/>
                  </a:lnTo>
                  <a:lnTo>
                    <a:pt x="127965" y="554151"/>
                  </a:lnTo>
                  <a:lnTo>
                    <a:pt x="127965" y="552881"/>
                  </a:lnTo>
                  <a:lnTo>
                    <a:pt x="129844" y="552881"/>
                  </a:lnTo>
                  <a:lnTo>
                    <a:pt x="129844" y="550341"/>
                  </a:lnTo>
                  <a:lnTo>
                    <a:pt x="130416" y="550341"/>
                  </a:lnTo>
                  <a:lnTo>
                    <a:pt x="130416" y="3810"/>
                  </a:lnTo>
                  <a:close/>
                </a:path>
                <a:path w="150495" h="1008379">
                  <a:moveTo>
                    <a:pt x="149936" y="788022"/>
                  </a:moveTo>
                  <a:lnTo>
                    <a:pt x="149275" y="788022"/>
                  </a:lnTo>
                  <a:lnTo>
                    <a:pt x="149275" y="785482"/>
                  </a:lnTo>
                  <a:lnTo>
                    <a:pt x="147053" y="785482"/>
                  </a:lnTo>
                  <a:lnTo>
                    <a:pt x="147053" y="784212"/>
                  </a:lnTo>
                  <a:lnTo>
                    <a:pt x="145503" y="784212"/>
                  </a:lnTo>
                  <a:lnTo>
                    <a:pt x="145503" y="785482"/>
                  </a:lnTo>
                  <a:lnTo>
                    <a:pt x="143281" y="785482"/>
                  </a:lnTo>
                  <a:lnTo>
                    <a:pt x="143281" y="788022"/>
                  </a:lnTo>
                  <a:lnTo>
                    <a:pt x="142621" y="788022"/>
                  </a:lnTo>
                  <a:lnTo>
                    <a:pt x="142621" y="1000277"/>
                  </a:lnTo>
                  <a:lnTo>
                    <a:pt x="142621" y="1001547"/>
                  </a:lnTo>
                  <a:lnTo>
                    <a:pt x="145338" y="1001547"/>
                  </a:lnTo>
                  <a:lnTo>
                    <a:pt x="145338" y="1000277"/>
                  </a:lnTo>
                  <a:lnTo>
                    <a:pt x="149936" y="1000277"/>
                  </a:lnTo>
                  <a:lnTo>
                    <a:pt x="149936" y="788022"/>
                  </a:lnTo>
                  <a:close/>
                </a:path>
              </a:pathLst>
            </a:custGeom>
            <a:solidFill>
              <a:srgbClr val="929599"/>
            </a:solidFill>
          </p:spPr>
          <p:txBody>
            <a:bodyPr wrap="square" lIns="0" tIns="0" rIns="0" bIns="0" rtlCol="0"/>
            <a:lstStyle/>
            <a:p>
              <a:endParaRPr/>
            </a:p>
          </p:txBody>
        </p:sp>
        <p:pic>
          <p:nvPicPr>
            <p:cNvPr id="13" name="object 13"/>
            <p:cNvPicPr/>
            <p:nvPr/>
          </p:nvPicPr>
          <p:blipFill>
            <a:blip r:embed="rId8" cstate="print"/>
            <a:stretch>
              <a:fillRect/>
            </a:stretch>
          </p:blipFill>
          <p:spPr>
            <a:xfrm>
              <a:off x="4325020" y="4408508"/>
              <a:ext cx="84143" cy="84080"/>
            </a:xfrm>
            <a:prstGeom prst="rect">
              <a:avLst/>
            </a:prstGeom>
          </p:spPr>
        </p:pic>
        <p:pic>
          <p:nvPicPr>
            <p:cNvPr id="14" name="object 14"/>
            <p:cNvPicPr/>
            <p:nvPr/>
          </p:nvPicPr>
          <p:blipFill>
            <a:blip r:embed="rId9" cstate="print"/>
            <a:stretch>
              <a:fillRect/>
            </a:stretch>
          </p:blipFill>
          <p:spPr>
            <a:xfrm>
              <a:off x="4325020" y="4247630"/>
              <a:ext cx="84143" cy="84080"/>
            </a:xfrm>
            <a:prstGeom prst="rect">
              <a:avLst/>
            </a:prstGeom>
          </p:spPr>
        </p:pic>
        <p:pic>
          <p:nvPicPr>
            <p:cNvPr id="15" name="object 15"/>
            <p:cNvPicPr/>
            <p:nvPr/>
          </p:nvPicPr>
          <p:blipFill>
            <a:blip r:embed="rId10" cstate="print"/>
            <a:stretch>
              <a:fillRect/>
            </a:stretch>
          </p:blipFill>
          <p:spPr>
            <a:xfrm>
              <a:off x="3967896" y="3962440"/>
              <a:ext cx="84095" cy="315645"/>
            </a:xfrm>
            <a:prstGeom prst="rect">
              <a:avLst/>
            </a:prstGeom>
          </p:spPr>
        </p:pic>
        <p:pic>
          <p:nvPicPr>
            <p:cNvPr id="16" name="object 16"/>
            <p:cNvPicPr/>
            <p:nvPr/>
          </p:nvPicPr>
          <p:blipFill>
            <a:blip r:embed="rId11" cstate="print"/>
            <a:stretch>
              <a:fillRect/>
            </a:stretch>
          </p:blipFill>
          <p:spPr>
            <a:xfrm>
              <a:off x="3675345" y="3962440"/>
              <a:ext cx="85364" cy="315645"/>
            </a:xfrm>
            <a:prstGeom prst="rect">
              <a:avLst/>
            </a:prstGeom>
          </p:spPr>
        </p:pic>
        <p:sp>
          <p:nvSpPr>
            <p:cNvPr id="17" name="object 17"/>
            <p:cNvSpPr/>
            <p:nvPr/>
          </p:nvSpPr>
          <p:spPr>
            <a:xfrm>
              <a:off x="3826501" y="4194004"/>
              <a:ext cx="84455" cy="84455"/>
            </a:xfrm>
            <a:custGeom>
              <a:avLst/>
              <a:gdLst/>
              <a:ahLst/>
              <a:cxnLst/>
              <a:rect l="l" t="t" r="r" b="b"/>
              <a:pathLst>
                <a:path w="84454" h="84454">
                  <a:moveTo>
                    <a:pt x="49978" y="0"/>
                  </a:moveTo>
                  <a:lnTo>
                    <a:pt x="32896" y="0"/>
                  </a:lnTo>
                  <a:lnTo>
                    <a:pt x="25623" y="2444"/>
                  </a:lnTo>
                  <a:lnTo>
                    <a:pt x="0" y="32899"/>
                  </a:lnTo>
                  <a:lnTo>
                    <a:pt x="0" y="49959"/>
                  </a:lnTo>
                  <a:lnTo>
                    <a:pt x="25623" y="80414"/>
                  </a:lnTo>
                  <a:lnTo>
                    <a:pt x="41437" y="84080"/>
                  </a:lnTo>
                  <a:lnTo>
                    <a:pt x="49978" y="82858"/>
                  </a:lnTo>
                  <a:lnTo>
                    <a:pt x="58520" y="80414"/>
                  </a:lnTo>
                  <a:lnTo>
                    <a:pt x="64621" y="76797"/>
                  </a:lnTo>
                  <a:lnTo>
                    <a:pt x="41437" y="76797"/>
                  </a:lnTo>
                  <a:lnTo>
                    <a:pt x="34116" y="75574"/>
                  </a:lnTo>
                  <a:lnTo>
                    <a:pt x="28064" y="74352"/>
                  </a:lnTo>
                  <a:lnTo>
                    <a:pt x="21963" y="70686"/>
                  </a:lnTo>
                  <a:lnTo>
                    <a:pt x="17082" y="65798"/>
                  </a:lnTo>
                  <a:lnTo>
                    <a:pt x="12201" y="60958"/>
                  </a:lnTo>
                  <a:lnTo>
                    <a:pt x="7321" y="48737"/>
                  </a:lnTo>
                  <a:lnTo>
                    <a:pt x="7321" y="34121"/>
                  </a:lnTo>
                  <a:lnTo>
                    <a:pt x="12201" y="21949"/>
                  </a:lnTo>
                  <a:lnTo>
                    <a:pt x="21963" y="12172"/>
                  </a:lnTo>
                  <a:lnTo>
                    <a:pt x="34116" y="7332"/>
                  </a:lnTo>
                  <a:lnTo>
                    <a:pt x="64621" y="7332"/>
                  </a:lnTo>
                  <a:lnTo>
                    <a:pt x="58520" y="2444"/>
                  </a:lnTo>
                  <a:lnTo>
                    <a:pt x="49978" y="0"/>
                  </a:lnTo>
                  <a:close/>
                </a:path>
                <a:path w="84454" h="84454">
                  <a:moveTo>
                    <a:pt x="64621" y="7332"/>
                  </a:moveTo>
                  <a:lnTo>
                    <a:pt x="48758" y="7332"/>
                  </a:lnTo>
                  <a:lnTo>
                    <a:pt x="60960" y="12172"/>
                  </a:lnTo>
                  <a:lnTo>
                    <a:pt x="70721" y="21949"/>
                  </a:lnTo>
                  <a:lnTo>
                    <a:pt x="74382" y="28010"/>
                  </a:lnTo>
                  <a:lnTo>
                    <a:pt x="75553" y="34121"/>
                  </a:lnTo>
                  <a:lnTo>
                    <a:pt x="76774" y="41453"/>
                  </a:lnTo>
                  <a:lnTo>
                    <a:pt x="75553" y="48737"/>
                  </a:lnTo>
                  <a:lnTo>
                    <a:pt x="74382" y="54848"/>
                  </a:lnTo>
                  <a:lnTo>
                    <a:pt x="70721" y="60958"/>
                  </a:lnTo>
                  <a:lnTo>
                    <a:pt x="65841" y="65798"/>
                  </a:lnTo>
                  <a:lnTo>
                    <a:pt x="60960" y="70686"/>
                  </a:lnTo>
                  <a:lnTo>
                    <a:pt x="54859" y="74352"/>
                  </a:lnTo>
                  <a:lnTo>
                    <a:pt x="48758" y="75574"/>
                  </a:lnTo>
                  <a:lnTo>
                    <a:pt x="41437" y="76797"/>
                  </a:lnTo>
                  <a:lnTo>
                    <a:pt x="64621" y="76797"/>
                  </a:lnTo>
                  <a:lnTo>
                    <a:pt x="84095" y="41453"/>
                  </a:lnTo>
                  <a:lnTo>
                    <a:pt x="82875" y="32899"/>
                  </a:lnTo>
                  <a:lnTo>
                    <a:pt x="80434" y="25615"/>
                  </a:lnTo>
                  <a:lnTo>
                    <a:pt x="76774" y="18282"/>
                  </a:lnTo>
                  <a:lnTo>
                    <a:pt x="71942" y="12172"/>
                  </a:lnTo>
                  <a:lnTo>
                    <a:pt x="64621" y="7332"/>
                  </a:lnTo>
                  <a:close/>
                </a:path>
              </a:pathLst>
            </a:custGeom>
            <a:solidFill>
              <a:srgbClr val="929599"/>
            </a:solidFill>
          </p:spPr>
          <p:txBody>
            <a:bodyPr wrap="square" lIns="0" tIns="0" rIns="0" bIns="0" rtlCol="0"/>
            <a:lstStyle/>
            <a:p>
              <a:endParaRPr/>
            </a:p>
          </p:txBody>
        </p:sp>
        <p:pic>
          <p:nvPicPr>
            <p:cNvPr id="18" name="object 18"/>
            <p:cNvPicPr/>
            <p:nvPr/>
          </p:nvPicPr>
          <p:blipFill>
            <a:blip r:embed="rId12" cstate="print"/>
            <a:stretch>
              <a:fillRect/>
            </a:stretch>
          </p:blipFill>
          <p:spPr>
            <a:xfrm>
              <a:off x="3826501" y="3823511"/>
              <a:ext cx="84095" cy="84080"/>
            </a:xfrm>
            <a:prstGeom prst="rect">
              <a:avLst/>
            </a:prstGeom>
          </p:spPr>
        </p:pic>
        <p:sp>
          <p:nvSpPr>
            <p:cNvPr id="19" name="object 19"/>
            <p:cNvSpPr/>
            <p:nvPr/>
          </p:nvSpPr>
          <p:spPr>
            <a:xfrm>
              <a:off x="3525456" y="3900385"/>
              <a:ext cx="346710" cy="377825"/>
            </a:xfrm>
            <a:custGeom>
              <a:avLst/>
              <a:gdLst/>
              <a:ahLst/>
              <a:cxnLst/>
              <a:rect l="l" t="t" r="r" b="b"/>
              <a:pathLst>
                <a:path w="346710" h="377825">
                  <a:moveTo>
                    <a:pt x="84086" y="335076"/>
                  </a:moveTo>
                  <a:lnTo>
                    <a:pt x="82867" y="326529"/>
                  </a:lnTo>
                  <a:lnTo>
                    <a:pt x="80429" y="319239"/>
                  </a:lnTo>
                  <a:lnTo>
                    <a:pt x="76771" y="311912"/>
                  </a:lnTo>
                  <a:lnTo>
                    <a:pt x="76771" y="335076"/>
                  </a:lnTo>
                  <a:lnTo>
                    <a:pt x="75552" y="342366"/>
                  </a:lnTo>
                  <a:lnTo>
                    <a:pt x="41427" y="370420"/>
                  </a:lnTo>
                  <a:lnTo>
                    <a:pt x="35331" y="369201"/>
                  </a:lnTo>
                  <a:lnTo>
                    <a:pt x="28016" y="367982"/>
                  </a:lnTo>
                  <a:lnTo>
                    <a:pt x="7264" y="342366"/>
                  </a:lnTo>
                  <a:lnTo>
                    <a:pt x="7264" y="327748"/>
                  </a:lnTo>
                  <a:lnTo>
                    <a:pt x="35331" y="300951"/>
                  </a:lnTo>
                  <a:lnTo>
                    <a:pt x="48755" y="300951"/>
                  </a:lnTo>
                  <a:lnTo>
                    <a:pt x="76771" y="335076"/>
                  </a:lnTo>
                  <a:lnTo>
                    <a:pt x="76771" y="311912"/>
                  </a:lnTo>
                  <a:lnTo>
                    <a:pt x="71882" y="305803"/>
                  </a:lnTo>
                  <a:lnTo>
                    <a:pt x="65786" y="300951"/>
                  </a:lnTo>
                  <a:lnTo>
                    <a:pt x="58470" y="296075"/>
                  </a:lnTo>
                  <a:lnTo>
                    <a:pt x="49974" y="293624"/>
                  </a:lnTo>
                  <a:lnTo>
                    <a:pt x="32893" y="293624"/>
                  </a:lnTo>
                  <a:lnTo>
                    <a:pt x="3657" y="319239"/>
                  </a:lnTo>
                  <a:lnTo>
                    <a:pt x="0" y="335076"/>
                  </a:lnTo>
                  <a:lnTo>
                    <a:pt x="1219" y="343585"/>
                  </a:lnTo>
                  <a:lnTo>
                    <a:pt x="25565" y="374040"/>
                  </a:lnTo>
                  <a:lnTo>
                    <a:pt x="41427" y="377710"/>
                  </a:lnTo>
                  <a:lnTo>
                    <a:pt x="49974" y="376478"/>
                  </a:lnTo>
                  <a:lnTo>
                    <a:pt x="80429" y="352145"/>
                  </a:lnTo>
                  <a:lnTo>
                    <a:pt x="82867" y="343585"/>
                  </a:lnTo>
                  <a:lnTo>
                    <a:pt x="84086" y="335076"/>
                  </a:lnTo>
                  <a:close/>
                </a:path>
                <a:path w="346710" h="377825">
                  <a:moveTo>
                    <a:pt x="346138" y="3822"/>
                  </a:moveTo>
                  <a:lnTo>
                    <a:pt x="345630" y="3822"/>
                  </a:lnTo>
                  <a:lnTo>
                    <a:pt x="345630" y="1282"/>
                  </a:lnTo>
                  <a:lnTo>
                    <a:pt x="343903" y="1282"/>
                  </a:lnTo>
                  <a:lnTo>
                    <a:pt x="343903" y="0"/>
                  </a:lnTo>
                  <a:lnTo>
                    <a:pt x="341058" y="0"/>
                  </a:lnTo>
                  <a:lnTo>
                    <a:pt x="341058" y="1282"/>
                  </a:lnTo>
                  <a:lnTo>
                    <a:pt x="339318" y="1282"/>
                  </a:lnTo>
                  <a:lnTo>
                    <a:pt x="339318" y="3822"/>
                  </a:lnTo>
                  <a:lnTo>
                    <a:pt x="338810" y="3822"/>
                  </a:lnTo>
                  <a:lnTo>
                    <a:pt x="338810" y="297421"/>
                  </a:lnTo>
                  <a:lnTo>
                    <a:pt x="339509" y="297421"/>
                  </a:lnTo>
                  <a:lnTo>
                    <a:pt x="339509" y="299961"/>
                  </a:lnTo>
                  <a:lnTo>
                    <a:pt x="341757" y="299961"/>
                  </a:lnTo>
                  <a:lnTo>
                    <a:pt x="341757" y="301231"/>
                  </a:lnTo>
                  <a:lnTo>
                    <a:pt x="343192" y="301231"/>
                  </a:lnTo>
                  <a:lnTo>
                    <a:pt x="343192" y="299961"/>
                  </a:lnTo>
                  <a:lnTo>
                    <a:pt x="345440" y="299961"/>
                  </a:lnTo>
                  <a:lnTo>
                    <a:pt x="345440" y="297421"/>
                  </a:lnTo>
                  <a:lnTo>
                    <a:pt x="346138" y="297421"/>
                  </a:lnTo>
                  <a:lnTo>
                    <a:pt x="346138" y="3822"/>
                  </a:lnTo>
                  <a:close/>
                </a:path>
              </a:pathLst>
            </a:custGeom>
            <a:solidFill>
              <a:srgbClr val="929599"/>
            </a:solidFill>
          </p:spPr>
          <p:txBody>
            <a:bodyPr wrap="square" lIns="0" tIns="0" rIns="0" bIns="0" rtlCol="0"/>
            <a:lstStyle/>
            <a:p>
              <a:endParaRPr/>
            </a:p>
          </p:txBody>
        </p:sp>
        <p:pic>
          <p:nvPicPr>
            <p:cNvPr id="20" name="object 20"/>
            <p:cNvPicPr/>
            <p:nvPr/>
          </p:nvPicPr>
          <p:blipFill>
            <a:blip r:embed="rId13" cstate="print"/>
            <a:stretch>
              <a:fillRect/>
            </a:stretch>
          </p:blipFill>
          <p:spPr>
            <a:xfrm>
              <a:off x="3525457" y="3823511"/>
              <a:ext cx="84095" cy="84080"/>
            </a:xfrm>
            <a:prstGeom prst="rect">
              <a:avLst/>
            </a:prstGeom>
          </p:spPr>
        </p:pic>
        <p:sp>
          <p:nvSpPr>
            <p:cNvPr id="21" name="object 21"/>
            <p:cNvSpPr/>
            <p:nvPr/>
          </p:nvSpPr>
          <p:spPr>
            <a:xfrm>
              <a:off x="3563226" y="3900385"/>
              <a:ext cx="2814955" cy="553085"/>
            </a:xfrm>
            <a:custGeom>
              <a:avLst/>
              <a:gdLst/>
              <a:ahLst/>
              <a:cxnLst/>
              <a:rect l="l" t="t" r="r" b="b"/>
              <a:pathLst>
                <a:path w="2814954" h="553085">
                  <a:moveTo>
                    <a:pt x="7327" y="1282"/>
                  </a:moveTo>
                  <a:lnTo>
                    <a:pt x="5791" y="1282"/>
                  </a:lnTo>
                  <a:lnTo>
                    <a:pt x="5791" y="0"/>
                  </a:lnTo>
                  <a:lnTo>
                    <a:pt x="2235" y="0"/>
                  </a:lnTo>
                  <a:lnTo>
                    <a:pt x="2235" y="1282"/>
                  </a:lnTo>
                  <a:lnTo>
                    <a:pt x="508" y="1282"/>
                  </a:lnTo>
                  <a:lnTo>
                    <a:pt x="508" y="3822"/>
                  </a:lnTo>
                  <a:lnTo>
                    <a:pt x="0" y="3822"/>
                  </a:lnTo>
                  <a:lnTo>
                    <a:pt x="0" y="297421"/>
                  </a:lnTo>
                  <a:lnTo>
                    <a:pt x="698" y="297421"/>
                  </a:lnTo>
                  <a:lnTo>
                    <a:pt x="698" y="299961"/>
                  </a:lnTo>
                  <a:lnTo>
                    <a:pt x="2946" y="299961"/>
                  </a:lnTo>
                  <a:lnTo>
                    <a:pt x="2946" y="301231"/>
                  </a:lnTo>
                  <a:lnTo>
                    <a:pt x="4737" y="301231"/>
                  </a:lnTo>
                  <a:lnTo>
                    <a:pt x="4737" y="299961"/>
                  </a:lnTo>
                  <a:lnTo>
                    <a:pt x="7327" y="299961"/>
                  </a:lnTo>
                  <a:lnTo>
                    <a:pt x="7327" y="297421"/>
                  </a:lnTo>
                  <a:lnTo>
                    <a:pt x="7327" y="3822"/>
                  </a:lnTo>
                  <a:lnTo>
                    <a:pt x="7327" y="1282"/>
                  </a:lnTo>
                  <a:close/>
                </a:path>
                <a:path w="2814954" h="553085">
                  <a:moveTo>
                    <a:pt x="411594" y="549071"/>
                  </a:moveTo>
                  <a:lnTo>
                    <a:pt x="411099" y="549071"/>
                  </a:lnTo>
                  <a:lnTo>
                    <a:pt x="411099" y="546531"/>
                  </a:lnTo>
                  <a:lnTo>
                    <a:pt x="39890" y="546531"/>
                  </a:lnTo>
                  <a:lnTo>
                    <a:pt x="39890" y="549071"/>
                  </a:lnTo>
                  <a:lnTo>
                    <a:pt x="39382" y="549071"/>
                  </a:lnTo>
                  <a:lnTo>
                    <a:pt x="39382" y="551624"/>
                  </a:lnTo>
                  <a:lnTo>
                    <a:pt x="40767" y="551624"/>
                  </a:lnTo>
                  <a:lnTo>
                    <a:pt x="40767" y="552894"/>
                  </a:lnTo>
                  <a:lnTo>
                    <a:pt x="410210" y="552894"/>
                  </a:lnTo>
                  <a:lnTo>
                    <a:pt x="410210" y="551624"/>
                  </a:lnTo>
                  <a:lnTo>
                    <a:pt x="411594" y="551624"/>
                  </a:lnTo>
                  <a:lnTo>
                    <a:pt x="411594" y="549071"/>
                  </a:lnTo>
                  <a:close/>
                </a:path>
                <a:path w="2814954" h="553085">
                  <a:moveTo>
                    <a:pt x="808101" y="427659"/>
                  </a:moveTo>
                  <a:lnTo>
                    <a:pt x="806881" y="425272"/>
                  </a:lnTo>
                  <a:lnTo>
                    <a:pt x="804443" y="424053"/>
                  </a:lnTo>
                  <a:lnTo>
                    <a:pt x="800836" y="425272"/>
                  </a:lnTo>
                  <a:lnTo>
                    <a:pt x="800836" y="505688"/>
                  </a:lnTo>
                  <a:lnTo>
                    <a:pt x="804443" y="506907"/>
                  </a:lnTo>
                  <a:lnTo>
                    <a:pt x="806881" y="505688"/>
                  </a:lnTo>
                  <a:lnTo>
                    <a:pt x="808101" y="503237"/>
                  </a:lnTo>
                  <a:lnTo>
                    <a:pt x="808101" y="427659"/>
                  </a:lnTo>
                  <a:close/>
                </a:path>
                <a:path w="2814954" h="553085">
                  <a:moveTo>
                    <a:pt x="1784502" y="399681"/>
                  </a:moveTo>
                  <a:lnTo>
                    <a:pt x="1114082" y="399681"/>
                  </a:lnTo>
                  <a:lnTo>
                    <a:pt x="1114082" y="406984"/>
                  </a:lnTo>
                  <a:lnTo>
                    <a:pt x="1784502" y="406984"/>
                  </a:lnTo>
                  <a:lnTo>
                    <a:pt x="1784502" y="399681"/>
                  </a:lnTo>
                  <a:close/>
                </a:path>
                <a:path w="2814954" h="553085">
                  <a:moveTo>
                    <a:pt x="2307374" y="257086"/>
                  </a:moveTo>
                  <a:lnTo>
                    <a:pt x="1114082" y="257086"/>
                  </a:lnTo>
                  <a:lnTo>
                    <a:pt x="1114082" y="264388"/>
                  </a:lnTo>
                  <a:lnTo>
                    <a:pt x="2307374" y="264388"/>
                  </a:lnTo>
                  <a:lnTo>
                    <a:pt x="2307374" y="257086"/>
                  </a:lnTo>
                  <a:close/>
                </a:path>
                <a:path w="2814954" h="553085">
                  <a:moveTo>
                    <a:pt x="2814434" y="114490"/>
                  </a:moveTo>
                  <a:lnTo>
                    <a:pt x="1115301" y="114490"/>
                  </a:lnTo>
                  <a:lnTo>
                    <a:pt x="1115301" y="121793"/>
                  </a:lnTo>
                  <a:lnTo>
                    <a:pt x="2814434" y="121793"/>
                  </a:lnTo>
                  <a:lnTo>
                    <a:pt x="2814434" y="114490"/>
                  </a:lnTo>
                  <a:close/>
                </a:path>
              </a:pathLst>
            </a:custGeom>
            <a:solidFill>
              <a:srgbClr val="929599"/>
            </a:solidFill>
          </p:spPr>
          <p:txBody>
            <a:bodyPr wrap="square" lIns="0" tIns="0" rIns="0" bIns="0" rtlCol="0"/>
            <a:lstStyle/>
            <a:p>
              <a:endParaRPr/>
            </a:p>
          </p:txBody>
        </p:sp>
        <p:pic>
          <p:nvPicPr>
            <p:cNvPr id="22" name="object 22"/>
            <p:cNvPicPr/>
            <p:nvPr/>
          </p:nvPicPr>
          <p:blipFill>
            <a:blip r:embed="rId14" cstate="print"/>
            <a:stretch>
              <a:fillRect/>
            </a:stretch>
          </p:blipFill>
          <p:spPr>
            <a:xfrm>
              <a:off x="4140968" y="4486479"/>
              <a:ext cx="229150" cy="97523"/>
            </a:xfrm>
            <a:prstGeom prst="rect">
              <a:avLst/>
            </a:prstGeom>
          </p:spPr>
        </p:pic>
        <p:pic>
          <p:nvPicPr>
            <p:cNvPr id="23" name="object 23"/>
            <p:cNvPicPr/>
            <p:nvPr/>
          </p:nvPicPr>
          <p:blipFill>
            <a:blip r:embed="rId15" cstate="print"/>
            <a:stretch>
              <a:fillRect/>
            </a:stretch>
          </p:blipFill>
          <p:spPr>
            <a:xfrm>
              <a:off x="824357" y="1713864"/>
              <a:ext cx="84095" cy="85351"/>
            </a:xfrm>
            <a:prstGeom prst="rect">
              <a:avLst/>
            </a:prstGeom>
          </p:spPr>
        </p:pic>
        <p:pic>
          <p:nvPicPr>
            <p:cNvPr id="24" name="object 24"/>
            <p:cNvPicPr/>
            <p:nvPr/>
          </p:nvPicPr>
          <p:blipFill>
            <a:blip r:embed="rId16" cstate="print"/>
            <a:stretch>
              <a:fillRect/>
            </a:stretch>
          </p:blipFill>
          <p:spPr>
            <a:xfrm>
              <a:off x="824357" y="1846732"/>
              <a:ext cx="84095" cy="84080"/>
            </a:xfrm>
            <a:prstGeom prst="rect">
              <a:avLst/>
            </a:prstGeom>
          </p:spPr>
        </p:pic>
        <p:pic>
          <p:nvPicPr>
            <p:cNvPr id="25" name="object 25"/>
            <p:cNvPicPr/>
            <p:nvPr/>
          </p:nvPicPr>
          <p:blipFill>
            <a:blip r:embed="rId17" cstate="print"/>
            <a:stretch>
              <a:fillRect/>
            </a:stretch>
          </p:blipFill>
          <p:spPr>
            <a:xfrm>
              <a:off x="824357" y="1999055"/>
              <a:ext cx="84095" cy="84129"/>
            </a:xfrm>
            <a:prstGeom prst="rect">
              <a:avLst/>
            </a:prstGeom>
          </p:spPr>
        </p:pic>
        <p:pic>
          <p:nvPicPr>
            <p:cNvPr id="26" name="object 26"/>
            <p:cNvPicPr/>
            <p:nvPr/>
          </p:nvPicPr>
          <p:blipFill>
            <a:blip r:embed="rId18" cstate="print"/>
            <a:stretch>
              <a:fillRect/>
            </a:stretch>
          </p:blipFill>
          <p:spPr>
            <a:xfrm>
              <a:off x="664659" y="2006387"/>
              <a:ext cx="84095" cy="84080"/>
            </a:xfrm>
            <a:prstGeom prst="rect">
              <a:avLst/>
            </a:prstGeom>
          </p:spPr>
        </p:pic>
        <p:pic>
          <p:nvPicPr>
            <p:cNvPr id="27" name="object 27"/>
            <p:cNvPicPr/>
            <p:nvPr/>
          </p:nvPicPr>
          <p:blipFill>
            <a:blip r:embed="rId19" cstate="print"/>
            <a:stretch>
              <a:fillRect/>
            </a:stretch>
          </p:blipFill>
          <p:spPr>
            <a:xfrm>
              <a:off x="663439" y="2158710"/>
              <a:ext cx="85315" cy="85302"/>
            </a:xfrm>
            <a:prstGeom prst="rect">
              <a:avLst/>
            </a:prstGeom>
          </p:spPr>
        </p:pic>
        <p:pic>
          <p:nvPicPr>
            <p:cNvPr id="28" name="object 28"/>
            <p:cNvPicPr/>
            <p:nvPr/>
          </p:nvPicPr>
          <p:blipFill>
            <a:blip r:embed="rId20" cstate="print"/>
            <a:stretch>
              <a:fillRect/>
            </a:stretch>
          </p:blipFill>
          <p:spPr>
            <a:xfrm>
              <a:off x="502570" y="1713864"/>
              <a:ext cx="84095" cy="85351"/>
            </a:xfrm>
            <a:prstGeom prst="rect">
              <a:avLst/>
            </a:prstGeom>
          </p:spPr>
        </p:pic>
        <p:pic>
          <p:nvPicPr>
            <p:cNvPr id="29" name="object 29"/>
            <p:cNvPicPr/>
            <p:nvPr/>
          </p:nvPicPr>
          <p:blipFill>
            <a:blip r:embed="rId21" cstate="print"/>
            <a:stretch>
              <a:fillRect/>
            </a:stretch>
          </p:blipFill>
          <p:spPr>
            <a:xfrm>
              <a:off x="824357" y="1088684"/>
              <a:ext cx="84095" cy="84080"/>
            </a:xfrm>
            <a:prstGeom prst="rect">
              <a:avLst/>
            </a:prstGeom>
          </p:spPr>
        </p:pic>
        <p:pic>
          <p:nvPicPr>
            <p:cNvPr id="30" name="object 30"/>
            <p:cNvPicPr/>
            <p:nvPr/>
          </p:nvPicPr>
          <p:blipFill>
            <a:blip r:embed="rId22" cstate="print"/>
            <a:stretch>
              <a:fillRect/>
            </a:stretch>
          </p:blipFill>
          <p:spPr>
            <a:xfrm>
              <a:off x="345312" y="1874742"/>
              <a:ext cx="84104" cy="84129"/>
            </a:xfrm>
            <a:prstGeom prst="rect">
              <a:avLst/>
            </a:prstGeom>
          </p:spPr>
        </p:pic>
        <p:pic>
          <p:nvPicPr>
            <p:cNvPr id="31" name="object 31"/>
            <p:cNvPicPr/>
            <p:nvPr/>
          </p:nvPicPr>
          <p:blipFill>
            <a:blip r:embed="rId23" cstate="print"/>
            <a:stretch>
              <a:fillRect/>
            </a:stretch>
          </p:blipFill>
          <p:spPr>
            <a:xfrm>
              <a:off x="345312" y="1431118"/>
              <a:ext cx="84104" cy="85351"/>
            </a:xfrm>
            <a:prstGeom prst="rect">
              <a:avLst/>
            </a:prstGeom>
          </p:spPr>
        </p:pic>
        <p:pic>
          <p:nvPicPr>
            <p:cNvPr id="32" name="object 32"/>
            <p:cNvPicPr/>
            <p:nvPr/>
          </p:nvPicPr>
          <p:blipFill>
            <a:blip r:embed="rId24" cstate="print"/>
            <a:stretch>
              <a:fillRect/>
            </a:stretch>
          </p:blipFill>
          <p:spPr>
            <a:xfrm>
              <a:off x="345312" y="2016115"/>
              <a:ext cx="84104" cy="84129"/>
            </a:xfrm>
            <a:prstGeom prst="rect">
              <a:avLst/>
            </a:prstGeom>
          </p:spPr>
        </p:pic>
        <p:pic>
          <p:nvPicPr>
            <p:cNvPr id="33" name="object 33"/>
            <p:cNvPicPr/>
            <p:nvPr/>
          </p:nvPicPr>
          <p:blipFill>
            <a:blip r:embed="rId25" cstate="print"/>
            <a:stretch>
              <a:fillRect/>
            </a:stretch>
          </p:blipFill>
          <p:spPr>
            <a:xfrm>
              <a:off x="345312" y="2158710"/>
              <a:ext cx="84104" cy="84129"/>
            </a:xfrm>
            <a:prstGeom prst="rect">
              <a:avLst/>
            </a:prstGeom>
          </p:spPr>
        </p:pic>
        <p:pic>
          <p:nvPicPr>
            <p:cNvPr id="34" name="object 34"/>
            <p:cNvPicPr/>
            <p:nvPr/>
          </p:nvPicPr>
          <p:blipFill>
            <a:blip r:embed="rId26" cstate="print"/>
            <a:stretch>
              <a:fillRect/>
            </a:stretch>
          </p:blipFill>
          <p:spPr>
            <a:xfrm>
              <a:off x="345312" y="2297639"/>
              <a:ext cx="84104" cy="85351"/>
            </a:xfrm>
            <a:prstGeom prst="rect">
              <a:avLst/>
            </a:prstGeom>
          </p:spPr>
        </p:pic>
        <p:pic>
          <p:nvPicPr>
            <p:cNvPr id="35" name="object 35"/>
            <p:cNvPicPr/>
            <p:nvPr/>
          </p:nvPicPr>
          <p:blipFill>
            <a:blip r:embed="rId27" cstate="print"/>
            <a:stretch>
              <a:fillRect/>
            </a:stretch>
          </p:blipFill>
          <p:spPr>
            <a:xfrm>
              <a:off x="966972" y="1713864"/>
              <a:ext cx="84095" cy="85351"/>
            </a:xfrm>
            <a:prstGeom prst="rect">
              <a:avLst/>
            </a:prstGeom>
          </p:spPr>
        </p:pic>
        <p:pic>
          <p:nvPicPr>
            <p:cNvPr id="36" name="object 36"/>
            <p:cNvPicPr/>
            <p:nvPr/>
          </p:nvPicPr>
          <p:blipFill>
            <a:blip r:embed="rId28" cstate="print"/>
            <a:stretch>
              <a:fillRect/>
            </a:stretch>
          </p:blipFill>
          <p:spPr>
            <a:xfrm>
              <a:off x="824357" y="1554208"/>
              <a:ext cx="84095" cy="84129"/>
            </a:xfrm>
            <a:prstGeom prst="rect">
              <a:avLst/>
            </a:prstGeom>
          </p:spPr>
        </p:pic>
        <p:pic>
          <p:nvPicPr>
            <p:cNvPr id="37" name="object 37"/>
            <p:cNvPicPr/>
            <p:nvPr/>
          </p:nvPicPr>
          <p:blipFill>
            <a:blip r:embed="rId29" cstate="print"/>
            <a:stretch>
              <a:fillRect/>
            </a:stretch>
          </p:blipFill>
          <p:spPr>
            <a:xfrm>
              <a:off x="966972" y="1554208"/>
              <a:ext cx="84095" cy="84129"/>
            </a:xfrm>
            <a:prstGeom prst="rect">
              <a:avLst/>
            </a:prstGeom>
          </p:spPr>
        </p:pic>
        <p:pic>
          <p:nvPicPr>
            <p:cNvPr id="38" name="object 38"/>
            <p:cNvPicPr/>
            <p:nvPr/>
          </p:nvPicPr>
          <p:blipFill>
            <a:blip r:embed="rId30" cstate="print"/>
            <a:stretch>
              <a:fillRect/>
            </a:stretch>
          </p:blipFill>
          <p:spPr>
            <a:xfrm>
              <a:off x="1108367" y="1713864"/>
              <a:ext cx="85315" cy="85351"/>
            </a:xfrm>
            <a:prstGeom prst="rect">
              <a:avLst/>
            </a:prstGeom>
          </p:spPr>
        </p:pic>
        <p:pic>
          <p:nvPicPr>
            <p:cNvPr id="39" name="object 39"/>
            <p:cNvPicPr/>
            <p:nvPr/>
          </p:nvPicPr>
          <p:blipFill>
            <a:blip r:embed="rId31" cstate="print"/>
            <a:stretch>
              <a:fillRect/>
            </a:stretch>
          </p:blipFill>
          <p:spPr>
            <a:xfrm>
              <a:off x="824357" y="1351926"/>
              <a:ext cx="84095" cy="84080"/>
            </a:xfrm>
            <a:prstGeom prst="rect">
              <a:avLst/>
            </a:prstGeom>
          </p:spPr>
        </p:pic>
        <p:pic>
          <p:nvPicPr>
            <p:cNvPr id="40" name="object 40"/>
            <p:cNvPicPr/>
            <p:nvPr/>
          </p:nvPicPr>
          <p:blipFill>
            <a:blip r:embed="rId32" cstate="print"/>
            <a:stretch>
              <a:fillRect/>
            </a:stretch>
          </p:blipFill>
          <p:spPr>
            <a:xfrm>
              <a:off x="1108367" y="1999055"/>
              <a:ext cx="85315" cy="84129"/>
            </a:xfrm>
            <a:prstGeom prst="rect">
              <a:avLst/>
            </a:prstGeom>
          </p:spPr>
        </p:pic>
        <p:pic>
          <p:nvPicPr>
            <p:cNvPr id="41" name="object 41"/>
            <p:cNvPicPr/>
            <p:nvPr/>
          </p:nvPicPr>
          <p:blipFill>
            <a:blip r:embed="rId33" cstate="print"/>
            <a:stretch>
              <a:fillRect/>
            </a:stretch>
          </p:blipFill>
          <p:spPr>
            <a:xfrm>
              <a:off x="824357" y="2239174"/>
              <a:ext cx="84095" cy="85302"/>
            </a:xfrm>
            <a:prstGeom prst="rect">
              <a:avLst/>
            </a:prstGeom>
          </p:spPr>
        </p:pic>
        <p:pic>
          <p:nvPicPr>
            <p:cNvPr id="42" name="object 42"/>
            <p:cNvPicPr/>
            <p:nvPr/>
          </p:nvPicPr>
          <p:blipFill>
            <a:blip r:embed="rId34" cstate="print"/>
            <a:stretch>
              <a:fillRect/>
            </a:stretch>
          </p:blipFill>
          <p:spPr>
            <a:xfrm>
              <a:off x="824357" y="2380547"/>
              <a:ext cx="84095" cy="84080"/>
            </a:xfrm>
            <a:prstGeom prst="rect">
              <a:avLst/>
            </a:prstGeom>
          </p:spPr>
        </p:pic>
        <p:pic>
          <p:nvPicPr>
            <p:cNvPr id="43" name="object 43"/>
            <p:cNvPicPr/>
            <p:nvPr/>
          </p:nvPicPr>
          <p:blipFill>
            <a:blip r:embed="rId35" cstate="print"/>
            <a:stretch>
              <a:fillRect/>
            </a:stretch>
          </p:blipFill>
          <p:spPr>
            <a:xfrm>
              <a:off x="824357" y="2777829"/>
              <a:ext cx="84095" cy="85302"/>
            </a:xfrm>
            <a:prstGeom prst="rect">
              <a:avLst/>
            </a:prstGeom>
          </p:spPr>
        </p:pic>
        <p:pic>
          <p:nvPicPr>
            <p:cNvPr id="44" name="object 44"/>
            <p:cNvPicPr/>
            <p:nvPr/>
          </p:nvPicPr>
          <p:blipFill>
            <a:blip r:embed="rId36" cstate="print"/>
            <a:stretch>
              <a:fillRect/>
            </a:stretch>
          </p:blipFill>
          <p:spPr>
            <a:xfrm>
              <a:off x="1108367" y="2380547"/>
              <a:ext cx="85315" cy="84080"/>
            </a:xfrm>
            <a:prstGeom prst="rect">
              <a:avLst/>
            </a:prstGeom>
          </p:spPr>
        </p:pic>
        <p:pic>
          <p:nvPicPr>
            <p:cNvPr id="45" name="object 45"/>
            <p:cNvPicPr/>
            <p:nvPr/>
          </p:nvPicPr>
          <p:blipFill>
            <a:blip r:embed="rId37" cstate="print"/>
            <a:stretch>
              <a:fillRect/>
            </a:stretch>
          </p:blipFill>
          <p:spPr>
            <a:xfrm>
              <a:off x="1108367" y="1856460"/>
              <a:ext cx="85315" cy="84129"/>
            </a:xfrm>
            <a:prstGeom prst="rect">
              <a:avLst/>
            </a:prstGeom>
          </p:spPr>
        </p:pic>
        <p:sp>
          <p:nvSpPr>
            <p:cNvPr id="46" name="object 46"/>
            <p:cNvSpPr/>
            <p:nvPr/>
          </p:nvSpPr>
          <p:spPr>
            <a:xfrm>
              <a:off x="1982313" y="804716"/>
              <a:ext cx="84455" cy="84455"/>
            </a:xfrm>
            <a:custGeom>
              <a:avLst/>
              <a:gdLst/>
              <a:ahLst/>
              <a:cxnLst/>
              <a:rect l="l" t="t" r="r" b="b"/>
              <a:pathLst>
                <a:path w="84455" h="84455">
                  <a:moveTo>
                    <a:pt x="51198" y="0"/>
                  </a:moveTo>
                  <a:lnTo>
                    <a:pt x="34116" y="0"/>
                  </a:lnTo>
                  <a:lnTo>
                    <a:pt x="25575" y="3666"/>
                  </a:lnTo>
                  <a:lnTo>
                    <a:pt x="0" y="41453"/>
                  </a:lnTo>
                  <a:lnTo>
                    <a:pt x="1220" y="49959"/>
                  </a:lnTo>
                  <a:lnTo>
                    <a:pt x="25575" y="80414"/>
                  </a:lnTo>
                  <a:lnTo>
                    <a:pt x="42657" y="84080"/>
                  </a:lnTo>
                  <a:lnTo>
                    <a:pt x="51198" y="82858"/>
                  </a:lnTo>
                  <a:lnTo>
                    <a:pt x="58520" y="80414"/>
                  </a:lnTo>
                  <a:lnTo>
                    <a:pt x="65792" y="76797"/>
                  </a:lnTo>
                  <a:lnTo>
                    <a:pt x="42657" y="76797"/>
                  </a:lnTo>
                  <a:lnTo>
                    <a:pt x="28015" y="74352"/>
                  </a:lnTo>
                  <a:lnTo>
                    <a:pt x="23134" y="70686"/>
                  </a:lnTo>
                  <a:lnTo>
                    <a:pt x="17033" y="67020"/>
                  </a:lnTo>
                  <a:lnTo>
                    <a:pt x="13422" y="60909"/>
                  </a:lnTo>
                  <a:lnTo>
                    <a:pt x="9761" y="56070"/>
                  </a:lnTo>
                  <a:lnTo>
                    <a:pt x="7321" y="41453"/>
                  </a:lnTo>
                  <a:lnTo>
                    <a:pt x="8541" y="35343"/>
                  </a:lnTo>
                  <a:lnTo>
                    <a:pt x="9761" y="28010"/>
                  </a:lnTo>
                  <a:lnTo>
                    <a:pt x="13422" y="21949"/>
                  </a:lnTo>
                  <a:lnTo>
                    <a:pt x="17033" y="17060"/>
                  </a:lnTo>
                  <a:lnTo>
                    <a:pt x="23134" y="13394"/>
                  </a:lnTo>
                  <a:lnTo>
                    <a:pt x="28015" y="9727"/>
                  </a:lnTo>
                  <a:lnTo>
                    <a:pt x="35336" y="7283"/>
                  </a:lnTo>
                  <a:lnTo>
                    <a:pt x="65792" y="7283"/>
                  </a:lnTo>
                  <a:lnTo>
                    <a:pt x="51198" y="0"/>
                  </a:lnTo>
                  <a:close/>
                </a:path>
                <a:path w="84455" h="84455">
                  <a:moveTo>
                    <a:pt x="65792" y="7283"/>
                  </a:moveTo>
                  <a:lnTo>
                    <a:pt x="48758" y="7283"/>
                  </a:lnTo>
                  <a:lnTo>
                    <a:pt x="56079" y="9727"/>
                  </a:lnTo>
                  <a:lnTo>
                    <a:pt x="62131" y="13394"/>
                  </a:lnTo>
                  <a:lnTo>
                    <a:pt x="67012" y="17060"/>
                  </a:lnTo>
                  <a:lnTo>
                    <a:pt x="70673" y="21949"/>
                  </a:lnTo>
                  <a:lnTo>
                    <a:pt x="74333" y="28010"/>
                  </a:lnTo>
                  <a:lnTo>
                    <a:pt x="76774" y="35343"/>
                  </a:lnTo>
                  <a:lnTo>
                    <a:pt x="76774" y="48737"/>
                  </a:lnTo>
                  <a:lnTo>
                    <a:pt x="74333" y="56070"/>
                  </a:lnTo>
                  <a:lnTo>
                    <a:pt x="70673" y="60909"/>
                  </a:lnTo>
                  <a:lnTo>
                    <a:pt x="67012" y="67020"/>
                  </a:lnTo>
                  <a:lnTo>
                    <a:pt x="62131" y="70686"/>
                  </a:lnTo>
                  <a:lnTo>
                    <a:pt x="56079" y="74352"/>
                  </a:lnTo>
                  <a:lnTo>
                    <a:pt x="48758" y="75574"/>
                  </a:lnTo>
                  <a:lnTo>
                    <a:pt x="42657" y="76797"/>
                  </a:lnTo>
                  <a:lnTo>
                    <a:pt x="65792" y="76797"/>
                  </a:lnTo>
                  <a:lnTo>
                    <a:pt x="71893" y="71908"/>
                  </a:lnTo>
                  <a:lnTo>
                    <a:pt x="76774" y="65798"/>
                  </a:lnTo>
                  <a:lnTo>
                    <a:pt x="80434" y="58514"/>
                  </a:lnTo>
                  <a:lnTo>
                    <a:pt x="82875" y="49959"/>
                  </a:lnTo>
                  <a:lnTo>
                    <a:pt x="84095" y="41453"/>
                  </a:lnTo>
                  <a:lnTo>
                    <a:pt x="82875" y="32899"/>
                  </a:lnTo>
                  <a:lnTo>
                    <a:pt x="80434" y="25566"/>
                  </a:lnTo>
                  <a:lnTo>
                    <a:pt x="76774" y="18282"/>
                  </a:lnTo>
                  <a:lnTo>
                    <a:pt x="71893" y="12172"/>
                  </a:lnTo>
                  <a:lnTo>
                    <a:pt x="65792" y="7283"/>
                  </a:lnTo>
                  <a:close/>
                </a:path>
              </a:pathLst>
            </a:custGeom>
            <a:solidFill>
              <a:srgbClr val="929599"/>
            </a:solidFill>
          </p:spPr>
          <p:txBody>
            <a:bodyPr wrap="square" lIns="0" tIns="0" rIns="0" bIns="0" rtlCol="0"/>
            <a:lstStyle/>
            <a:p>
              <a:endParaRPr/>
            </a:p>
          </p:txBody>
        </p:sp>
        <p:pic>
          <p:nvPicPr>
            <p:cNvPr id="47" name="object 47"/>
            <p:cNvPicPr/>
            <p:nvPr/>
          </p:nvPicPr>
          <p:blipFill>
            <a:blip r:embed="rId38" cstate="print"/>
            <a:stretch>
              <a:fillRect/>
            </a:stretch>
          </p:blipFill>
          <p:spPr>
            <a:xfrm>
              <a:off x="1982313" y="1088684"/>
              <a:ext cx="84095" cy="84080"/>
            </a:xfrm>
            <a:prstGeom prst="rect">
              <a:avLst/>
            </a:prstGeom>
          </p:spPr>
        </p:pic>
        <p:pic>
          <p:nvPicPr>
            <p:cNvPr id="48" name="object 48"/>
            <p:cNvPicPr/>
            <p:nvPr/>
          </p:nvPicPr>
          <p:blipFill>
            <a:blip r:embed="rId39" cstate="print"/>
            <a:stretch>
              <a:fillRect/>
            </a:stretch>
          </p:blipFill>
          <p:spPr>
            <a:xfrm>
              <a:off x="1844578" y="1088684"/>
              <a:ext cx="84095" cy="84080"/>
            </a:xfrm>
            <a:prstGeom prst="rect">
              <a:avLst/>
            </a:prstGeom>
          </p:spPr>
        </p:pic>
        <p:pic>
          <p:nvPicPr>
            <p:cNvPr id="49" name="object 49"/>
            <p:cNvPicPr/>
            <p:nvPr/>
          </p:nvPicPr>
          <p:blipFill>
            <a:blip r:embed="rId40" cstate="print"/>
            <a:stretch>
              <a:fillRect/>
            </a:stretch>
          </p:blipFill>
          <p:spPr>
            <a:xfrm>
              <a:off x="1982313" y="947311"/>
              <a:ext cx="84095" cy="84080"/>
            </a:xfrm>
            <a:prstGeom prst="rect">
              <a:avLst/>
            </a:prstGeom>
          </p:spPr>
        </p:pic>
        <p:sp>
          <p:nvSpPr>
            <p:cNvPr id="50" name="object 50"/>
            <p:cNvSpPr/>
            <p:nvPr/>
          </p:nvSpPr>
          <p:spPr>
            <a:xfrm>
              <a:off x="1982305" y="662126"/>
              <a:ext cx="84455" cy="226695"/>
            </a:xfrm>
            <a:custGeom>
              <a:avLst/>
              <a:gdLst/>
              <a:ahLst/>
              <a:cxnLst/>
              <a:rect l="l" t="t" r="r" b="b"/>
              <a:pathLst>
                <a:path w="84455" h="226694">
                  <a:moveTo>
                    <a:pt x="84099" y="184048"/>
                  </a:moveTo>
                  <a:lnTo>
                    <a:pt x="82880" y="175488"/>
                  </a:lnTo>
                  <a:lnTo>
                    <a:pt x="80441" y="168160"/>
                  </a:lnTo>
                  <a:lnTo>
                    <a:pt x="76771" y="160883"/>
                  </a:lnTo>
                  <a:lnTo>
                    <a:pt x="76771" y="177939"/>
                  </a:lnTo>
                  <a:lnTo>
                    <a:pt x="76771" y="191338"/>
                  </a:lnTo>
                  <a:lnTo>
                    <a:pt x="74333" y="198666"/>
                  </a:lnTo>
                  <a:lnTo>
                    <a:pt x="70675" y="203504"/>
                  </a:lnTo>
                  <a:lnTo>
                    <a:pt x="67017" y="209613"/>
                  </a:lnTo>
                  <a:lnTo>
                    <a:pt x="62128" y="213283"/>
                  </a:lnTo>
                  <a:lnTo>
                    <a:pt x="56083" y="216954"/>
                  </a:lnTo>
                  <a:lnTo>
                    <a:pt x="48755" y="218173"/>
                  </a:lnTo>
                  <a:lnTo>
                    <a:pt x="42659" y="219392"/>
                  </a:lnTo>
                  <a:lnTo>
                    <a:pt x="28016" y="216954"/>
                  </a:lnTo>
                  <a:lnTo>
                    <a:pt x="23139" y="213283"/>
                  </a:lnTo>
                  <a:lnTo>
                    <a:pt x="17030" y="209613"/>
                  </a:lnTo>
                  <a:lnTo>
                    <a:pt x="13423" y="203504"/>
                  </a:lnTo>
                  <a:lnTo>
                    <a:pt x="9766" y="198666"/>
                  </a:lnTo>
                  <a:lnTo>
                    <a:pt x="7327" y="184048"/>
                  </a:lnTo>
                  <a:lnTo>
                    <a:pt x="8547" y="177939"/>
                  </a:lnTo>
                  <a:lnTo>
                    <a:pt x="9766" y="170611"/>
                  </a:lnTo>
                  <a:lnTo>
                    <a:pt x="13423" y="164541"/>
                  </a:lnTo>
                  <a:lnTo>
                    <a:pt x="17030" y="159651"/>
                  </a:lnTo>
                  <a:lnTo>
                    <a:pt x="23139" y="155994"/>
                  </a:lnTo>
                  <a:lnTo>
                    <a:pt x="28016" y="152323"/>
                  </a:lnTo>
                  <a:lnTo>
                    <a:pt x="35344" y="149885"/>
                  </a:lnTo>
                  <a:lnTo>
                    <a:pt x="48755" y="149885"/>
                  </a:lnTo>
                  <a:lnTo>
                    <a:pt x="76771" y="177939"/>
                  </a:lnTo>
                  <a:lnTo>
                    <a:pt x="76771" y="160883"/>
                  </a:lnTo>
                  <a:lnTo>
                    <a:pt x="71894" y="154762"/>
                  </a:lnTo>
                  <a:lnTo>
                    <a:pt x="65798" y="149885"/>
                  </a:lnTo>
                  <a:lnTo>
                    <a:pt x="51206" y="142595"/>
                  </a:lnTo>
                  <a:lnTo>
                    <a:pt x="34112" y="142595"/>
                  </a:lnTo>
                  <a:lnTo>
                    <a:pt x="3657" y="168160"/>
                  </a:lnTo>
                  <a:lnTo>
                    <a:pt x="0" y="184048"/>
                  </a:lnTo>
                  <a:lnTo>
                    <a:pt x="1219" y="192557"/>
                  </a:lnTo>
                  <a:lnTo>
                    <a:pt x="25577" y="223012"/>
                  </a:lnTo>
                  <a:lnTo>
                    <a:pt x="42659" y="226682"/>
                  </a:lnTo>
                  <a:lnTo>
                    <a:pt x="51206" y="225450"/>
                  </a:lnTo>
                  <a:lnTo>
                    <a:pt x="82880" y="192557"/>
                  </a:lnTo>
                  <a:lnTo>
                    <a:pt x="84099" y="184048"/>
                  </a:lnTo>
                  <a:close/>
                </a:path>
                <a:path w="84455" h="226694">
                  <a:moveTo>
                    <a:pt x="84099" y="42672"/>
                  </a:moveTo>
                  <a:lnTo>
                    <a:pt x="82880" y="34124"/>
                  </a:lnTo>
                  <a:lnTo>
                    <a:pt x="80441" y="25615"/>
                  </a:lnTo>
                  <a:lnTo>
                    <a:pt x="76771" y="18288"/>
                  </a:lnTo>
                  <a:lnTo>
                    <a:pt x="76771" y="35344"/>
                  </a:lnTo>
                  <a:lnTo>
                    <a:pt x="76771" y="48742"/>
                  </a:lnTo>
                  <a:lnTo>
                    <a:pt x="48755" y="76796"/>
                  </a:lnTo>
                  <a:lnTo>
                    <a:pt x="35344" y="76796"/>
                  </a:lnTo>
                  <a:lnTo>
                    <a:pt x="28016" y="74358"/>
                  </a:lnTo>
                  <a:lnTo>
                    <a:pt x="23139" y="70688"/>
                  </a:lnTo>
                  <a:lnTo>
                    <a:pt x="17030" y="67017"/>
                  </a:lnTo>
                  <a:lnTo>
                    <a:pt x="13423" y="62128"/>
                  </a:lnTo>
                  <a:lnTo>
                    <a:pt x="9766" y="56070"/>
                  </a:lnTo>
                  <a:lnTo>
                    <a:pt x="8547" y="48742"/>
                  </a:lnTo>
                  <a:lnTo>
                    <a:pt x="7327" y="42672"/>
                  </a:lnTo>
                  <a:lnTo>
                    <a:pt x="8547" y="35344"/>
                  </a:lnTo>
                  <a:lnTo>
                    <a:pt x="9766" y="29235"/>
                  </a:lnTo>
                  <a:lnTo>
                    <a:pt x="13423" y="23177"/>
                  </a:lnTo>
                  <a:lnTo>
                    <a:pt x="17030" y="17056"/>
                  </a:lnTo>
                  <a:lnTo>
                    <a:pt x="23139" y="13398"/>
                  </a:lnTo>
                  <a:lnTo>
                    <a:pt x="28016" y="9728"/>
                  </a:lnTo>
                  <a:lnTo>
                    <a:pt x="42659" y="7327"/>
                  </a:lnTo>
                  <a:lnTo>
                    <a:pt x="48755" y="8559"/>
                  </a:lnTo>
                  <a:lnTo>
                    <a:pt x="56083" y="9728"/>
                  </a:lnTo>
                  <a:lnTo>
                    <a:pt x="62128" y="13398"/>
                  </a:lnTo>
                  <a:lnTo>
                    <a:pt x="67017" y="17056"/>
                  </a:lnTo>
                  <a:lnTo>
                    <a:pt x="74333" y="29235"/>
                  </a:lnTo>
                  <a:lnTo>
                    <a:pt x="76771" y="35344"/>
                  </a:lnTo>
                  <a:lnTo>
                    <a:pt x="76771" y="18288"/>
                  </a:lnTo>
                  <a:lnTo>
                    <a:pt x="42659" y="0"/>
                  </a:lnTo>
                  <a:lnTo>
                    <a:pt x="34112" y="1219"/>
                  </a:lnTo>
                  <a:lnTo>
                    <a:pt x="3657" y="25615"/>
                  </a:lnTo>
                  <a:lnTo>
                    <a:pt x="0" y="42672"/>
                  </a:lnTo>
                  <a:lnTo>
                    <a:pt x="1219" y="51181"/>
                  </a:lnTo>
                  <a:lnTo>
                    <a:pt x="25577" y="81635"/>
                  </a:lnTo>
                  <a:lnTo>
                    <a:pt x="34112" y="84086"/>
                  </a:lnTo>
                  <a:lnTo>
                    <a:pt x="51206" y="84086"/>
                  </a:lnTo>
                  <a:lnTo>
                    <a:pt x="80441" y="58508"/>
                  </a:lnTo>
                  <a:lnTo>
                    <a:pt x="82880" y="51181"/>
                  </a:lnTo>
                  <a:lnTo>
                    <a:pt x="84099" y="42672"/>
                  </a:lnTo>
                  <a:close/>
                </a:path>
              </a:pathLst>
            </a:custGeom>
            <a:solidFill>
              <a:srgbClr val="929599"/>
            </a:solidFill>
          </p:spPr>
          <p:txBody>
            <a:bodyPr wrap="square" lIns="0" tIns="0" rIns="0" bIns="0" rtlCol="0"/>
            <a:lstStyle/>
            <a:p>
              <a:endParaRPr/>
            </a:p>
          </p:txBody>
        </p:sp>
        <p:pic>
          <p:nvPicPr>
            <p:cNvPr id="51" name="object 51"/>
            <p:cNvPicPr/>
            <p:nvPr/>
          </p:nvPicPr>
          <p:blipFill>
            <a:blip r:embed="rId41" cstate="print"/>
            <a:stretch>
              <a:fillRect/>
            </a:stretch>
          </p:blipFill>
          <p:spPr>
            <a:xfrm>
              <a:off x="3436481" y="662121"/>
              <a:ext cx="84095" cy="85302"/>
            </a:xfrm>
            <a:prstGeom prst="rect">
              <a:avLst/>
            </a:prstGeom>
          </p:spPr>
        </p:pic>
        <p:pic>
          <p:nvPicPr>
            <p:cNvPr id="52" name="object 52"/>
            <p:cNvPicPr/>
            <p:nvPr/>
          </p:nvPicPr>
          <p:blipFill>
            <a:blip r:embed="rId42" cstate="print"/>
            <a:stretch>
              <a:fillRect/>
            </a:stretch>
          </p:blipFill>
          <p:spPr>
            <a:xfrm>
              <a:off x="3854566" y="804716"/>
              <a:ext cx="84095" cy="84080"/>
            </a:xfrm>
            <a:prstGeom prst="rect">
              <a:avLst/>
            </a:prstGeom>
          </p:spPr>
        </p:pic>
        <p:sp>
          <p:nvSpPr>
            <p:cNvPr id="53" name="object 53"/>
            <p:cNvSpPr/>
            <p:nvPr/>
          </p:nvSpPr>
          <p:spPr>
            <a:xfrm>
              <a:off x="2266323" y="1089906"/>
              <a:ext cx="84455" cy="84455"/>
            </a:xfrm>
            <a:custGeom>
              <a:avLst/>
              <a:gdLst/>
              <a:ahLst/>
              <a:cxnLst/>
              <a:rect l="l" t="t" r="r" b="b"/>
              <a:pathLst>
                <a:path w="84455" h="84455">
                  <a:moveTo>
                    <a:pt x="51198" y="0"/>
                  </a:moveTo>
                  <a:lnTo>
                    <a:pt x="34116" y="0"/>
                  </a:lnTo>
                  <a:lnTo>
                    <a:pt x="25575" y="2444"/>
                  </a:lnTo>
                  <a:lnTo>
                    <a:pt x="1220" y="32899"/>
                  </a:lnTo>
                  <a:lnTo>
                    <a:pt x="0" y="41404"/>
                  </a:lnTo>
                  <a:lnTo>
                    <a:pt x="1220" y="49959"/>
                  </a:lnTo>
                  <a:lnTo>
                    <a:pt x="25575" y="80414"/>
                  </a:lnTo>
                  <a:lnTo>
                    <a:pt x="42657" y="84080"/>
                  </a:lnTo>
                  <a:lnTo>
                    <a:pt x="51198" y="82858"/>
                  </a:lnTo>
                  <a:lnTo>
                    <a:pt x="58471" y="80414"/>
                  </a:lnTo>
                  <a:lnTo>
                    <a:pt x="65792" y="76748"/>
                  </a:lnTo>
                  <a:lnTo>
                    <a:pt x="42657" y="76748"/>
                  </a:lnTo>
                  <a:lnTo>
                    <a:pt x="35336" y="75526"/>
                  </a:lnTo>
                  <a:lnTo>
                    <a:pt x="7321" y="41404"/>
                  </a:lnTo>
                  <a:lnTo>
                    <a:pt x="8541" y="34121"/>
                  </a:lnTo>
                  <a:lnTo>
                    <a:pt x="9712" y="28010"/>
                  </a:lnTo>
                  <a:lnTo>
                    <a:pt x="13373" y="21949"/>
                  </a:lnTo>
                  <a:lnTo>
                    <a:pt x="23134" y="12172"/>
                  </a:lnTo>
                  <a:lnTo>
                    <a:pt x="35336" y="7283"/>
                  </a:lnTo>
                  <a:lnTo>
                    <a:pt x="67012" y="7283"/>
                  </a:lnTo>
                  <a:lnTo>
                    <a:pt x="65792" y="6061"/>
                  </a:lnTo>
                  <a:lnTo>
                    <a:pt x="58471" y="2444"/>
                  </a:lnTo>
                  <a:lnTo>
                    <a:pt x="51198" y="0"/>
                  </a:lnTo>
                  <a:close/>
                </a:path>
                <a:path w="84455" h="84455">
                  <a:moveTo>
                    <a:pt x="67012" y="7283"/>
                  </a:moveTo>
                  <a:lnTo>
                    <a:pt x="49978" y="7283"/>
                  </a:lnTo>
                  <a:lnTo>
                    <a:pt x="62131" y="12172"/>
                  </a:lnTo>
                  <a:lnTo>
                    <a:pt x="71893" y="21949"/>
                  </a:lnTo>
                  <a:lnTo>
                    <a:pt x="76774" y="34121"/>
                  </a:lnTo>
                  <a:lnTo>
                    <a:pt x="76774" y="48737"/>
                  </a:lnTo>
                  <a:lnTo>
                    <a:pt x="42657" y="76748"/>
                  </a:lnTo>
                  <a:lnTo>
                    <a:pt x="65792" y="76748"/>
                  </a:lnTo>
                  <a:lnTo>
                    <a:pt x="71893" y="71908"/>
                  </a:lnTo>
                  <a:lnTo>
                    <a:pt x="77994" y="65798"/>
                  </a:lnTo>
                  <a:lnTo>
                    <a:pt x="81654" y="58465"/>
                  </a:lnTo>
                  <a:lnTo>
                    <a:pt x="84095" y="49959"/>
                  </a:lnTo>
                  <a:lnTo>
                    <a:pt x="84095" y="32899"/>
                  </a:lnTo>
                  <a:lnTo>
                    <a:pt x="81654" y="25566"/>
                  </a:lnTo>
                  <a:lnTo>
                    <a:pt x="77994" y="18282"/>
                  </a:lnTo>
                  <a:lnTo>
                    <a:pt x="67012" y="7283"/>
                  </a:lnTo>
                  <a:close/>
                </a:path>
              </a:pathLst>
            </a:custGeom>
            <a:solidFill>
              <a:srgbClr val="929599"/>
            </a:solidFill>
          </p:spPr>
          <p:txBody>
            <a:bodyPr wrap="square" lIns="0" tIns="0" rIns="0" bIns="0" rtlCol="0"/>
            <a:lstStyle/>
            <a:p>
              <a:endParaRPr/>
            </a:p>
          </p:txBody>
        </p:sp>
        <p:pic>
          <p:nvPicPr>
            <p:cNvPr id="54" name="object 54"/>
            <p:cNvPicPr/>
            <p:nvPr/>
          </p:nvPicPr>
          <p:blipFill>
            <a:blip r:embed="rId43" cstate="print"/>
            <a:stretch>
              <a:fillRect/>
            </a:stretch>
          </p:blipFill>
          <p:spPr>
            <a:xfrm>
              <a:off x="2123708" y="1089906"/>
              <a:ext cx="85315" cy="84080"/>
            </a:xfrm>
            <a:prstGeom prst="rect">
              <a:avLst/>
            </a:prstGeom>
          </p:spPr>
        </p:pic>
        <p:sp>
          <p:nvSpPr>
            <p:cNvPr id="55" name="object 55"/>
            <p:cNvSpPr/>
            <p:nvPr/>
          </p:nvSpPr>
          <p:spPr>
            <a:xfrm>
              <a:off x="2266315" y="947318"/>
              <a:ext cx="227329" cy="226695"/>
            </a:xfrm>
            <a:custGeom>
              <a:avLst/>
              <a:gdLst/>
              <a:ahLst/>
              <a:cxnLst/>
              <a:rect l="l" t="t" r="r" b="b"/>
              <a:pathLst>
                <a:path w="227330" h="226694">
                  <a:moveTo>
                    <a:pt x="84099" y="175488"/>
                  </a:moveTo>
                  <a:lnTo>
                    <a:pt x="81661" y="168160"/>
                  </a:lnTo>
                  <a:lnTo>
                    <a:pt x="77990" y="160883"/>
                  </a:lnTo>
                  <a:lnTo>
                    <a:pt x="76771" y="159664"/>
                  </a:lnTo>
                  <a:lnTo>
                    <a:pt x="76771" y="176720"/>
                  </a:lnTo>
                  <a:lnTo>
                    <a:pt x="76771" y="191338"/>
                  </a:lnTo>
                  <a:lnTo>
                    <a:pt x="42659" y="219341"/>
                  </a:lnTo>
                  <a:lnTo>
                    <a:pt x="35344" y="218122"/>
                  </a:lnTo>
                  <a:lnTo>
                    <a:pt x="7327" y="183997"/>
                  </a:lnTo>
                  <a:lnTo>
                    <a:pt x="8547" y="176720"/>
                  </a:lnTo>
                  <a:lnTo>
                    <a:pt x="9715" y="170611"/>
                  </a:lnTo>
                  <a:lnTo>
                    <a:pt x="13373" y="164541"/>
                  </a:lnTo>
                  <a:lnTo>
                    <a:pt x="23139" y="154762"/>
                  </a:lnTo>
                  <a:lnTo>
                    <a:pt x="35344" y="149872"/>
                  </a:lnTo>
                  <a:lnTo>
                    <a:pt x="49987" y="149872"/>
                  </a:lnTo>
                  <a:lnTo>
                    <a:pt x="62128" y="154762"/>
                  </a:lnTo>
                  <a:lnTo>
                    <a:pt x="71894" y="164541"/>
                  </a:lnTo>
                  <a:lnTo>
                    <a:pt x="76771" y="176720"/>
                  </a:lnTo>
                  <a:lnTo>
                    <a:pt x="76771" y="159664"/>
                  </a:lnTo>
                  <a:lnTo>
                    <a:pt x="67017" y="149872"/>
                  </a:lnTo>
                  <a:lnTo>
                    <a:pt x="65798" y="148653"/>
                  </a:lnTo>
                  <a:lnTo>
                    <a:pt x="58470" y="145034"/>
                  </a:lnTo>
                  <a:lnTo>
                    <a:pt x="51206" y="142595"/>
                  </a:lnTo>
                  <a:lnTo>
                    <a:pt x="34124" y="142595"/>
                  </a:lnTo>
                  <a:lnTo>
                    <a:pt x="3657" y="168160"/>
                  </a:lnTo>
                  <a:lnTo>
                    <a:pt x="0" y="183997"/>
                  </a:lnTo>
                  <a:lnTo>
                    <a:pt x="1219" y="192557"/>
                  </a:lnTo>
                  <a:lnTo>
                    <a:pt x="25577" y="223012"/>
                  </a:lnTo>
                  <a:lnTo>
                    <a:pt x="42659" y="226669"/>
                  </a:lnTo>
                  <a:lnTo>
                    <a:pt x="51206" y="225450"/>
                  </a:lnTo>
                  <a:lnTo>
                    <a:pt x="81661" y="201066"/>
                  </a:lnTo>
                  <a:lnTo>
                    <a:pt x="84099" y="192557"/>
                  </a:lnTo>
                  <a:lnTo>
                    <a:pt x="84099" y="175488"/>
                  </a:lnTo>
                  <a:close/>
                </a:path>
                <a:path w="227330" h="226694">
                  <a:moveTo>
                    <a:pt x="226707" y="183997"/>
                  </a:moveTo>
                  <a:lnTo>
                    <a:pt x="225488" y="175488"/>
                  </a:lnTo>
                  <a:lnTo>
                    <a:pt x="223050" y="168160"/>
                  </a:lnTo>
                  <a:lnTo>
                    <a:pt x="219392" y="160883"/>
                  </a:lnTo>
                  <a:lnTo>
                    <a:pt x="219392" y="176720"/>
                  </a:lnTo>
                  <a:lnTo>
                    <a:pt x="219392" y="191338"/>
                  </a:lnTo>
                  <a:lnTo>
                    <a:pt x="191376" y="218122"/>
                  </a:lnTo>
                  <a:lnTo>
                    <a:pt x="185280" y="219341"/>
                  </a:lnTo>
                  <a:lnTo>
                    <a:pt x="152336" y="197446"/>
                  </a:lnTo>
                  <a:lnTo>
                    <a:pt x="149885" y="183997"/>
                  </a:lnTo>
                  <a:lnTo>
                    <a:pt x="151104" y="176720"/>
                  </a:lnTo>
                  <a:lnTo>
                    <a:pt x="177952" y="149872"/>
                  </a:lnTo>
                  <a:lnTo>
                    <a:pt x="191376" y="149872"/>
                  </a:lnTo>
                  <a:lnTo>
                    <a:pt x="219392" y="176720"/>
                  </a:lnTo>
                  <a:lnTo>
                    <a:pt x="219392" y="160883"/>
                  </a:lnTo>
                  <a:lnTo>
                    <a:pt x="214515" y="154762"/>
                  </a:lnTo>
                  <a:lnTo>
                    <a:pt x="209626" y="149872"/>
                  </a:lnTo>
                  <a:lnTo>
                    <a:pt x="208407" y="148653"/>
                  </a:lnTo>
                  <a:lnTo>
                    <a:pt x="201091" y="145034"/>
                  </a:lnTo>
                  <a:lnTo>
                    <a:pt x="193814" y="142595"/>
                  </a:lnTo>
                  <a:lnTo>
                    <a:pt x="176733" y="142595"/>
                  </a:lnTo>
                  <a:lnTo>
                    <a:pt x="146278" y="168160"/>
                  </a:lnTo>
                  <a:lnTo>
                    <a:pt x="142621" y="183997"/>
                  </a:lnTo>
                  <a:lnTo>
                    <a:pt x="143840" y="192557"/>
                  </a:lnTo>
                  <a:lnTo>
                    <a:pt x="168198" y="223012"/>
                  </a:lnTo>
                  <a:lnTo>
                    <a:pt x="185280" y="226669"/>
                  </a:lnTo>
                  <a:lnTo>
                    <a:pt x="193814" y="225450"/>
                  </a:lnTo>
                  <a:lnTo>
                    <a:pt x="225488" y="192557"/>
                  </a:lnTo>
                  <a:lnTo>
                    <a:pt x="226707" y="183997"/>
                  </a:lnTo>
                  <a:close/>
                </a:path>
                <a:path w="227330" h="226694">
                  <a:moveTo>
                    <a:pt x="226707" y="41402"/>
                  </a:moveTo>
                  <a:lnTo>
                    <a:pt x="225488" y="32893"/>
                  </a:lnTo>
                  <a:lnTo>
                    <a:pt x="223050" y="25565"/>
                  </a:lnTo>
                  <a:lnTo>
                    <a:pt x="219392" y="18288"/>
                  </a:lnTo>
                  <a:lnTo>
                    <a:pt x="219392" y="35344"/>
                  </a:lnTo>
                  <a:lnTo>
                    <a:pt x="219392" y="48742"/>
                  </a:lnTo>
                  <a:lnTo>
                    <a:pt x="216954" y="56070"/>
                  </a:lnTo>
                  <a:lnTo>
                    <a:pt x="213296" y="60909"/>
                  </a:lnTo>
                  <a:lnTo>
                    <a:pt x="209626" y="67017"/>
                  </a:lnTo>
                  <a:lnTo>
                    <a:pt x="204749" y="70688"/>
                  </a:lnTo>
                  <a:lnTo>
                    <a:pt x="198653" y="74358"/>
                  </a:lnTo>
                  <a:lnTo>
                    <a:pt x="191376" y="75577"/>
                  </a:lnTo>
                  <a:lnTo>
                    <a:pt x="185280" y="76746"/>
                  </a:lnTo>
                  <a:lnTo>
                    <a:pt x="170637" y="74358"/>
                  </a:lnTo>
                  <a:lnTo>
                    <a:pt x="165747" y="70688"/>
                  </a:lnTo>
                  <a:lnTo>
                    <a:pt x="159651" y="67017"/>
                  </a:lnTo>
                  <a:lnTo>
                    <a:pt x="155994" y="60909"/>
                  </a:lnTo>
                  <a:lnTo>
                    <a:pt x="152336" y="56070"/>
                  </a:lnTo>
                  <a:lnTo>
                    <a:pt x="149885" y="41402"/>
                  </a:lnTo>
                  <a:lnTo>
                    <a:pt x="151104" y="35344"/>
                  </a:lnTo>
                  <a:lnTo>
                    <a:pt x="152336" y="28016"/>
                  </a:lnTo>
                  <a:lnTo>
                    <a:pt x="155994" y="21945"/>
                  </a:lnTo>
                  <a:lnTo>
                    <a:pt x="159651" y="17056"/>
                  </a:lnTo>
                  <a:lnTo>
                    <a:pt x="165747" y="13398"/>
                  </a:lnTo>
                  <a:lnTo>
                    <a:pt x="170637" y="9728"/>
                  </a:lnTo>
                  <a:lnTo>
                    <a:pt x="177952" y="7289"/>
                  </a:lnTo>
                  <a:lnTo>
                    <a:pt x="191376" y="7289"/>
                  </a:lnTo>
                  <a:lnTo>
                    <a:pt x="219392" y="35344"/>
                  </a:lnTo>
                  <a:lnTo>
                    <a:pt x="219392" y="18288"/>
                  </a:lnTo>
                  <a:lnTo>
                    <a:pt x="185280" y="0"/>
                  </a:lnTo>
                  <a:lnTo>
                    <a:pt x="176733" y="1219"/>
                  </a:lnTo>
                  <a:lnTo>
                    <a:pt x="146278" y="25565"/>
                  </a:lnTo>
                  <a:lnTo>
                    <a:pt x="142621" y="41402"/>
                  </a:lnTo>
                  <a:lnTo>
                    <a:pt x="143840" y="49961"/>
                  </a:lnTo>
                  <a:lnTo>
                    <a:pt x="168198" y="80416"/>
                  </a:lnTo>
                  <a:lnTo>
                    <a:pt x="185280" y="84086"/>
                  </a:lnTo>
                  <a:lnTo>
                    <a:pt x="193814" y="82854"/>
                  </a:lnTo>
                  <a:lnTo>
                    <a:pt x="225488" y="49961"/>
                  </a:lnTo>
                  <a:lnTo>
                    <a:pt x="226707" y="41402"/>
                  </a:lnTo>
                  <a:close/>
                </a:path>
              </a:pathLst>
            </a:custGeom>
            <a:solidFill>
              <a:srgbClr val="929599"/>
            </a:solidFill>
          </p:spPr>
          <p:txBody>
            <a:bodyPr wrap="square" lIns="0" tIns="0" rIns="0" bIns="0" rtlCol="0"/>
            <a:lstStyle/>
            <a:p>
              <a:endParaRPr/>
            </a:p>
          </p:txBody>
        </p:sp>
        <p:pic>
          <p:nvPicPr>
            <p:cNvPr id="56" name="object 56"/>
            <p:cNvPicPr/>
            <p:nvPr/>
          </p:nvPicPr>
          <p:blipFill>
            <a:blip r:embed="rId44" cstate="print"/>
            <a:stretch>
              <a:fillRect/>
            </a:stretch>
          </p:blipFill>
          <p:spPr>
            <a:xfrm>
              <a:off x="2408939" y="662121"/>
              <a:ext cx="84095" cy="85302"/>
            </a:xfrm>
            <a:prstGeom prst="rect">
              <a:avLst/>
            </a:prstGeom>
          </p:spPr>
        </p:pic>
        <p:pic>
          <p:nvPicPr>
            <p:cNvPr id="57" name="object 57"/>
            <p:cNvPicPr/>
            <p:nvPr/>
          </p:nvPicPr>
          <p:blipFill>
            <a:blip r:embed="rId45" cstate="print"/>
            <a:stretch>
              <a:fillRect/>
            </a:stretch>
          </p:blipFill>
          <p:spPr>
            <a:xfrm>
              <a:off x="2408939" y="804716"/>
              <a:ext cx="84095" cy="84080"/>
            </a:xfrm>
            <a:prstGeom prst="rect">
              <a:avLst/>
            </a:prstGeom>
          </p:spPr>
        </p:pic>
        <p:sp>
          <p:nvSpPr>
            <p:cNvPr id="58" name="object 58"/>
            <p:cNvSpPr/>
            <p:nvPr/>
          </p:nvSpPr>
          <p:spPr>
            <a:xfrm>
              <a:off x="2124925" y="662126"/>
              <a:ext cx="368300" cy="512445"/>
            </a:xfrm>
            <a:custGeom>
              <a:avLst/>
              <a:gdLst/>
              <a:ahLst/>
              <a:cxnLst/>
              <a:rect l="l" t="t" r="r" b="b"/>
              <a:pathLst>
                <a:path w="368300" h="512444">
                  <a:moveTo>
                    <a:pt x="84086" y="42672"/>
                  </a:moveTo>
                  <a:lnTo>
                    <a:pt x="82867" y="34124"/>
                  </a:lnTo>
                  <a:lnTo>
                    <a:pt x="80429" y="25615"/>
                  </a:lnTo>
                  <a:lnTo>
                    <a:pt x="76771" y="18288"/>
                  </a:lnTo>
                  <a:lnTo>
                    <a:pt x="76771" y="42672"/>
                  </a:lnTo>
                  <a:lnTo>
                    <a:pt x="75552" y="48742"/>
                  </a:lnTo>
                  <a:lnTo>
                    <a:pt x="48755" y="76796"/>
                  </a:lnTo>
                  <a:lnTo>
                    <a:pt x="35331" y="76796"/>
                  </a:lnTo>
                  <a:lnTo>
                    <a:pt x="7315" y="48742"/>
                  </a:lnTo>
                  <a:lnTo>
                    <a:pt x="7315" y="35344"/>
                  </a:lnTo>
                  <a:lnTo>
                    <a:pt x="35331" y="8559"/>
                  </a:lnTo>
                  <a:lnTo>
                    <a:pt x="41440" y="7327"/>
                  </a:lnTo>
                  <a:lnTo>
                    <a:pt x="74333" y="29235"/>
                  </a:lnTo>
                  <a:lnTo>
                    <a:pt x="76771" y="42672"/>
                  </a:lnTo>
                  <a:lnTo>
                    <a:pt x="76771" y="18288"/>
                  </a:lnTo>
                  <a:lnTo>
                    <a:pt x="41440" y="0"/>
                  </a:lnTo>
                  <a:lnTo>
                    <a:pt x="32893" y="1219"/>
                  </a:lnTo>
                  <a:lnTo>
                    <a:pt x="2438" y="25615"/>
                  </a:lnTo>
                  <a:lnTo>
                    <a:pt x="0" y="34124"/>
                  </a:lnTo>
                  <a:lnTo>
                    <a:pt x="0" y="51181"/>
                  </a:lnTo>
                  <a:lnTo>
                    <a:pt x="25577" y="81635"/>
                  </a:lnTo>
                  <a:lnTo>
                    <a:pt x="32893" y="84086"/>
                  </a:lnTo>
                  <a:lnTo>
                    <a:pt x="49974" y="84086"/>
                  </a:lnTo>
                  <a:lnTo>
                    <a:pt x="80429" y="58508"/>
                  </a:lnTo>
                  <a:lnTo>
                    <a:pt x="82867" y="51181"/>
                  </a:lnTo>
                  <a:lnTo>
                    <a:pt x="84086" y="42672"/>
                  </a:lnTo>
                  <a:close/>
                </a:path>
                <a:path w="368300" h="512444">
                  <a:moveTo>
                    <a:pt x="368096" y="469188"/>
                  </a:moveTo>
                  <a:lnTo>
                    <a:pt x="366877" y="460679"/>
                  </a:lnTo>
                  <a:lnTo>
                    <a:pt x="364439" y="453351"/>
                  </a:lnTo>
                  <a:lnTo>
                    <a:pt x="360781" y="446074"/>
                  </a:lnTo>
                  <a:lnTo>
                    <a:pt x="360781" y="461911"/>
                  </a:lnTo>
                  <a:lnTo>
                    <a:pt x="360781" y="476529"/>
                  </a:lnTo>
                  <a:lnTo>
                    <a:pt x="332765" y="503313"/>
                  </a:lnTo>
                  <a:lnTo>
                    <a:pt x="326669" y="504532"/>
                  </a:lnTo>
                  <a:lnTo>
                    <a:pt x="293725" y="482638"/>
                  </a:lnTo>
                  <a:lnTo>
                    <a:pt x="291274" y="469188"/>
                  </a:lnTo>
                  <a:lnTo>
                    <a:pt x="292493" y="461911"/>
                  </a:lnTo>
                  <a:lnTo>
                    <a:pt x="319341" y="435063"/>
                  </a:lnTo>
                  <a:lnTo>
                    <a:pt x="332765" y="435063"/>
                  </a:lnTo>
                  <a:lnTo>
                    <a:pt x="360781" y="461911"/>
                  </a:lnTo>
                  <a:lnTo>
                    <a:pt x="360781" y="446074"/>
                  </a:lnTo>
                  <a:lnTo>
                    <a:pt x="355904" y="439953"/>
                  </a:lnTo>
                  <a:lnTo>
                    <a:pt x="351015" y="435063"/>
                  </a:lnTo>
                  <a:lnTo>
                    <a:pt x="349796" y="433844"/>
                  </a:lnTo>
                  <a:lnTo>
                    <a:pt x="342480" y="430225"/>
                  </a:lnTo>
                  <a:lnTo>
                    <a:pt x="335203" y="427786"/>
                  </a:lnTo>
                  <a:lnTo>
                    <a:pt x="318122" y="427786"/>
                  </a:lnTo>
                  <a:lnTo>
                    <a:pt x="287667" y="453351"/>
                  </a:lnTo>
                  <a:lnTo>
                    <a:pt x="284010" y="469188"/>
                  </a:lnTo>
                  <a:lnTo>
                    <a:pt x="285229" y="477748"/>
                  </a:lnTo>
                  <a:lnTo>
                    <a:pt x="309587" y="508203"/>
                  </a:lnTo>
                  <a:lnTo>
                    <a:pt x="326669" y="511860"/>
                  </a:lnTo>
                  <a:lnTo>
                    <a:pt x="335203" y="510641"/>
                  </a:lnTo>
                  <a:lnTo>
                    <a:pt x="366877" y="477748"/>
                  </a:lnTo>
                  <a:lnTo>
                    <a:pt x="368096" y="469188"/>
                  </a:lnTo>
                  <a:close/>
                </a:path>
                <a:path w="368300" h="512444">
                  <a:moveTo>
                    <a:pt x="368096" y="326593"/>
                  </a:moveTo>
                  <a:lnTo>
                    <a:pt x="366877" y="318084"/>
                  </a:lnTo>
                  <a:lnTo>
                    <a:pt x="364439" y="310756"/>
                  </a:lnTo>
                  <a:lnTo>
                    <a:pt x="360781" y="303479"/>
                  </a:lnTo>
                  <a:lnTo>
                    <a:pt x="360781" y="320535"/>
                  </a:lnTo>
                  <a:lnTo>
                    <a:pt x="360781" y="333933"/>
                  </a:lnTo>
                  <a:lnTo>
                    <a:pt x="358343" y="341261"/>
                  </a:lnTo>
                  <a:lnTo>
                    <a:pt x="354685" y="346100"/>
                  </a:lnTo>
                  <a:lnTo>
                    <a:pt x="351015" y="352209"/>
                  </a:lnTo>
                  <a:lnTo>
                    <a:pt x="346138" y="355879"/>
                  </a:lnTo>
                  <a:lnTo>
                    <a:pt x="340042" y="359549"/>
                  </a:lnTo>
                  <a:lnTo>
                    <a:pt x="332765" y="360768"/>
                  </a:lnTo>
                  <a:lnTo>
                    <a:pt x="326669" y="361937"/>
                  </a:lnTo>
                  <a:lnTo>
                    <a:pt x="312026" y="359549"/>
                  </a:lnTo>
                  <a:lnTo>
                    <a:pt x="307136" y="355879"/>
                  </a:lnTo>
                  <a:lnTo>
                    <a:pt x="301040" y="352209"/>
                  </a:lnTo>
                  <a:lnTo>
                    <a:pt x="297383" y="346100"/>
                  </a:lnTo>
                  <a:lnTo>
                    <a:pt x="293725" y="341261"/>
                  </a:lnTo>
                  <a:lnTo>
                    <a:pt x="291274" y="326593"/>
                  </a:lnTo>
                  <a:lnTo>
                    <a:pt x="292493" y="320535"/>
                  </a:lnTo>
                  <a:lnTo>
                    <a:pt x="293725" y="313207"/>
                  </a:lnTo>
                  <a:lnTo>
                    <a:pt x="297383" y="307136"/>
                  </a:lnTo>
                  <a:lnTo>
                    <a:pt x="301040" y="302247"/>
                  </a:lnTo>
                  <a:lnTo>
                    <a:pt x="307136" y="298589"/>
                  </a:lnTo>
                  <a:lnTo>
                    <a:pt x="312026" y="294919"/>
                  </a:lnTo>
                  <a:lnTo>
                    <a:pt x="319341" y="292481"/>
                  </a:lnTo>
                  <a:lnTo>
                    <a:pt x="332765" y="292481"/>
                  </a:lnTo>
                  <a:lnTo>
                    <a:pt x="360781" y="320535"/>
                  </a:lnTo>
                  <a:lnTo>
                    <a:pt x="360781" y="303479"/>
                  </a:lnTo>
                  <a:lnTo>
                    <a:pt x="326669" y="285191"/>
                  </a:lnTo>
                  <a:lnTo>
                    <a:pt x="318122" y="286410"/>
                  </a:lnTo>
                  <a:lnTo>
                    <a:pt x="287667" y="310756"/>
                  </a:lnTo>
                  <a:lnTo>
                    <a:pt x="284010" y="326593"/>
                  </a:lnTo>
                  <a:lnTo>
                    <a:pt x="285229" y="335153"/>
                  </a:lnTo>
                  <a:lnTo>
                    <a:pt x="309587" y="365607"/>
                  </a:lnTo>
                  <a:lnTo>
                    <a:pt x="326669" y="369277"/>
                  </a:lnTo>
                  <a:lnTo>
                    <a:pt x="335203" y="368046"/>
                  </a:lnTo>
                  <a:lnTo>
                    <a:pt x="366877" y="335153"/>
                  </a:lnTo>
                  <a:lnTo>
                    <a:pt x="368096" y="326593"/>
                  </a:lnTo>
                  <a:close/>
                </a:path>
              </a:pathLst>
            </a:custGeom>
            <a:solidFill>
              <a:srgbClr val="929599"/>
            </a:solidFill>
          </p:spPr>
          <p:txBody>
            <a:bodyPr wrap="square" lIns="0" tIns="0" rIns="0" bIns="0" rtlCol="0"/>
            <a:lstStyle/>
            <a:p>
              <a:endParaRPr/>
            </a:p>
          </p:txBody>
        </p:sp>
        <p:pic>
          <p:nvPicPr>
            <p:cNvPr id="59" name="object 59"/>
            <p:cNvPicPr/>
            <p:nvPr/>
          </p:nvPicPr>
          <p:blipFill>
            <a:blip r:embed="rId46" cstate="print"/>
            <a:stretch>
              <a:fillRect/>
            </a:stretch>
          </p:blipFill>
          <p:spPr>
            <a:xfrm>
              <a:off x="2266323" y="662121"/>
              <a:ext cx="85315" cy="84080"/>
            </a:xfrm>
            <a:prstGeom prst="rect">
              <a:avLst/>
            </a:prstGeom>
          </p:spPr>
        </p:pic>
        <p:sp>
          <p:nvSpPr>
            <p:cNvPr id="60" name="object 60"/>
            <p:cNvSpPr/>
            <p:nvPr/>
          </p:nvSpPr>
          <p:spPr>
            <a:xfrm>
              <a:off x="1982305" y="662126"/>
              <a:ext cx="227329" cy="84455"/>
            </a:xfrm>
            <a:custGeom>
              <a:avLst/>
              <a:gdLst/>
              <a:ahLst/>
              <a:cxnLst/>
              <a:rect l="l" t="t" r="r" b="b"/>
              <a:pathLst>
                <a:path w="227330" h="84454">
                  <a:moveTo>
                    <a:pt x="84099" y="42672"/>
                  </a:moveTo>
                  <a:lnTo>
                    <a:pt x="82880" y="34124"/>
                  </a:lnTo>
                  <a:lnTo>
                    <a:pt x="80441" y="25615"/>
                  </a:lnTo>
                  <a:lnTo>
                    <a:pt x="76771" y="18288"/>
                  </a:lnTo>
                  <a:lnTo>
                    <a:pt x="76771" y="35344"/>
                  </a:lnTo>
                  <a:lnTo>
                    <a:pt x="76771" y="48742"/>
                  </a:lnTo>
                  <a:lnTo>
                    <a:pt x="48755" y="76796"/>
                  </a:lnTo>
                  <a:lnTo>
                    <a:pt x="35344" y="76796"/>
                  </a:lnTo>
                  <a:lnTo>
                    <a:pt x="28016" y="74358"/>
                  </a:lnTo>
                  <a:lnTo>
                    <a:pt x="23139" y="70688"/>
                  </a:lnTo>
                  <a:lnTo>
                    <a:pt x="17030" y="67017"/>
                  </a:lnTo>
                  <a:lnTo>
                    <a:pt x="13423" y="62128"/>
                  </a:lnTo>
                  <a:lnTo>
                    <a:pt x="9766" y="56070"/>
                  </a:lnTo>
                  <a:lnTo>
                    <a:pt x="8547" y="48742"/>
                  </a:lnTo>
                  <a:lnTo>
                    <a:pt x="7327" y="42672"/>
                  </a:lnTo>
                  <a:lnTo>
                    <a:pt x="8547" y="35344"/>
                  </a:lnTo>
                  <a:lnTo>
                    <a:pt x="9766" y="29235"/>
                  </a:lnTo>
                  <a:lnTo>
                    <a:pt x="13423" y="23177"/>
                  </a:lnTo>
                  <a:lnTo>
                    <a:pt x="17030" y="17056"/>
                  </a:lnTo>
                  <a:lnTo>
                    <a:pt x="23139" y="13398"/>
                  </a:lnTo>
                  <a:lnTo>
                    <a:pt x="28016" y="9728"/>
                  </a:lnTo>
                  <a:lnTo>
                    <a:pt x="42659" y="7327"/>
                  </a:lnTo>
                  <a:lnTo>
                    <a:pt x="48755" y="8559"/>
                  </a:lnTo>
                  <a:lnTo>
                    <a:pt x="56083" y="9728"/>
                  </a:lnTo>
                  <a:lnTo>
                    <a:pt x="62128" y="13398"/>
                  </a:lnTo>
                  <a:lnTo>
                    <a:pt x="67017" y="17056"/>
                  </a:lnTo>
                  <a:lnTo>
                    <a:pt x="74333" y="29235"/>
                  </a:lnTo>
                  <a:lnTo>
                    <a:pt x="76771" y="35344"/>
                  </a:lnTo>
                  <a:lnTo>
                    <a:pt x="76771" y="18288"/>
                  </a:lnTo>
                  <a:lnTo>
                    <a:pt x="42659" y="0"/>
                  </a:lnTo>
                  <a:lnTo>
                    <a:pt x="34112" y="1219"/>
                  </a:lnTo>
                  <a:lnTo>
                    <a:pt x="3657" y="25615"/>
                  </a:lnTo>
                  <a:lnTo>
                    <a:pt x="0" y="42672"/>
                  </a:lnTo>
                  <a:lnTo>
                    <a:pt x="1219" y="51181"/>
                  </a:lnTo>
                  <a:lnTo>
                    <a:pt x="25577" y="81635"/>
                  </a:lnTo>
                  <a:lnTo>
                    <a:pt x="34112" y="84086"/>
                  </a:lnTo>
                  <a:lnTo>
                    <a:pt x="51206" y="84086"/>
                  </a:lnTo>
                  <a:lnTo>
                    <a:pt x="80441" y="58508"/>
                  </a:lnTo>
                  <a:lnTo>
                    <a:pt x="82880" y="51181"/>
                  </a:lnTo>
                  <a:lnTo>
                    <a:pt x="84099" y="42672"/>
                  </a:lnTo>
                  <a:close/>
                </a:path>
                <a:path w="227330" h="84454">
                  <a:moveTo>
                    <a:pt x="226707" y="42672"/>
                  </a:moveTo>
                  <a:lnTo>
                    <a:pt x="225488" y="34124"/>
                  </a:lnTo>
                  <a:lnTo>
                    <a:pt x="223050" y="25615"/>
                  </a:lnTo>
                  <a:lnTo>
                    <a:pt x="219392" y="18288"/>
                  </a:lnTo>
                  <a:lnTo>
                    <a:pt x="219392" y="42672"/>
                  </a:lnTo>
                  <a:lnTo>
                    <a:pt x="218173" y="48742"/>
                  </a:lnTo>
                  <a:lnTo>
                    <a:pt x="191376" y="76796"/>
                  </a:lnTo>
                  <a:lnTo>
                    <a:pt x="177952" y="76796"/>
                  </a:lnTo>
                  <a:lnTo>
                    <a:pt x="149936" y="48742"/>
                  </a:lnTo>
                  <a:lnTo>
                    <a:pt x="149936" y="35344"/>
                  </a:lnTo>
                  <a:lnTo>
                    <a:pt x="177952" y="8559"/>
                  </a:lnTo>
                  <a:lnTo>
                    <a:pt x="184061" y="7327"/>
                  </a:lnTo>
                  <a:lnTo>
                    <a:pt x="216954" y="29235"/>
                  </a:lnTo>
                  <a:lnTo>
                    <a:pt x="219392" y="42672"/>
                  </a:lnTo>
                  <a:lnTo>
                    <a:pt x="219392" y="18288"/>
                  </a:lnTo>
                  <a:lnTo>
                    <a:pt x="184061" y="0"/>
                  </a:lnTo>
                  <a:lnTo>
                    <a:pt x="175514" y="1219"/>
                  </a:lnTo>
                  <a:lnTo>
                    <a:pt x="145059" y="25615"/>
                  </a:lnTo>
                  <a:lnTo>
                    <a:pt x="142621" y="34124"/>
                  </a:lnTo>
                  <a:lnTo>
                    <a:pt x="142621" y="51181"/>
                  </a:lnTo>
                  <a:lnTo>
                    <a:pt x="168198" y="81635"/>
                  </a:lnTo>
                  <a:lnTo>
                    <a:pt x="175514" y="84086"/>
                  </a:lnTo>
                  <a:lnTo>
                    <a:pt x="192595" y="84086"/>
                  </a:lnTo>
                  <a:lnTo>
                    <a:pt x="223050" y="58508"/>
                  </a:lnTo>
                  <a:lnTo>
                    <a:pt x="225488" y="51181"/>
                  </a:lnTo>
                  <a:lnTo>
                    <a:pt x="226707" y="42672"/>
                  </a:lnTo>
                  <a:close/>
                </a:path>
              </a:pathLst>
            </a:custGeom>
            <a:solidFill>
              <a:srgbClr val="929599"/>
            </a:solidFill>
          </p:spPr>
          <p:txBody>
            <a:bodyPr wrap="square" lIns="0" tIns="0" rIns="0" bIns="0" rtlCol="0"/>
            <a:lstStyle/>
            <a:p>
              <a:endParaRPr/>
            </a:p>
          </p:txBody>
        </p:sp>
        <p:pic>
          <p:nvPicPr>
            <p:cNvPr id="61" name="object 61"/>
            <p:cNvPicPr/>
            <p:nvPr/>
          </p:nvPicPr>
          <p:blipFill>
            <a:blip r:embed="rId47" cstate="print"/>
            <a:stretch>
              <a:fillRect/>
            </a:stretch>
          </p:blipFill>
          <p:spPr>
            <a:xfrm>
              <a:off x="966972" y="1999055"/>
              <a:ext cx="84095" cy="84129"/>
            </a:xfrm>
            <a:prstGeom prst="rect">
              <a:avLst/>
            </a:prstGeom>
          </p:spPr>
        </p:pic>
        <p:pic>
          <p:nvPicPr>
            <p:cNvPr id="62" name="object 62"/>
            <p:cNvPicPr/>
            <p:nvPr/>
          </p:nvPicPr>
          <p:blipFill>
            <a:blip r:embed="rId48" cstate="print"/>
            <a:stretch>
              <a:fillRect/>
            </a:stretch>
          </p:blipFill>
          <p:spPr>
            <a:xfrm>
              <a:off x="127128" y="2665737"/>
              <a:ext cx="84104" cy="84080"/>
            </a:xfrm>
            <a:prstGeom prst="rect">
              <a:avLst/>
            </a:prstGeom>
          </p:spPr>
        </p:pic>
        <p:pic>
          <p:nvPicPr>
            <p:cNvPr id="63" name="object 63"/>
            <p:cNvPicPr/>
            <p:nvPr/>
          </p:nvPicPr>
          <p:blipFill>
            <a:blip r:embed="rId49" cstate="print"/>
            <a:stretch>
              <a:fillRect/>
            </a:stretch>
          </p:blipFill>
          <p:spPr>
            <a:xfrm>
              <a:off x="-855" y="2380547"/>
              <a:ext cx="85321" cy="84080"/>
            </a:xfrm>
            <a:prstGeom prst="rect">
              <a:avLst/>
            </a:prstGeom>
          </p:spPr>
        </p:pic>
        <p:pic>
          <p:nvPicPr>
            <p:cNvPr id="64" name="object 64"/>
            <p:cNvPicPr/>
            <p:nvPr/>
          </p:nvPicPr>
          <p:blipFill>
            <a:blip r:embed="rId50" cstate="print"/>
            <a:stretch>
              <a:fillRect/>
            </a:stretch>
          </p:blipFill>
          <p:spPr>
            <a:xfrm>
              <a:off x="-855" y="2523142"/>
              <a:ext cx="85321" cy="84080"/>
            </a:xfrm>
            <a:prstGeom prst="rect">
              <a:avLst/>
            </a:prstGeom>
          </p:spPr>
        </p:pic>
        <p:pic>
          <p:nvPicPr>
            <p:cNvPr id="65" name="object 65"/>
            <p:cNvPicPr/>
            <p:nvPr/>
          </p:nvPicPr>
          <p:blipFill>
            <a:blip r:embed="rId51" cstate="print"/>
            <a:stretch>
              <a:fillRect/>
            </a:stretch>
          </p:blipFill>
          <p:spPr>
            <a:xfrm>
              <a:off x="966972" y="2632789"/>
              <a:ext cx="84095" cy="84129"/>
            </a:xfrm>
            <a:prstGeom prst="rect">
              <a:avLst/>
            </a:prstGeom>
          </p:spPr>
        </p:pic>
        <p:pic>
          <p:nvPicPr>
            <p:cNvPr id="66" name="object 66"/>
            <p:cNvPicPr/>
            <p:nvPr/>
          </p:nvPicPr>
          <p:blipFill>
            <a:blip r:embed="rId52" cstate="print"/>
            <a:stretch>
              <a:fillRect/>
            </a:stretch>
          </p:blipFill>
          <p:spPr>
            <a:xfrm>
              <a:off x="964532" y="2780273"/>
              <a:ext cx="84095" cy="84080"/>
            </a:xfrm>
            <a:prstGeom prst="rect">
              <a:avLst/>
            </a:prstGeom>
          </p:spPr>
        </p:pic>
        <p:sp>
          <p:nvSpPr>
            <p:cNvPr id="67" name="object 67"/>
            <p:cNvSpPr/>
            <p:nvPr/>
          </p:nvSpPr>
          <p:spPr>
            <a:xfrm>
              <a:off x="2794" y="1752409"/>
              <a:ext cx="1808480" cy="454025"/>
            </a:xfrm>
            <a:custGeom>
              <a:avLst/>
              <a:gdLst/>
              <a:ahLst/>
              <a:cxnLst/>
              <a:rect l="l" t="t" r="r" b="b"/>
              <a:pathLst>
                <a:path w="1808480" h="454025">
                  <a:moveTo>
                    <a:pt x="346176" y="446557"/>
                  </a:moveTo>
                  <a:lnTo>
                    <a:pt x="0" y="446557"/>
                  </a:lnTo>
                  <a:lnTo>
                    <a:pt x="0" y="453872"/>
                  </a:lnTo>
                  <a:lnTo>
                    <a:pt x="346176" y="453872"/>
                  </a:lnTo>
                  <a:lnTo>
                    <a:pt x="346176" y="446557"/>
                  </a:lnTo>
                  <a:close/>
                </a:path>
                <a:path w="1808480" h="454025">
                  <a:moveTo>
                    <a:pt x="346176" y="302742"/>
                  </a:moveTo>
                  <a:lnTo>
                    <a:pt x="0" y="302742"/>
                  </a:lnTo>
                  <a:lnTo>
                    <a:pt x="0" y="310057"/>
                  </a:lnTo>
                  <a:lnTo>
                    <a:pt x="346176" y="310057"/>
                  </a:lnTo>
                  <a:lnTo>
                    <a:pt x="346176" y="302742"/>
                  </a:lnTo>
                  <a:close/>
                </a:path>
                <a:path w="1808480" h="454025">
                  <a:moveTo>
                    <a:pt x="346176" y="160147"/>
                  </a:moveTo>
                  <a:lnTo>
                    <a:pt x="0" y="160147"/>
                  </a:lnTo>
                  <a:lnTo>
                    <a:pt x="0" y="167462"/>
                  </a:lnTo>
                  <a:lnTo>
                    <a:pt x="346176" y="167462"/>
                  </a:lnTo>
                  <a:lnTo>
                    <a:pt x="346176" y="160147"/>
                  </a:lnTo>
                  <a:close/>
                </a:path>
                <a:path w="1808480" h="454025">
                  <a:moveTo>
                    <a:pt x="1714639" y="146164"/>
                  </a:moveTo>
                  <a:lnTo>
                    <a:pt x="1714398" y="146164"/>
                  </a:lnTo>
                  <a:lnTo>
                    <a:pt x="1714398" y="144894"/>
                  </a:lnTo>
                  <a:lnTo>
                    <a:pt x="1713738" y="144894"/>
                  </a:lnTo>
                  <a:lnTo>
                    <a:pt x="1713738" y="143624"/>
                  </a:lnTo>
                  <a:lnTo>
                    <a:pt x="1183665" y="143624"/>
                  </a:lnTo>
                  <a:lnTo>
                    <a:pt x="1183665" y="144894"/>
                  </a:lnTo>
                  <a:lnTo>
                    <a:pt x="1183563" y="146164"/>
                  </a:lnTo>
                  <a:lnTo>
                    <a:pt x="1183563" y="148704"/>
                  </a:lnTo>
                  <a:lnTo>
                    <a:pt x="1184046" y="148704"/>
                  </a:lnTo>
                  <a:lnTo>
                    <a:pt x="1184046" y="149974"/>
                  </a:lnTo>
                  <a:lnTo>
                    <a:pt x="1713484" y="149974"/>
                  </a:lnTo>
                  <a:lnTo>
                    <a:pt x="1713484" y="148704"/>
                  </a:lnTo>
                  <a:lnTo>
                    <a:pt x="1714639" y="148704"/>
                  </a:lnTo>
                  <a:lnTo>
                    <a:pt x="1714639" y="146164"/>
                  </a:lnTo>
                  <a:close/>
                </a:path>
                <a:path w="1808480" h="454025">
                  <a:moveTo>
                    <a:pt x="1808378" y="3810"/>
                  </a:moveTo>
                  <a:lnTo>
                    <a:pt x="1808060" y="3810"/>
                  </a:lnTo>
                  <a:lnTo>
                    <a:pt x="1808060" y="1270"/>
                  </a:lnTo>
                  <a:lnTo>
                    <a:pt x="1805546" y="1270"/>
                  </a:lnTo>
                  <a:lnTo>
                    <a:pt x="1805546" y="0"/>
                  </a:lnTo>
                  <a:lnTo>
                    <a:pt x="1186738" y="0"/>
                  </a:lnTo>
                  <a:lnTo>
                    <a:pt x="1186738" y="1270"/>
                  </a:lnTo>
                  <a:lnTo>
                    <a:pt x="1183563" y="1270"/>
                  </a:lnTo>
                  <a:lnTo>
                    <a:pt x="1183563" y="3810"/>
                  </a:lnTo>
                  <a:lnTo>
                    <a:pt x="1183563" y="6350"/>
                  </a:lnTo>
                  <a:lnTo>
                    <a:pt x="1184770" y="6350"/>
                  </a:lnTo>
                  <a:lnTo>
                    <a:pt x="1184770" y="7620"/>
                  </a:lnTo>
                  <a:lnTo>
                    <a:pt x="1806854" y="7620"/>
                  </a:lnTo>
                  <a:lnTo>
                    <a:pt x="1806854" y="6350"/>
                  </a:lnTo>
                  <a:lnTo>
                    <a:pt x="1808378" y="6350"/>
                  </a:lnTo>
                  <a:lnTo>
                    <a:pt x="1808378" y="3810"/>
                  </a:lnTo>
                  <a:close/>
                </a:path>
              </a:pathLst>
            </a:custGeom>
            <a:solidFill>
              <a:srgbClr val="929599"/>
            </a:solidFill>
          </p:spPr>
          <p:txBody>
            <a:bodyPr wrap="square" lIns="0" tIns="0" rIns="0" bIns="0" rtlCol="0"/>
            <a:lstStyle/>
            <a:p>
              <a:endParaRPr/>
            </a:p>
          </p:txBody>
        </p:sp>
        <p:pic>
          <p:nvPicPr>
            <p:cNvPr id="68" name="object 68"/>
            <p:cNvPicPr/>
            <p:nvPr/>
          </p:nvPicPr>
          <p:blipFill>
            <a:blip r:embed="rId53" cstate="print"/>
            <a:stretch>
              <a:fillRect/>
            </a:stretch>
          </p:blipFill>
          <p:spPr>
            <a:xfrm>
              <a:off x="609799" y="501243"/>
              <a:ext cx="84143" cy="84080"/>
            </a:xfrm>
            <a:prstGeom prst="rect">
              <a:avLst/>
            </a:prstGeom>
          </p:spPr>
        </p:pic>
        <p:sp>
          <p:nvSpPr>
            <p:cNvPr id="69" name="object 69"/>
            <p:cNvSpPr/>
            <p:nvPr/>
          </p:nvSpPr>
          <p:spPr>
            <a:xfrm>
              <a:off x="346532" y="1549"/>
              <a:ext cx="989965" cy="991235"/>
            </a:xfrm>
            <a:custGeom>
              <a:avLst/>
              <a:gdLst/>
              <a:ahLst/>
              <a:cxnLst/>
              <a:rect l="l" t="t" r="r" b="b"/>
              <a:pathLst>
                <a:path w="989965" h="991235">
                  <a:moveTo>
                    <a:pt x="282778" y="569163"/>
                  </a:moveTo>
                  <a:lnTo>
                    <a:pt x="281559" y="566724"/>
                  </a:lnTo>
                  <a:lnTo>
                    <a:pt x="279120" y="565492"/>
                  </a:lnTo>
                  <a:lnTo>
                    <a:pt x="276682" y="566724"/>
                  </a:lnTo>
                  <a:lnTo>
                    <a:pt x="1219" y="843407"/>
                  </a:lnTo>
                  <a:lnTo>
                    <a:pt x="0" y="845794"/>
                  </a:lnTo>
                  <a:lnTo>
                    <a:pt x="1219" y="848245"/>
                  </a:lnTo>
                  <a:lnTo>
                    <a:pt x="3644" y="849464"/>
                  </a:lnTo>
                  <a:lnTo>
                    <a:pt x="6096" y="848245"/>
                  </a:lnTo>
                  <a:lnTo>
                    <a:pt x="281559" y="572833"/>
                  </a:lnTo>
                  <a:lnTo>
                    <a:pt x="282778" y="569163"/>
                  </a:lnTo>
                  <a:close/>
                </a:path>
                <a:path w="989965" h="991235">
                  <a:moveTo>
                    <a:pt x="706970" y="3670"/>
                  </a:moveTo>
                  <a:lnTo>
                    <a:pt x="705751" y="1231"/>
                  </a:lnTo>
                  <a:lnTo>
                    <a:pt x="703313" y="0"/>
                  </a:lnTo>
                  <a:lnTo>
                    <a:pt x="700874" y="1231"/>
                  </a:lnTo>
                  <a:lnTo>
                    <a:pt x="1219" y="700811"/>
                  </a:lnTo>
                  <a:lnTo>
                    <a:pt x="0" y="703249"/>
                  </a:lnTo>
                  <a:lnTo>
                    <a:pt x="1219" y="705650"/>
                  </a:lnTo>
                  <a:lnTo>
                    <a:pt x="3644" y="706869"/>
                  </a:lnTo>
                  <a:lnTo>
                    <a:pt x="6096" y="705650"/>
                  </a:lnTo>
                  <a:lnTo>
                    <a:pt x="705751" y="6121"/>
                  </a:lnTo>
                  <a:lnTo>
                    <a:pt x="706970" y="3670"/>
                  </a:lnTo>
                  <a:close/>
                </a:path>
                <a:path w="989965" h="991235">
                  <a:moveTo>
                    <a:pt x="989761" y="4889"/>
                  </a:moveTo>
                  <a:lnTo>
                    <a:pt x="988542" y="2451"/>
                  </a:lnTo>
                  <a:lnTo>
                    <a:pt x="986104" y="1231"/>
                  </a:lnTo>
                  <a:lnTo>
                    <a:pt x="983653" y="2451"/>
                  </a:lnTo>
                  <a:lnTo>
                    <a:pt x="1219" y="984783"/>
                  </a:lnTo>
                  <a:lnTo>
                    <a:pt x="0" y="987171"/>
                  </a:lnTo>
                  <a:lnTo>
                    <a:pt x="1219" y="990841"/>
                  </a:lnTo>
                  <a:lnTo>
                    <a:pt x="6096" y="990841"/>
                  </a:lnTo>
                  <a:lnTo>
                    <a:pt x="988542" y="8559"/>
                  </a:lnTo>
                  <a:lnTo>
                    <a:pt x="989761" y="4889"/>
                  </a:lnTo>
                  <a:close/>
                </a:path>
              </a:pathLst>
            </a:custGeom>
            <a:solidFill>
              <a:srgbClr val="929599"/>
            </a:solidFill>
          </p:spPr>
          <p:txBody>
            <a:bodyPr wrap="square" lIns="0" tIns="0" rIns="0" bIns="0" rtlCol="0"/>
            <a:lstStyle/>
            <a:p>
              <a:endParaRPr/>
            </a:p>
          </p:txBody>
        </p:sp>
        <p:pic>
          <p:nvPicPr>
            <p:cNvPr id="70" name="object 70"/>
            <p:cNvPicPr/>
            <p:nvPr/>
          </p:nvPicPr>
          <p:blipFill>
            <a:blip r:embed="rId54" cstate="print"/>
            <a:stretch>
              <a:fillRect/>
            </a:stretch>
          </p:blipFill>
          <p:spPr>
            <a:xfrm>
              <a:off x="609799" y="3198282"/>
              <a:ext cx="84143" cy="84129"/>
            </a:xfrm>
            <a:prstGeom prst="rect">
              <a:avLst/>
            </a:prstGeom>
          </p:spPr>
        </p:pic>
        <p:sp>
          <p:nvSpPr>
            <p:cNvPr id="71" name="object 71"/>
            <p:cNvSpPr/>
            <p:nvPr/>
          </p:nvSpPr>
          <p:spPr>
            <a:xfrm>
              <a:off x="-850" y="3122764"/>
              <a:ext cx="870585" cy="914400"/>
            </a:xfrm>
            <a:custGeom>
              <a:avLst/>
              <a:gdLst/>
              <a:ahLst/>
              <a:cxnLst/>
              <a:rect l="l" t="t" r="r" b="b"/>
              <a:pathLst>
                <a:path w="870585" h="914400">
                  <a:moveTo>
                    <a:pt x="628942" y="3619"/>
                  </a:moveTo>
                  <a:lnTo>
                    <a:pt x="627722" y="1219"/>
                  </a:lnTo>
                  <a:lnTo>
                    <a:pt x="625284" y="0"/>
                  </a:lnTo>
                  <a:lnTo>
                    <a:pt x="622846" y="1219"/>
                  </a:lnTo>
                  <a:lnTo>
                    <a:pt x="1206" y="622731"/>
                  </a:lnTo>
                  <a:lnTo>
                    <a:pt x="0" y="626402"/>
                  </a:lnTo>
                  <a:lnTo>
                    <a:pt x="1206" y="628840"/>
                  </a:lnTo>
                  <a:lnTo>
                    <a:pt x="3644" y="630072"/>
                  </a:lnTo>
                  <a:lnTo>
                    <a:pt x="6083" y="628840"/>
                  </a:lnTo>
                  <a:lnTo>
                    <a:pt x="627722" y="6057"/>
                  </a:lnTo>
                  <a:lnTo>
                    <a:pt x="628942" y="3619"/>
                  </a:lnTo>
                  <a:close/>
                </a:path>
                <a:path w="870585" h="914400">
                  <a:moveTo>
                    <a:pt x="630161" y="144983"/>
                  </a:moveTo>
                  <a:lnTo>
                    <a:pt x="628942" y="142595"/>
                  </a:lnTo>
                  <a:lnTo>
                    <a:pt x="626503" y="141376"/>
                  </a:lnTo>
                  <a:lnTo>
                    <a:pt x="624065" y="142595"/>
                  </a:lnTo>
                  <a:lnTo>
                    <a:pt x="1206" y="765327"/>
                  </a:lnTo>
                  <a:lnTo>
                    <a:pt x="0" y="767778"/>
                  </a:lnTo>
                  <a:lnTo>
                    <a:pt x="1206" y="770216"/>
                  </a:lnTo>
                  <a:lnTo>
                    <a:pt x="3644" y="771436"/>
                  </a:lnTo>
                  <a:lnTo>
                    <a:pt x="6083" y="770216"/>
                  </a:lnTo>
                  <a:lnTo>
                    <a:pt x="628942" y="147434"/>
                  </a:lnTo>
                  <a:lnTo>
                    <a:pt x="630161" y="144983"/>
                  </a:lnTo>
                  <a:close/>
                </a:path>
                <a:path w="870585" h="914400">
                  <a:moveTo>
                    <a:pt x="870305" y="43853"/>
                  </a:moveTo>
                  <a:lnTo>
                    <a:pt x="864196" y="43853"/>
                  </a:lnTo>
                  <a:lnTo>
                    <a:pt x="1206" y="907923"/>
                  </a:lnTo>
                  <a:lnTo>
                    <a:pt x="0" y="910374"/>
                  </a:lnTo>
                  <a:lnTo>
                    <a:pt x="1206" y="912812"/>
                  </a:lnTo>
                  <a:lnTo>
                    <a:pt x="3644" y="914031"/>
                  </a:lnTo>
                  <a:lnTo>
                    <a:pt x="6083" y="912812"/>
                  </a:lnTo>
                  <a:lnTo>
                    <a:pt x="870305" y="49961"/>
                  </a:lnTo>
                  <a:lnTo>
                    <a:pt x="870305" y="43853"/>
                  </a:lnTo>
                  <a:close/>
                </a:path>
              </a:pathLst>
            </a:custGeom>
            <a:solidFill>
              <a:srgbClr val="929599"/>
            </a:solidFill>
          </p:spPr>
          <p:txBody>
            <a:bodyPr wrap="square" lIns="0" tIns="0" rIns="0" bIns="0" rtlCol="0"/>
            <a:lstStyle/>
            <a:p>
              <a:endParaRPr/>
            </a:p>
          </p:txBody>
        </p:sp>
        <p:pic>
          <p:nvPicPr>
            <p:cNvPr id="72" name="object 72"/>
            <p:cNvPicPr/>
            <p:nvPr/>
          </p:nvPicPr>
          <p:blipFill>
            <a:blip r:embed="rId55" cstate="print"/>
            <a:stretch>
              <a:fillRect/>
            </a:stretch>
          </p:blipFill>
          <p:spPr>
            <a:xfrm>
              <a:off x="411134" y="1780933"/>
              <a:ext cx="109689" cy="109647"/>
            </a:xfrm>
            <a:prstGeom prst="rect">
              <a:avLst/>
            </a:prstGeom>
          </p:spPr>
        </p:pic>
        <p:pic>
          <p:nvPicPr>
            <p:cNvPr id="73" name="object 73"/>
            <p:cNvPicPr/>
            <p:nvPr/>
          </p:nvPicPr>
          <p:blipFill>
            <a:blip r:embed="rId56" cstate="print"/>
            <a:stretch>
              <a:fillRect/>
            </a:stretch>
          </p:blipFill>
          <p:spPr>
            <a:xfrm>
              <a:off x="731720" y="2064902"/>
              <a:ext cx="110890" cy="110869"/>
            </a:xfrm>
            <a:prstGeom prst="rect">
              <a:avLst/>
            </a:prstGeom>
          </p:spPr>
        </p:pic>
        <p:pic>
          <p:nvPicPr>
            <p:cNvPr id="74" name="object 74"/>
            <p:cNvPicPr/>
            <p:nvPr/>
          </p:nvPicPr>
          <p:blipFill>
            <a:blip r:embed="rId57" cstate="print"/>
            <a:stretch>
              <a:fillRect/>
            </a:stretch>
          </p:blipFill>
          <p:spPr>
            <a:xfrm>
              <a:off x="731720" y="1912530"/>
              <a:ext cx="110890" cy="110918"/>
            </a:xfrm>
            <a:prstGeom prst="rect">
              <a:avLst/>
            </a:prstGeom>
          </p:spPr>
        </p:pic>
        <p:pic>
          <p:nvPicPr>
            <p:cNvPr id="75" name="object 75"/>
            <p:cNvPicPr/>
            <p:nvPr/>
          </p:nvPicPr>
          <p:blipFill>
            <a:blip r:embed="rId58" cstate="print"/>
            <a:stretch>
              <a:fillRect/>
            </a:stretch>
          </p:blipFill>
          <p:spPr>
            <a:xfrm>
              <a:off x="729280" y="1154482"/>
              <a:ext cx="113330" cy="214503"/>
            </a:xfrm>
            <a:prstGeom prst="rect">
              <a:avLst/>
            </a:prstGeom>
          </p:spPr>
        </p:pic>
        <p:sp>
          <p:nvSpPr>
            <p:cNvPr id="76" name="object 76"/>
            <p:cNvSpPr/>
            <p:nvPr/>
          </p:nvSpPr>
          <p:spPr>
            <a:xfrm>
              <a:off x="411124" y="1412836"/>
              <a:ext cx="1655445" cy="1383665"/>
            </a:xfrm>
            <a:custGeom>
              <a:avLst/>
              <a:gdLst/>
              <a:ahLst/>
              <a:cxnLst/>
              <a:rect l="l" t="t" r="r" b="b"/>
              <a:pathLst>
                <a:path w="1655445" h="1383664">
                  <a:moveTo>
                    <a:pt x="570433" y="1377226"/>
                  </a:moveTo>
                  <a:lnTo>
                    <a:pt x="6096" y="812901"/>
                  </a:lnTo>
                  <a:lnTo>
                    <a:pt x="4876" y="811733"/>
                  </a:lnTo>
                  <a:lnTo>
                    <a:pt x="3657" y="811733"/>
                  </a:lnTo>
                  <a:lnTo>
                    <a:pt x="1219" y="812901"/>
                  </a:lnTo>
                  <a:lnTo>
                    <a:pt x="0" y="815340"/>
                  </a:lnTo>
                  <a:lnTo>
                    <a:pt x="0" y="816571"/>
                  </a:lnTo>
                  <a:lnTo>
                    <a:pt x="564337" y="1382064"/>
                  </a:lnTo>
                  <a:lnTo>
                    <a:pt x="566775" y="1383284"/>
                  </a:lnTo>
                  <a:lnTo>
                    <a:pt x="570433" y="1382064"/>
                  </a:lnTo>
                  <a:lnTo>
                    <a:pt x="570433" y="1377226"/>
                  </a:lnTo>
                  <a:close/>
                </a:path>
                <a:path w="1655445" h="1383664">
                  <a:moveTo>
                    <a:pt x="704024" y="1008113"/>
                  </a:moveTo>
                  <a:lnTo>
                    <a:pt x="702462" y="1008113"/>
                  </a:lnTo>
                  <a:lnTo>
                    <a:pt x="702462" y="1006843"/>
                  </a:lnTo>
                  <a:lnTo>
                    <a:pt x="492061" y="1006843"/>
                  </a:lnTo>
                  <a:lnTo>
                    <a:pt x="492061" y="1008113"/>
                  </a:lnTo>
                  <a:lnTo>
                    <a:pt x="490474" y="1008113"/>
                  </a:lnTo>
                  <a:lnTo>
                    <a:pt x="490474" y="1010653"/>
                  </a:lnTo>
                  <a:lnTo>
                    <a:pt x="490791" y="1010653"/>
                  </a:lnTo>
                  <a:lnTo>
                    <a:pt x="490791" y="1013193"/>
                  </a:lnTo>
                  <a:lnTo>
                    <a:pt x="493306" y="1013193"/>
                  </a:lnTo>
                  <a:lnTo>
                    <a:pt x="493306" y="1014463"/>
                  </a:lnTo>
                  <a:lnTo>
                    <a:pt x="701243" y="1014463"/>
                  </a:lnTo>
                  <a:lnTo>
                    <a:pt x="701243" y="1013193"/>
                  </a:lnTo>
                  <a:lnTo>
                    <a:pt x="703719" y="1013193"/>
                  </a:lnTo>
                  <a:lnTo>
                    <a:pt x="703719" y="1010653"/>
                  </a:lnTo>
                  <a:lnTo>
                    <a:pt x="704024" y="1010653"/>
                  </a:lnTo>
                  <a:lnTo>
                    <a:pt x="704024" y="1008113"/>
                  </a:lnTo>
                  <a:close/>
                </a:path>
                <a:path w="1655445" h="1383664">
                  <a:moveTo>
                    <a:pt x="1102741" y="753910"/>
                  </a:moveTo>
                  <a:lnTo>
                    <a:pt x="1102220" y="753910"/>
                  </a:lnTo>
                  <a:lnTo>
                    <a:pt x="1102220" y="751370"/>
                  </a:lnTo>
                  <a:lnTo>
                    <a:pt x="933704" y="751370"/>
                  </a:lnTo>
                  <a:lnTo>
                    <a:pt x="933704" y="753910"/>
                  </a:lnTo>
                  <a:lnTo>
                    <a:pt x="933704" y="756450"/>
                  </a:lnTo>
                  <a:lnTo>
                    <a:pt x="934339" y="756450"/>
                  </a:lnTo>
                  <a:lnTo>
                    <a:pt x="934339" y="757732"/>
                  </a:lnTo>
                  <a:lnTo>
                    <a:pt x="1101471" y="757732"/>
                  </a:lnTo>
                  <a:lnTo>
                    <a:pt x="1101471" y="756450"/>
                  </a:lnTo>
                  <a:lnTo>
                    <a:pt x="1102741" y="756450"/>
                  </a:lnTo>
                  <a:lnTo>
                    <a:pt x="1102741" y="753910"/>
                  </a:lnTo>
                  <a:close/>
                </a:path>
                <a:path w="1655445" h="1383664">
                  <a:moveTo>
                    <a:pt x="1110107" y="867029"/>
                  </a:moveTo>
                  <a:lnTo>
                    <a:pt x="1108964" y="867029"/>
                  </a:lnTo>
                  <a:lnTo>
                    <a:pt x="1108964" y="865759"/>
                  </a:lnTo>
                  <a:lnTo>
                    <a:pt x="491477" y="865759"/>
                  </a:lnTo>
                  <a:lnTo>
                    <a:pt x="491477" y="867029"/>
                  </a:lnTo>
                  <a:lnTo>
                    <a:pt x="490334" y="867029"/>
                  </a:lnTo>
                  <a:lnTo>
                    <a:pt x="490334" y="869569"/>
                  </a:lnTo>
                  <a:lnTo>
                    <a:pt x="490613" y="869569"/>
                  </a:lnTo>
                  <a:lnTo>
                    <a:pt x="490613" y="870851"/>
                  </a:lnTo>
                  <a:lnTo>
                    <a:pt x="491350" y="870851"/>
                  </a:lnTo>
                  <a:lnTo>
                    <a:pt x="491350" y="872121"/>
                  </a:lnTo>
                  <a:lnTo>
                    <a:pt x="1109091" y="872121"/>
                  </a:lnTo>
                  <a:lnTo>
                    <a:pt x="1109091" y="870851"/>
                  </a:lnTo>
                  <a:lnTo>
                    <a:pt x="1109827" y="870851"/>
                  </a:lnTo>
                  <a:lnTo>
                    <a:pt x="1109827" y="869569"/>
                  </a:lnTo>
                  <a:lnTo>
                    <a:pt x="1110107" y="869569"/>
                  </a:lnTo>
                  <a:lnTo>
                    <a:pt x="1110107" y="867029"/>
                  </a:lnTo>
                  <a:close/>
                </a:path>
                <a:path w="1655445" h="1383664">
                  <a:moveTo>
                    <a:pt x="1655279" y="182829"/>
                  </a:moveTo>
                  <a:lnTo>
                    <a:pt x="1654060" y="174332"/>
                  </a:lnTo>
                  <a:lnTo>
                    <a:pt x="1651622" y="166992"/>
                  </a:lnTo>
                  <a:lnTo>
                    <a:pt x="1647952" y="159664"/>
                  </a:lnTo>
                  <a:lnTo>
                    <a:pt x="1647952" y="175552"/>
                  </a:lnTo>
                  <a:lnTo>
                    <a:pt x="1647952" y="190169"/>
                  </a:lnTo>
                  <a:lnTo>
                    <a:pt x="1619935" y="216954"/>
                  </a:lnTo>
                  <a:lnTo>
                    <a:pt x="1613839" y="218173"/>
                  </a:lnTo>
                  <a:lnTo>
                    <a:pt x="1580946" y="196227"/>
                  </a:lnTo>
                  <a:lnTo>
                    <a:pt x="1578508" y="182829"/>
                  </a:lnTo>
                  <a:lnTo>
                    <a:pt x="1579727" y="175552"/>
                  </a:lnTo>
                  <a:lnTo>
                    <a:pt x="1606524" y="148717"/>
                  </a:lnTo>
                  <a:lnTo>
                    <a:pt x="1619935" y="148717"/>
                  </a:lnTo>
                  <a:lnTo>
                    <a:pt x="1647952" y="175552"/>
                  </a:lnTo>
                  <a:lnTo>
                    <a:pt x="1647952" y="159664"/>
                  </a:lnTo>
                  <a:lnTo>
                    <a:pt x="1643075" y="153593"/>
                  </a:lnTo>
                  <a:lnTo>
                    <a:pt x="1638198" y="148717"/>
                  </a:lnTo>
                  <a:lnTo>
                    <a:pt x="1636979" y="147485"/>
                  </a:lnTo>
                  <a:lnTo>
                    <a:pt x="1629702" y="143827"/>
                  </a:lnTo>
                  <a:lnTo>
                    <a:pt x="1622386" y="141376"/>
                  </a:lnTo>
                  <a:lnTo>
                    <a:pt x="1605292" y="141376"/>
                  </a:lnTo>
                  <a:lnTo>
                    <a:pt x="1574838" y="166992"/>
                  </a:lnTo>
                  <a:lnTo>
                    <a:pt x="1571663" y="179425"/>
                  </a:lnTo>
                  <a:lnTo>
                    <a:pt x="1370761" y="179425"/>
                  </a:lnTo>
                  <a:lnTo>
                    <a:pt x="1370050" y="174332"/>
                  </a:lnTo>
                  <a:lnTo>
                    <a:pt x="1367612" y="166992"/>
                  </a:lnTo>
                  <a:lnTo>
                    <a:pt x="1363941" y="159664"/>
                  </a:lnTo>
                  <a:lnTo>
                    <a:pt x="1363941" y="182829"/>
                  </a:lnTo>
                  <a:lnTo>
                    <a:pt x="1362722" y="190169"/>
                  </a:lnTo>
                  <a:lnTo>
                    <a:pt x="1328610" y="218173"/>
                  </a:lnTo>
                  <a:lnTo>
                    <a:pt x="1321282" y="216954"/>
                  </a:lnTo>
                  <a:lnTo>
                    <a:pt x="1293279" y="182829"/>
                  </a:lnTo>
                  <a:lnTo>
                    <a:pt x="1294498" y="175552"/>
                  </a:lnTo>
                  <a:lnTo>
                    <a:pt x="1299375" y="163322"/>
                  </a:lnTo>
                  <a:lnTo>
                    <a:pt x="1304251" y="158483"/>
                  </a:lnTo>
                  <a:lnTo>
                    <a:pt x="1309090" y="153593"/>
                  </a:lnTo>
                  <a:lnTo>
                    <a:pt x="1321282" y="148717"/>
                  </a:lnTo>
                  <a:lnTo>
                    <a:pt x="1335925" y="148717"/>
                  </a:lnTo>
                  <a:lnTo>
                    <a:pt x="1348130" y="153593"/>
                  </a:lnTo>
                  <a:lnTo>
                    <a:pt x="1357845" y="163322"/>
                  </a:lnTo>
                  <a:lnTo>
                    <a:pt x="1362722" y="175552"/>
                  </a:lnTo>
                  <a:lnTo>
                    <a:pt x="1363941" y="182829"/>
                  </a:lnTo>
                  <a:lnTo>
                    <a:pt x="1363941" y="159664"/>
                  </a:lnTo>
                  <a:lnTo>
                    <a:pt x="1359065" y="153593"/>
                  </a:lnTo>
                  <a:lnTo>
                    <a:pt x="1353248" y="148717"/>
                  </a:lnTo>
                  <a:lnTo>
                    <a:pt x="1351788" y="147485"/>
                  </a:lnTo>
                  <a:lnTo>
                    <a:pt x="1345692" y="143827"/>
                  </a:lnTo>
                  <a:lnTo>
                    <a:pt x="1337144" y="141376"/>
                  </a:lnTo>
                  <a:lnTo>
                    <a:pt x="1320063" y="141376"/>
                  </a:lnTo>
                  <a:lnTo>
                    <a:pt x="1289608" y="166992"/>
                  </a:lnTo>
                  <a:lnTo>
                    <a:pt x="1285951" y="182829"/>
                  </a:lnTo>
                  <a:lnTo>
                    <a:pt x="1287170" y="191389"/>
                  </a:lnTo>
                  <a:lnTo>
                    <a:pt x="1312748" y="221843"/>
                  </a:lnTo>
                  <a:lnTo>
                    <a:pt x="1328610" y="225513"/>
                  </a:lnTo>
                  <a:lnTo>
                    <a:pt x="1337144" y="224282"/>
                  </a:lnTo>
                  <a:lnTo>
                    <a:pt x="1367612" y="199898"/>
                  </a:lnTo>
                  <a:lnTo>
                    <a:pt x="1370660" y="187045"/>
                  </a:lnTo>
                  <a:lnTo>
                    <a:pt x="1571777" y="187045"/>
                  </a:lnTo>
                  <a:lnTo>
                    <a:pt x="1596758" y="221843"/>
                  </a:lnTo>
                  <a:lnTo>
                    <a:pt x="1613839" y="225513"/>
                  </a:lnTo>
                  <a:lnTo>
                    <a:pt x="1622386" y="224282"/>
                  </a:lnTo>
                  <a:lnTo>
                    <a:pt x="1654060" y="191389"/>
                  </a:lnTo>
                  <a:lnTo>
                    <a:pt x="1655279" y="182829"/>
                  </a:lnTo>
                  <a:close/>
                </a:path>
                <a:path w="1655445" h="1383664">
                  <a:moveTo>
                    <a:pt x="1655279" y="41465"/>
                  </a:moveTo>
                  <a:lnTo>
                    <a:pt x="1654060" y="32956"/>
                  </a:lnTo>
                  <a:lnTo>
                    <a:pt x="1651622" y="25615"/>
                  </a:lnTo>
                  <a:lnTo>
                    <a:pt x="1647952" y="18288"/>
                  </a:lnTo>
                  <a:lnTo>
                    <a:pt x="1647952" y="35344"/>
                  </a:lnTo>
                  <a:lnTo>
                    <a:pt x="1647952" y="48793"/>
                  </a:lnTo>
                  <a:lnTo>
                    <a:pt x="1645513" y="56070"/>
                  </a:lnTo>
                  <a:lnTo>
                    <a:pt x="1641856" y="60960"/>
                  </a:lnTo>
                  <a:lnTo>
                    <a:pt x="1638198" y="67068"/>
                  </a:lnTo>
                  <a:lnTo>
                    <a:pt x="1633308" y="70688"/>
                  </a:lnTo>
                  <a:lnTo>
                    <a:pt x="1627263" y="74358"/>
                  </a:lnTo>
                  <a:lnTo>
                    <a:pt x="1619935" y="75577"/>
                  </a:lnTo>
                  <a:lnTo>
                    <a:pt x="1613839" y="76796"/>
                  </a:lnTo>
                  <a:lnTo>
                    <a:pt x="1599196" y="74358"/>
                  </a:lnTo>
                  <a:lnTo>
                    <a:pt x="1594319" y="70688"/>
                  </a:lnTo>
                  <a:lnTo>
                    <a:pt x="1588211" y="67068"/>
                  </a:lnTo>
                  <a:lnTo>
                    <a:pt x="1584604" y="60960"/>
                  </a:lnTo>
                  <a:lnTo>
                    <a:pt x="1580946" y="56070"/>
                  </a:lnTo>
                  <a:lnTo>
                    <a:pt x="1578508" y="41465"/>
                  </a:lnTo>
                  <a:lnTo>
                    <a:pt x="1579727" y="35344"/>
                  </a:lnTo>
                  <a:lnTo>
                    <a:pt x="1580946" y="28067"/>
                  </a:lnTo>
                  <a:lnTo>
                    <a:pt x="1584604" y="21958"/>
                  </a:lnTo>
                  <a:lnTo>
                    <a:pt x="1588211" y="17119"/>
                  </a:lnTo>
                  <a:lnTo>
                    <a:pt x="1594319" y="13449"/>
                  </a:lnTo>
                  <a:lnTo>
                    <a:pt x="1599196" y="9779"/>
                  </a:lnTo>
                  <a:lnTo>
                    <a:pt x="1606524" y="7340"/>
                  </a:lnTo>
                  <a:lnTo>
                    <a:pt x="1619935" y="7340"/>
                  </a:lnTo>
                  <a:lnTo>
                    <a:pt x="1647952" y="35344"/>
                  </a:lnTo>
                  <a:lnTo>
                    <a:pt x="1647952" y="18288"/>
                  </a:lnTo>
                  <a:lnTo>
                    <a:pt x="1613839" y="0"/>
                  </a:lnTo>
                  <a:lnTo>
                    <a:pt x="1605292" y="1231"/>
                  </a:lnTo>
                  <a:lnTo>
                    <a:pt x="1574838" y="25615"/>
                  </a:lnTo>
                  <a:lnTo>
                    <a:pt x="1571612" y="38341"/>
                  </a:lnTo>
                  <a:lnTo>
                    <a:pt x="1370799" y="38341"/>
                  </a:lnTo>
                  <a:lnTo>
                    <a:pt x="1370050" y="32956"/>
                  </a:lnTo>
                  <a:lnTo>
                    <a:pt x="1367612" y="25615"/>
                  </a:lnTo>
                  <a:lnTo>
                    <a:pt x="1363941" y="18288"/>
                  </a:lnTo>
                  <a:lnTo>
                    <a:pt x="1363941" y="41465"/>
                  </a:lnTo>
                  <a:lnTo>
                    <a:pt x="1362722" y="48793"/>
                  </a:lnTo>
                  <a:lnTo>
                    <a:pt x="1328610" y="76796"/>
                  </a:lnTo>
                  <a:lnTo>
                    <a:pt x="1321282" y="75577"/>
                  </a:lnTo>
                  <a:lnTo>
                    <a:pt x="1293279" y="41465"/>
                  </a:lnTo>
                  <a:lnTo>
                    <a:pt x="1294498" y="35344"/>
                  </a:lnTo>
                  <a:lnTo>
                    <a:pt x="1321282" y="7340"/>
                  </a:lnTo>
                  <a:lnTo>
                    <a:pt x="1335925" y="7340"/>
                  </a:lnTo>
                  <a:lnTo>
                    <a:pt x="1362722" y="35344"/>
                  </a:lnTo>
                  <a:lnTo>
                    <a:pt x="1363941" y="41465"/>
                  </a:lnTo>
                  <a:lnTo>
                    <a:pt x="1363941" y="18288"/>
                  </a:lnTo>
                  <a:lnTo>
                    <a:pt x="1328610" y="0"/>
                  </a:lnTo>
                  <a:lnTo>
                    <a:pt x="1320063" y="1231"/>
                  </a:lnTo>
                  <a:lnTo>
                    <a:pt x="1289608" y="25615"/>
                  </a:lnTo>
                  <a:lnTo>
                    <a:pt x="1285951" y="41465"/>
                  </a:lnTo>
                  <a:lnTo>
                    <a:pt x="1287170" y="50012"/>
                  </a:lnTo>
                  <a:lnTo>
                    <a:pt x="1312748" y="80467"/>
                  </a:lnTo>
                  <a:lnTo>
                    <a:pt x="1328610" y="84137"/>
                  </a:lnTo>
                  <a:lnTo>
                    <a:pt x="1337144" y="82918"/>
                  </a:lnTo>
                  <a:lnTo>
                    <a:pt x="1367612" y="58521"/>
                  </a:lnTo>
                  <a:lnTo>
                    <a:pt x="1370799" y="44691"/>
                  </a:lnTo>
                  <a:lnTo>
                    <a:pt x="1571637" y="44691"/>
                  </a:lnTo>
                  <a:lnTo>
                    <a:pt x="1596758" y="80467"/>
                  </a:lnTo>
                  <a:lnTo>
                    <a:pt x="1613839" y="84137"/>
                  </a:lnTo>
                  <a:lnTo>
                    <a:pt x="1622386" y="82918"/>
                  </a:lnTo>
                  <a:lnTo>
                    <a:pt x="1654060" y="50012"/>
                  </a:lnTo>
                  <a:lnTo>
                    <a:pt x="1655279" y="41465"/>
                  </a:lnTo>
                  <a:close/>
                </a:path>
              </a:pathLst>
            </a:custGeom>
            <a:solidFill>
              <a:srgbClr val="929599"/>
            </a:solidFill>
          </p:spPr>
          <p:txBody>
            <a:bodyPr wrap="square" lIns="0" tIns="0" rIns="0" bIns="0" rtlCol="0"/>
            <a:lstStyle/>
            <a:p>
              <a:endParaRPr/>
            </a:p>
          </p:txBody>
        </p:sp>
        <p:pic>
          <p:nvPicPr>
            <p:cNvPr id="77" name="object 77"/>
            <p:cNvPicPr/>
            <p:nvPr/>
          </p:nvPicPr>
          <p:blipFill>
            <a:blip r:embed="rId59" cstate="print"/>
            <a:stretch>
              <a:fillRect/>
            </a:stretch>
          </p:blipFill>
          <p:spPr>
            <a:xfrm>
              <a:off x="411134" y="2365931"/>
              <a:ext cx="216968" cy="216899"/>
            </a:xfrm>
            <a:prstGeom prst="rect">
              <a:avLst/>
            </a:prstGeom>
          </p:spPr>
        </p:pic>
        <p:sp>
          <p:nvSpPr>
            <p:cNvPr id="78" name="object 78"/>
            <p:cNvSpPr/>
            <p:nvPr/>
          </p:nvSpPr>
          <p:spPr>
            <a:xfrm>
              <a:off x="411124" y="2083193"/>
              <a:ext cx="1035050" cy="954405"/>
            </a:xfrm>
            <a:custGeom>
              <a:avLst/>
              <a:gdLst/>
              <a:ahLst/>
              <a:cxnLst/>
              <a:rect l="l" t="t" r="r" b="b"/>
              <a:pathLst>
                <a:path w="1035050" h="954405">
                  <a:moveTo>
                    <a:pt x="570433" y="565492"/>
                  </a:moveTo>
                  <a:lnTo>
                    <a:pt x="6096" y="1168"/>
                  </a:lnTo>
                  <a:lnTo>
                    <a:pt x="3657" y="0"/>
                  </a:lnTo>
                  <a:lnTo>
                    <a:pt x="1219" y="1168"/>
                  </a:lnTo>
                  <a:lnTo>
                    <a:pt x="0" y="3619"/>
                  </a:lnTo>
                  <a:lnTo>
                    <a:pt x="1219" y="6057"/>
                  </a:lnTo>
                  <a:lnTo>
                    <a:pt x="564337" y="570331"/>
                  </a:lnTo>
                  <a:lnTo>
                    <a:pt x="566775" y="571550"/>
                  </a:lnTo>
                  <a:lnTo>
                    <a:pt x="570433" y="570331"/>
                  </a:lnTo>
                  <a:lnTo>
                    <a:pt x="570433" y="565492"/>
                  </a:lnTo>
                  <a:close/>
                </a:path>
                <a:path w="1035050" h="954405">
                  <a:moveTo>
                    <a:pt x="1034834" y="950595"/>
                  </a:moveTo>
                  <a:lnTo>
                    <a:pt x="1033614" y="946937"/>
                  </a:lnTo>
                  <a:lnTo>
                    <a:pt x="922731" y="836015"/>
                  </a:lnTo>
                  <a:lnTo>
                    <a:pt x="920292" y="834796"/>
                  </a:lnTo>
                  <a:lnTo>
                    <a:pt x="917841" y="836015"/>
                  </a:lnTo>
                  <a:lnTo>
                    <a:pt x="916622" y="838454"/>
                  </a:lnTo>
                  <a:lnTo>
                    <a:pt x="917841" y="840905"/>
                  </a:lnTo>
                  <a:lnTo>
                    <a:pt x="1028738" y="953046"/>
                  </a:lnTo>
                  <a:lnTo>
                    <a:pt x="1031176" y="954265"/>
                  </a:lnTo>
                  <a:lnTo>
                    <a:pt x="1033614" y="953046"/>
                  </a:lnTo>
                  <a:lnTo>
                    <a:pt x="1034834" y="950595"/>
                  </a:lnTo>
                  <a:close/>
                </a:path>
              </a:pathLst>
            </a:custGeom>
            <a:solidFill>
              <a:srgbClr val="929599"/>
            </a:solidFill>
          </p:spPr>
          <p:txBody>
            <a:bodyPr wrap="square" lIns="0" tIns="0" rIns="0" bIns="0" rtlCol="0"/>
            <a:lstStyle/>
            <a:p>
              <a:endParaRPr/>
            </a:p>
          </p:txBody>
        </p:sp>
        <p:pic>
          <p:nvPicPr>
            <p:cNvPr id="79" name="object 79"/>
            <p:cNvPicPr/>
            <p:nvPr/>
          </p:nvPicPr>
          <p:blipFill>
            <a:blip r:embed="rId60" cstate="print"/>
            <a:stretch>
              <a:fillRect/>
            </a:stretch>
          </p:blipFill>
          <p:spPr>
            <a:xfrm>
              <a:off x="1307013" y="929028"/>
              <a:ext cx="458301" cy="166939"/>
            </a:xfrm>
            <a:prstGeom prst="rect">
              <a:avLst/>
            </a:prstGeom>
          </p:spPr>
        </p:pic>
        <p:pic>
          <p:nvPicPr>
            <p:cNvPr id="80" name="object 80"/>
            <p:cNvPicPr/>
            <p:nvPr/>
          </p:nvPicPr>
          <p:blipFill>
            <a:blip r:embed="rId61" cstate="print"/>
            <a:stretch>
              <a:fillRect/>
            </a:stretch>
          </p:blipFill>
          <p:spPr>
            <a:xfrm>
              <a:off x="1266796" y="2380547"/>
              <a:ext cx="85315" cy="84080"/>
            </a:xfrm>
            <a:prstGeom prst="rect">
              <a:avLst/>
            </a:prstGeom>
          </p:spPr>
        </p:pic>
        <p:pic>
          <p:nvPicPr>
            <p:cNvPr id="81" name="object 81"/>
            <p:cNvPicPr/>
            <p:nvPr/>
          </p:nvPicPr>
          <p:blipFill>
            <a:blip r:embed="rId62" cstate="print"/>
            <a:stretch>
              <a:fillRect/>
            </a:stretch>
          </p:blipFill>
          <p:spPr>
            <a:xfrm>
              <a:off x="1266796" y="2124589"/>
              <a:ext cx="85315" cy="84080"/>
            </a:xfrm>
            <a:prstGeom prst="rect">
              <a:avLst/>
            </a:prstGeom>
          </p:spPr>
        </p:pic>
        <p:sp>
          <p:nvSpPr>
            <p:cNvPr id="82" name="object 82"/>
            <p:cNvSpPr/>
            <p:nvPr/>
          </p:nvSpPr>
          <p:spPr>
            <a:xfrm>
              <a:off x="1266786" y="2457805"/>
              <a:ext cx="85725" cy="474980"/>
            </a:xfrm>
            <a:custGeom>
              <a:avLst/>
              <a:gdLst/>
              <a:ahLst/>
              <a:cxnLst/>
              <a:rect l="l" t="t" r="r" b="b"/>
              <a:pathLst>
                <a:path w="85725" h="474980">
                  <a:moveTo>
                    <a:pt x="85318" y="432168"/>
                  </a:moveTo>
                  <a:lnTo>
                    <a:pt x="84099" y="423621"/>
                  </a:lnTo>
                  <a:lnTo>
                    <a:pt x="81661" y="416331"/>
                  </a:lnTo>
                  <a:lnTo>
                    <a:pt x="78041" y="409003"/>
                  </a:lnTo>
                  <a:lnTo>
                    <a:pt x="78041" y="432168"/>
                  </a:lnTo>
                  <a:lnTo>
                    <a:pt x="76822" y="439458"/>
                  </a:lnTo>
                  <a:lnTo>
                    <a:pt x="42659" y="467512"/>
                  </a:lnTo>
                  <a:lnTo>
                    <a:pt x="35344" y="466293"/>
                  </a:lnTo>
                  <a:lnTo>
                    <a:pt x="7327" y="432168"/>
                  </a:lnTo>
                  <a:lnTo>
                    <a:pt x="8547" y="426059"/>
                  </a:lnTo>
                  <a:lnTo>
                    <a:pt x="35344" y="398043"/>
                  </a:lnTo>
                  <a:lnTo>
                    <a:pt x="49987" y="398043"/>
                  </a:lnTo>
                  <a:lnTo>
                    <a:pt x="76822" y="426059"/>
                  </a:lnTo>
                  <a:lnTo>
                    <a:pt x="78041" y="432168"/>
                  </a:lnTo>
                  <a:lnTo>
                    <a:pt x="78041" y="409003"/>
                  </a:lnTo>
                  <a:lnTo>
                    <a:pt x="71945" y="402932"/>
                  </a:lnTo>
                  <a:lnTo>
                    <a:pt x="65849" y="398043"/>
                  </a:lnTo>
                  <a:lnTo>
                    <a:pt x="58521" y="393166"/>
                  </a:lnTo>
                  <a:lnTo>
                    <a:pt x="51206" y="390715"/>
                  </a:lnTo>
                  <a:lnTo>
                    <a:pt x="46316" y="390715"/>
                  </a:lnTo>
                  <a:lnTo>
                    <a:pt x="46316" y="2540"/>
                  </a:lnTo>
                  <a:lnTo>
                    <a:pt x="45694" y="2540"/>
                  </a:lnTo>
                  <a:lnTo>
                    <a:pt x="45694" y="1270"/>
                  </a:lnTo>
                  <a:lnTo>
                    <a:pt x="44945" y="1270"/>
                  </a:lnTo>
                  <a:lnTo>
                    <a:pt x="44945" y="0"/>
                  </a:lnTo>
                  <a:lnTo>
                    <a:pt x="40386" y="0"/>
                  </a:lnTo>
                  <a:lnTo>
                    <a:pt x="40386" y="1270"/>
                  </a:lnTo>
                  <a:lnTo>
                    <a:pt x="39624" y="1270"/>
                  </a:lnTo>
                  <a:lnTo>
                    <a:pt x="39624" y="2540"/>
                  </a:lnTo>
                  <a:lnTo>
                    <a:pt x="39001" y="2540"/>
                  </a:lnTo>
                  <a:lnTo>
                    <a:pt x="39001" y="390715"/>
                  </a:lnTo>
                  <a:lnTo>
                    <a:pt x="34124" y="390715"/>
                  </a:lnTo>
                  <a:lnTo>
                    <a:pt x="26847" y="393166"/>
                  </a:lnTo>
                  <a:lnTo>
                    <a:pt x="1219" y="423621"/>
                  </a:lnTo>
                  <a:lnTo>
                    <a:pt x="0" y="432168"/>
                  </a:lnTo>
                  <a:lnTo>
                    <a:pt x="1219" y="440677"/>
                  </a:lnTo>
                  <a:lnTo>
                    <a:pt x="26847" y="471182"/>
                  </a:lnTo>
                  <a:lnTo>
                    <a:pt x="42659" y="474802"/>
                  </a:lnTo>
                  <a:lnTo>
                    <a:pt x="51206" y="473621"/>
                  </a:lnTo>
                  <a:lnTo>
                    <a:pt x="81661" y="449237"/>
                  </a:lnTo>
                  <a:lnTo>
                    <a:pt x="84099" y="440677"/>
                  </a:lnTo>
                  <a:lnTo>
                    <a:pt x="85318" y="432168"/>
                  </a:lnTo>
                  <a:close/>
                </a:path>
              </a:pathLst>
            </a:custGeom>
            <a:solidFill>
              <a:srgbClr val="929599"/>
            </a:solidFill>
          </p:spPr>
          <p:txBody>
            <a:bodyPr wrap="square" lIns="0" tIns="0" rIns="0" bIns="0" rtlCol="0"/>
            <a:lstStyle/>
            <a:p>
              <a:endParaRPr/>
            </a:p>
          </p:txBody>
        </p:sp>
        <p:pic>
          <p:nvPicPr>
            <p:cNvPr id="83" name="object 83"/>
            <p:cNvPicPr/>
            <p:nvPr/>
          </p:nvPicPr>
          <p:blipFill>
            <a:blip r:embed="rId63" cstate="print"/>
            <a:stretch>
              <a:fillRect/>
            </a:stretch>
          </p:blipFill>
          <p:spPr>
            <a:xfrm>
              <a:off x="1552027" y="1088684"/>
              <a:ext cx="84095" cy="84080"/>
            </a:xfrm>
            <a:prstGeom prst="rect">
              <a:avLst/>
            </a:prstGeom>
          </p:spPr>
        </p:pic>
        <p:pic>
          <p:nvPicPr>
            <p:cNvPr id="84" name="object 84"/>
            <p:cNvPicPr/>
            <p:nvPr/>
          </p:nvPicPr>
          <p:blipFill>
            <a:blip r:embed="rId64" cstate="print"/>
            <a:stretch>
              <a:fillRect/>
            </a:stretch>
          </p:blipFill>
          <p:spPr>
            <a:xfrm>
              <a:off x="1409411" y="1088684"/>
              <a:ext cx="84095" cy="84080"/>
            </a:xfrm>
            <a:prstGeom prst="rect">
              <a:avLst/>
            </a:prstGeom>
          </p:spPr>
        </p:pic>
        <p:pic>
          <p:nvPicPr>
            <p:cNvPr id="85" name="object 85"/>
            <p:cNvPicPr/>
            <p:nvPr/>
          </p:nvPicPr>
          <p:blipFill>
            <a:blip r:embed="rId65" cstate="print"/>
            <a:stretch>
              <a:fillRect/>
            </a:stretch>
          </p:blipFill>
          <p:spPr>
            <a:xfrm>
              <a:off x="1266796" y="1088684"/>
              <a:ext cx="85315" cy="84080"/>
            </a:xfrm>
            <a:prstGeom prst="rect">
              <a:avLst/>
            </a:prstGeom>
          </p:spPr>
        </p:pic>
        <p:pic>
          <p:nvPicPr>
            <p:cNvPr id="86" name="object 86"/>
            <p:cNvPicPr/>
            <p:nvPr/>
          </p:nvPicPr>
          <p:blipFill>
            <a:blip r:embed="rId66" cstate="print"/>
            <a:stretch>
              <a:fillRect/>
            </a:stretch>
          </p:blipFill>
          <p:spPr>
            <a:xfrm>
              <a:off x="1552027" y="1556653"/>
              <a:ext cx="84095" cy="84129"/>
            </a:xfrm>
            <a:prstGeom prst="rect">
              <a:avLst/>
            </a:prstGeom>
          </p:spPr>
        </p:pic>
        <p:pic>
          <p:nvPicPr>
            <p:cNvPr id="87" name="object 87"/>
            <p:cNvPicPr/>
            <p:nvPr/>
          </p:nvPicPr>
          <p:blipFill>
            <a:blip r:embed="rId67" cstate="print"/>
            <a:stretch>
              <a:fillRect/>
            </a:stretch>
          </p:blipFill>
          <p:spPr>
            <a:xfrm>
              <a:off x="1409411" y="1556653"/>
              <a:ext cx="84095" cy="84129"/>
            </a:xfrm>
            <a:prstGeom prst="rect">
              <a:avLst/>
            </a:prstGeom>
          </p:spPr>
        </p:pic>
        <p:pic>
          <p:nvPicPr>
            <p:cNvPr id="88" name="object 88"/>
            <p:cNvPicPr/>
            <p:nvPr/>
          </p:nvPicPr>
          <p:blipFill>
            <a:blip r:embed="rId68" cstate="print"/>
            <a:stretch>
              <a:fillRect/>
            </a:stretch>
          </p:blipFill>
          <p:spPr>
            <a:xfrm>
              <a:off x="1266796" y="1556653"/>
              <a:ext cx="85315" cy="84129"/>
            </a:xfrm>
            <a:prstGeom prst="rect">
              <a:avLst/>
            </a:prstGeom>
          </p:spPr>
        </p:pic>
        <p:sp>
          <p:nvSpPr>
            <p:cNvPr id="89" name="object 89"/>
            <p:cNvSpPr/>
            <p:nvPr/>
          </p:nvSpPr>
          <p:spPr>
            <a:xfrm>
              <a:off x="862126" y="0"/>
              <a:ext cx="903605" cy="1721485"/>
            </a:xfrm>
            <a:custGeom>
              <a:avLst/>
              <a:gdLst/>
              <a:ahLst/>
              <a:cxnLst/>
              <a:rect l="l" t="t" r="r" b="b"/>
              <a:pathLst>
                <a:path w="903605" h="1721485">
                  <a:moveTo>
                    <a:pt x="7327" y="1631962"/>
                  </a:moveTo>
                  <a:lnTo>
                    <a:pt x="3695" y="1631962"/>
                  </a:lnTo>
                  <a:lnTo>
                    <a:pt x="3695" y="1630692"/>
                  </a:lnTo>
                  <a:lnTo>
                    <a:pt x="3632" y="1631962"/>
                  </a:lnTo>
                  <a:lnTo>
                    <a:pt x="876" y="1631962"/>
                  </a:lnTo>
                  <a:lnTo>
                    <a:pt x="876" y="1634502"/>
                  </a:lnTo>
                  <a:lnTo>
                    <a:pt x="0" y="1634502"/>
                  </a:lnTo>
                  <a:lnTo>
                    <a:pt x="0" y="1718398"/>
                  </a:lnTo>
                  <a:lnTo>
                    <a:pt x="596" y="1718398"/>
                  </a:lnTo>
                  <a:lnTo>
                    <a:pt x="596" y="1719668"/>
                  </a:lnTo>
                  <a:lnTo>
                    <a:pt x="1244" y="1719668"/>
                  </a:lnTo>
                  <a:lnTo>
                    <a:pt x="1244" y="1720938"/>
                  </a:lnTo>
                  <a:lnTo>
                    <a:pt x="7289" y="1720938"/>
                  </a:lnTo>
                  <a:lnTo>
                    <a:pt x="7289" y="1719668"/>
                  </a:lnTo>
                  <a:lnTo>
                    <a:pt x="7327" y="1718398"/>
                  </a:lnTo>
                  <a:lnTo>
                    <a:pt x="7327" y="1634502"/>
                  </a:lnTo>
                  <a:lnTo>
                    <a:pt x="7327" y="1631962"/>
                  </a:lnTo>
                  <a:close/>
                </a:path>
                <a:path w="903605" h="1721485">
                  <a:moveTo>
                    <a:pt x="149936" y="1634502"/>
                  </a:moveTo>
                  <a:lnTo>
                    <a:pt x="149059" y="1634502"/>
                  </a:lnTo>
                  <a:lnTo>
                    <a:pt x="149059" y="1631962"/>
                  </a:lnTo>
                  <a:lnTo>
                    <a:pt x="146304" y="1631962"/>
                  </a:lnTo>
                  <a:lnTo>
                    <a:pt x="146304" y="1630692"/>
                  </a:lnTo>
                  <a:lnTo>
                    <a:pt x="146253" y="1631962"/>
                  </a:lnTo>
                  <a:lnTo>
                    <a:pt x="143484" y="1631962"/>
                  </a:lnTo>
                  <a:lnTo>
                    <a:pt x="143484" y="1634502"/>
                  </a:lnTo>
                  <a:lnTo>
                    <a:pt x="142621" y="1634502"/>
                  </a:lnTo>
                  <a:lnTo>
                    <a:pt x="142621" y="1718398"/>
                  </a:lnTo>
                  <a:lnTo>
                    <a:pt x="143205" y="1718398"/>
                  </a:lnTo>
                  <a:lnTo>
                    <a:pt x="143205" y="1719668"/>
                  </a:lnTo>
                  <a:lnTo>
                    <a:pt x="143865" y="1719668"/>
                  </a:lnTo>
                  <a:lnTo>
                    <a:pt x="143865" y="1720938"/>
                  </a:lnTo>
                  <a:lnTo>
                    <a:pt x="148691" y="1720938"/>
                  </a:lnTo>
                  <a:lnTo>
                    <a:pt x="148691" y="1719668"/>
                  </a:lnTo>
                  <a:lnTo>
                    <a:pt x="149339" y="1719668"/>
                  </a:lnTo>
                  <a:lnTo>
                    <a:pt x="149339" y="1718398"/>
                  </a:lnTo>
                  <a:lnTo>
                    <a:pt x="149936" y="1718398"/>
                  </a:lnTo>
                  <a:lnTo>
                    <a:pt x="149936" y="1634502"/>
                  </a:lnTo>
                  <a:close/>
                </a:path>
                <a:path w="903605" h="1721485">
                  <a:moveTo>
                    <a:pt x="292557" y="1474355"/>
                  </a:moveTo>
                  <a:lnTo>
                    <a:pt x="292049" y="1474355"/>
                  </a:lnTo>
                  <a:lnTo>
                    <a:pt x="292049" y="1471815"/>
                  </a:lnTo>
                  <a:lnTo>
                    <a:pt x="290372" y="1471815"/>
                  </a:lnTo>
                  <a:lnTo>
                    <a:pt x="290372" y="1470545"/>
                  </a:lnTo>
                  <a:lnTo>
                    <a:pt x="287401" y="1470545"/>
                  </a:lnTo>
                  <a:lnTo>
                    <a:pt x="287401" y="1471815"/>
                  </a:lnTo>
                  <a:lnTo>
                    <a:pt x="285737" y="1471815"/>
                  </a:lnTo>
                  <a:lnTo>
                    <a:pt x="285737" y="1474355"/>
                  </a:lnTo>
                  <a:lnTo>
                    <a:pt x="285229" y="1474355"/>
                  </a:lnTo>
                  <a:lnTo>
                    <a:pt x="285229" y="1718398"/>
                  </a:lnTo>
                  <a:lnTo>
                    <a:pt x="285826" y="1718398"/>
                  </a:lnTo>
                  <a:lnTo>
                    <a:pt x="285826" y="1719668"/>
                  </a:lnTo>
                  <a:lnTo>
                    <a:pt x="286473" y="1719668"/>
                  </a:lnTo>
                  <a:lnTo>
                    <a:pt x="286473" y="1720938"/>
                  </a:lnTo>
                  <a:lnTo>
                    <a:pt x="291312" y="1720938"/>
                  </a:lnTo>
                  <a:lnTo>
                    <a:pt x="291312" y="1719668"/>
                  </a:lnTo>
                  <a:lnTo>
                    <a:pt x="291960" y="1719668"/>
                  </a:lnTo>
                  <a:lnTo>
                    <a:pt x="291960" y="1718398"/>
                  </a:lnTo>
                  <a:lnTo>
                    <a:pt x="292557" y="1718398"/>
                  </a:lnTo>
                  <a:lnTo>
                    <a:pt x="292557" y="1474355"/>
                  </a:lnTo>
                  <a:close/>
                </a:path>
                <a:path w="903605" h="1721485">
                  <a:moveTo>
                    <a:pt x="450977" y="1169327"/>
                  </a:moveTo>
                  <a:lnTo>
                    <a:pt x="450303" y="1169327"/>
                  </a:lnTo>
                  <a:lnTo>
                    <a:pt x="450303" y="1166774"/>
                  </a:lnTo>
                  <a:lnTo>
                    <a:pt x="448119" y="1166774"/>
                  </a:lnTo>
                  <a:lnTo>
                    <a:pt x="448119" y="1165504"/>
                  </a:lnTo>
                  <a:lnTo>
                    <a:pt x="446519" y="1165504"/>
                  </a:lnTo>
                  <a:lnTo>
                    <a:pt x="446519" y="1166774"/>
                  </a:lnTo>
                  <a:lnTo>
                    <a:pt x="444334" y="1166774"/>
                  </a:lnTo>
                  <a:lnTo>
                    <a:pt x="444334" y="1169327"/>
                  </a:lnTo>
                  <a:lnTo>
                    <a:pt x="443661" y="1169327"/>
                  </a:lnTo>
                  <a:lnTo>
                    <a:pt x="443661" y="1560791"/>
                  </a:lnTo>
                  <a:lnTo>
                    <a:pt x="450977" y="1560791"/>
                  </a:lnTo>
                  <a:lnTo>
                    <a:pt x="450977" y="1169327"/>
                  </a:lnTo>
                  <a:close/>
                </a:path>
                <a:path w="903605" h="1721485">
                  <a:moveTo>
                    <a:pt x="593598" y="1169327"/>
                  </a:moveTo>
                  <a:lnTo>
                    <a:pt x="592912" y="1169327"/>
                  </a:lnTo>
                  <a:lnTo>
                    <a:pt x="592912" y="1166774"/>
                  </a:lnTo>
                  <a:lnTo>
                    <a:pt x="590740" y="1166774"/>
                  </a:lnTo>
                  <a:lnTo>
                    <a:pt x="590740" y="1165504"/>
                  </a:lnTo>
                  <a:lnTo>
                    <a:pt x="589140" y="1165504"/>
                  </a:lnTo>
                  <a:lnTo>
                    <a:pt x="589140" y="1166774"/>
                  </a:lnTo>
                  <a:lnTo>
                    <a:pt x="586955" y="1166774"/>
                  </a:lnTo>
                  <a:lnTo>
                    <a:pt x="586955" y="1169327"/>
                  </a:lnTo>
                  <a:lnTo>
                    <a:pt x="586270" y="1169327"/>
                  </a:lnTo>
                  <a:lnTo>
                    <a:pt x="586270" y="1560791"/>
                  </a:lnTo>
                  <a:lnTo>
                    <a:pt x="586994" y="1560791"/>
                  </a:lnTo>
                  <a:lnTo>
                    <a:pt x="586994" y="1563331"/>
                  </a:lnTo>
                  <a:lnTo>
                    <a:pt x="589280" y="1563331"/>
                  </a:lnTo>
                  <a:lnTo>
                    <a:pt x="589280" y="1564601"/>
                  </a:lnTo>
                  <a:lnTo>
                    <a:pt x="590600" y="1564601"/>
                  </a:lnTo>
                  <a:lnTo>
                    <a:pt x="590600" y="1563331"/>
                  </a:lnTo>
                  <a:lnTo>
                    <a:pt x="592886" y="1563331"/>
                  </a:lnTo>
                  <a:lnTo>
                    <a:pt x="592886" y="1560791"/>
                  </a:lnTo>
                  <a:lnTo>
                    <a:pt x="593598" y="1560791"/>
                  </a:lnTo>
                  <a:lnTo>
                    <a:pt x="593598" y="1169327"/>
                  </a:lnTo>
                  <a:close/>
                </a:path>
                <a:path w="903605" h="1721485">
                  <a:moveTo>
                    <a:pt x="611898" y="2540"/>
                  </a:moveTo>
                  <a:lnTo>
                    <a:pt x="610997" y="2540"/>
                  </a:lnTo>
                  <a:lnTo>
                    <a:pt x="610997" y="0"/>
                  </a:lnTo>
                  <a:lnTo>
                    <a:pt x="605485" y="0"/>
                  </a:lnTo>
                  <a:lnTo>
                    <a:pt x="605485" y="2540"/>
                  </a:lnTo>
                  <a:lnTo>
                    <a:pt x="604583" y="2540"/>
                  </a:lnTo>
                  <a:lnTo>
                    <a:pt x="604583" y="932916"/>
                  </a:lnTo>
                  <a:lnTo>
                    <a:pt x="605167" y="932916"/>
                  </a:lnTo>
                  <a:lnTo>
                    <a:pt x="605167" y="935456"/>
                  </a:lnTo>
                  <a:lnTo>
                    <a:pt x="607136" y="935456"/>
                  </a:lnTo>
                  <a:lnTo>
                    <a:pt x="607136" y="936726"/>
                  </a:lnTo>
                  <a:lnTo>
                    <a:pt x="609346" y="936726"/>
                  </a:lnTo>
                  <a:lnTo>
                    <a:pt x="609346" y="935456"/>
                  </a:lnTo>
                  <a:lnTo>
                    <a:pt x="611314" y="935456"/>
                  </a:lnTo>
                  <a:lnTo>
                    <a:pt x="611314" y="932916"/>
                  </a:lnTo>
                  <a:lnTo>
                    <a:pt x="611898" y="932916"/>
                  </a:lnTo>
                  <a:lnTo>
                    <a:pt x="611898" y="2540"/>
                  </a:lnTo>
                  <a:close/>
                </a:path>
                <a:path w="903605" h="1721485">
                  <a:moveTo>
                    <a:pt x="734987" y="1166774"/>
                  </a:moveTo>
                  <a:lnTo>
                    <a:pt x="732536" y="1166774"/>
                  </a:lnTo>
                  <a:lnTo>
                    <a:pt x="732536" y="1165504"/>
                  </a:lnTo>
                  <a:lnTo>
                    <a:pt x="730529" y="1165504"/>
                  </a:lnTo>
                  <a:lnTo>
                    <a:pt x="730529" y="1166774"/>
                  </a:lnTo>
                  <a:lnTo>
                    <a:pt x="728345" y="1166774"/>
                  </a:lnTo>
                  <a:lnTo>
                    <a:pt x="728345" y="1169327"/>
                  </a:lnTo>
                  <a:lnTo>
                    <a:pt x="727671" y="1169327"/>
                  </a:lnTo>
                  <a:lnTo>
                    <a:pt x="727671" y="1560791"/>
                  </a:lnTo>
                  <a:lnTo>
                    <a:pt x="728383" y="1560791"/>
                  </a:lnTo>
                  <a:lnTo>
                    <a:pt x="728383" y="1563331"/>
                  </a:lnTo>
                  <a:lnTo>
                    <a:pt x="730669" y="1563331"/>
                  </a:lnTo>
                  <a:lnTo>
                    <a:pt x="730669" y="1564601"/>
                  </a:lnTo>
                  <a:lnTo>
                    <a:pt x="732320" y="1564601"/>
                  </a:lnTo>
                  <a:lnTo>
                    <a:pt x="732320" y="1563331"/>
                  </a:lnTo>
                  <a:lnTo>
                    <a:pt x="734987" y="1563331"/>
                  </a:lnTo>
                  <a:lnTo>
                    <a:pt x="734987" y="1560791"/>
                  </a:lnTo>
                  <a:lnTo>
                    <a:pt x="734987" y="1169327"/>
                  </a:lnTo>
                  <a:lnTo>
                    <a:pt x="734987" y="1166774"/>
                  </a:lnTo>
                  <a:close/>
                </a:path>
                <a:path w="903605" h="1721485">
                  <a:moveTo>
                    <a:pt x="753300" y="6362"/>
                  </a:moveTo>
                  <a:lnTo>
                    <a:pt x="752462" y="6362"/>
                  </a:lnTo>
                  <a:lnTo>
                    <a:pt x="752462" y="3822"/>
                  </a:lnTo>
                  <a:lnTo>
                    <a:pt x="749833" y="3822"/>
                  </a:lnTo>
                  <a:lnTo>
                    <a:pt x="749833" y="2540"/>
                  </a:lnTo>
                  <a:lnTo>
                    <a:pt x="749439" y="2540"/>
                  </a:lnTo>
                  <a:lnTo>
                    <a:pt x="749439" y="3822"/>
                  </a:lnTo>
                  <a:lnTo>
                    <a:pt x="746798" y="3822"/>
                  </a:lnTo>
                  <a:lnTo>
                    <a:pt x="746798" y="6362"/>
                  </a:lnTo>
                  <a:lnTo>
                    <a:pt x="745972" y="6362"/>
                  </a:lnTo>
                  <a:lnTo>
                    <a:pt x="745972" y="932916"/>
                  </a:lnTo>
                  <a:lnTo>
                    <a:pt x="746569" y="932916"/>
                  </a:lnTo>
                  <a:lnTo>
                    <a:pt x="746569" y="935456"/>
                  </a:lnTo>
                  <a:lnTo>
                    <a:pt x="748525" y="935456"/>
                  </a:lnTo>
                  <a:lnTo>
                    <a:pt x="748525" y="936726"/>
                  </a:lnTo>
                  <a:lnTo>
                    <a:pt x="750735" y="936726"/>
                  </a:lnTo>
                  <a:lnTo>
                    <a:pt x="750735" y="935456"/>
                  </a:lnTo>
                  <a:lnTo>
                    <a:pt x="752703" y="935456"/>
                  </a:lnTo>
                  <a:lnTo>
                    <a:pt x="752703" y="932916"/>
                  </a:lnTo>
                  <a:lnTo>
                    <a:pt x="753300" y="932916"/>
                  </a:lnTo>
                  <a:lnTo>
                    <a:pt x="753300" y="6362"/>
                  </a:lnTo>
                  <a:close/>
                </a:path>
                <a:path w="903605" h="1721485">
                  <a:moveTo>
                    <a:pt x="903185" y="3822"/>
                  </a:moveTo>
                  <a:lnTo>
                    <a:pt x="899858" y="3822"/>
                  </a:lnTo>
                  <a:lnTo>
                    <a:pt x="899858" y="2540"/>
                  </a:lnTo>
                  <a:lnTo>
                    <a:pt x="899375" y="2540"/>
                  </a:lnTo>
                  <a:lnTo>
                    <a:pt x="899375" y="3822"/>
                  </a:lnTo>
                  <a:lnTo>
                    <a:pt x="896734" y="3822"/>
                  </a:lnTo>
                  <a:lnTo>
                    <a:pt x="896734" y="6362"/>
                  </a:lnTo>
                  <a:lnTo>
                    <a:pt x="895908" y="6362"/>
                  </a:lnTo>
                  <a:lnTo>
                    <a:pt x="895908" y="932916"/>
                  </a:lnTo>
                  <a:lnTo>
                    <a:pt x="896505" y="932916"/>
                  </a:lnTo>
                  <a:lnTo>
                    <a:pt x="896505" y="935456"/>
                  </a:lnTo>
                  <a:lnTo>
                    <a:pt x="898461" y="935456"/>
                  </a:lnTo>
                  <a:lnTo>
                    <a:pt x="898461" y="936726"/>
                  </a:lnTo>
                  <a:lnTo>
                    <a:pt x="901204" y="936726"/>
                  </a:lnTo>
                  <a:lnTo>
                    <a:pt x="901204" y="935456"/>
                  </a:lnTo>
                  <a:lnTo>
                    <a:pt x="903185" y="935456"/>
                  </a:lnTo>
                  <a:lnTo>
                    <a:pt x="903185" y="932916"/>
                  </a:lnTo>
                  <a:lnTo>
                    <a:pt x="903185" y="6362"/>
                  </a:lnTo>
                  <a:lnTo>
                    <a:pt x="903185" y="3822"/>
                  </a:lnTo>
                  <a:close/>
                </a:path>
              </a:pathLst>
            </a:custGeom>
            <a:solidFill>
              <a:srgbClr val="929599"/>
            </a:solidFill>
          </p:spPr>
          <p:txBody>
            <a:bodyPr wrap="square" lIns="0" tIns="0" rIns="0" bIns="0" rtlCol="0"/>
            <a:lstStyle/>
            <a:p>
              <a:endParaRPr/>
            </a:p>
          </p:txBody>
        </p:sp>
        <p:pic>
          <p:nvPicPr>
            <p:cNvPr id="90" name="object 90"/>
            <p:cNvPicPr/>
            <p:nvPr/>
          </p:nvPicPr>
          <p:blipFill>
            <a:blip r:embed="rId69" cstate="print"/>
            <a:stretch>
              <a:fillRect/>
            </a:stretch>
          </p:blipFill>
          <p:spPr>
            <a:xfrm>
              <a:off x="467204" y="1088684"/>
              <a:ext cx="84124" cy="84080"/>
            </a:xfrm>
            <a:prstGeom prst="rect">
              <a:avLst/>
            </a:prstGeom>
          </p:spPr>
        </p:pic>
        <p:sp>
          <p:nvSpPr>
            <p:cNvPr id="91" name="object 91"/>
            <p:cNvSpPr/>
            <p:nvPr/>
          </p:nvSpPr>
          <p:spPr>
            <a:xfrm>
              <a:off x="609790" y="927810"/>
              <a:ext cx="84455" cy="245110"/>
            </a:xfrm>
            <a:custGeom>
              <a:avLst/>
              <a:gdLst/>
              <a:ahLst/>
              <a:cxnLst/>
              <a:rect l="l" t="t" r="r" b="b"/>
              <a:pathLst>
                <a:path w="84454" h="245109">
                  <a:moveTo>
                    <a:pt x="84150" y="203504"/>
                  </a:moveTo>
                  <a:lnTo>
                    <a:pt x="82931" y="194995"/>
                  </a:lnTo>
                  <a:lnTo>
                    <a:pt x="80492" y="186448"/>
                  </a:lnTo>
                  <a:lnTo>
                    <a:pt x="76822" y="180390"/>
                  </a:lnTo>
                  <a:lnTo>
                    <a:pt x="76822" y="196227"/>
                  </a:lnTo>
                  <a:lnTo>
                    <a:pt x="76822" y="210845"/>
                  </a:lnTo>
                  <a:lnTo>
                    <a:pt x="48768" y="237629"/>
                  </a:lnTo>
                  <a:lnTo>
                    <a:pt x="35382" y="237629"/>
                  </a:lnTo>
                  <a:lnTo>
                    <a:pt x="7327" y="203504"/>
                  </a:lnTo>
                  <a:lnTo>
                    <a:pt x="8547" y="196227"/>
                  </a:lnTo>
                  <a:lnTo>
                    <a:pt x="42659" y="168160"/>
                  </a:lnTo>
                  <a:lnTo>
                    <a:pt x="48768" y="169379"/>
                  </a:lnTo>
                  <a:lnTo>
                    <a:pt x="76822" y="196227"/>
                  </a:lnTo>
                  <a:lnTo>
                    <a:pt x="76822" y="180390"/>
                  </a:lnTo>
                  <a:lnTo>
                    <a:pt x="42659" y="160883"/>
                  </a:lnTo>
                  <a:lnTo>
                    <a:pt x="34163" y="162102"/>
                  </a:lnTo>
                  <a:lnTo>
                    <a:pt x="3657" y="186448"/>
                  </a:lnTo>
                  <a:lnTo>
                    <a:pt x="0" y="203504"/>
                  </a:lnTo>
                  <a:lnTo>
                    <a:pt x="1219" y="212064"/>
                  </a:lnTo>
                  <a:lnTo>
                    <a:pt x="25628" y="242519"/>
                  </a:lnTo>
                  <a:lnTo>
                    <a:pt x="34163" y="244957"/>
                  </a:lnTo>
                  <a:lnTo>
                    <a:pt x="51206" y="244957"/>
                  </a:lnTo>
                  <a:lnTo>
                    <a:pt x="58521" y="242519"/>
                  </a:lnTo>
                  <a:lnTo>
                    <a:pt x="65849" y="238848"/>
                  </a:lnTo>
                  <a:lnTo>
                    <a:pt x="67068" y="237629"/>
                  </a:lnTo>
                  <a:lnTo>
                    <a:pt x="71945" y="232791"/>
                  </a:lnTo>
                  <a:lnTo>
                    <a:pt x="76822" y="226682"/>
                  </a:lnTo>
                  <a:lnTo>
                    <a:pt x="80492" y="219392"/>
                  </a:lnTo>
                  <a:lnTo>
                    <a:pt x="82931" y="212064"/>
                  </a:lnTo>
                  <a:lnTo>
                    <a:pt x="84150" y="203504"/>
                  </a:lnTo>
                  <a:close/>
                </a:path>
                <a:path w="84454" h="245109">
                  <a:moveTo>
                    <a:pt x="84150" y="42672"/>
                  </a:moveTo>
                  <a:lnTo>
                    <a:pt x="82931" y="34124"/>
                  </a:lnTo>
                  <a:lnTo>
                    <a:pt x="80492" y="26797"/>
                  </a:lnTo>
                  <a:lnTo>
                    <a:pt x="76822" y="19507"/>
                  </a:lnTo>
                  <a:lnTo>
                    <a:pt x="76822" y="35344"/>
                  </a:lnTo>
                  <a:lnTo>
                    <a:pt x="76822" y="49961"/>
                  </a:lnTo>
                  <a:lnTo>
                    <a:pt x="48768" y="76796"/>
                  </a:lnTo>
                  <a:lnTo>
                    <a:pt x="42659" y="78016"/>
                  </a:lnTo>
                  <a:lnTo>
                    <a:pt x="35382" y="76796"/>
                  </a:lnTo>
                  <a:lnTo>
                    <a:pt x="7327" y="42672"/>
                  </a:lnTo>
                  <a:lnTo>
                    <a:pt x="8547" y="35344"/>
                  </a:lnTo>
                  <a:lnTo>
                    <a:pt x="42659" y="7340"/>
                  </a:lnTo>
                  <a:lnTo>
                    <a:pt x="48768" y="8509"/>
                  </a:lnTo>
                  <a:lnTo>
                    <a:pt x="76822" y="35344"/>
                  </a:lnTo>
                  <a:lnTo>
                    <a:pt x="76822" y="19507"/>
                  </a:lnTo>
                  <a:lnTo>
                    <a:pt x="42659" y="0"/>
                  </a:lnTo>
                  <a:lnTo>
                    <a:pt x="34163" y="1219"/>
                  </a:lnTo>
                  <a:lnTo>
                    <a:pt x="3657" y="26797"/>
                  </a:lnTo>
                  <a:lnTo>
                    <a:pt x="0" y="42672"/>
                  </a:lnTo>
                  <a:lnTo>
                    <a:pt x="1219" y="51181"/>
                  </a:lnTo>
                  <a:lnTo>
                    <a:pt x="25628" y="81635"/>
                  </a:lnTo>
                  <a:lnTo>
                    <a:pt x="42659" y="85305"/>
                  </a:lnTo>
                  <a:lnTo>
                    <a:pt x="51206" y="84086"/>
                  </a:lnTo>
                  <a:lnTo>
                    <a:pt x="82931" y="51181"/>
                  </a:lnTo>
                  <a:lnTo>
                    <a:pt x="84150" y="42672"/>
                  </a:lnTo>
                  <a:close/>
                </a:path>
              </a:pathLst>
            </a:custGeom>
            <a:solidFill>
              <a:srgbClr val="929599"/>
            </a:solidFill>
          </p:spPr>
          <p:txBody>
            <a:bodyPr wrap="square" lIns="0" tIns="0" rIns="0" bIns="0" rtlCol="0"/>
            <a:lstStyle/>
            <a:p>
              <a:endParaRPr/>
            </a:p>
          </p:txBody>
        </p:sp>
        <p:pic>
          <p:nvPicPr>
            <p:cNvPr id="92" name="object 92"/>
            <p:cNvPicPr/>
            <p:nvPr/>
          </p:nvPicPr>
          <p:blipFill>
            <a:blip r:embed="rId70" cstate="print"/>
            <a:stretch>
              <a:fillRect/>
            </a:stretch>
          </p:blipFill>
          <p:spPr>
            <a:xfrm>
              <a:off x="467204" y="927806"/>
              <a:ext cx="84124" cy="85302"/>
            </a:xfrm>
            <a:prstGeom prst="rect">
              <a:avLst/>
            </a:prstGeom>
          </p:spPr>
        </p:pic>
        <p:sp>
          <p:nvSpPr>
            <p:cNvPr id="93" name="object 93"/>
            <p:cNvSpPr/>
            <p:nvPr/>
          </p:nvSpPr>
          <p:spPr>
            <a:xfrm>
              <a:off x="648843" y="1006334"/>
              <a:ext cx="7620" cy="90805"/>
            </a:xfrm>
            <a:custGeom>
              <a:avLst/>
              <a:gdLst/>
              <a:ahLst/>
              <a:cxnLst/>
              <a:rect l="l" t="t" r="r" b="b"/>
              <a:pathLst>
                <a:path w="7620" h="90805">
                  <a:moveTo>
                    <a:pt x="7264" y="2540"/>
                  </a:moveTo>
                  <a:lnTo>
                    <a:pt x="6667" y="2540"/>
                  </a:lnTo>
                  <a:lnTo>
                    <a:pt x="6667" y="1270"/>
                  </a:lnTo>
                  <a:lnTo>
                    <a:pt x="5969" y="1270"/>
                  </a:lnTo>
                  <a:lnTo>
                    <a:pt x="5969" y="0"/>
                  </a:lnTo>
                  <a:lnTo>
                    <a:pt x="127" y="0"/>
                  </a:lnTo>
                  <a:lnTo>
                    <a:pt x="127" y="1270"/>
                  </a:lnTo>
                  <a:lnTo>
                    <a:pt x="0" y="1270"/>
                  </a:lnTo>
                  <a:lnTo>
                    <a:pt x="0" y="2540"/>
                  </a:lnTo>
                  <a:lnTo>
                    <a:pt x="0" y="86423"/>
                  </a:lnTo>
                  <a:lnTo>
                    <a:pt x="0" y="88963"/>
                  </a:lnTo>
                  <a:lnTo>
                    <a:pt x="3492" y="88963"/>
                  </a:lnTo>
                  <a:lnTo>
                    <a:pt x="3492" y="90233"/>
                  </a:lnTo>
                  <a:lnTo>
                    <a:pt x="3683" y="90233"/>
                  </a:lnTo>
                  <a:lnTo>
                    <a:pt x="3683" y="88963"/>
                  </a:lnTo>
                  <a:lnTo>
                    <a:pt x="6413" y="88963"/>
                  </a:lnTo>
                  <a:lnTo>
                    <a:pt x="6413" y="86423"/>
                  </a:lnTo>
                  <a:lnTo>
                    <a:pt x="7264" y="86423"/>
                  </a:lnTo>
                  <a:lnTo>
                    <a:pt x="7264" y="2540"/>
                  </a:lnTo>
                  <a:close/>
                </a:path>
              </a:pathLst>
            </a:custGeom>
            <a:solidFill>
              <a:srgbClr val="929599"/>
            </a:solidFill>
          </p:spPr>
          <p:txBody>
            <a:bodyPr wrap="square" lIns="0" tIns="0" rIns="0" bIns="0" rtlCol="0"/>
            <a:lstStyle/>
            <a:p>
              <a:endParaRPr/>
            </a:p>
          </p:txBody>
        </p:sp>
        <p:pic>
          <p:nvPicPr>
            <p:cNvPr id="94" name="object 94"/>
            <p:cNvPicPr/>
            <p:nvPr/>
          </p:nvPicPr>
          <p:blipFill>
            <a:blip r:embed="rId71" cstate="print"/>
            <a:stretch>
              <a:fillRect/>
            </a:stretch>
          </p:blipFill>
          <p:spPr>
            <a:xfrm>
              <a:off x="824357" y="642616"/>
              <a:ext cx="84095" cy="316867"/>
            </a:xfrm>
            <a:prstGeom prst="rect">
              <a:avLst/>
            </a:prstGeom>
          </p:spPr>
        </p:pic>
        <p:pic>
          <p:nvPicPr>
            <p:cNvPr id="95" name="object 95"/>
            <p:cNvPicPr/>
            <p:nvPr/>
          </p:nvPicPr>
          <p:blipFill>
            <a:blip r:embed="rId72" cstate="print"/>
            <a:stretch>
              <a:fillRect/>
            </a:stretch>
          </p:blipFill>
          <p:spPr>
            <a:xfrm>
              <a:off x="1116860" y="642616"/>
              <a:ext cx="84143" cy="316867"/>
            </a:xfrm>
            <a:prstGeom prst="rect">
              <a:avLst/>
            </a:prstGeom>
          </p:spPr>
        </p:pic>
        <p:sp>
          <p:nvSpPr>
            <p:cNvPr id="96" name="object 96"/>
            <p:cNvSpPr/>
            <p:nvPr/>
          </p:nvSpPr>
          <p:spPr>
            <a:xfrm>
              <a:off x="966972" y="874180"/>
              <a:ext cx="84455" cy="85725"/>
            </a:xfrm>
            <a:custGeom>
              <a:avLst/>
              <a:gdLst/>
              <a:ahLst/>
              <a:cxnLst/>
              <a:rect l="l" t="t" r="r" b="b"/>
              <a:pathLst>
                <a:path w="84455" h="85725">
                  <a:moveTo>
                    <a:pt x="41437" y="0"/>
                  </a:moveTo>
                  <a:lnTo>
                    <a:pt x="7272" y="19504"/>
                  </a:lnTo>
                  <a:lnTo>
                    <a:pt x="2440" y="25615"/>
                  </a:lnTo>
                  <a:lnTo>
                    <a:pt x="0" y="34121"/>
                  </a:lnTo>
                  <a:lnTo>
                    <a:pt x="0" y="51181"/>
                  </a:lnTo>
                  <a:lnTo>
                    <a:pt x="25575" y="81636"/>
                  </a:lnTo>
                  <a:lnTo>
                    <a:pt x="41437" y="85302"/>
                  </a:lnTo>
                  <a:lnTo>
                    <a:pt x="49978" y="84080"/>
                  </a:lnTo>
                  <a:lnTo>
                    <a:pt x="58471" y="81636"/>
                  </a:lnTo>
                  <a:lnTo>
                    <a:pt x="65792" y="78019"/>
                  </a:lnTo>
                  <a:lnTo>
                    <a:pt x="41437" y="78019"/>
                  </a:lnTo>
                  <a:lnTo>
                    <a:pt x="34116" y="76797"/>
                  </a:lnTo>
                  <a:lnTo>
                    <a:pt x="7272" y="49959"/>
                  </a:lnTo>
                  <a:lnTo>
                    <a:pt x="7272" y="35343"/>
                  </a:lnTo>
                  <a:lnTo>
                    <a:pt x="41437" y="7332"/>
                  </a:lnTo>
                  <a:lnTo>
                    <a:pt x="65792" y="7332"/>
                  </a:lnTo>
                  <a:lnTo>
                    <a:pt x="58471" y="3666"/>
                  </a:lnTo>
                  <a:lnTo>
                    <a:pt x="49978" y="1222"/>
                  </a:lnTo>
                  <a:lnTo>
                    <a:pt x="41437" y="0"/>
                  </a:lnTo>
                  <a:close/>
                </a:path>
                <a:path w="84455" h="85725">
                  <a:moveTo>
                    <a:pt x="65792" y="7332"/>
                  </a:moveTo>
                  <a:lnTo>
                    <a:pt x="41437" y="7332"/>
                  </a:lnTo>
                  <a:lnTo>
                    <a:pt x="48758" y="8505"/>
                  </a:lnTo>
                  <a:lnTo>
                    <a:pt x="60911" y="13394"/>
                  </a:lnTo>
                  <a:lnTo>
                    <a:pt x="70673" y="23171"/>
                  </a:lnTo>
                  <a:lnTo>
                    <a:pt x="74333" y="29232"/>
                  </a:lnTo>
                  <a:lnTo>
                    <a:pt x="75553" y="35343"/>
                  </a:lnTo>
                  <a:lnTo>
                    <a:pt x="76774" y="42675"/>
                  </a:lnTo>
                  <a:lnTo>
                    <a:pt x="75553" y="49959"/>
                  </a:lnTo>
                  <a:lnTo>
                    <a:pt x="41437" y="78019"/>
                  </a:lnTo>
                  <a:lnTo>
                    <a:pt x="65792" y="78019"/>
                  </a:lnTo>
                  <a:lnTo>
                    <a:pt x="84095" y="42675"/>
                  </a:lnTo>
                  <a:lnTo>
                    <a:pt x="82875" y="34121"/>
                  </a:lnTo>
                  <a:lnTo>
                    <a:pt x="80434" y="25615"/>
                  </a:lnTo>
                  <a:lnTo>
                    <a:pt x="76774" y="19504"/>
                  </a:lnTo>
                  <a:lnTo>
                    <a:pt x="71893" y="12172"/>
                  </a:lnTo>
                  <a:lnTo>
                    <a:pt x="65792" y="7332"/>
                  </a:lnTo>
                  <a:close/>
                </a:path>
              </a:pathLst>
            </a:custGeom>
            <a:solidFill>
              <a:srgbClr val="929599"/>
            </a:solidFill>
          </p:spPr>
          <p:txBody>
            <a:bodyPr wrap="square" lIns="0" tIns="0" rIns="0" bIns="0" rtlCol="0"/>
            <a:lstStyle/>
            <a:p>
              <a:endParaRPr/>
            </a:p>
          </p:txBody>
        </p:sp>
        <p:pic>
          <p:nvPicPr>
            <p:cNvPr id="97" name="object 97"/>
            <p:cNvPicPr/>
            <p:nvPr/>
          </p:nvPicPr>
          <p:blipFill>
            <a:blip r:embed="rId73" cstate="print"/>
            <a:stretch>
              <a:fillRect/>
            </a:stretch>
          </p:blipFill>
          <p:spPr>
            <a:xfrm>
              <a:off x="966972" y="3198282"/>
              <a:ext cx="84095" cy="84129"/>
            </a:xfrm>
            <a:prstGeom prst="rect">
              <a:avLst/>
            </a:prstGeom>
          </p:spPr>
        </p:pic>
        <p:pic>
          <p:nvPicPr>
            <p:cNvPr id="98" name="object 98"/>
            <p:cNvPicPr/>
            <p:nvPr/>
          </p:nvPicPr>
          <p:blipFill>
            <a:blip r:embed="rId74" cstate="print"/>
            <a:stretch>
              <a:fillRect/>
            </a:stretch>
          </p:blipFill>
          <p:spPr>
            <a:xfrm>
              <a:off x="966972" y="504909"/>
              <a:ext cx="84095" cy="84080"/>
            </a:xfrm>
            <a:prstGeom prst="rect">
              <a:avLst/>
            </a:prstGeom>
          </p:spPr>
        </p:pic>
        <p:pic>
          <p:nvPicPr>
            <p:cNvPr id="99" name="object 99"/>
            <p:cNvPicPr/>
            <p:nvPr/>
          </p:nvPicPr>
          <p:blipFill>
            <a:blip r:embed="rId75" cstate="print"/>
            <a:stretch>
              <a:fillRect/>
            </a:stretch>
          </p:blipFill>
          <p:spPr>
            <a:xfrm>
              <a:off x="966972" y="3019170"/>
              <a:ext cx="84095" cy="84080"/>
            </a:xfrm>
            <a:prstGeom prst="rect">
              <a:avLst/>
            </a:prstGeom>
          </p:spPr>
        </p:pic>
        <p:pic>
          <p:nvPicPr>
            <p:cNvPr id="100" name="object 100"/>
            <p:cNvPicPr/>
            <p:nvPr/>
          </p:nvPicPr>
          <p:blipFill>
            <a:blip r:embed="rId76" cstate="print"/>
            <a:stretch>
              <a:fillRect/>
            </a:stretch>
          </p:blipFill>
          <p:spPr>
            <a:xfrm>
              <a:off x="1266796" y="3019170"/>
              <a:ext cx="85315" cy="84080"/>
            </a:xfrm>
            <a:prstGeom prst="rect">
              <a:avLst/>
            </a:prstGeom>
          </p:spPr>
        </p:pic>
        <p:sp>
          <p:nvSpPr>
            <p:cNvPr id="101" name="object 101"/>
            <p:cNvSpPr/>
            <p:nvPr/>
          </p:nvSpPr>
          <p:spPr>
            <a:xfrm>
              <a:off x="1004747" y="581812"/>
              <a:ext cx="347980" cy="377825"/>
            </a:xfrm>
            <a:custGeom>
              <a:avLst/>
              <a:gdLst/>
              <a:ahLst/>
              <a:cxnLst/>
              <a:rect l="l" t="t" r="r" b="b"/>
              <a:pathLst>
                <a:path w="347980" h="377825">
                  <a:moveTo>
                    <a:pt x="7315" y="3822"/>
                  </a:moveTo>
                  <a:lnTo>
                    <a:pt x="6832" y="3822"/>
                  </a:lnTo>
                  <a:lnTo>
                    <a:pt x="6832" y="1270"/>
                  </a:lnTo>
                  <a:lnTo>
                    <a:pt x="5194" y="1270"/>
                  </a:lnTo>
                  <a:lnTo>
                    <a:pt x="5194" y="0"/>
                  </a:lnTo>
                  <a:lnTo>
                    <a:pt x="2120" y="0"/>
                  </a:lnTo>
                  <a:lnTo>
                    <a:pt x="2120" y="1270"/>
                  </a:lnTo>
                  <a:lnTo>
                    <a:pt x="482" y="1270"/>
                  </a:lnTo>
                  <a:lnTo>
                    <a:pt x="482" y="3822"/>
                  </a:lnTo>
                  <a:lnTo>
                    <a:pt x="0" y="3822"/>
                  </a:lnTo>
                  <a:lnTo>
                    <a:pt x="0" y="296151"/>
                  </a:lnTo>
                  <a:lnTo>
                    <a:pt x="685" y="296151"/>
                  </a:lnTo>
                  <a:lnTo>
                    <a:pt x="685" y="298691"/>
                  </a:lnTo>
                  <a:lnTo>
                    <a:pt x="2882" y="298691"/>
                  </a:lnTo>
                  <a:lnTo>
                    <a:pt x="2882" y="299961"/>
                  </a:lnTo>
                  <a:lnTo>
                    <a:pt x="4419" y="299961"/>
                  </a:lnTo>
                  <a:lnTo>
                    <a:pt x="4419" y="298691"/>
                  </a:lnTo>
                  <a:lnTo>
                    <a:pt x="6629" y="298691"/>
                  </a:lnTo>
                  <a:lnTo>
                    <a:pt x="6629" y="296151"/>
                  </a:lnTo>
                  <a:lnTo>
                    <a:pt x="7315" y="296151"/>
                  </a:lnTo>
                  <a:lnTo>
                    <a:pt x="7315" y="3822"/>
                  </a:lnTo>
                  <a:close/>
                </a:path>
                <a:path w="347980" h="377825">
                  <a:moveTo>
                    <a:pt x="347357" y="335051"/>
                  </a:moveTo>
                  <a:lnTo>
                    <a:pt x="346138" y="326491"/>
                  </a:lnTo>
                  <a:lnTo>
                    <a:pt x="343700" y="317995"/>
                  </a:lnTo>
                  <a:lnTo>
                    <a:pt x="340080" y="311873"/>
                  </a:lnTo>
                  <a:lnTo>
                    <a:pt x="340080" y="335051"/>
                  </a:lnTo>
                  <a:lnTo>
                    <a:pt x="338861" y="342328"/>
                  </a:lnTo>
                  <a:lnTo>
                    <a:pt x="333984" y="354507"/>
                  </a:lnTo>
                  <a:lnTo>
                    <a:pt x="324218" y="364286"/>
                  </a:lnTo>
                  <a:lnTo>
                    <a:pt x="312026" y="369176"/>
                  </a:lnTo>
                  <a:lnTo>
                    <a:pt x="304698" y="370395"/>
                  </a:lnTo>
                  <a:lnTo>
                    <a:pt x="297383" y="369176"/>
                  </a:lnTo>
                  <a:lnTo>
                    <a:pt x="285229" y="364286"/>
                  </a:lnTo>
                  <a:lnTo>
                    <a:pt x="275463" y="354507"/>
                  </a:lnTo>
                  <a:lnTo>
                    <a:pt x="270586" y="342328"/>
                  </a:lnTo>
                  <a:lnTo>
                    <a:pt x="269367" y="335051"/>
                  </a:lnTo>
                  <a:lnTo>
                    <a:pt x="270586" y="327723"/>
                  </a:lnTo>
                  <a:lnTo>
                    <a:pt x="275463" y="315544"/>
                  </a:lnTo>
                  <a:lnTo>
                    <a:pt x="285229" y="305765"/>
                  </a:lnTo>
                  <a:lnTo>
                    <a:pt x="297383" y="300875"/>
                  </a:lnTo>
                  <a:lnTo>
                    <a:pt x="304698" y="299707"/>
                  </a:lnTo>
                  <a:lnTo>
                    <a:pt x="312026" y="300875"/>
                  </a:lnTo>
                  <a:lnTo>
                    <a:pt x="324218" y="305765"/>
                  </a:lnTo>
                  <a:lnTo>
                    <a:pt x="333984" y="315544"/>
                  </a:lnTo>
                  <a:lnTo>
                    <a:pt x="338861" y="327723"/>
                  </a:lnTo>
                  <a:lnTo>
                    <a:pt x="340080" y="335051"/>
                  </a:lnTo>
                  <a:lnTo>
                    <a:pt x="340080" y="311873"/>
                  </a:lnTo>
                  <a:lnTo>
                    <a:pt x="304698" y="292379"/>
                  </a:lnTo>
                  <a:lnTo>
                    <a:pt x="296164" y="293598"/>
                  </a:lnTo>
                  <a:lnTo>
                    <a:pt x="265696" y="317995"/>
                  </a:lnTo>
                  <a:lnTo>
                    <a:pt x="262039" y="335051"/>
                  </a:lnTo>
                  <a:lnTo>
                    <a:pt x="263258" y="343560"/>
                  </a:lnTo>
                  <a:lnTo>
                    <a:pt x="287667" y="374015"/>
                  </a:lnTo>
                  <a:lnTo>
                    <a:pt x="304698" y="377672"/>
                  </a:lnTo>
                  <a:lnTo>
                    <a:pt x="313245" y="376453"/>
                  </a:lnTo>
                  <a:lnTo>
                    <a:pt x="343700" y="350888"/>
                  </a:lnTo>
                  <a:lnTo>
                    <a:pt x="346138" y="343560"/>
                  </a:lnTo>
                  <a:lnTo>
                    <a:pt x="347357" y="335051"/>
                  </a:lnTo>
                  <a:close/>
                </a:path>
              </a:pathLst>
            </a:custGeom>
            <a:solidFill>
              <a:srgbClr val="929599"/>
            </a:solidFill>
          </p:spPr>
          <p:txBody>
            <a:bodyPr wrap="square" lIns="0" tIns="0" rIns="0" bIns="0" rtlCol="0"/>
            <a:lstStyle/>
            <a:p>
              <a:endParaRPr/>
            </a:p>
          </p:txBody>
        </p:sp>
        <p:pic>
          <p:nvPicPr>
            <p:cNvPr id="102" name="object 102"/>
            <p:cNvPicPr/>
            <p:nvPr/>
          </p:nvPicPr>
          <p:blipFill>
            <a:blip r:embed="rId77" cstate="print"/>
            <a:stretch>
              <a:fillRect/>
            </a:stretch>
          </p:blipFill>
          <p:spPr>
            <a:xfrm>
              <a:off x="1266796" y="3198282"/>
              <a:ext cx="85315" cy="84129"/>
            </a:xfrm>
            <a:prstGeom prst="rect">
              <a:avLst/>
            </a:prstGeom>
          </p:spPr>
        </p:pic>
        <p:pic>
          <p:nvPicPr>
            <p:cNvPr id="103" name="object 103"/>
            <p:cNvPicPr/>
            <p:nvPr/>
          </p:nvPicPr>
          <p:blipFill>
            <a:blip r:embed="rId78" cstate="print"/>
            <a:stretch>
              <a:fillRect/>
            </a:stretch>
          </p:blipFill>
          <p:spPr>
            <a:xfrm>
              <a:off x="1266796" y="504909"/>
              <a:ext cx="85315" cy="84080"/>
            </a:xfrm>
            <a:prstGeom prst="rect">
              <a:avLst/>
            </a:prstGeom>
          </p:spPr>
        </p:pic>
        <p:sp>
          <p:nvSpPr>
            <p:cNvPr id="104" name="object 104"/>
            <p:cNvSpPr/>
            <p:nvPr/>
          </p:nvSpPr>
          <p:spPr>
            <a:xfrm>
              <a:off x="506222" y="581812"/>
              <a:ext cx="807085" cy="507365"/>
            </a:xfrm>
            <a:custGeom>
              <a:avLst/>
              <a:gdLst/>
              <a:ahLst/>
              <a:cxnLst/>
              <a:rect l="l" t="t" r="r" b="b"/>
              <a:pathLst>
                <a:path w="807085" h="507365">
                  <a:moveTo>
                    <a:pt x="7277" y="427634"/>
                  </a:moveTo>
                  <a:lnTo>
                    <a:pt x="6057" y="425196"/>
                  </a:lnTo>
                  <a:lnTo>
                    <a:pt x="3619" y="424014"/>
                  </a:lnTo>
                  <a:lnTo>
                    <a:pt x="1219" y="425196"/>
                  </a:lnTo>
                  <a:lnTo>
                    <a:pt x="0" y="427634"/>
                  </a:lnTo>
                  <a:lnTo>
                    <a:pt x="0" y="503212"/>
                  </a:lnTo>
                  <a:lnTo>
                    <a:pt x="1219" y="505650"/>
                  </a:lnTo>
                  <a:lnTo>
                    <a:pt x="3619" y="506882"/>
                  </a:lnTo>
                  <a:lnTo>
                    <a:pt x="6057" y="505650"/>
                  </a:lnTo>
                  <a:lnTo>
                    <a:pt x="7277" y="503212"/>
                  </a:lnTo>
                  <a:lnTo>
                    <a:pt x="7277" y="427634"/>
                  </a:lnTo>
                  <a:close/>
                </a:path>
                <a:path w="807085" h="507365">
                  <a:moveTo>
                    <a:pt x="806881" y="3822"/>
                  </a:moveTo>
                  <a:lnTo>
                    <a:pt x="806399" y="3822"/>
                  </a:lnTo>
                  <a:lnTo>
                    <a:pt x="806399" y="1270"/>
                  </a:lnTo>
                  <a:lnTo>
                    <a:pt x="804760" y="1270"/>
                  </a:lnTo>
                  <a:lnTo>
                    <a:pt x="804760" y="0"/>
                  </a:lnTo>
                  <a:lnTo>
                    <a:pt x="801687" y="0"/>
                  </a:lnTo>
                  <a:lnTo>
                    <a:pt x="801687" y="1270"/>
                  </a:lnTo>
                  <a:lnTo>
                    <a:pt x="800049" y="1270"/>
                  </a:lnTo>
                  <a:lnTo>
                    <a:pt x="800049" y="3822"/>
                  </a:lnTo>
                  <a:lnTo>
                    <a:pt x="799566" y="3822"/>
                  </a:lnTo>
                  <a:lnTo>
                    <a:pt x="799566" y="296151"/>
                  </a:lnTo>
                  <a:lnTo>
                    <a:pt x="800252" y="296151"/>
                  </a:lnTo>
                  <a:lnTo>
                    <a:pt x="800252" y="298691"/>
                  </a:lnTo>
                  <a:lnTo>
                    <a:pt x="802462" y="298691"/>
                  </a:lnTo>
                  <a:lnTo>
                    <a:pt x="802462" y="299961"/>
                  </a:lnTo>
                  <a:lnTo>
                    <a:pt x="803998" y="299961"/>
                  </a:lnTo>
                  <a:lnTo>
                    <a:pt x="803998" y="298691"/>
                  </a:lnTo>
                  <a:lnTo>
                    <a:pt x="806196" y="298691"/>
                  </a:lnTo>
                  <a:lnTo>
                    <a:pt x="806196" y="296151"/>
                  </a:lnTo>
                  <a:lnTo>
                    <a:pt x="806881" y="296151"/>
                  </a:lnTo>
                  <a:lnTo>
                    <a:pt x="806881" y="3822"/>
                  </a:lnTo>
                  <a:close/>
                </a:path>
              </a:pathLst>
            </a:custGeom>
            <a:solidFill>
              <a:srgbClr val="929599"/>
            </a:solidFill>
          </p:spPr>
          <p:txBody>
            <a:bodyPr wrap="square" lIns="0" tIns="0" rIns="0" bIns="0" rtlCol="0"/>
            <a:lstStyle/>
            <a:p>
              <a:endParaRPr/>
            </a:p>
          </p:txBody>
        </p:sp>
        <p:pic>
          <p:nvPicPr>
            <p:cNvPr id="105" name="object 105"/>
            <p:cNvPicPr/>
            <p:nvPr/>
          </p:nvPicPr>
          <p:blipFill>
            <a:blip r:embed="rId79" cstate="print"/>
            <a:stretch>
              <a:fillRect/>
            </a:stretch>
          </p:blipFill>
          <p:spPr>
            <a:xfrm>
              <a:off x="273399" y="3056909"/>
              <a:ext cx="85320" cy="85351"/>
            </a:xfrm>
            <a:prstGeom prst="rect">
              <a:avLst/>
            </a:prstGeom>
          </p:spPr>
        </p:pic>
        <p:sp>
          <p:nvSpPr>
            <p:cNvPr id="106" name="object 106"/>
            <p:cNvSpPr/>
            <p:nvPr/>
          </p:nvSpPr>
          <p:spPr>
            <a:xfrm>
              <a:off x="416010" y="3056909"/>
              <a:ext cx="84455" cy="85725"/>
            </a:xfrm>
            <a:custGeom>
              <a:avLst/>
              <a:gdLst/>
              <a:ahLst/>
              <a:cxnLst/>
              <a:rect l="l" t="t" r="r" b="b"/>
              <a:pathLst>
                <a:path w="84454" h="85725">
                  <a:moveTo>
                    <a:pt x="42662" y="0"/>
                  </a:moveTo>
                  <a:lnTo>
                    <a:pt x="7316" y="19504"/>
                  </a:lnTo>
                  <a:lnTo>
                    <a:pt x="0" y="42675"/>
                  </a:lnTo>
                  <a:lnTo>
                    <a:pt x="1220" y="51230"/>
                  </a:lnTo>
                  <a:lnTo>
                    <a:pt x="25599" y="81685"/>
                  </a:lnTo>
                  <a:lnTo>
                    <a:pt x="42662" y="85351"/>
                  </a:lnTo>
                  <a:lnTo>
                    <a:pt x="51194" y="84129"/>
                  </a:lnTo>
                  <a:lnTo>
                    <a:pt x="58510" y="81685"/>
                  </a:lnTo>
                  <a:lnTo>
                    <a:pt x="65821" y="78019"/>
                  </a:lnTo>
                  <a:lnTo>
                    <a:pt x="42662" y="78019"/>
                  </a:lnTo>
                  <a:lnTo>
                    <a:pt x="35346" y="76797"/>
                  </a:lnTo>
                  <a:lnTo>
                    <a:pt x="7316" y="42675"/>
                  </a:lnTo>
                  <a:lnTo>
                    <a:pt x="8531" y="35343"/>
                  </a:lnTo>
                  <a:lnTo>
                    <a:pt x="42662" y="7332"/>
                  </a:lnTo>
                  <a:lnTo>
                    <a:pt x="65821" y="7332"/>
                  </a:lnTo>
                  <a:lnTo>
                    <a:pt x="58510" y="3666"/>
                  </a:lnTo>
                  <a:lnTo>
                    <a:pt x="51194" y="1222"/>
                  </a:lnTo>
                  <a:lnTo>
                    <a:pt x="42662" y="0"/>
                  </a:lnTo>
                  <a:close/>
                </a:path>
                <a:path w="84454" h="85725">
                  <a:moveTo>
                    <a:pt x="65821" y="7332"/>
                  </a:moveTo>
                  <a:lnTo>
                    <a:pt x="42662" y="7332"/>
                  </a:lnTo>
                  <a:lnTo>
                    <a:pt x="48758" y="8554"/>
                  </a:lnTo>
                  <a:lnTo>
                    <a:pt x="56069" y="10998"/>
                  </a:lnTo>
                  <a:lnTo>
                    <a:pt x="76798" y="35343"/>
                  </a:lnTo>
                  <a:lnTo>
                    <a:pt x="76798" y="50008"/>
                  </a:lnTo>
                  <a:lnTo>
                    <a:pt x="48758" y="76797"/>
                  </a:lnTo>
                  <a:lnTo>
                    <a:pt x="42662" y="78019"/>
                  </a:lnTo>
                  <a:lnTo>
                    <a:pt x="65821" y="78019"/>
                  </a:lnTo>
                  <a:lnTo>
                    <a:pt x="71917" y="71908"/>
                  </a:lnTo>
                  <a:lnTo>
                    <a:pt x="76798" y="65847"/>
                  </a:lnTo>
                  <a:lnTo>
                    <a:pt x="81679" y="58514"/>
                  </a:lnTo>
                  <a:lnTo>
                    <a:pt x="84119" y="51230"/>
                  </a:lnTo>
                  <a:lnTo>
                    <a:pt x="84119" y="34121"/>
                  </a:lnTo>
                  <a:lnTo>
                    <a:pt x="81679" y="26837"/>
                  </a:lnTo>
                  <a:lnTo>
                    <a:pt x="76798" y="19504"/>
                  </a:lnTo>
                  <a:lnTo>
                    <a:pt x="71917" y="13443"/>
                  </a:lnTo>
                  <a:lnTo>
                    <a:pt x="65821" y="7332"/>
                  </a:lnTo>
                  <a:close/>
                </a:path>
              </a:pathLst>
            </a:custGeom>
            <a:solidFill>
              <a:srgbClr val="929599"/>
            </a:solidFill>
          </p:spPr>
          <p:txBody>
            <a:bodyPr wrap="square" lIns="0" tIns="0" rIns="0" bIns="0" rtlCol="0"/>
            <a:lstStyle/>
            <a:p>
              <a:endParaRPr/>
            </a:p>
          </p:txBody>
        </p:sp>
        <p:pic>
          <p:nvPicPr>
            <p:cNvPr id="107" name="object 107"/>
            <p:cNvPicPr/>
            <p:nvPr/>
          </p:nvPicPr>
          <p:blipFill>
            <a:blip r:embed="rId80" cstate="print"/>
            <a:stretch>
              <a:fillRect/>
            </a:stretch>
          </p:blipFill>
          <p:spPr>
            <a:xfrm>
              <a:off x="273399" y="2523142"/>
              <a:ext cx="85320" cy="84080"/>
            </a:xfrm>
            <a:prstGeom prst="rect">
              <a:avLst/>
            </a:prstGeom>
          </p:spPr>
        </p:pic>
        <p:pic>
          <p:nvPicPr>
            <p:cNvPr id="108" name="object 108"/>
            <p:cNvPicPr/>
            <p:nvPr/>
          </p:nvPicPr>
          <p:blipFill>
            <a:blip r:embed="rId81" cstate="print"/>
            <a:stretch>
              <a:fillRect/>
            </a:stretch>
          </p:blipFill>
          <p:spPr>
            <a:xfrm>
              <a:off x="416010" y="2665737"/>
              <a:ext cx="84119" cy="84080"/>
            </a:xfrm>
            <a:prstGeom prst="rect">
              <a:avLst/>
            </a:prstGeom>
          </p:spPr>
        </p:pic>
        <p:sp>
          <p:nvSpPr>
            <p:cNvPr id="109" name="object 109"/>
            <p:cNvSpPr/>
            <p:nvPr/>
          </p:nvSpPr>
          <p:spPr>
            <a:xfrm>
              <a:off x="455015" y="2742514"/>
              <a:ext cx="7620" cy="321945"/>
            </a:xfrm>
            <a:custGeom>
              <a:avLst/>
              <a:gdLst/>
              <a:ahLst/>
              <a:cxnLst/>
              <a:rect l="l" t="t" r="r" b="b"/>
              <a:pathLst>
                <a:path w="7620" h="321944">
                  <a:moveTo>
                    <a:pt x="7302" y="3810"/>
                  </a:moveTo>
                  <a:lnTo>
                    <a:pt x="6756" y="3810"/>
                  </a:lnTo>
                  <a:lnTo>
                    <a:pt x="6756" y="1270"/>
                  </a:lnTo>
                  <a:lnTo>
                    <a:pt x="4953" y="1270"/>
                  </a:lnTo>
                  <a:lnTo>
                    <a:pt x="4953" y="0"/>
                  </a:lnTo>
                  <a:lnTo>
                    <a:pt x="2336" y="0"/>
                  </a:lnTo>
                  <a:lnTo>
                    <a:pt x="2336" y="1270"/>
                  </a:lnTo>
                  <a:lnTo>
                    <a:pt x="546" y="1270"/>
                  </a:lnTo>
                  <a:lnTo>
                    <a:pt x="546" y="3810"/>
                  </a:lnTo>
                  <a:lnTo>
                    <a:pt x="0" y="3810"/>
                  </a:lnTo>
                  <a:lnTo>
                    <a:pt x="0" y="317754"/>
                  </a:lnTo>
                  <a:lnTo>
                    <a:pt x="520" y="317754"/>
                  </a:lnTo>
                  <a:lnTo>
                    <a:pt x="520" y="321564"/>
                  </a:lnTo>
                  <a:lnTo>
                    <a:pt x="6781" y="321564"/>
                  </a:lnTo>
                  <a:lnTo>
                    <a:pt x="6781" y="317754"/>
                  </a:lnTo>
                  <a:lnTo>
                    <a:pt x="7302" y="317754"/>
                  </a:lnTo>
                  <a:lnTo>
                    <a:pt x="7302" y="3810"/>
                  </a:lnTo>
                  <a:close/>
                </a:path>
              </a:pathLst>
            </a:custGeom>
            <a:solidFill>
              <a:srgbClr val="929599"/>
            </a:solidFill>
          </p:spPr>
          <p:txBody>
            <a:bodyPr wrap="square" lIns="0" tIns="0" rIns="0" bIns="0" rtlCol="0"/>
            <a:lstStyle/>
            <a:p>
              <a:endParaRPr/>
            </a:p>
          </p:txBody>
        </p:sp>
        <p:pic>
          <p:nvPicPr>
            <p:cNvPr id="110" name="object 110"/>
            <p:cNvPicPr/>
            <p:nvPr/>
          </p:nvPicPr>
          <p:blipFill>
            <a:blip r:embed="rId82" cstate="print"/>
            <a:stretch>
              <a:fillRect/>
            </a:stretch>
          </p:blipFill>
          <p:spPr>
            <a:xfrm>
              <a:off x="127128" y="3056909"/>
              <a:ext cx="84104" cy="85351"/>
            </a:xfrm>
            <a:prstGeom prst="rect">
              <a:avLst/>
            </a:prstGeom>
          </p:spPr>
        </p:pic>
        <p:sp>
          <p:nvSpPr>
            <p:cNvPr id="111" name="object 111"/>
            <p:cNvSpPr/>
            <p:nvPr/>
          </p:nvSpPr>
          <p:spPr>
            <a:xfrm>
              <a:off x="2794" y="1165199"/>
              <a:ext cx="2026285" cy="1899285"/>
            </a:xfrm>
            <a:custGeom>
              <a:avLst/>
              <a:gdLst/>
              <a:ahLst/>
              <a:cxnLst/>
              <a:rect l="l" t="t" r="r" b="b"/>
              <a:pathLst>
                <a:path w="2026285" h="1899285">
                  <a:moveTo>
                    <a:pt x="127977" y="1538300"/>
                  </a:moveTo>
                  <a:lnTo>
                    <a:pt x="0" y="1538300"/>
                  </a:lnTo>
                  <a:lnTo>
                    <a:pt x="0" y="1545615"/>
                  </a:lnTo>
                  <a:lnTo>
                    <a:pt x="127977" y="1545615"/>
                  </a:lnTo>
                  <a:lnTo>
                    <a:pt x="127977" y="1538300"/>
                  </a:lnTo>
                  <a:close/>
                </a:path>
                <a:path w="2026285" h="1899285">
                  <a:moveTo>
                    <a:pt x="169430" y="1580946"/>
                  </a:moveTo>
                  <a:lnTo>
                    <a:pt x="162115" y="1580946"/>
                  </a:lnTo>
                  <a:lnTo>
                    <a:pt x="162115" y="1895386"/>
                  </a:lnTo>
                  <a:lnTo>
                    <a:pt x="169430" y="1895386"/>
                  </a:lnTo>
                  <a:lnTo>
                    <a:pt x="169430" y="1580946"/>
                  </a:lnTo>
                  <a:close/>
                </a:path>
                <a:path w="2026285" h="1899285">
                  <a:moveTo>
                    <a:pt x="316915" y="1438770"/>
                  </a:moveTo>
                  <a:lnTo>
                    <a:pt x="316484" y="1438770"/>
                  </a:lnTo>
                  <a:lnTo>
                    <a:pt x="316484" y="1436230"/>
                  </a:lnTo>
                  <a:lnTo>
                    <a:pt x="315048" y="1436230"/>
                  </a:lnTo>
                  <a:lnTo>
                    <a:pt x="315048" y="1434960"/>
                  </a:lnTo>
                  <a:lnTo>
                    <a:pt x="311467" y="1434960"/>
                  </a:lnTo>
                  <a:lnTo>
                    <a:pt x="311467" y="1436230"/>
                  </a:lnTo>
                  <a:lnTo>
                    <a:pt x="310032" y="1436230"/>
                  </a:lnTo>
                  <a:lnTo>
                    <a:pt x="310032" y="1438770"/>
                  </a:lnTo>
                  <a:lnTo>
                    <a:pt x="309600" y="1438770"/>
                  </a:lnTo>
                  <a:lnTo>
                    <a:pt x="309600" y="1895068"/>
                  </a:lnTo>
                  <a:lnTo>
                    <a:pt x="310134" y="1895068"/>
                  </a:lnTo>
                  <a:lnTo>
                    <a:pt x="310134" y="1898878"/>
                  </a:lnTo>
                  <a:lnTo>
                    <a:pt x="316395" y="1898878"/>
                  </a:lnTo>
                  <a:lnTo>
                    <a:pt x="316395" y="1895068"/>
                  </a:lnTo>
                  <a:lnTo>
                    <a:pt x="316915" y="1895068"/>
                  </a:lnTo>
                  <a:lnTo>
                    <a:pt x="316915" y="1438770"/>
                  </a:lnTo>
                  <a:close/>
                </a:path>
                <a:path w="2026285" h="1899285">
                  <a:moveTo>
                    <a:pt x="1151382" y="306311"/>
                  </a:moveTo>
                  <a:lnTo>
                    <a:pt x="1149705" y="306311"/>
                  </a:lnTo>
                  <a:lnTo>
                    <a:pt x="1149705" y="305041"/>
                  </a:lnTo>
                  <a:lnTo>
                    <a:pt x="421474" y="305041"/>
                  </a:lnTo>
                  <a:lnTo>
                    <a:pt x="421474" y="306311"/>
                  </a:lnTo>
                  <a:lnTo>
                    <a:pt x="419811" y="306311"/>
                  </a:lnTo>
                  <a:lnTo>
                    <a:pt x="419811" y="308851"/>
                  </a:lnTo>
                  <a:lnTo>
                    <a:pt x="420065" y="308851"/>
                  </a:lnTo>
                  <a:lnTo>
                    <a:pt x="420065" y="311404"/>
                  </a:lnTo>
                  <a:lnTo>
                    <a:pt x="422490" y="311404"/>
                  </a:lnTo>
                  <a:lnTo>
                    <a:pt x="422490" y="312674"/>
                  </a:lnTo>
                  <a:lnTo>
                    <a:pt x="1148689" y="312674"/>
                  </a:lnTo>
                  <a:lnTo>
                    <a:pt x="1148689" y="311404"/>
                  </a:lnTo>
                  <a:lnTo>
                    <a:pt x="1151128" y="311404"/>
                  </a:lnTo>
                  <a:lnTo>
                    <a:pt x="1151128" y="308851"/>
                  </a:lnTo>
                  <a:lnTo>
                    <a:pt x="1151382" y="308851"/>
                  </a:lnTo>
                  <a:lnTo>
                    <a:pt x="1151382" y="306311"/>
                  </a:lnTo>
                  <a:close/>
                </a:path>
                <a:path w="2026285" h="1899285">
                  <a:moveTo>
                    <a:pt x="2025827" y="3822"/>
                  </a:moveTo>
                  <a:lnTo>
                    <a:pt x="2025154" y="3822"/>
                  </a:lnTo>
                  <a:lnTo>
                    <a:pt x="2025154" y="1270"/>
                  </a:lnTo>
                  <a:lnTo>
                    <a:pt x="2022970" y="1270"/>
                  </a:lnTo>
                  <a:lnTo>
                    <a:pt x="2022970" y="0"/>
                  </a:lnTo>
                  <a:lnTo>
                    <a:pt x="2020976" y="0"/>
                  </a:lnTo>
                  <a:lnTo>
                    <a:pt x="2020976" y="1270"/>
                  </a:lnTo>
                  <a:lnTo>
                    <a:pt x="2018512" y="1270"/>
                  </a:lnTo>
                  <a:lnTo>
                    <a:pt x="2018512" y="3822"/>
                  </a:lnTo>
                  <a:lnTo>
                    <a:pt x="2018512" y="251663"/>
                  </a:lnTo>
                  <a:lnTo>
                    <a:pt x="2018512" y="254203"/>
                  </a:lnTo>
                  <a:lnTo>
                    <a:pt x="2021763" y="254203"/>
                  </a:lnTo>
                  <a:lnTo>
                    <a:pt x="2021763" y="255473"/>
                  </a:lnTo>
                  <a:lnTo>
                    <a:pt x="2022436" y="255473"/>
                  </a:lnTo>
                  <a:lnTo>
                    <a:pt x="2022436" y="254203"/>
                  </a:lnTo>
                  <a:lnTo>
                    <a:pt x="2025015" y="254203"/>
                  </a:lnTo>
                  <a:lnTo>
                    <a:pt x="2025015" y="251663"/>
                  </a:lnTo>
                  <a:lnTo>
                    <a:pt x="2025827" y="251663"/>
                  </a:lnTo>
                  <a:lnTo>
                    <a:pt x="2025827" y="3822"/>
                  </a:lnTo>
                  <a:close/>
                </a:path>
              </a:pathLst>
            </a:custGeom>
            <a:solidFill>
              <a:srgbClr val="929599"/>
            </a:solidFill>
          </p:spPr>
          <p:txBody>
            <a:bodyPr wrap="square" lIns="0" tIns="0" rIns="0" bIns="0" rtlCol="0"/>
            <a:lstStyle/>
            <a:p>
              <a:endParaRPr/>
            </a:p>
          </p:txBody>
        </p:sp>
        <p:pic>
          <p:nvPicPr>
            <p:cNvPr id="112" name="object 112"/>
            <p:cNvPicPr/>
            <p:nvPr/>
          </p:nvPicPr>
          <p:blipFill>
            <a:blip r:embed="rId83" cstate="print"/>
            <a:stretch>
              <a:fillRect/>
            </a:stretch>
          </p:blipFill>
          <p:spPr>
            <a:xfrm>
              <a:off x="188074" y="1556653"/>
              <a:ext cx="241342" cy="242563"/>
            </a:xfrm>
            <a:prstGeom prst="rect">
              <a:avLst/>
            </a:prstGeom>
          </p:spPr>
        </p:pic>
        <p:sp>
          <p:nvSpPr>
            <p:cNvPr id="113" name="object 113"/>
            <p:cNvSpPr/>
            <p:nvPr/>
          </p:nvSpPr>
          <p:spPr>
            <a:xfrm>
              <a:off x="2794" y="2234"/>
              <a:ext cx="3858895" cy="3171190"/>
            </a:xfrm>
            <a:custGeom>
              <a:avLst/>
              <a:gdLst/>
              <a:ahLst/>
              <a:cxnLst/>
              <a:rect l="l" t="t" r="r" b="b"/>
              <a:pathLst>
                <a:path w="3858895" h="3171190">
                  <a:moveTo>
                    <a:pt x="346176" y="1750669"/>
                  </a:moveTo>
                  <a:lnTo>
                    <a:pt x="0" y="1750669"/>
                  </a:lnTo>
                  <a:lnTo>
                    <a:pt x="0" y="1757972"/>
                  </a:lnTo>
                  <a:lnTo>
                    <a:pt x="346176" y="1757972"/>
                  </a:lnTo>
                  <a:lnTo>
                    <a:pt x="346176" y="1750669"/>
                  </a:lnTo>
                  <a:close/>
                </a:path>
                <a:path w="3858895" h="3171190">
                  <a:moveTo>
                    <a:pt x="346176" y="698868"/>
                  </a:moveTo>
                  <a:lnTo>
                    <a:pt x="0" y="698868"/>
                  </a:lnTo>
                  <a:lnTo>
                    <a:pt x="0" y="706183"/>
                  </a:lnTo>
                  <a:lnTo>
                    <a:pt x="346176" y="706183"/>
                  </a:lnTo>
                  <a:lnTo>
                    <a:pt x="346176" y="698868"/>
                  </a:lnTo>
                  <a:close/>
                </a:path>
                <a:path w="3858895" h="3171190">
                  <a:moveTo>
                    <a:pt x="347383" y="982840"/>
                  </a:moveTo>
                  <a:lnTo>
                    <a:pt x="0" y="982840"/>
                  </a:lnTo>
                  <a:lnTo>
                    <a:pt x="0" y="990155"/>
                  </a:lnTo>
                  <a:lnTo>
                    <a:pt x="347383" y="990155"/>
                  </a:lnTo>
                  <a:lnTo>
                    <a:pt x="347383" y="982840"/>
                  </a:lnTo>
                  <a:close/>
                </a:path>
                <a:path w="3858895" h="3171190">
                  <a:moveTo>
                    <a:pt x="347383" y="841463"/>
                  </a:moveTo>
                  <a:lnTo>
                    <a:pt x="0" y="841463"/>
                  </a:lnTo>
                  <a:lnTo>
                    <a:pt x="0" y="848779"/>
                  </a:lnTo>
                  <a:lnTo>
                    <a:pt x="347383" y="848779"/>
                  </a:lnTo>
                  <a:lnTo>
                    <a:pt x="347383" y="841463"/>
                  </a:lnTo>
                  <a:close/>
                </a:path>
                <a:path w="3858895" h="3171190">
                  <a:moveTo>
                    <a:pt x="387616" y="1952980"/>
                  </a:moveTo>
                  <a:lnTo>
                    <a:pt x="386397" y="1950529"/>
                  </a:lnTo>
                  <a:lnTo>
                    <a:pt x="383959" y="1949310"/>
                  </a:lnTo>
                  <a:lnTo>
                    <a:pt x="381520" y="1950529"/>
                  </a:lnTo>
                  <a:lnTo>
                    <a:pt x="380301" y="1952980"/>
                  </a:lnTo>
                  <a:lnTo>
                    <a:pt x="380301" y="2017547"/>
                  </a:lnTo>
                  <a:lnTo>
                    <a:pt x="381520" y="2019998"/>
                  </a:lnTo>
                  <a:lnTo>
                    <a:pt x="383959" y="2021217"/>
                  </a:lnTo>
                  <a:lnTo>
                    <a:pt x="386397" y="2019998"/>
                  </a:lnTo>
                  <a:lnTo>
                    <a:pt x="387616" y="2017547"/>
                  </a:lnTo>
                  <a:lnTo>
                    <a:pt x="387616" y="1952980"/>
                  </a:lnTo>
                  <a:close/>
                </a:path>
                <a:path w="3858895" h="3171190">
                  <a:moveTo>
                    <a:pt x="625297" y="2576322"/>
                  </a:moveTo>
                  <a:lnTo>
                    <a:pt x="624662" y="2576322"/>
                  </a:lnTo>
                  <a:lnTo>
                    <a:pt x="624662" y="2575052"/>
                  </a:lnTo>
                  <a:lnTo>
                    <a:pt x="623824" y="2575052"/>
                  </a:lnTo>
                  <a:lnTo>
                    <a:pt x="623824" y="2573782"/>
                  </a:lnTo>
                  <a:lnTo>
                    <a:pt x="619455" y="2573782"/>
                  </a:lnTo>
                  <a:lnTo>
                    <a:pt x="619455" y="2575052"/>
                  </a:lnTo>
                  <a:lnTo>
                    <a:pt x="618617" y="2575052"/>
                  </a:lnTo>
                  <a:lnTo>
                    <a:pt x="618617" y="2576322"/>
                  </a:lnTo>
                  <a:lnTo>
                    <a:pt x="617982" y="2576322"/>
                  </a:lnTo>
                  <a:lnTo>
                    <a:pt x="617982" y="3124123"/>
                  </a:lnTo>
                  <a:lnTo>
                    <a:pt x="618604" y="3124123"/>
                  </a:lnTo>
                  <a:lnTo>
                    <a:pt x="618604" y="3126663"/>
                  </a:lnTo>
                  <a:lnTo>
                    <a:pt x="620610" y="3126663"/>
                  </a:lnTo>
                  <a:lnTo>
                    <a:pt x="620610" y="3127933"/>
                  </a:lnTo>
                  <a:lnTo>
                    <a:pt x="622668" y="3127933"/>
                  </a:lnTo>
                  <a:lnTo>
                    <a:pt x="622668" y="3126663"/>
                  </a:lnTo>
                  <a:lnTo>
                    <a:pt x="624674" y="3126663"/>
                  </a:lnTo>
                  <a:lnTo>
                    <a:pt x="624674" y="3124123"/>
                  </a:lnTo>
                  <a:lnTo>
                    <a:pt x="625297" y="3124123"/>
                  </a:lnTo>
                  <a:lnTo>
                    <a:pt x="625297" y="2576322"/>
                  </a:lnTo>
                  <a:close/>
                </a:path>
                <a:path w="3858895" h="3171190">
                  <a:moveTo>
                    <a:pt x="736206" y="1252194"/>
                  </a:moveTo>
                  <a:lnTo>
                    <a:pt x="0" y="1252194"/>
                  </a:lnTo>
                  <a:lnTo>
                    <a:pt x="0" y="1259509"/>
                  </a:lnTo>
                  <a:lnTo>
                    <a:pt x="736206" y="1259509"/>
                  </a:lnTo>
                  <a:lnTo>
                    <a:pt x="736206" y="1252194"/>
                  </a:lnTo>
                  <a:close/>
                </a:path>
                <a:path w="3858895" h="3171190">
                  <a:moveTo>
                    <a:pt x="866660" y="2853398"/>
                  </a:moveTo>
                  <a:lnTo>
                    <a:pt x="859993" y="2853398"/>
                  </a:lnTo>
                  <a:lnTo>
                    <a:pt x="859993" y="2857208"/>
                  </a:lnTo>
                  <a:lnTo>
                    <a:pt x="859332" y="2857208"/>
                  </a:lnTo>
                  <a:lnTo>
                    <a:pt x="859332" y="3168599"/>
                  </a:lnTo>
                  <a:lnTo>
                    <a:pt x="859929" y="3168599"/>
                  </a:lnTo>
                  <a:lnTo>
                    <a:pt x="859929" y="3169869"/>
                  </a:lnTo>
                  <a:lnTo>
                    <a:pt x="860602" y="3169869"/>
                  </a:lnTo>
                  <a:lnTo>
                    <a:pt x="860602" y="3171152"/>
                  </a:lnTo>
                  <a:lnTo>
                    <a:pt x="866584" y="3171152"/>
                  </a:lnTo>
                  <a:lnTo>
                    <a:pt x="866584" y="3169869"/>
                  </a:lnTo>
                  <a:lnTo>
                    <a:pt x="866660" y="3168599"/>
                  </a:lnTo>
                  <a:lnTo>
                    <a:pt x="866660" y="2857208"/>
                  </a:lnTo>
                  <a:lnTo>
                    <a:pt x="866660" y="2853398"/>
                  </a:lnTo>
                  <a:close/>
                </a:path>
                <a:path w="3858895" h="3171190">
                  <a:moveTo>
                    <a:pt x="1270787" y="3058033"/>
                  </a:moveTo>
                  <a:lnTo>
                    <a:pt x="1270520" y="3058033"/>
                  </a:lnTo>
                  <a:lnTo>
                    <a:pt x="1270520" y="3055480"/>
                  </a:lnTo>
                  <a:lnTo>
                    <a:pt x="1267993" y="3055480"/>
                  </a:lnTo>
                  <a:lnTo>
                    <a:pt x="1267993" y="3054210"/>
                  </a:lnTo>
                  <a:lnTo>
                    <a:pt x="1044270" y="3054210"/>
                  </a:lnTo>
                  <a:lnTo>
                    <a:pt x="1044270" y="3055480"/>
                  </a:lnTo>
                  <a:lnTo>
                    <a:pt x="1041742" y="3055480"/>
                  </a:lnTo>
                  <a:lnTo>
                    <a:pt x="1041742" y="3058033"/>
                  </a:lnTo>
                  <a:lnTo>
                    <a:pt x="1041476" y="3058033"/>
                  </a:lnTo>
                  <a:lnTo>
                    <a:pt x="1041476" y="3061843"/>
                  </a:lnTo>
                  <a:lnTo>
                    <a:pt x="1270787" y="3061843"/>
                  </a:lnTo>
                  <a:lnTo>
                    <a:pt x="1270787" y="3058033"/>
                  </a:lnTo>
                  <a:close/>
                </a:path>
                <a:path w="3858895" h="3171190">
                  <a:moveTo>
                    <a:pt x="1270901" y="1128649"/>
                  </a:moveTo>
                  <a:lnTo>
                    <a:pt x="1270444" y="1128649"/>
                  </a:lnTo>
                  <a:lnTo>
                    <a:pt x="1270444" y="1126109"/>
                  </a:lnTo>
                  <a:lnTo>
                    <a:pt x="1267675" y="1126109"/>
                  </a:lnTo>
                  <a:lnTo>
                    <a:pt x="1267675" y="1124839"/>
                  </a:lnTo>
                  <a:lnTo>
                    <a:pt x="901979" y="1124839"/>
                  </a:lnTo>
                  <a:lnTo>
                    <a:pt x="901979" y="1126109"/>
                  </a:lnTo>
                  <a:lnTo>
                    <a:pt x="899198" y="1126109"/>
                  </a:lnTo>
                  <a:lnTo>
                    <a:pt x="899198" y="1128649"/>
                  </a:lnTo>
                  <a:lnTo>
                    <a:pt x="898753" y="1128649"/>
                  </a:lnTo>
                  <a:lnTo>
                    <a:pt x="898753" y="1131189"/>
                  </a:lnTo>
                  <a:lnTo>
                    <a:pt x="900150" y="1131189"/>
                  </a:lnTo>
                  <a:lnTo>
                    <a:pt x="900150" y="1132459"/>
                  </a:lnTo>
                  <a:lnTo>
                    <a:pt x="1269492" y="1132459"/>
                  </a:lnTo>
                  <a:lnTo>
                    <a:pt x="1269492" y="1131189"/>
                  </a:lnTo>
                  <a:lnTo>
                    <a:pt x="1270901" y="1131189"/>
                  </a:lnTo>
                  <a:lnTo>
                    <a:pt x="1270901" y="1128649"/>
                  </a:lnTo>
                  <a:close/>
                </a:path>
                <a:path w="3858895" h="3171190">
                  <a:moveTo>
                    <a:pt x="1986838" y="1129080"/>
                  </a:moveTo>
                  <a:lnTo>
                    <a:pt x="1985619" y="1126693"/>
                  </a:lnTo>
                  <a:lnTo>
                    <a:pt x="1983168" y="1125461"/>
                  </a:lnTo>
                  <a:lnTo>
                    <a:pt x="1922208" y="1125461"/>
                  </a:lnTo>
                  <a:lnTo>
                    <a:pt x="1919770" y="1126693"/>
                  </a:lnTo>
                  <a:lnTo>
                    <a:pt x="1918550" y="1129080"/>
                  </a:lnTo>
                  <a:lnTo>
                    <a:pt x="1919770" y="1131531"/>
                  </a:lnTo>
                  <a:lnTo>
                    <a:pt x="1922208" y="1132751"/>
                  </a:lnTo>
                  <a:lnTo>
                    <a:pt x="1983168" y="1132751"/>
                  </a:lnTo>
                  <a:lnTo>
                    <a:pt x="1985619" y="1131531"/>
                  </a:lnTo>
                  <a:lnTo>
                    <a:pt x="1986838" y="1129080"/>
                  </a:lnTo>
                  <a:close/>
                </a:path>
                <a:path w="3858895" h="3171190">
                  <a:moveTo>
                    <a:pt x="2167229" y="1168057"/>
                  </a:moveTo>
                  <a:lnTo>
                    <a:pt x="2166569" y="1168057"/>
                  </a:lnTo>
                  <a:lnTo>
                    <a:pt x="2166569" y="1165517"/>
                  </a:lnTo>
                  <a:lnTo>
                    <a:pt x="2164461" y="1165517"/>
                  </a:lnTo>
                  <a:lnTo>
                    <a:pt x="2164461" y="1164234"/>
                  </a:lnTo>
                  <a:lnTo>
                    <a:pt x="2162670" y="1164234"/>
                  </a:lnTo>
                  <a:lnTo>
                    <a:pt x="2162670" y="1165517"/>
                  </a:lnTo>
                  <a:lnTo>
                    <a:pt x="2160562" y="1165517"/>
                  </a:lnTo>
                  <a:lnTo>
                    <a:pt x="2160562" y="1168057"/>
                  </a:lnTo>
                  <a:lnTo>
                    <a:pt x="2159901" y="1168057"/>
                  </a:lnTo>
                  <a:lnTo>
                    <a:pt x="2159901" y="1361249"/>
                  </a:lnTo>
                  <a:lnTo>
                    <a:pt x="2160232" y="1361249"/>
                  </a:lnTo>
                  <a:lnTo>
                    <a:pt x="2160232" y="1363789"/>
                  </a:lnTo>
                  <a:lnTo>
                    <a:pt x="2161336" y="1363789"/>
                  </a:lnTo>
                  <a:lnTo>
                    <a:pt x="2161336" y="1365059"/>
                  </a:lnTo>
                  <a:lnTo>
                    <a:pt x="2165794" y="1365059"/>
                  </a:lnTo>
                  <a:lnTo>
                    <a:pt x="2165794" y="1363789"/>
                  </a:lnTo>
                  <a:lnTo>
                    <a:pt x="2166899" y="1363789"/>
                  </a:lnTo>
                  <a:lnTo>
                    <a:pt x="2166899" y="1361249"/>
                  </a:lnTo>
                  <a:lnTo>
                    <a:pt x="2167229" y="1361249"/>
                  </a:lnTo>
                  <a:lnTo>
                    <a:pt x="2167229" y="1168057"/>
                  </a:lnTo>
                  <a:close/>
                </a:path>
                <a:path w="3858895" h="3171190">
                  <a:moveTo>
                    <a:pt x="2309838" y="1168057"/>
                  </a:moveTo>
                  <a:lnTo>
                    <a:pt x="2309190" y="1168057"/>
                  </a:lnTo>
                  <a:lnTo>
                    <a:pt x="2309190" y="1165517"/>
                  </a:lnTo>
                  <a:lnTo>
                    <a:pt x="2307082" y="1165517"/>
                  </a:lnTo>
                  <a:lnTo>
                    <a:pt x="2307082" y="1164234"/>
                  </a:lnTo>
                  <a:lnTo>
                    <a:pt x="2305278" y="1164234"/>
                  </a:lnTo>
                  <a:lnTo>
                    <a:pt x="2305278" y="1165517"/>
                  </a:lnTo>
                  <a:lnTo>
                    <a:pt x="2303170" y="1165517"/>
                  </a:lnTo>
                  <a:lnTo>
                    <a:pt x="2303170" y="1168057"/>
                  </a:lnTo>
                  <a:lnTo>
                    <a:pt x="2302522" y="1168057"/>
                  </a:lnTo>
                  <a:lnTo>
                    <a:pt x="2302522" y="1448943"/>
                  </a:lnTo>
                  <a:lnTo>
                    <a:pt x="2303107" y="1448943"/>
                  </a:lnTo>
                  <a:lnTo>
                    <a:pt x="2303107" y="1450213"/>
                  </a:lnTo>
                  <a:lnTo>
                    <a:pt x="2303767" y="1450213"/>
                  </a:lnTo>
                  <a:lnTo>
                    <a:pt x="2303767" y="1451483"/>
                  </a:lnTo>
                  <a:lnTo>
                    <a:pt x="2308593" y="1451483"/>
                  </a:lnTo>
                  <a:lnTo>
                    <a:pt x="2308593" y="1450213"/>
                  </a:lnTo>
                  <a:lnTo>
                    <a:pt x="2309253" y="1450213"/>
                  </a:lnTo>
                  <a:lnTo>
                    <a:pt x="2309253" y="1448943"/>
                  </a:lnTo>
                  <a:lnTo>
                    <a:pt x="2309838" y="1448943"/>
                  </a:lnTo>
                  <a:lnTo>
                    <a:pt x="2309838" y="1168057"/>
                  </a:lnTo>
                  <a:close/>
                </a:path>
                <a:path w="3858895" h="3171190">
                  <a:moveTo>
                    <a:pt x="2309838" y="3822"/>
                  </a:moveTo>
                  <a:lnTo>
                    <a:pt x="2309012" y="3822"/>
                  </a:lnTo>
                  <a:lnTo>
                    <a:pt x="2309012" y="1282"/>
                  </a:lnTo>
                  <a:lnTo>
                    <a:pt x="2306383" y="1282"/>
                  </a:lnTo>
                  <a:lnTo>
                    <a:pt x="2306383" y="0"/>
                  </a:lnTo>
                  <a:lnTo>
                    <a:pt x="2305989" y="0"/>
                  </a:lnTo>
                  <a:lnTo>
                    <a:pt x="2305989" y="1282"/>
                  </a:lnTo>
                  <a:lnTo>
                    <a:pt x="2303348" y="1282"/>
                  </a:lnTo>
                  <a:lnTo>
                    <a:pt x="2303348" y="3822"/>
                  </a:lnTo>
                  <a:lnTo>
                    <a:pt x="2302522" y="3822"/>
                  </a:lnTo>
                  <a:lnTo>
                    <a:pt x="2302522" y="658380"/>
                  </a:lnTo>
                  <a:lnTo>
                    <a:pt x="2303005" y="658380"/>
                  </a:lnTo>
                  <a:lnTo>
                    <a:pt x="2303005" y="660920"/>
                  </a:lnTo>
                  <a:lnTo>
                    <a:pt x="2304631" y="660920"/>
                  </a:lnTo>
                  <a:lnTo>
                    <a:pt x="2304631" y="662190"/>
                  </a:lnTo>
                  <a:lnTo>
                    <a:pt x="2307729" y="662190"/>
                  </a:lnTo>
                  <a:lnTo>
                    <a:pt x="2307729" y="660920"/>
                  </a:lnTo>
                  <a:lnTo>
                    <a:pt x="2309355" y="660920"/>
                  </a:lnTo>
                  <a:lnTo>
                    <a:pt x="2309355" y="658380"/>
                  </a:lnTo>
                  <a:lnTo>
                    <a:pt x="2309838" y="658380"/>
                  </a:lnTo>
                  <a:lnTo>
                    <a:pt x="2309838" y="3822"/>
                  </a:lnTo>
                  <a:close/>
                </a:path>
                <a:path w="3858895" h="3171190">
                  <a:moveTo>
                    <a:pt x="2452459" y="5092"/>
                  </a:moveTo>
                  <a:lnTo>
                    <a:pt x="2451709" y="5092"/>
                  </a:lnTo>
                  <a:lnTo>
                    <a:pt x="2451709" y="1282"/>
                  </a:lnTo>
                  <a:lnTo>
                    <a:pt x="2445131" y="1282"/>
                  </a:lnTo>
                  <a:lnTo>
                    <a:pt x="2445131" y="5092"/>
                  </a:lnTo>
                  <a:lnTo>
                    <a:pt x="2445131" y="663460"/>
                  </a:lnTo>
                  <a:lnTo>
                    <a:pt x="2445131" y="666013"/>
                  </a:lnTo>
                  <a:lnTo>
                    <a:pt x="2447061" y="666013"/>
                  </a:lnTo>
                  <a:lnTo>
                    <a:pt x="2447061" y="667283"/>
                  </a:lnTo>
                  <a:lnTo>
                    <a:pt x="2449957" y="667283"/>
                  </a:lnTo>
                  <a:lnTo>
                    <a:pt x="2449957" y="666013"/>
                  </a:lnTo>
                  <a:lnTo>
                    <a:pt x="2451874" y="666013"/>
                  </a:lnTo>
                  <a:lnTo>
                    <a:pt x="2451874" y="663460"/>
                  </a:lnTo>
                  <a:lnTo>
                    <a:pt x="2452459" y="663460"/>
                  </a:lnTo>
                  <a:lnTo>
                    <a:pt x="2452459" y="5092"/>
                  </a:lnTo>
                  <a:close/>
                </a:path>
                <a:path w="3858895" h="3171190">
                  <a:moveTo>
                    <a:pt x="2840685" y="986294"/>
                  </a:moveTo>
                  <a:lnTo>
                    <a:pt x="2840520" y="986294"/>
                  </a:lnTo>
                  <a:lnTo>
                    <a:pt x="2840520" y="983754"/>
                  </a:lnTo>
                  <a:lnTo>
                    <a:pt x="2838094" y="983754"/>
                  </a:lnTo>
                  <a:lnTo>
                    <a:pt x="2838094" y="982484"/>
                  </a:lnTo>
                  <a:lnTo>
                    <a:pt x="2486075" y="982484"/>
                  </a:lnTo>
                  <a:lnTo>
                    <a:pt x="2486075" y="983754"/>
                  </a:lnTo>
                  <a:lnTo>
                    <a:pt x="2483650" y="983754"/>
                  </a:lnTo>
                  <a:lnTo>
                    <a:pt x="2483650" y="986294"/>
                  </a:lnTo>
                  <a:lnTo>
                    <a:pt x="2483485" y="986294"/>
                  </a:lnTo>
                  <a:lnTo>
                    <a:pt x="2483485" y="990117"/>
                  </a:lnTo>
                  <a:lnTo>
                    <a:pt x="2840685" y="990117"/>
                  </a:lnTo>
                  <a:lnTo>
                    <a:pt x="2840685" y="986294"/>
                  </a:lnTo>
                  <a:close/>
                </a:path>
                <a:path w="3858895" h="3171190">
                  <a:moveTo>
                    <a:pt x="3440468" y="700328"/>
                  </a:moveTo>
                  <a:lnTo>
                    <a:pt x="3438868" y="700328"/>
                  </a:lnTo>
                  <a:lnTo>
                    <a:pt x="3438868" y="699058"/>
                  </a:lnTo>
                  <a:lnTo>
                    <a:pt x="2484996" y="699058"/>
                  </a:lnTo>
                  <a:lnTo>
                    <a:pt x="2484996" y="700328"/>
                  </a:lnTo>
                  <a:lnTo>
                    <a:pt x="2483396" y="700328"/>
                  </a:lnTo>
                  <a:lnTo>
                    <a:pt x="2483396" y="702868"/>
                  </a:lnTo>
                  <a:lnTo>
                    <a:pt x="2483713" y="702868"/>
                  </a:lnTo>
                  <a:lnTo>
                    <a:pt x="2483713" y="705408"/>
                  </a:lnTo>
                  <a:lnTo>
                    <a:pt x="2486291" y="705408"/>
                  </a:lnTo>
                  <a:lnTo>
                    <a:pt x="2486291" y="706678"/>
                  </a:lnTo>
                  <a:lnTo>
                    <a:pt x="3437572" y="706678"/>
                  </a:lnTo>
                  <a:lnTo>
                    <a:pt x="3437572" y="705408"/>
                  </a:lnTo>
                  <a:lnTo>
                    <a:pt x="3440150" y="705408"/>
                  </a:lnTo>
                  <a:lnTo>
                    <a:pt x="3440150" y="702868"/>
                  </a:lnTo>
                  <a:lnTo>
                    <a:pt x="3440468" y="702868"/>
                  </a:lnTo>
                  <a:lnTo>
                    <a:pt x="3440468" y="700328"/>
                  </a:lnTo>
                  <a:close/>
                </a:path>
                <a:path w="3858895" h="3171190">
                  <a:moveTo>
                    <a:pt x="3858437" y="842683"/>
                  </a:moveTo>
                  <a:lnTo>
                    <a:pt x="3856469" y="842683"/>
                  </a:lnTo>
                  <a:lnTo>
                    <a:pt x="3856469" y="841400"/>
                  </a:lnTo>
                  <a:lnTo>
                    <a:pt x="2485491" y="841400"/>
                  </a:lnTo>
                  <a:lnTo>
                    <a:pt x="2485491" y="842683"/>
                  </a:lnTo>
                  <a:lnTo>
                    <a:pt x="2483510" y="842683"/>
                  </a:lnTo>
                  <a:lnTo>
                    <a:pt x="2483510" y="845223"/>
                  </a:lnTo>
                  <a:lnTo>
                    <a:pt x="2483599" y="847763"/>
                  </a:lnTo>
                  <a:lnTo>
                    <a:pt x="2485809" y="847763"/>
                  </a:lnTo>
                  <a:lnTo>
                    <a:pt x="2485809" y="849033"/>
                  </a:lnTo>
                  <a:lnTo>
                    <a:pt x="3856139" y="849033"/>
                  </a:lnTo>
                  <a:lnTo>
                    <a:pt x="3856139" y="847763"/>
                  </a:lnTo>
                  <a:lnTo>
                    <a:pt x="3858349" y="847763"/>
                  </a:lnTo>
                  <a:lnTo>
                    <a:pt x="3858349" y="845223"/>
                  </a:lnTo>
                  <a:lnTo>
                    <a:pt x="3858437" y="842683"/>
                  </a:lnTo>
                  <a:close/>
                </a:path>
              </a:pathLst>
            </a:custGeom>
            <a:solidFill>
              <a:srgbClr val="929599"/>
            </a:solidFill>
          </p:spPr>
          <p:txBody>
            <a:bodyPr wrap="square" lIns="0" tIns="0" rIns="0" bIns="0" rtlCol="0"/>
            <a:lstStyle/>
            <a:p>
              <a:endParaRPr/>
            </a:p>
          </p:txBody>
        </p:sp>
        <p:pic>
          <p:nvPicPr>
            <p:cNvPr id="114" name="object 114"/>
            <p:cNvPicPr/>
            <p:nvPr/>
          </p:nvPicPr>
          <p:blipFill>
            <a:blip r:embed="rId84" cstate="print"/>
            <a:stretch>
              <a:fillRect/>
            </a:stretch>
          </p:blipFill>
          <p:spPr>
            <a:xfrm>
              <a:off x="2836736" y="985099"/>
              <a:ext cx="130462" cy="131596"/>
            </a:xfrm>
            <a:prstGeom prst="rect">
              <a:avLst/>
            </a:prstGeom>
          </p:spPr>
        </p:pic>
        <p:pic>
          <p:nvPicPr>
            <p:cNvPr id="115" name="object 115"/>
            <p:cNvPicPr/>
            <p:nvPr/>
          </p:nvPicPr>
          <p:blipFill>
            <a:blip r:embed="rId85" cstate="print"/>
            <a:stretch>
              <a:fillRect/>
            </a:stretch>
          </p:blipFill>
          <p:spPr>
            <a:xfrm>
              <a:off x="5866944" y="4118429"/>
              <a:ext cx="84095" cy="85302"/>
            </a:xfrm>
            <a:prstGeom prst="rect">
              <a:avLst/>
            </a:prstGeom>
          </p:spPr>
        </p:pic>
        <p:pic>
          <p:nvPicPr>
            <p:cNvPr id="116" name="object 116"/>
            <p:cNvPicPr/>
            <p:nvPr/>
          </p:nvPicPr>
          <p:blipFill>
            <a:blip r:embed="rId86" cstate="print"/>
            <a:stretch>
              <a:fillRect/>
            </a:stretch>
          </p:blipFill>
          <p:spPr>
            <a:xfrm>
              <a:off x="6374005" y="3977056"/>
              <a:ext cx="84095" cy="84129"/>
            </a:xfrm>
            <a:prstGeom prst="rect">
              <a:avLst/>
            </a:prstGeom>
          </p:spPr>
        </p:pic>
        <p:pic>
          <p:nvPicPr>
            <p:cNvPr id="117" name="object 117"/>
            <p:cNvPicPr/>
            <p:nvPr/>
          </p:nvPicPr>
          <p:blipFill>
            <a:blip r:embed="rId87" cstate="print"/>
            <a:stretch>
              <a:fillRect/>
            </a:stretch>
          </p:blipFill>
          <p:spPr>
            <a:xfrm>
              <a:off x="5344022" y="4261025"/>
              <a:ext cx="85364" cy="84080"/>
            </a:xfrm>
            <a:prstGeom prst="rect">
              <a:avLst/>
            </a:prstGeom>
          </p:spPr>
        </p:pic>
        <p:pic>
          <p:nvPicPr>
            <p:cNvPr id="118" name="object 118"/>
            <p:cNvPicPr/>
            <p:nvPr/>
          </p:nvPicPr>
          <p:blipFill>
            <a:blip r:embed="rId88" cstate="print"/>
            <a:stretch>
              <a:fillRect/>
            </a:stretch>
          </p:blipFill>
          <p:spPr>
            <a:xfrm>
              <a:off x="0" y="0"/>
              <a:ext cx="12191999" cy="6857997"/>
            </a:xfrm>
            <a:prstGeom prst="rect">
              <a:avLst/>
            </a:prstGeom>
          </p:spPr>
        </p:pic>
        <p:sp>
          <p:nvSpPr>
            <p:cNvPr id="119" name="object 119"/>
            <p:cNvSpPr/>
            <p:nvPr/>
          </p:nvSpPr>
          <p:spPr>
            <a:xfrm>
              <a:off x="9278111" y="3956304"/>
              <a:ext cx="1076325" cy="1077595"/>
            </a:xfrm>
            <a:custGeom>
              <a:avLst/>
              <a:gdLst/>
              <a:ahLst/>
              <a:cxnLst/>
              <a:rect l="l" t="t" r="r" b="b"/>
              <a:pathLst>
                <a:path w="1076325" h="1077595">
                  <a:moveTo>
                    <a:pt x="538480" y="0"/>
                  </a:moveTo>
                  <a:lnTo>
                    <a:pt x="483489" y="2159"/>
                  </a:lnTo>
                  <a:lnTo>
                    <a:pt x="429514" y="10541"/>
                  </a:lnTo>
                  <a:lnTo>
                    <a:pt x="378714" y="24384"/>
                  </a:lnTo>
                  <a:lnTo>
                    <a:pt x="329057" y="42418"/>
                  </a:lnTo>
                  <a:lnTo>
                    <a:pt x="304673" y="53975"/>
                  </a:lnTo>
                  <a:lnTo>
                    <a:pt x="281432" y="64643"/>
                  </a:lnTo>
                  <a:lnTo>
                    <a:pt x="259207" y="78359"/>
                  </a:lnTo>
                  <a:lnTo>
                    <a:pt x="236982" y="91059"/>
                  </a:lnTo>
                  <a:lnTo>
                    <a:pt x="216916" y="107061"/>
                  </a:lnTo>
                  <a:lnTo>
                    <a:pt x="176657" y="139827"/>
                  </a:lnTo>
                  <a:lnTo>
                    <a:pt x="139700" y="176911"/>
                  </a:lnTo>
                  <a:lnTo>
                    <a:pt x="106807" y="216154"/>
                  </a:lnTo>
                  <a:lnTo>
                    <a:pt x="78232" y="259588"/>
                  </a:lnTo>
                  <a:lnTo>
                    <a:pt x="52959" y="305181"/>
                  </a:lnTo>
                  <a:lnTo>
                    <a:pt x="32766" y="353822"/>
                  </a:lnTo>
                  <a:lnTo>
                    <a:pt x="16891" y="403606"/>
                  </a:lnTo>
                  <a:lnTo>
                    <a:pt x="6350" y="456565"/>
                  </a:lnTo>
                  <a:lnTo>
                    <a:pt x="1016" y="511683"/>
                  </a:lnTo>
                  <a:lnTo>
                    <a:pt x="0" y="539242"/>
                  </a:lnTo>
                  <a:lnTo>
                    <a:pt x="1016" y="566801"/>
                  </a:lnTo>
                  <a:lnTo>
                    <a:pt x="6350" y="620903"/>
                  </a:lnTo>
                  <a:lnTo>
                    <a:pt x="16891" y="673862"/>
                  </a:lnTo>
                  <a:lnTo>
                    <a:pt x="32766" y="724662"/>
                  </a:lnTo>
                  <a:lnTo>
                    <a:pt x="52959" y="772287"/>
                  </a:lnTo>
                  <a:lnTo>
                    <a:pt x="78232" y="819023"/>
                  </a:lnTo>
                  <a:lnTo>
                    <a:pt x="106807" y="861314"/>
                  </a:lnTo>
                  <a:lnTo>
                    <a:pt x="139700" y="901573"/>
                  </a:lnTo>
                  <a:lnTo>
                    <a:pt x="176657" y="938657"/>
                  </a:lnTo>
                  <a:lnTo>
                    <a:pt x="216916" y="971550"/>
                  </a:lnTo>
                  <a:lnTo>
                    <a:pt x="259207" y="1000125"/>
                  </a:lnTo>
                  <a:lnTo>
                    <a:pt x="304673" y="1025525"/>
                  </a:lnTo>
                  <a:lnTo>
                    <a:pt x="353314" y="1045718"/>
                  </a:lnTo>
                  <a:lnTo>
                    <a:pt x="378714" y="1053084"/>
                  </a:lnTo>
                  <a:lnTo>
                    <a:pt x="403098" y="1060577"/>
                  </a:lnTo>
                  <a:lnTo>
                    <a:pt x="429514" y="1066927"/>
                  </a:lnTo>
                  <a:lnTo>
                    <a:pt x="457073" y="1072134"/>
                  </a:lnTo>
                  <a:lnTo>
                    <a:pt x="483489" y="1075309"/>
                  </a:lnTo>
                  <a:lnTo>
                    <a:pt x="509905" y="1077468"/>
                  </a:lnTo>
                  <a:lnTo>
                    <a:pt x="566039" y="1077468"/>
                  </a:lnTo>
                  <a:lnTo>
                    <a:pt x="620014" y="1072134"/>
                  </a:lnTo>
                  <a:lnTo>
                    <a:pt x="672846" y="1060577"/>
                  </a:lnTo>
                  <a:lnTo>
                    <a:pt x="723646" y="1045718"/>
                  </a:lnTo>
                  <a:lnTo>
                    <a:pt x="771271" y="1025525"/>
                  </a:lnTo>
                  <a:lnTo>
                    <a:pt x="817753" y="1000125"/>
                  </a:lnTo>
                  <a:lnTo>
                    <a:pt x="860171" y="971550"/>
                  </a:lnTo>
                  <a:lnTo>
                    <a:pt x="880237" y="954532"/>
                  </a:lnTo>
                  <a:lnTo>
                    <a:pt x="900303" y="938657"/>
                  </a:lnTo>
                  <a:lnTo>
                    <a:pt x="954278" y="882523"/>
                  </a:lnTo>
                  <a:lnTo>
                    <a:pt x="983869" y="841248"/>
                  </a:lnTo>
                  <a:lnTo>
                    <a:pt x="1011428" y="795655"/>
                  </a:lnTo>
                  <a:lnTo>
                    <a:pt x="1022985" y="772287"/>
                  </a:lnTo>
                  <a:lnTo>
                    <a:pt x="1034669" y="749046"/>
                  </a:lnTo>
                  <a:lnTo>
                    <a:pt x="1052703" y="699262"/>
                  </a:lnTo>
                  <a:lnTo>
                    <a:pt x="1065403" y="648335"/>
                  </a:lnTo>
                  <a:lnTo>
                    <a:pt x="1072769" y="594360"/>
                  </a:lnTo>
                  <a:lnTo>
                    <a:pt x="1075944" y="566801"/>
                  </a:lnTo>
                  <a:lnTo>
                    <a:pt x="1075944" y="511683"/>
                  </a:lnTo>
                  <a:lnTo>
                    <a:pt x="1069594" y="456565"/>
                  </a:lnTo>
                  <a:lnTo>
                    <a:pt x="1060069" y="403606"/>
                  </a:lnTo>
                  <a:lnTo>
                    <a:pt x="1044194" y="353822"/>
                  </a:lnTo>
                  <a:lnTo>
                    <a:pt x="1022985" y="305181"/>
                  </a:lnTo>
                  <a:lnTo>
                    <a:pt x="998728" y="259588"/>
                  </a:lnTo>
                  <a:lnTo>
                    <a:pt x="983869" y="238379"/>
                  </a:lnTo>
                  <a:lnTo>
                    <a:pt x="970153" y="216154"/>
                  </a:lnTo>
                  <a:lnTo>
                    <a:pt x="918337" y="157861"/>
                  </a:lnTo>
                  <a:lnTo>
                    <a:pt x="880237" y="122936"/>
                  </a:lnTo>
                  <a:lnTo>
                    <a:pt x="838962" y="91059"/>
                  </a:lnTo>
                  <a:lnTo>
                    <a:pt x="794512" y="64643"/>
                  </a:lnTo>
                  <a:lnTo>
                    <a:pt x="771271" y="53975"/>
                  </a:lnTo>
                  <a:lnTo>
                    <a:pt x="748030" y="42418"/>
                  </a:lnTo>
                  <a:lnTo>
                    <a:pt x="698246" y="24384"/>
                  </a:lnTo>
                  <a:lnTo>
                    <a:pt x="646430" y="10541"/>
                  </a:lnTo>
                  <a:lnTo>
                    <a:pt x="593471" y="2159"/>
                  </a:lnTo>
                  <a:lnTo>
                    <a:pt x="538480" y="0"/>
                  </a:lnTo>
                  <a:close/>
                </a:path>
              </a:pathLst>
            </a:custGeom>
            <a:solidFill>
              <a:srgbClr val="48CFAD"/>
            </a:solidFill>
          </p:spPr>
          <p:txBody>
            <a:bodyPr wrap="square" lIns="0" tIns="0" rIns="0" bIns="0" rtlCol="0"/>
            <a:lstStyle/>
            <a:p>
              <a:endParaRPr/>
            </a:p>
          </p:txBody>
        </p:sp>
        <p:sp>
          <p:nvSpPr>
            <p:cNvPr id="120" name="object 120"/>
            <p:cNvSpPr/>
            <p:nvPr/>
          </p:nvSpPr>
          <p:spPr>
            <a:xfrm>
              <a:off x="9433559" y="4219955"/>
              <a:ext cx="767080" cy="481965"/>
            </a:xfrm>
            <a:custGeom>
              <a:avLst/>
              <a:gdLst/>
              <a:ahLst/>
              <a:cxnLst/>
              <a:rect l="l" t="t" r="r" b="b"/>
              <a:pathLst>
                <a:path w="767079" h="481964">
                  <a:moveTo>
                    <a:pt x="201675" y="331978"/>
                  </a:moveTo>
                  <a:lnTo>
                    <a:pt x="15875" y="331978"/>
                  </a:lnTo>
                  <a:lnTo>
                    <a:pt x="9525" y="333121"/>
                  </a:lnTo>
                  <a:lnTo>
                    <a:pt x="4191" y="337312"/>
                  </a:lnTo>
                  <a:lnTo>
                    <a:pt x="1016" y="342646"/>
                  </a:lnTo>
                  <a:lnTo>
                    <a:pt x="0" y="347980"/>
                  </a:lnTo>
                  <a:lnTo>
                    <a:pt x="0" y="465709"/>
                  </a:lnTo>
                  <a:lnTo>
                    <a:pt x="1016" y="472059"/>
                  </a:lnTo>
                  <a:lnTo>
                    <a:pt x="4191" y="476250"/>
                  </a:lnTo>
                  <a:lnTo>
                    <a:pt x="9525" y="480568"/>
                  </a:lnTo>
                  <a:lnTo>
                    <a:pt x="15875" y="481584"/>
                  </a:lnTo>
                  <a:lnTo>
                    <a:pt x="201675" y="481584"/>
                  </a:lnTo>
                  <a:lnTo>
                    <a:pt x="208025" y="480568"/>
                  </a:lnTo>
                  <a:lnTo>
                    <a:pt x="213233" y="476250"/>
                  </a:lnTo>
                  <a:lnTo>
                    <a:pt x="216408" y="472059"/>
                  </a:lnTo>
                  <a:lnTo>
                    <a:pt x="217185" y="467741"/>
                  </a:lnTo>
                  <a:lnTo>
                    <a:pt x="15875" y="467741"/>
                  </a:lnTo>
                  <a:lnTo>
                    <a:pt x="13716" y="466725"/>
                  </a:lnTo>
                  <a:lnTo>
                    <a:pt x="13716" y="346837"/>
                  </a:lnTo>
                  <a:lnTo>
                    <a:pt x="15875" y="345821"/>
                  </a:lnTo>
                  <a:lnTo>
                    <a:pt x="217088" y="345821"/>
                  </a:lnTo>
                  <a:lnTo>
                    <a:pt x="216408" y="342646"/>
                  </a:lnTo>
                  <a:lnTo>
                    <a:pt x="213233" y="337312"/>
                  </a:lnTo>
                  <a:lnTo>
                    <a:pt x="208025" y="333121"/>
                  </a:lnTo>
                  <a:lnTo>
                    <a:pt x="201675" y="331978"/>
                  </a:lnTo>
                  <a:close/>
                </a:path>
                <a:path w="767079" h="481964">
                  <a:moveTo>
                    <a:pt x="477266" y="331978"/>
                  </a:moveTo>
                  <a:lnTo>
                    <a:pt x="289306" y="331978"/>
                  </a:lnTo>
                  <a:lnTo>
                    <a:pt x="282956" y="333121"/>
                  </a:lnTo>
                  <a:lnTo>
                    <a:pt x="278765" y="337312"/>
                  </a:lnTo>
                  <a:lnTo>
                    <a:pt x="274574" y="342646"/>
                  </a:lnTo>
                  <a:lnTo>
                    <a:pt x="273431" y="347980"/>
                  </a:lnTo>
                  <a:lnTo>
                    <a:pt x="273431" y="465709"/>
                  </a:lnTo>
                  <a:lnTo>
                    <a:pt x="274574" y="472059"/>
                  </a:lnTo>
                  <a:lnTo>
                    <a:pt x="278765" y="476250"/>
                  </a:lnTo>
                  <a:lnTo>
                    <a:pt x="282956" y="480568"/>
                  </a:lnTo>
                  <a:lnTo>
                    <a:pt x="289306" y="481584"/>
                  </a:lnTo>
                  <a:lnTo>
                    <a:pt x="477266" y="481584"/>
                  </a:lnTo>
                  <a:lnTo>
                    <a:pt x="482600" y="480568"/>
                  </a:lnTo>
                  <a:lnTo>
                    <a:pt x="487807" y="476250"/>
                  </a:lnTo>
                  <a:lnTo>
                    <a:pt x="490982" y="472059"/>
                  </a:lnTo>
                  <a:lnTo>
                    <a:pt x="491672" y="467741"/>
                  </a:lnTo>
                  <a:lnTo>
                    <a:pt x="289306" y="467741"/>
                  </a:lnTo>
                  <a:lnTo>
                    <a:pt x="288290" y="466725"/>
                  </a:lnTo>
                  <a:lnTo>
                    <a:pt x="287147" y="465709"/>
                  </a:lnTo>
                  <a:lnTo>
                    <a:pt x="287147" y="347980"/>
                  </a:lnTo>
                  <a:lnTo>
                    <a:pt x="289306" y="345821"/>
                  </a:lnTo>
                  <a:lnTo>
                    <a:pt x="491586" y="345821"/>
                  </a:lnTo>
                  <a:lnTo>
                    <a:pt x="490982" y="342646"/>
                  </a:lnTo>
                  <a:lnTo>
                    <a:pt x="487807" y="337312"/>
                  </a:lnTo>
                  <a:lnTo>
                    <a:pt x="482600" y="333121"/>
                  </a:lnTo>
                  <a:lnTo>
                    <a:pt x="477266" y="331978"/>
                  </a:lnTo>
                  <a:close/>
                </a:path>
                <a:path w="767079" h="481964">
                  <a:moveTo>
                    <a:pt x="750697" y="331978"/>
                  </a:moveTo>
                  <a:lnTo>
                    <a:pt x="563880" y="331978"/>
                  </a:lnTo>
                  <a:lnTo>
                    <a:pt x="558546" y="333121"/>
                  </a:lnTo>
                  <a:lnTo>
                    <a:pt x="552196" y="337312"/>
                  </a:lnTo>
                  <a:lnTo>
                    <a:pt x="550164" y="342646"/>
                  </a:lnTo>
                  <a:lnTo>
                    <a:pt x="548005" y="347980"/>
                  </a:lnTo>
                  <a:lnTo>
                    <a:pt x="548005" y="465709"/>
                  </a:lnTo>
                  <a:lnTo>
                    <a:pt x="550164" y="472059"/>
                  </a:lnTo>
                  <a:lnTo>
                    <a:pt x="552196" y="476250"/>
                  </a:lnTo>
                  <a:lnTo>
                    <a:pt x="558546" y="480568"/>
                  </a:lnTo>
                  <a:lnTo>
                    <a:pt x="563880" y="481584"/>
                  </a:lnTo>
                  <a:lnTo>
                    <a:pt x="750697" y="481584"/>
                  </a:lnTo>
                  <a:lnTo>
                    <a:pt x="756031" y="480568"/>
                  </a:lnTo>
                  <a:lnTo>
                    <a:pt x="761238" y="476250"/>
                  </a:lnTo>
                  <a:lnTo>
                    <a:pt x="764413" y="472059"/>
                  </a:lnTo>
                  <a:lnTo>
                    <a:pt x="765881" y="467741"/>
                  </a:lnTo>
                  <a:lnTo>
                    <a:pt x="563880" y="467741"/>
                  </a:lnTo>
                  <a:lnTo>
                    <a:pt x="561721" y="466725"/>
                  </a:lnTo>
                  <a:lnTo>
                    <a:pt x="561721" y="346837"/>
                  </a:lnTo>
                  <a:lnTo>
                    <a:pt x="563880" y="345821"/>
                  </a:lnTo>
                  <a:lnTo>
                    <a:pt x="765698" y="345821"/>
                  </a:lnTo>
                  <a:lnTo>
                    <a:pt x="764413" y="342646"/>
                  </a:lnTo>
                  <a:lnTo>
                    <a:pt x="761238" y="337312"/>
                  </a:lnTo>
                  <a:lnTo>
                    <a:pt x="756031" y="333121"/>
                  </a:lnTo>
                  <a:lnTo>
                    <a:pt x="750697" y="331978"/>
                  </a:lnTo>
                  <a:close/>
                </a:path>
                <a:path w="767079" h="481964">
                  <a:moveTo>
                    <a:pt x="217088" y="345821"/>
                  </a:moveTo>
                  <a:lnTo>
                    <a:pt x="201675" y="345821"/>
                  </a:lnTo>
                  <a:lnTo>
                    <a:pt x="202692" y="346837"/>
                  </a:lnTo>
                  <a:lnTo>
                    <a:pt x="204850" y="347980"/>
                  </a:lnTo>
                  <a:lnTo>
                    <a:pt x="204850" y="465709"/>
                  </a:lnTo>
                  <a:lnTo>
                    <a:pt x="202692" y="466725"/>
                  </a:lnTo>
                  <a:lnTo>
                    <a:pt x="201675" y="467741"/>
                  </a:lnTo>
                  <a:lnTo>
                    <a:pt x="217185" y="467741"/>
                  </a:lnTo>
                  <a:lnTo>
                    <a:pt x="217550" y="465709"/>
                  </a:lnTo>
                  <a:lnTo>
                    <a:pt x="217550" y="347980"/>
                  </a:lnTo>
                  <a:lnTo>
                    <a:pt x="217088" y="345821"/>
                  </a:lnTo>
                  <a:close/>
                </a:path>
                <a:path w="767079" h="481964">
                  <a:moveTo>
                    <a:pt x="491586" y="345821"/>
                  </a:moveTo>
                  <a:lnTo>
                    <a:pt x="477266" y="345821"/>
                  </a:lnTo>
                  <a:lnTo>
                    <a:pt x="478282" y="346837"/>
                  </a:lnTo>
                  <a:lnTo>
                    <a:pt x="478282" y="466725"/>
                  </a:lnTo>
                  <a:lnTo>
                    <a:pt x="477266" y="467741"/>
                  </a:lnTo>
                  <a:lnTo>
                    <a:pt x="491672" y="467741"/>
                  </a:lnTo>
                  <a:lnTo>
                    <a:pt x="491998" y="465709"/>
                  </a:lnTo>
                  <a:lnTo>
                    <a:pt x="491998" y="347980"/>
                  </a:lnTo>
                  <a:lnTo>
                    <a:pt x="491586" y="345821"/>
                  </a:lnTo>
                  <a:close/>
                </a:path>
                <a:path w="767079" h="481964">
                  <a:moveTo>
                    <a:pt x="765698" y="345821"/>
                  </a:moveTo>
                  <a:lnTo>
                    <a:pt x="750697" y="345821"/>
                  </a:lnTo>
                  <a:lnTo>
                    <a:pt x="751840" y="346837"/>
                  </a:lnTo>
                  <a:lnTo>
                    <a:pt x="752856" y="347980"/>
                  </a:lnTo>
                  <a:lnTo>
                    <a:pt x="752856" y="465709"/>
                  </a:lnTo>
                  <a:lnTo>
                    <a:pt x="751840" y="466725"/>
                  </a:lnTo>
                  <a:lnTo>
                    <a:pt x="750697" y="467741"/>
                  </a:lnTo>
                  <a:lnTo>
                    <a:pt x="765881" y="467741"/>
                  </a:lnTo>
                  <a:lnTo>
                    <a:pt x="766572" y="465709"/>
                  </a:lnTo>
                  <a:lnTo>
                    <a:pt x="766572" y="347980"/>
                  </a:lnTo>
                  <a:lnTo>
                    <a:pt x="765698" y="345821"/>
                  </a:lnTo>
                  <a:close/>
                </a:path>
                <a:path w="767079" h="481964">
                  <a:moveTo>
                    <a:pt x="664210" y="236601"/>
                  </a:moveTo>
                  <a:lnTo>
                    <a:pt x="102362" y="236601"/>
                  </a:lnTo>
                  <a:lnTo>
                    <a:pt x="102362" y="331978"/>
                  </a:lnTo>
                  <a:lnTo>
                    <a:pt x="115062" y="331978"/>
                  </a:lnTo>
                  <a:lnTo>
                    <a:pt x="115062" y="250317"/>
                  </a:lnTo>
                  <a:lnTo>
                    <a:pt x="664210" y="250317"/>
                  </a:lnTo>
                  <a:lnTo>
                    <a:pt x="664210" y="236601"/>
                  </a:lnTo>
                  <a:close/>
                </a:path>
                <a:path w="767079" h="481964">
                  <a:moveTo>
                    <a:pt x="390651" y="250317"/>
                  </a:moveTo>
                  <a:lnTo>
                    <a:pt x="375920" y="250317"/>
                  </a:lnTo>
                  <a:lnTo>
                    <a:pt x="375920" y="331978"/>
                  </a:lnTo>
                  <a:lnTo>
                    <a:pt x="390651" y="331978"/>
                  </a:lnTo>
                  <a:lnTo>
                    <a:pt x="390651" y="250317"/>
                  </a:lnTo>
                  <a:close/>
                </a:path>
                <a:path w="767079" h="481964">
                  <a:moveTo>
                    <a:pt x="664210" y="250317"/>
                  </a:moveTo>
                  <a:lnTo>
                    <a:pt x="650367" y="250317"/>
                  </a:lnTo>
                  <a:lnTo>
                    <a:pt x="650367" y="331978"/>
                  </a:lnTo>
                  <a:lnTo>
                    <a:pt x="664210" y="331978"/>
                  </a:lnTo>
                  <a:lnTo>
                    <a:pt x="664210" y="250317"/>
                  </a:lnTo>
                  <a:close/>
                </a:path>
                <a:path w="767079" h="481964">
                  <a:moveTo>
                    <a:pt x="390651" y="149606"/>
                  </a:moveTo>
                  <a:lnTo>
                    <a:pt x="375920" y="149606"/>
                  </a:lnTo>
                  <a:lnTo>
                    <a:pt x="375920" y="236601"/>
                  </a:lnTo>
                  <a:lnTo>
                    <a:pt x="390651" y="236601"/>
                  </a:lnTo>
                  <a:lnTo>
                    <a:pt x="390651" y="149606"/>
                  </a:lnTo>
                  <a:close/>
                </a:path>
                <a:path w="767079" h="481964">
                  <a:moveTo>
                    <a:pt x="477266" y="0"/>
                  </a:moveTo>
                  <a:lnTo>
                    <a:pt x="289306" y="0"/>
                  </a:lnTo>
                  <a:lnTo>
                    <a:pt x="282956" y="2159"/>
                  </a:lnTo>
                  <a:lnTo>
                    <a:pt x="278765" y="5334"/>
                  </a:lnTo>
                  <a:lnTo>
                    <a:pt x="274574" y="9525"/>
                  </a:lnTo>
                  <a:lnTo>
                    <a:pt x="273431" y="17018"/>
                  </a:lnTo>
                  <a:lnTo>
                    <a:pt x="273431" y="133604"/>
                  </a:lnTo>
                  <a:lnTo>
                    <a:pt x="274574" y="138938"/>
                  </a:lnTo>
                  <a:lnTo>
                    <a:pt x="278765" y="145288"/>
                  </a:lnTo>
                  <a:lnTo>
                    <a:pt x="282956" y="147447"/>
                  </a:lnTo>
                  <a:lnTo>
                    <a:pt x="289306" y="149606"/>
                  </a:lnTo>
                  <a:lnTo>
                    <a:pt x="477266" y="149606"/>
                  </a:lnTo>
                  <a:lnTo>
                    <a:pt x="487807" y="145288"/>
                  </a:lnTo>
                  <a:lnTo>
                    <a:pt x="490982" y="138938"/>
                  </a:lnTo>
                  <a:lnTo>
                    <a:pt x="491586" y="135763"/>
                  </a:lnTo>
                  <a:lnTo>
                    <a:pt x="288290" y="135763"/>
                  </a:lnTo>
                  <a:lnTo>
                    <a:pt x="287147" y="133604"/>
                  </a:lnTo>
                  <a:lnTo>
                    <a:pt x="287147" y="17018"/>
                  </a:lnTo>
                  <a:lnTo>
                    <a:pt x="288290" y="14859"/>
                  </a:lnTo>
                  <a:lnTo>
                    <a:pt x="491705" y="14859"/>
                  </a:lnTo>
                  <a:lnTo>
                    <a:pt x="490982" y="9525"/>
                  </a:lnTo>
                  <a:lnTo>
                    <a:pt x="487807" y="5334"/>
                  </a:lnTo>
                  <a:lnTo>
                    <a:pt x="482600" y="2159"/>
                  </a:lnTo>
                  <a:lnTo>
                    <a:pt x="477266" y="0"/>
                  </a:lnTo>
                  <a:close/>
                </a:path>
                <a:path w="767079" h="481964">
                  <a:moveTo>
                    <a:pt x="491705" y="14859"/>
                  </a:moveTo>
                  <a:lnTo>
                    <a:pt x="478282" y="14859"/>
                  </a:lnTo>
                  <a:lnTo>
                    <a:pt x="478282" y="135763"/>
                  </a:lnTo>
                  <a:lnTo>
                    <a:pt x="491586" y="135763"/>
                  </a:lnTo>
                  <a:lnTo>
                    <a:pt x="491998" y="133604"/>
                  </a:lnTo>
                  <a:lnTo>
                    <a:pt x="491998" y="17018"/>
                  </a:lnTo>
                  <a:lnTo>
                    <a:pt x="491705" y="14859"/>
                  </a:lnTo>
                  <a:close/>
                </a:path>
              </a:pathLst>
            </a:custGeom>
            <a:solidFill>
              <a:srgbClr val="FFFFFF"/>
            </a:solidFill>
          </p:spPr>
          <p:txBody>
            <a:bodyPr wrap="square" lIns="0" tIns="0" rIns="0" bIns="0" rtlCol="0"/>
            <a:lstStyle/>
            <a:p>
              <a:endParaRPr/>
            </a:p>
          </p:txBody>
        </p:sp>
        <p:pic>
          <p:nvPicPr>
            <p:cNvPr id="121" name="object 121"/>
            <p:cNvPicPr/>
            <p:nvPr/>
          </p:nvPicPr>
          <p:blipFill>
            <a:blip r:embed="rId89" cstate="print"/>
            <a:stretch>
              <a:fillRect/>
            </a:stretch>
          </p:blipFill>
          <p:spPr>
            <a:xfrm>
              <a:off x="7956804" y="3956304"/>
              <a:ext cx="1077468" cy="1077468"/>
            </a:xfrm>
            <a:prstGeom prst="rect">
              <a:avLst/>
            </a:prstGeom>
          </p:spPr>
        </p:pic>
        <p:sp>
          <p:nvSpPr>
            <p:cNvPr id="122" name="object 122"/>
            <p:cNvSpPr/>
            <p:nvPr/>
          </p:nvSpPr>
          <p:spPr>
            <a:xfrm>
              <a:off x="6638544" y="3956304"/>
              <a:ext cx="1077595" cy="1077595"/>
            </a:xfrm>
            <a:custGeom>
              <a:avLst/>
              <a:gdLst/>
              <a:ahLst/>
              <a:cxnLst/>
              <a:rect l="l" t="t" r="r" b="b"/>
              <a:pathLst>
                <a:path w="1077595" h="1077595">
                  <a:moveTo>
                    <a:pt x="538733" y="0"/>
                  </a:moveTo>
                  <a:lnTo>
                    <a:pt x="484758" y="3175"/>
                  </a:lnTo>
                  <a:lnTo>
                    <a:pt x="430783" y="10541"/>
                  </a:lnTo>
                  <a:lnTo>
                    <a:pt x="379983" y="24384"/>
                  </a:lnTo>
                  <a:lnTo>
                    <a:pt x="329183" y="42291"/>
                  </a:lnTo>
                  <a:lnTo>
                    <a:pt x="283717" y="65659"/>
                  </a:lnTo>
                  <a:lnTo>
                    <a:pt x="260350" y="77216"/>
                  </a:lnTo>
                  <a:lnTo>
                    <a:pt x="216915" y="106934"/>
                  </a:lnTo>
                  <a:lnTo>
                    <a:pt x="176783" y="139700"/>
                  </a:lnTo>
                  <a:lnTo>
                    <a:pt x="158750" y="158750"/>
                  </a:lnTo>
                  <a:lnTo>
                    <a:pt x="140715" y="176784"/>
                  </a:lnTo>
                  <a:lnTo>
                    <a:pt x="107950" y="216916"/>
                  </a:lnTo>
                  <a:lnTo>
                    <a:pt x="78358" y="259334"/>
                  </a:lnTo>
                  <a:lnTo>
                    <a:pt x="53975" y="305943"/>
                  </a:lnTo>
                  <a:lnTo>
                    <a:pt x="33908" y="353568"/>
                  </a:lnTo>
                  <a:lnTo>
                    <a:pt x="11683" y="429768"/>
                  </a:lnTo>
                  <a:lnTo>
                    <a:pt x="4190" y="483743"/>
                  </a:lnTo>
                  <a:lnTo>
                    <a:pt x="2158" y="511175"/>
                  </a:lnTo>
                  <a:lnTo>
                    <a:pt x="0" y="538734"/>
                  </a:lnTo>
                  <a:lnTo>
                    <a:pt x="4190" y="593725"/>
                  </a:lnTo>
                  <a:lnTo>
                    <a:pt x="11683" y="647700"/>
                  </a:lnTo>
                  <a:lnTo>
                    <a:pt x="24383" y="698500"/>
                  </a:lnTo>
                  <a:lnTo>
                    <a:pt x="43433" y="748284"/>
                  </a:lnTo>
                  <a:lnTo>
                    <a:pt x="66675" y="794893"/>
                  </a:lnTo>
                  <a:lnTo>
                    <a:pt x="78358" y="818134"/>
                  </a:lnTo>
                  <a:lnTo>
                    <a:pt x="107950" y="860552"/>
                  </a:lnTo>
                  <a:lnTo>
                    <a:pt x="140715" y="900684"/>
                  </a:lnTo>
                  <a:lnTo>
                    <a:pt x="176783" y="937768"/>
                  </a:lnTo>
                  <a:lnTo>
                    <a:pt x="216915" y="970534"/>
                  </a:lnTo>
                  <a:lnTo>
                    <a:pt x="260350" y="1000252"/>
                  </a:lnTo>
                  <a:lnTo>
                    <a:pt x="283717" y="1011809"/>
                  </a:lnTo>
                  <a:lnTo>
                    <a:pt x="306958" y="1024509"/>
                  </a:lnTo>
                  <a:lnTo>
                    <a:pt x="353567" y="1044702"/>
                  </a:lnTo>
                  <a:lnTo>
                    <a:pt x="405383" y="1060577"/>
                  </a:lnTo>
                  <a:lnTo>
                    <a:pt x="457200" y="1070102"/>
                  </a:lnTo>
                  <a:lnTo>
                    <a:pt x="484758" y="1074293"/>
                  </a:lnTo>
                  <a:lnTo>
                    <a:pt x="511175" y="1076452"/>
                  </a:lnTo>
                  <a:lnTo>
                    <a:pt x="538733" y="1077468"/>
                  </a:lnTo>
                  <a:lnTo>
                    <a:pt x="567308" y="1076452"/>
                  </a:lnTo>
                  <a:lnTo>
                    <a:pt x="593725" y="1074293"/>
                  </a:lnTo>
                  <a:lnTo>
                    <a:pt x="621283" y="1070102"/>
                  </a:lnTo>
                  <a:lnTo>
                    <a:pt x="647700" y="1066927"/>
                  </a:lnTo>
                  <a:lnTo>
                    <a:pt x="698500" y="1053084"/>
                  </a:lnTo>
                  <a:lnTo>
                    <a:pt x="749300" y="1035177"/>
                  </a:lnTo>
                  <a:lnTo>
                    <a:pt x="795908" y="1011809"/>
                  </a:lnTo>
                  <a:lnTo>
                    <a:pt x="818133" y="1000252"/>
                  </a:lnTo>
                  <a:lnTo>
                    <a:pt x="860551" y="970534"/>
                  </a:lnTo>
                  <a:lnTo>
                    <a:pt x="900683" y="937768"/>
                  </a:lnTo>
                  <a:lnTo>
                    <a:pt x="937767" y="900684"/>
                  </a:lnTo>
                  <a:lnTo>
                    <a:pt x="970533" y="860552"/>
                  </a:lnTo>
                  <a:lnTo>
                    <a:pt x="1000251" y="818134"/>
                  </a:lnTo>
                  <a:lnTo>
                    <a:pt x="1011808" y="794893"/>
                  </a:lnTo>
                  <a:lnTo>
                    <a:pt x="1024508" y="771525"/>
                  </a:lnTo>
                  <a:lnTo>
                    <a:pt x="1044701" y="723900"/>
                  </a:lnTo>
                  <a:lnTo>
                    <a:pt x="1060577" y="673100"/>
                  </a:lnTo>
                  <a:lnTo>
                    <a:pt x="1072133" y="620268"/>
                  </a:lnTo>
                  <a:lnTo>
                    <a:pt x="1076452" y="567309"/>
                  </a:lnTo>
                  <a:lnTo>
                    <a:pt x="1077467" y="538734"/>
                  </a:lnTo>
                  <a:lnTo>
                    <a:pt x="1076452" y="511175"/>
                  </a:lnTo>
                  <a:lnTo>
                    <a:pt x="1072133" y="457200"/>
                  </a:lnTo>
                  <a:lnTo>
                    <a:pt x="1060577" y="404368"/>
                  </a:lnTo>
                  <a:lnTo>
                    <a:pt x="1044701" y="353568"/>
                  </a:lnTo>
                  <a:lnTo>
                    <a:pt x="1024508" y="305943"/>
                  </a:lnTo>
                  <a:lnTo>
                    <a:pt x="1000251" y="259334"/>
                  </a:lnTo>
                  <a:lnTo>
                    <a:pt x="970533" y="216916"/>
                  </a:lnTo>
                  <a:lnTo>
                    <a:pt x="937767" y="176784"/>
                  </a:lnTo>
                  <a:lnTo>
                    <a:pt x="900683" y="139700"/>
                  </a:lnTo>
                  <a:lnTo>
                    <a:pt x="860551" y="106934"/>
                  </a:lnTo>
                  <a:lnTo>
                    <a:pt x="818133" y="77216"/>
                  </a:lnTo>
                  <a:lnTo>
                    <a:pt x="795908" y="65659"/>
                  </a:lnTo>
                  <a:lnTo>
                    <a:pt x="773683" y="52959"/>
                  </a:lnTo>
                  <a:lnTo>
                    <a:pt x="725042" y="32766"/>
                  </a:lnTo>
                  <a:lnTo>
                    <a:pt x="673100" y="16891"/>
                  </a:lnTo>
                  <a:lnTo>
                    <a:pt x="621283" y="6350"/>
                  </a:lnTo>
                  <a:lnTo>
                    <a:pt x="567308" y="1016"/>
                  </a:lnTo>
                  <a:lnTo>
                    <a:pt x="538733" y="0"/>
                  </a:lnTo>
                  <a:close/>
                </a:path>
              </a:pathLst>
            </a:custGeom>
            <a:solidFill>
              <a:srgbClr val="48CFAD"/>
            </a:solidFill>
          </p:spPr>
          <p:txBody>
            <a:bodyPr wrap="square" lIns="0" tIns="0" rIns="0" bIns="0" rtlCol="0"/>
            <a:lstStyle/>
            <a:p>
              <a:endParaRPr/>
            </a:p>
          </p:txBody>
        </p:sp>
        <p:sp>
          <p:nvSpPr>
            <p:cNvPr id="123" name="object 123"/>
            <p:cNvSpPr/>
            <p:nvPr/>
          </p:nvSpPr>
          <p:spPr>
            <a:xfrm>
              <a:off x="6961632" y="4130040"/>
              <a:ext cx="434340" cy="571500"/>
            </a:xfrm>
            <a:custGeom>
              <a:avLst/>
              <a:gdLst/>
              <a:ahLst/>
              <a:cxnLst/>
              <a:rect l="l" t="t" r="r" b="b"/>
              <a:pathLst>
                <a:path w="434340" h="571500">
                  <a:moveTo>
                    <a:pt x="216662" y="0"/>
                  </a:moveTo>
                  <a:lnTo>
                    <a:pt x="173100" y="4191"/>
                  </a:lnTo>
                  <a:lnTo>
                    <a:pt x="131699" y="17018"/>
                  </a:lnTo>
                  <a:lnTo>
                    <a:pt x="95631" y="36068"/>
                  </a:lnTo>
                  <a:lnTo>
                    <a:pt x="63753" y="62611"/>
                  </a:lnTo>
                  <a:lnTo>
                    <a:pt x="36068" y="94361"/>
                  </a:lnTo>
                  <a:lnTo>
                    <a:pt x="17018" y="132587"/>
                  </a:lnTo>
                  <a:lnTo>
                    <a:pt x="3175" y="172847"/>
                  </a:lnTo>
                  <a:lnTo>
                    <a:pt x="0" y="217297"/>
                  </a:lnTo>
                  <a:lnTo>
                    <a:pt x="1016" y="240665"/>
                  </a:lnTo>
                  <a:lnTo>
                    <a:pt x="4191" y="262890"/>
                  </a:lnTo>
                  <a:lnTo>
                    <a:pt x="10668" y="286258"/>
                  </a:lnTo>
                  <a:lnTo>
                    <a:pt x="19176" y="308483"/>
                  </a:lnTo>
                  <a:lnTo>
                    <a:pt x="22351" y="310642"/>
                  </a:lnTo>
                  <a:lnTo>
                    <a:pt x="30734" y="327660"/>
                  </a:lnTo>
                  <a:lnTo>
                    <a:pt x="41401" y="343535"/>
                  </a:lnTo>
                  <a:lnTo>
                    <a:pt x="62611" y="377444"/>
                  </a:lnTo>
                  <a:lnTo>
                    <a:pt x="84963" y="412496"/>
                  </a:lnTo>
                  <a:lnTo>
                    <a:pt x="106172" y="446405"/>
                  </a:lnTo>
                  <a:lnTo>
                    <a:pt x="124206" y="496189"/>
                  </a:lnTo>
                  <a:lnTo>
                    <a:pt x="125349" y="511048"/>
                  </a:lnTo>
                  <a:lnTo>
                    <a:pt x="125349" y="554482"/>
                  </a:lnTo>
                  <a:lnTo>
                    <a:pt x="127381" y="561975"/>
                  </a:lnTo>
                  <a:lnTo>
                    <a:pt x="131699" y="566166"/>
                  </a:lnTo>
                  <a:lnTo>
                    <a:pt x="137033" y="570484"/>
                  </a:lnTo>
                  <a:lnTo>
                    <a:pt x="144399" y="571500"/>
                  </a:lnTo>
                  <a:lnTo>
                    <a:pt x="289941" y="571500"/>
                  </a:lnTo>
                  <a:lnTo>
                    <a:pt x="297307" y="570484"/>
                  </a:lnTo>
                  <a:lnTo>
                    <a:pt x="305816" y="561975"/>
                  </a:lnTo>
                  <a:lnTo>
                    <a:pt x="306300" y="558800"/>
                  </a:lnTo>
                  <a:lnTo>
                    <a:pt x="141224" y="558800"/>
                  </a:lnTo>
                  <a:lnTo>
                    <a:pt x="140208" y="557657"/>
                  </a:lnTo>
                  <a:lnTo>
                    <a:pt x="139065" y="556641"/>
                  </a:lnTo>
                  <a:lnTo>
                    <a:pt x="138049" y="554482"/>
                  </a:lnTo>
                  <a:lnTo>
                    <a:pt x="138049" y="511048"/>
                  </a:lnTo>
                  <a:lnTo>
                    <a:pt x="137033" y="495173"/>
                  </a:lnTo>
                  <a:lnTo>
                    <a:pt x="132715" y="478155"/>
                  </a:lnTo>
                  <a:lnTo>
                    <a:pt x="127381" y="461264"/>
                  </a:lnTo>
                  <a:lnTo>
                    <a:pt x="117856" y="444246"/>
                  </a:lnTo>
                  <a:lnTo>
                    <a:pt x="108331" y="426212"/>
                  </a:lnTo>
                  <a:lnTo>
                    <a:pt x="97663" y="407162"/>
                  </a:lnTo>
                  <a:lnTo>
                    <a:pt x="73278" y="370078"/>
                  </a:lnTo>
                  <a:lnTo>
                    <a:pt x="50926" y="338201"/>
                  </a:lnTo>
                  <a:lnTo>
                    <a:pt x="50926" y="337185"/>
                  </a:lnTo>
                  <a:lnTo>
                    <a:pt x="41401" y="322326"/>
                  </a:lnTo>
                  <a:lnTo>
                    <a:pt x="31876" y="306451"/>
                  </a:lnTo>
                  <a:lnTo>
                    <a:pt x="31876" y="305308"/>
                  </a:lnTo>
                  <a:lnTo>
                    <a:pt x="30734" y="302133"/>
                  </a:lnTo>
                  <a:lnTo>
                    <a:pt x="23368" y="282067"/>
                  </a:lnTo>
                  <a:lnTo>
                    <a:pt x="17018" y="260858"/>
                  </a:lnTo>
                  <a:lnTo>
                    <a:pt x="12700" y="238506"/>
                  </a:lnTo>
                  <a:lnTo>
                    <a:pt x="11684" y="217297"/>
                  </a:lnTo>
                  <a:lnTo>
                    <a:pt x="11684" y="196215"/>
                  </a:lnTo>
                  <a:lnTo>
                    <a:pt x="20193" y="155829"/>
                  </a:lnTo>
                  <a:lnTo>
                    <a:pt x="36068" y="118745"/>
                  </a:lnTo>
                  <a:lnTo>
                    <a:pt x="58420" y="85852"/>
                  </a:lnTo>
                  <a:lnTo>
                    <a:pt x="87122" y="58293"/>
                  </a:lnTo>
                  <a:lnTo>
                    <a:pt x="137033" y="27559"/>
                  </a:lnTo>
                  <a:lnTo>
                    <a:pt x="176275" y="14859"/>
                  </a:lnTo>
                  <a:lnTo>
                    <a:pt x="216662" y="11684"/>
                  </a:lnTo>
                  <a:lnTo>
                    <a:pt x="286920" y="11684"/>
                  </a:lnTo>
                  <a:lnTo>
                    <a:pt x="281432" y="9525"/>
                  </a:lnTo>
                  <a:lnTo>
                    <a:pt x="260223" y="4191"/>
                  </a:lnTo>
                  <a:lnTo>
                    <a:pt x="237871" y="1016"/>
                  </a:lnTo>
                  <a:lnTo>
                    <a:pt x="216662" y="0"/>
                  </a:lnTo>
                  <a:close/>
                </a:path>
                <a:path w="434340" h="571500">
                  <a:moveTo>
                    <a:pt x="286920" y="11684"/>
                  </a:moveTo>
                  <a:lnTo>
                    <a:pt x="216662" y="11684"/>
                  </a:lnTo>
                  <a:lnTo>
                    <a:pt x="236854" y="12700"/>
                  </a:lnTo>
                  <a:lnTo>
                    <a:pt x="258064" y="14859"/>
                  </a:lnTo>
                  <a:lnTo>
                    <a:pt x="297307" y="27559"/>
                  </a:lnTo>
                  <a:lnTo>
                    <a:pt x="331343" y="46609"/>
                  </a:lnTo>
                  <a:lnTo>
                    <a:pt x="362076" y="70993"/>
                  </a:lnTo>
                  <a:lnTo>
                    <a:pt x="386588" y="101727"/>
                  </a:lnTo>
                  <a:lnTo>
                    <a:pt x="405638" y="136779"/>
                  </a:lnTo>
                  <a:lnTo>
                    <a:pt x="418465" y="175006"/>
                  </a:lnTo>
                  <a:lnTo>
                    <a:pt x="421640" y="217297"/>
                  </a:lnTo>
                  <a:lnTo>
                    <a:pt x="420497" y="238506"/>
                  </a:lnTo>
                  <a:lnTo>
                    <a:pt x="416306" y="260858"/>
                  </a:lnTo>
                  <a:lnTo>
                    <a:pt x="410972" y="282067"/>
                  </a:lnTo>
                  <a:lnTo>
                    <a:pt x="402463" y="303276"/>
                  </a:lnTo>
                  <a:lnTo>
                    <a:pt x="401447" y="305308"/>
                  </a:lnTo>
                  <a:lnTo>
                    <a:pt x="401447" y="306451"/>
                  </a:lnTo>
                  <a:lnTo>
                    <a:pt x="391922" y="322326"/>
                  </a:lnTo>
                  <a:lnTo>
                    <a:pt x="382270" y="337185"/>
                  </a:lnTo>
                  <a:lnTo>
                    <a:pt x="381253" y="338201"/>
                  </a:lnTo>
                  <a:lnTo>
                    <a:pt x="361061" y="371094"/>
                  </a:lnTo>
                  <a:lnTo>
                    <a:pt x="335534" y="407162"/>
                  </a:lnTo>
                  <a:lnTo>
                    <a:pt x="315341" y="444246"/>
                  </a:lnTo>
                  <a:lnTo>
                    <a:pt x="297307" y="495173"/>
                  </a:lnTo>
                  <a:lnTo>
                    <a:pt x="294132" y="511048"/>
                  </a:lnTo>
                  <a:lnTo>
                    <a:pt x="294132" y="556641"/>
                  </a:lnTo>
                  <a:lnTo>
                    <a:pt x="293116" y="557657"/>
                  </a:lnTo>
                  <a:lnTo>
                    <a:pt x="292100" y="558800"/>
                  </a:lnTo>
                  <a:lnTo>
                    <a:pt x="306300" y="558800"/>
                  </a:lnTo>
                  <a:lnTo>
                    <a:pt x="306959" y="554482"/>
                  </a:lnTo>
                  <a:lnTo>
                    <a:pt x="306959" y="511048"/>
                  </a:lnTo>
                  <a:lnTo>
                    <a:pt x="308991" y="496189"/>
                  </a:lnTo>
                  <a:lnTo>
                    <a:pt x="313309" y="480314"/>
                  </a:lnTo>
                  <a:lnTo>
                    <a:pt x="318643" y="463296"/>
                  </a:lnTo>
                  <a:lnTo>
                    <a:pt x="327025" y="446405"/>
                  </a:lnTo>
                  <a:lnTo>
                    <a:pt x="337693" y="429387"/>
                  </a:lnTo>
                  <a:lnTo>
                    <a:pt x="347218" y="412496"/>
                  </a:lnTo>
                  <a:lnTo>
                    <a:pt x="370586" y="377444"/>
                  </a:lnTo>
                  <a:lnTo>
                    <a:pt x="391922" y="343535"/>
                  </a:lnTo>
                  <a:lnTo>
                    <a:pt x="402463" y="327660"/>
                  </a:lnTo>
                  <a:lnTo>
                    <a:pt x="422656" y="286258"/>
                  </a:lnTo>
                  <a:lnTo>
                    <a:pt x="432181" y="240665"/>
                  </a:lnTo>
                  <a:lnTo>
                    <a:pt x="434340" y="217297"/>
                  </a:lnTo>
                  <a:lnTo>
                    <a:pt x="432181" y="195072"/>
                  </a:lnTo>
                  <a:lnTo>
                    <a:pt x="423672" y="152654"/>
                  </a:lnTo>
                  <a:lnTo>
                    <a:pt x="406781" y="113411"/>
                  </a:lnTo>
                  <a:lnTo>
                    <a:pt x="383413" y="78486"/>
                  </a:lnTo>
                  <a:lnTo>
                    <a:pt x="370586" y="62611"/>
                  </a:lnTo>
                  <a:lnTo>
                    <a:pt x="354711" y="49784"/>
                  </a:lnTo>
                  <a:lnTo>
                    <a:pt x="338709" y="36068"/>
                  </a:lnTo>
                  <a:lnTo>
                    <a:pt x="320675" y="26543"/>
                  </a:lnTo>
                  <a:lnTo>
                    <a:pt x="300482" y="17018"/>
                  </a:lnTo>
                  <a:lnTo>
                    <a:pt x="286920" y="11684"/>
                  </a:lnTo>
                  <a:close/>
                </a:path>
              </a:pathLst>
            </a:custGeom>
            <a:solidFill>
              <a:srgbClr val="FFFFFF"/>
            </a:solidFill>
          </p:spPr>
          <p:txBody>
            <a:bodyPr wrap="square" lIns="0" tIns="0" rIns="0" bIns="0" rtlCol="0"/>
            <a:lstStyle/>
            <a:p>
              <a:endParaRPr/>
            </a:p>
          </p:txBody>
        </p:sp>
        <p:pic>
          <p:nvPicPr>
            <p:cNvPr id="124" name="object 124"/>
            <p:cNvPicPr/>
            <p:nvPr/>
          </p:nvPicPr>
          <p:blipFill>
            <a:blip r:embed="rId90" cstate="print"/>
            <a:stretch>
              <a:fillRect/>
            </a:stretch>
          </p:blipFill>
          <p:spPr>
            <a:xfrm>
              <a:off x="7088123" y="4722875"/>
              <a:ext cx="179831" cy="138684"/>
            </a:xfrm>
            <a:prstGeom prst="rect">
              <a:avLst/>
            </a:prstGeom>
          </p:spPr>
        </p:pic>
        <p:pic>
          <p:nvPicPr>
            <p:cNvPr id="125" name="object 125"/>
            <p:cNvPicPr/>
            <p:nvPr/>
          </p:nvPicPr>
          <p:blipFill>
            <a:blip r:embed="rId91" cstate="print"/>
            <a:stretch>
              <a:fillRect/>
            </a:stretch>
          </p:blipFill>
          <p:spPr>
            <a:xfrm>
              <a:off x="7014971" y="4190999"/>
              <a:ext cx="132587" cy="178307"/>
            </a:xfrm>
            <a:prstGeom prst="rect">
              <a:avLst/>
            </a:prstGeom>
          </p:spPr>
        </p:pic>
      </p:grpSp>
      <p:sp>
        <p:nvSpPr>
          <p:cNvPr id="126" name="object 126"/>
          <p:cNvSpPr txBox="1">
            <a:spLocks noGrp="1"/>
          </p:cNvSpPr>
          <p:nvPr>
            <p:ph type="title"/>
          </p:nvPr>
        </p:nvSpPr>
        <p:spPr>
          <a:xfrm>
            <a:off x="1687448" y="2177923"/>
            <a:ext cx="10049952" cy="1402948"/>
          </a:xfrm>
          <a:prstGeom prst="rect">
            <a:avLst/>
          </a:prstGeom>
        </p:spPr>
        <p:txBody>
          <a:bodyPr vert="horz" wrap="square" lIns="0" tIns="93980" rIns="0" bIns="0" rtlCol="0">
            <a:spAutoFit/>
          </a:bodyPr>
          <a:lstStyle/>
          <a:p>
            <a:pPr marL="6003925" marR="5080" indent="-90170">
              <a:lnSpc>
                <a:spcPts val="5080"/>
              </a:lnSpc>
              <a:spcBef>
                <a:spcPts val="740"/>
              </a:spcBef>
              <a:tabLst>
                <a:tab pos="8382634" algn="l"/>
              </a:tabLst>
            </a:pPr>
            <a:r>
              <a:rPr lang="en-US" dirty="0"/>
              <a:t>Hypothesis testing, Anova</a:t>
            </a:r>
            <a:endParaRPr spc="-10" dirty="0"/>
          </a:p>
        </p:txBody>
      </p:sp>
      <p:sp>
        <p:nvSpPr>
          <p:cNvPr id="127" name="object 127"/>
          <p:cNvSpPr txBox="1"/>
          <p:nvPr/>
        </p:nvSpPr>
        <p:spPr>
          <a:xfrm>
            <a:off x="10160507" y="6461759"/>
            <a:ext cx="1979930" cy="355600"/>
          </a:xfrm>
          <a:prstGeom prst="rect">
            <a:avLst/>
          </a:prstGeom>
          <a:ln w="12700">
            <a:solidFill>
              <a:srgbClr val="FFFFFF"/>
            </a:solidFill>
          </a:ln>
        </p:spPr>
        <p:txBody>
          <a:bodyPr vert="horz" wrap="square" lIns="0" tIns="26670" rIns="0" bIns="0" rtlCol="0">
            <a:spAutoFit/>
          </a:bodyPr>
          <a:lstStyle/>
          <a:p>
            <a:pPr marL="201930">
              <a:lnSpc>
                <a:spcPct val="100000"/>
              </a:lnSpc>
              <a:spcBef>
                <a:spcPts val="210"/>
              </a:spcBef>
            </a:pPr>
            <a:r>
              <a:rPr sz="1800" dirty="0">
                <a:latin typeface="Calibri"/>
                <a:cs typeface="Calibri"/>
              </a:rPr>
              <a:t>ANKIT</a:t>
            </a:r>
            <a:r>
              <a:rPr sz="1800" spc="-35" dirty="0">
                <a:latin typeface="Calibri"/>
                <a:cs typeface="Calibri"/>
              </a:rPr>
              <a:t> </a:t>
            </a:r>
            <a:r>
              <a:rPr sz="1800" dirty="0">
                <a:latin typeface="Calibri"/>
                <a:cs typeface="Calibri"/>
              </a:rPr>
              <a:t>MIRAJKAR</a:t>
            </a:r>
            <a:endParaRPr sz="18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26A94D52-2C52-42F9-8884-FF38EA4EE175}"/>
              </a:ext>
            </a:extLst>
          </p:cNvPr>
          <p:cNvSpPr/>
          <p:nvPr/>
        </p:nvSpPr>
        <p:spPr>
          <a:xfrm>
            <a:off x="609600" y="1829975"/>
            <a:ext cx="10515600" cy="837025"/>
          </a:xfrm>
          <a:prstGeom prst="round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1628A5-793C-46F6-AE40-D69B9A2BC20B}"/>
              </a:ext>
            </a:extLst>
          </p:cNvPr>
          <p:cNvSpPr>
            <a:spLocks noGrp="1"/>
          </p:cNvSpPr>
          <p:nvPr>
            <p:ph type="title"/>
          </p:nvPr>
        </p:nvSpPr>
        <p:spPr>
          <a:xfrm>
            <a:off x="609600" y="381000"/>
            <a:ext cx="8817102" cy="276999"/>
          </a:xfrm>
        </p:spPr>
        <p:txBody>
          <a:bodyPr/>
          <a:lstStyle/>
          <a:p>
            <a:r>
              <a:rPr lang="en-US" sz="1800" spc="-5" dirty="0">
                <a:solidFill>
                  <a:srgbClr val="27509B"/>
                </a:solidFill>
              </a:rPr>
              <a:t>Confidence Intervals</a:t>
            </a:r>
          </a:p>
        </p:txBody>
      </p:sp>
      <p:sp>
        <p:nvSpPr>
          <p:cNvPr id="4" name="TextBox 3">
            <a:extLst>
              <a:ext uri="{FF2B5EF4-FFF2-40B4-BE49-F238E27FC236}">
                <a16:creationId xmlns:a16="http://schemas.microsoft.com/office/drawing/2014/main" id="{0A9C500D-2570-4C3C-A5D2-C38B327272D9}"/>
              </a:ext>
            </a:extLst>
          </p:cNvPr>
          <p:cNvSpPr txBox="1"/>
          <p:nvPr/>
        </p:nvSpPr>
        <p:spPr>
          <a:xfrm>
            <a:off x="609600" y="914400"/>
            <a:ext cx="11049000" cy="646331"/>
          </a:xfrm>
          <a:prstGeom prst="rect">
            <a:avLst/>
          </a:prstGeom>
          <a:noFill/>
        </p:spPr>
        <p:txBody>
          <a:bodyPr wrap="square">
            <a:spAutoFit/>
          </a:bodyPr>
          <a:lstStyle/>
          <a:p>
            <a:r>
              <a:rPr lang="en-US" b="0" i="0" dirty="0">
                <a:solidFill>
                  <a:srgbClr val="273239"/>
                </a:solidFill>
                <a:effectLst/>
                <a:latin typeface="Nunito" pitchFamily="2" charset="0"/>
              </a:rPr>
              <a:t>A </a:t>
            </a:r>
            <a:r>
              <a:rPr lang="en-US" b="1" i="0" dirty="0">
                <a:solidFill>
                  <a:srgbClr val="273239"/>
                </a:solidFill>
                <a:effectLst/>
                <a:latin typeface="Nunito" pitchFamily="2" charset="0"/>
              </a:rPr>
              <a:t>Confidence Interval (CI)</a:t>
            </a:r>
            <a:r>
              <a:rPr lang="en-US" b="0" i="0" dirty="0">
                <a:solidFill>
                  <a:srgbClr val="273239"/>
                </a:solidFill>
                <a:effectLst/>
                <a:latin typeface="Nunito" pitchFamily="2" charset="0"/>
              </a:rPr>
              <a:t> is a range of values that contains the true value of something we are trying to measure like the average height of students or average income of a population.</a:t>
            </a:r>
            <a:endParaRPr lang="en-US" dirty="0"/>
          </a:p>
        </p:txBody>
      </p:sp>
      <p:sp>
        <p:nvSpPr>
          <p:cNvPr id="6" name="TextBox 5">
            <a:extLst>
              <a:ext uri="{FF2B5EF4-FFF2-40B4-BE49-F238E27FC236}">
                <a16:creationId xmlns:a16="http://schemas.microsoft.com/office/drawing/2014/main" id="{DBAAA314-AE38-415F-BE47-7634044339B9}"/>
              </a:ext>
            </a:extLst>
          </p:cNvPr>
          <p:cNvSpPr txBox="1"/>
          <p:nvPr/>
        </p:nvSpPr>
        <p:spPr>
          <a:xfrm>
            <a:off x="685800" y="1944469"/>
            <a:ext cx="10972800" cy="646331"/>
          </a:xfrm>
          <a:prstGeom prst="rect">
            <a:avLst/>
          </a:prstGeom>
          <a:noFill/>
        </p:spPr>
        <p:txBody>
          <a:bodyPr wrap="square">
            <a:spAutoFit/>
          </a:bodyPr>
          <a:lstStyle/>
          <a:p>
            <a:pPr algn="l" rtl="0" fontAlgn="base"/>
            <a:r>
              <a:rPr lang="en-US" b="1" i="1" dirty="0">
                <a:solidFill>
                  <a:srgbClr val="273239"/>
                </a:solidFill>
                <a:effectLst/>
                <a:latin typeface="Nunito" pitchFamily="2" charset="0"/>
              </a:rPr>
              <a:t>Instead of saying:</a:t>
            </a:r>
            <a:r>
              <a:rPr lang="en-US" b="0" i="1" dirty="0">
                <a:solidFill>
                  <a:srgbClr val="273239"/>
                </a:solidFill>
                <a:effectLst/>
                <a:latin typeface="Nunito" pitchFamily="2" charset="0"/>
              </a:rPr>
              <a:t> “The average height is 165 cm.”</a:t>
            </a:r>
          </a:p>
          <a:p>
            <a:pPr algn="l" rtl="0" fontAlgn="base"/>
            <a:r>
              <a:rPr lang="en-US" b="1" i="1" dirty="0">
                <a:solidFill>
                  <a:srgbClr val="273239"/>
                </a:solidFill>
                <a:effectLst/>
                <a:latin typeface="Nunito" pitchFamily="2" charset="0"/>
              </a:rPr>
              <a:t>We can say:</a:t>
            </a:r>
            <a:r>
              <a:rPr lang="en-US" b="0" i="1" dirty="0">
                <a:solidFill>
                  <a:srgbClr val="273239"/>
                </a:solidFill>
                <a:effectLst/>
                <a:latin typeface="Nunito" pitchFamily="2" charset="0"/>
              </a:rPr>
              <a:t> “We are 95% confident the average height is between 160 cm and 170 cm.”</a:t>
            </a:r>
          </a:p>
        </p:txBody>
      </p:sp>
      <p:sp>
        <p:nvSpPr>
          <p:cNvPr id="9" name="TextBox 8">
            <a:extLst>
              <a:ext uri="{FF2B5EF4-FFF2-40B4-BE49-F238E27FC236}">
                <a16:creationId xmlns:a16="http://schemas.microsoft.com/office/drawing/2014/main" id="{CED4B0A9-60D5-41BE-9DDB-8CB69C3D7684}"/>
              </a:ext>
            </a:extLst>
          </p:cNvPr>
          <p:cNvSpPr txBox="1"/>
          <p:nvPr/>
        </p:nvSpPr>
        <p:spPr>
          <a:xfrm>
            <a:off x="372041" y="2866072"/>
            <a:ext cx="6097712" cy="369332"/>
          </a:xfrm>
          <a:prstGeom prst="rect">
            <a:avLst/>
          </a:prstGeom>
          <a:noFill/>
        </p:spPr>
        <p:txBody>
          <a:bodyPr wrap="square">
            <a:spAutoFit/>
          </a:bodyPr>
          <a:lstStyle/>
          <a:p>
            <a:pPr algn="l" fontAlgn="base"/>
            <a:r>
              <a:rPr lang="en-US" b="1" i="0" dirty="0">
                <a:solidFill>
                  <a:srgbClr val="273239"/>
                </a:solidFill>
                <a:effectLst/>
                <a:latin typeface="Nunito" pitchFamily="2" charset="0"/>
              </a:rPr>
              <a:t>Interpreting Confidence Intervals</a:t>
            </a:r>
          </a:p>
        </p:txBody>
      </p:sp>
      <p:sp>
        <p:nvSpPr>
          <p:cNvPr id="11" name="TextBox 10">
            <a:extLst>
              <a:ext uri="{FF2B5EF4-FFF2-40B4-BE49-F238E27FC236}">
                <a16:creationId xmlns:a16="http://schemas.microsoft.com/office/drawing/2014/main" id="{98797D4D-484C-4AEF-9212-F84580BC72B1}"/>
              </a:ext>
            </a:extLst>
          </p:cNvPr>
          <p:cNvSpPr txBox="1"/>
          <p:nvPr/>
        </p:nvSpPr>
        <p:spPr>
          <a:xfrm>
            <a:off x="551777" y="3198735"/>
            <a:ext cx="11236503" cy="830997"/>
          </a:xfrm>
          <a:prstGeom prst="rect">
            <a:avLst/>
          </a:prstGeom>
          <a:noFill/>
        </p:spPr>
        <p:txBody>
          <a:bodyPr wrap="square">
            <a:spAutoFit/>
          </a:bodyPr>
          <a:lstStyle/>
          <a:p>
            <a:r>
              <a:rPr lang="en-US" sz="1600" b="0" i="0" dirty="0">
                <a:solidFill>
                  <a:srgbClr val="273239"/>
                </a:solidFill>
                <a:effectLst/>
                <a:latin typeface="Nunito" pitchFamily="2" charset="0"/>
              </a:rPr>
              <a:t>Let's say we take a sample of 50 students and calculate a 95% confidence interval for their average height which turns out to be 160–170 cm. This means If we repeatedly take similar samples 95% of those intervals would contain the true average height of all students in the population.</a:t>
            </a:r>
            <a:endParaRPr lang="en-US" sz="1600" dirty="0"/>
          </a:p>
        </p:txBody>
      </p:sp>
      <p:pic>
        <p:nvPicPr>
          <p:cNvPr id="15" name="Picture 14">
            <a:extLst>
              <a:ext uri="{FF2B5EF4-FFF2-40B4-BE49-F238E27FC236}">
                <a16:creationId xmlns:a16="http://schemas.microsoft.com/office/drawing/2014/main" id="{99493C41-26B1-4390-B664-E34C41C63327}"/>
              </a:ext>
            </a:extLst>
          </p:cNvPr>
          <p:cNvPicPr>
            <a:picLocks noChangeAspect="1"/>
          </p:cNvPicPr>
          <p:nvPr/>
        </p:nvPicPr>
        <p:blipFill>
          <a:blip r:embed="rId2"/>
          <a:stretch>
            <a:fillRect/>
          </a:stretch>
        </p:blipFill>
        <p:spPr>
          <a:xfrm>
            <a:off x="1752600" y="4182638"/>
            <a:ext cx="3702551" cy="1843765"/>
          </a:xfrm>
          <a:prstGeom prst="rect">
            <a:avLst/>
          </a:prstGeom>
        </p:spPr>
      </p:pic>
      <p:sp>
        <p:nvSpPr>
          <p:cNvPr id="17" name="TextBox 16">
            <a:extLst>
              <a:ext uri="{FF2B5EF4-FFF2-40B4-BE49-F238E27FC236}">
                <a16:creationId xmlns:a16="http://schemas.microsoft.com/office/drawing/2014/main" id="{D7161CD8-61AD-4D87-9D6D-B29785016482}"/>
              </a:ext>
            </a:extLst>
          </p:cNvPr>
          <p:cNvSpPr txBox="1"/>
          <p:nvPr/>
        </p:nvSpPr>
        <p:spPr>
          <a:xfrm>
            <a:off x="553948" y="6197025"/>
            <a:ext cx="11236503" cy="584775"/>
          </a:xfrm>
          <a:prstGeom prst="rect">
            <a:avLst/>
          </a:prstGeom>
          <a:noFill/>
        </p:spPr>
        <p:txBody>
          <a:bodyPr wrap="square">
            <a:spAutoFit/>
          </a:bodyPr>
          <a:lstStyle/>
          <a:p>
            <a:r>
              <a:rPr lang="en-US" sz="1600" b="1" i="0" dirty="0">
                <a:solidFill>
                  <a:srgbClr val="273239"/>
                </a:solidFill>
                <a:effectLst/>
                <a:latin typeface="Nunito" pitchFamily="2" charset="0"/>
              </a:rPr>
              <a:t>Confidence level </a:t>
            </a:r>
            <a:r>
              <a:rPr lang="en-US" sz="1600" b="0" i="0" dirty="0">
                <a:solidFill>
                  <a:srgbClr val="273239"/>
                </a:solidFill>
                <a:effectLst/>
                <a:latin typeface="Nunito" pitchFamily="2" charset="0"/>
              </a:rPr>
              <a:t>tells us how sure we are that the true value is within a calculated range. If we have to repeat the sampling process many times we expect that a certain percentage of those intervals will include the true value.</a:t>
            </a:r>
            <a:endParaRPr lang="en-US" sz="1600" dirty="0"/>
          </a:p>
        </p:txBody>
      </p:sp>
      <p:pic>
        <p:nvPicPr>
          <p:cNvPr id="19" name="Picture 18">
            <a:extLst>
              <a:ext uri="{FF2B5EF4-FFF2-40B4-BE49-F238E27FC236}">
                <a16:creationId xmlns:a16="http://schemas.microsoft.com/office/drawing/2014/main" id="{27CD99A8-C85E-42C6-9026-A8F220AEEC59}"/>
              </a:ext>
            </a:extLst>
          </p:cNvPr>
          <p:cNvPicPr>
            <a:picLocks noChangeAspect="1"/>
          </p:cNvPicPr>
          <p:nvPr/>
        </p:nvPicPr>
        <p:blipFill>
          <a:blip r:embed="rId3"/>
          <a:stretch>
            <a:fillRect/>
          </a:stretch>
        </p:blipFill>
        <p:spPr>
          <a:xfrm>
            <a:off x="6324600" y="3852015"/>
            <a:ext cx="4114800" cy="2228323"/>
          </a:xfrm>
          <a:prstGeom prst="rect">
            <a:avLst/>
          </a:prstGeom>
        </p:spPr>
      </p:pic>
    </p:spTree>
    <p:extLst>
      <p:ext uri="{BB962C8B-B14F-4D97-AF65-F5344CB8AC3E}">
        <p14:creationId xmlns:p14="http://schemas.microsoft.com/office/powerpoint/2010/main" val="2038018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628A5-793C-46F6-AE40-D69B9A2BC20B}"/>
              </a:ext>
            </a:extLst>
          </p:cNvPr>
          <p:cNvSpPr>
            <a:spLocks noGrp="1"/>
          </p:cNvSpPr>
          <p:nvPr>
            <p:ph type="title"/>
          </p:nvPr>
        </p:nvSpPr>
        <p:spPr>
          <a:xfrm>
            <a:off x="457200" y="304800"/>
            <a:ext cx="8817102" cy="276999"/>
          </a:xfrm>
        </p:spPr>
        <p:txBody>
          <a:bodyPr/>
          <a:lstStyle/>
          <a:p>
            <a:r>
              <a:rPr lang="en-US" sz="1800" spc="-5" dirty="0">
                <a:solidFill>
                  <a:srgbClr val="27509B"/>
                </a:solidFill>
              </a:rPr>
              <a:t>Hypothesis Testing </a:t>
            </a:r>
          </a:p>
        </p:txBody>
      </p:sp>
      <p:sp>
        <p:nvSpPr>
          <p:cNvPr id="4" name="TextBox 3">
            <a:extLst>
              <a:ext uri="{FF2B5EF4-FFF2-40B4-BE49-F238E27FC236}">
                <a16:creationId xmlns:a16="http://schemas.microsoft.com/office/drawing/2014/main" id="{D49B2629-9EFB-463D-B0DE-0E2C8AA32C1E}"/>
              </a:ext>
            </a:extLst>
          </p:cNvPr>
          <p:cNvSpPr txBox="1"/>
          <p:nvPr/>
        </p:nvSpPr>
        <p:spPr>
          <a:xfrm>
            <a:off x="381000" y="665202"/>
            <a:ext cx="11430000" cy="553998"/>
          </a:xfrm>
          <a:prstGeom prst="rect">
            <a:avLst/>
          </a:prstGeom>
          <a:noFill/>
        </p:spPr>
        <p:txBody>
          <a:bodyPr wrap="square">
            <a:spAutoFit/>
          </a:bodyPr>
          <a:lstStyle/>
          <a:p>
            <a:pPr algn="l" rtl="0" fontAlgn="base"/>
            <a:r>
              <a:rPr lang="en-US" sz="1500" b="0" i="0" dirty="0">
                <a:solidFill>
                  <a:srgbClr val="273239"/>
                </a:solidFill>
                <a:effectLst/>
                <a:latin typeface="Nunito" pitchFamily="2" charset="0"/>
              </a:rPr>
              <a:t>Hypothesis testing compares two opposite ideas about a group of people or things and uses data from a small part of that group (a sample) to decide which idea is more likely true. We collect and study the sample data to check if the claim is correct.</a:t>
            </a:r>
          </a:p>
        </p:txBody>
      </p:sp>
      <p:sp>
        <p:nvSpPr>
          <p:cNvPr id="6" name="TextBox 5">
            <a:extLst>
              <a:ext uri="{FF2B5EF4-FFF2-40B4-BE49-F238E27FC236}">
                <a16:creationId xmlns:a16="http://schemas.microsoft.com/office/drawing/2014/main" id="{ACB50761-A0F2-4008-943B-18D67339D0D3}"/>
              </a:ext>
            </a:extLst>
          </p:cNvPr>
          <p:cNvSpPr txBox="1"/>
          <p:nvPr/>
        </p:nvSpPr>
        <p:spPr>
          <a:xfrm>
            <a:off x="381000" y="1229474"/>
            <a:ext cx="11582400" cy="2308324"/>
          </a:xfrm>
          <a:prstGeom prst="rect">
            <a:avLst/>
          </a:prstGeom>
          <a:noFill/>
        </p:spPr>
        <p:txBody>
          <a:bodyPr wrap="square">
            <a:spAutoFit/>
          </a:bodyPr>
          <a:lstStyle/>
          <a:p>
            <a:r>
              <a:rPr lang="en-US" sz="1600" b="0" i="0" dirty="0">
                <a:solidFill>
                  <a:srgbClr val="273239"/>
                </a:solidFill>
                <a:effectLst/>
                <a:latin typeface="Nunito" pitchFamily="2" charset="0"/>
              </a:rPr>
              <a:t>For example, </a:t>
            </a:r>
          </a:p>
          <a:p>
            <a:r>
              <a:rPr lang="en-US" sz="1600" dirty="0">
                <a:solidFill>
                  <a:srgbClr val="273239"/>
                </a:solidFill>
                <a:latin typeface="Nunito" pitchFamily="2" charset="0"/>
              </a:rPr>
              <a:t>I</a:t>
            </a:r>
            <a:r>
              <a:rPr lang="en-US" sz="1600" b="0" i="0" dirty="0">
                <a:solidFill>
                  <a:srgbClr val="273239"/>
                </a:solidFill>
                <a:effectLst/>
                <a:latin typeface="Nunito" pitchFamily="2" charset="0"/>
              </a:rPr>
              <a:t>f a company says its website gets 50 visitors each day on average, we use hypothesis testing to look at past visitor data and see if this claim is true or if the actual number is different.</a:t>
            </a:r>
          </a:p>
          <a:p>
            <a:endParaRPr lang="en-US" sz="1600" dirty="0">
              <a:solidFill>
                <a:srgbClr val="273239"/>
              </a:solidFill>
              <a:latin typeface="Nunito" pitchFamily="2" charset="0"/>
            </a:endParaRPr>
          </a:p>
          <a:p>
            <a:pPr algn="l" fontAlgn="base"/>
            <a:r>
              <a:rPr lang="en-US" sz="1600" b="1" i="0" dirty="0">
                <a:solidFill>
                  <a:srgbClr val="273239"/>
                </a:solidFill>
                <a:effectLst/>
                <a:latin typeface="Nunito" pitchFamily="2" charset="0"/>
              </a:rPr>
              <a:t>Defining Hypotheses</a:t>
            </a:r>
          </a:p>
          <a:p>
            <a:pPr marL="285750" indent="-285750" algn="l" fontAlgn="base">
              <a:buFont typeface="Arial" panose="020B0604020202020204" pitchFamily="34" charset="0"/>
              <a:buChar char="•"/>
            </a:pPr>
            <a:r>
              <a:rPr lang="en-US" sz="1600" b="1" i="0" dirty="0">
                <a:solidFill>
                  <a:srgbClr val="273239"/>
                </a:solidFill>
                <a:effectLst/>
                <a:latin typeface="Nunito" pitchFamily="2" charset="0"/>
              </a:rPr>
              <a:t>Null Hypothesis (H₀): </a:t>
            </a:r>
            <a:r>
              <a:rPr lang="en-US" sz="1600" b="0" i="0" dirty="0">
                <a:solidFill>
                  <a:srgbClr val="273239"/>
                </a:solidFill>
                <a:effectLst/>
                <a:latin typeface="Nunito" pitchFamily="2" charset="0"/>
              </a:rPr>
              <a:t>The starting assumption. For example, "The average visits are 50."</a:t>
            </a:r>
          </a:p>
          <a:p>
            <a:pPr marL="285750" indent="-285750" algn="l" fontAlgn="base">
              <a:buFont typeface="Arial" panose="020B0604020202020204" pitchFamily="34" charset="0"/>
              <a:buChar char="•"/>
            </a:pPr>
            <a:r>
              <a:rPr lang="en-US" sz="1600" b="1" i="0" dirty="0">
                <a:solidFill>
                  <a:srgbClr val="273239"/>
                </a:solidFill>
                <a:effectLst/>
                <a:latin typeface="Nunito" pitchFamily="2" charset="0"/>
              </a:rPr>
              <a:t>Alternative Hypothesis (H₁): </a:t>
            </a:r>
            <a:r>
              <a:rPr lang="en-US" sz="1600" b="0" i="0" dirty="0">
                <a:solidFill>
                  <a:srgbClr val="273239"/>
                </a:solidFill>
                <a:effectLst/>
                <a:latin typeface="Nunito" pitchFamily="2" charset="0"/>
              </a:rPr>
              <a:t>The opposite, saying there is a difference. For example, "The average visits are not 50.“</a:t>
            </a:r>
          </a:p>
          <a:p>
            <a:pPr marL="285750" indent="-285750" algn="l" fontAlgn="base">
              <a:buFont typeface="Arial" panose="020B0604020202020204" pitchFamily="34" charset="0"/>
              <a:buChar char="•"/>
            </a:pPr>
            <a:r>
              <a:rPr lang="en-US" sz="1600" b="1" i="0" dirty="0">
                <a:solidFill>
                  <a:srgbClr val="273239"/>
                </a:solidFill>
                <a:effectLst/>
                <a:latin typeface="Nunito" pitchFamily="2" charset="0"/>
              </a:rPr>
              <a:t>P-value: </a:t>
            </a:r>
            <a:r>
              <a:rPr lang="en-US" sz="1600" b="0" i="0" dirty="0">
                <a:solidFill>
                  <a:srgbClr val="273239"/>
                </a:solidFill>
                <a:effectLst/>
                <a:latin typeface="Nunito" pitchFamily="2" charset="0"/>
              </a:rPr>
              <a:t>Probability of observing the result if H₀ is true.</a:t>
            </a:r>
          </a:p>
          <a:p>
            <a:pPr marL="285750" indent="-285750" algn="l" fontAlgn="base">
              <a:buFont typeface="Arial" panose="020B0604020202020204" pitchFamily="34" charset="0"/>
              <a:buChar char="•"/>
            </a:pPr>
            <a:r>
              <a:rPr lang="en-US" sz="1600" b="1" i="0" dirty="0">
                <a:solidFill>
                  <a:srgbClr val="273239"/>
                </a:solidFill>
                <a:effectLst/>
                <a:latin typeface="Nunito" pitchFamily="2" charset="0"/>
              </a:rPr>
              <a:t>Significance level (α): </a:t>
            </a:r>
            <a:r>
              <a:rPr lang="en-US" sz="1600" b="0" i="0" dirty="0">
                <a:solidFill>
                  <a:srgbClr val="273239"/>
                </a:solidFill>
                <a:effectLst/>
                <a:latin typeface="Nunito" pitchFamily="2" charset="0"/>
              </a:rPr>
              <a:t>Commonly 0.05.</a:t>
            </a:r>
          </a:p>
        </p:txBody>
      </p:sp>
      <p:pic>
        <p:nvPicPr>
          <p:cNvPr id="11" name="Picture 10">
            <a:extLst>
              <a:ext uri="{FF2B5EF4-FFF2-40B4-BE49-F238E27FC236}">
                <a16:creationId xmlns:a16="http://schemas.microsoft.com/office/drawing/2014/main" id="{59AC733F-A3B3-4406-AA4A-DBEDC12CFB40}"/>
              </a:ext>
            </a:extLst>
          </p:cNvPr>
          <p:cNvPicPr>
            <a:picLocks noChangeAspect="1"/>
          </p:cNvPicPr>
          <p:nvPr/>
        </p:nvPicPr>
        <p:blipFill>
          <a:blip r:embed="rId2"/>
          <a:stretch>
            <a:fillRect/>
          </a:stretch>
        </p:blipFill>
        <p:spPr>
          <a:xfrm>
            <a:off x="2743200" y="3605606"/>
            <a:ext cx="5981700" cy="2947594"/>
          </a:xfrm>
          <a:prstGeom prst="rect">
            <a:avLst/>
          </a:prstGeom>
        </p:spPr>
      </p:pic>
    </p:spTree>
    <p:extLst>
      <p:ext uri="{BB962C8B-B14F-4D97-AF65-F5344CB8AC3E}">
        <p14:creationId xmlns:p14="http://schemas.microsoft.com/office/powerpoint/2010/main" val="812846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2D93D0-C264-B9B4-FA27-5A9FC35DEC59}"/>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introduction to hypothesis testing</a:t>
            </a:r>
          </a:p>
        </p:txBody>
      </p:sp>
      <p:sp>
        <p:nvSpPr>
          <p:cNvPr id="7" name="Rectangle: Rounded Corners 6">
            <a:extLst>
              <a:ext uri="{FF2B5EF4-FFF2-40B4-BE49-F238E27FC236}">
                <a16:creationId xmlns:a16="http://schemas.microsoft.com/office/drawing/2014/main" id="{2C3BEC60-A378-9E75-35CD-FB49AFF04E0D}"/>
              </a:ext>
            </a:extLst>
          </p:cNvPr>
          <p:cNvSpPr/>
          <p:nvPr/>
        </p:nvSpPr>
        <p:spPr>
          <a:xfrm>
            <a:off x="459921" y="971461"/>
            <a:ext cx="11116638" cy="820218"/>
          </a:xfrm>
          <a:prstGeom prst="round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i="1" dirty="0">
                <a:solidFill>
                  <a:srgbClr val="333333"/>
                </a:solidFill>
                <a:latin typeface="inter-regular"/>
              </a:rPr>
              <a:t>Hypothesis Testing </a:t>
            </a:r>
            <a:r>
              <a:rPr lang="en-US" dirty="0">
                <a:solidFill>
                  <a:srgbClr val="333333"/>
                </a:solidFill>
                <a:latin typeface="inter-regular"/>
              </a:rPr>
              <a:t>is a type of statistical analysis in which you put your assumptions about a population parameter to the test. It is used to estimate the relationship between 2 statistical variables.</a:t>
            </a:r>
            <a:endParaRPr lang="en-IN" dirty="0">
              <a:solidFill>
                <a:srgbClr val="333333"/>
              </a:solidFill>
              <a:latin typeface="inter-regular"/>
            </a:endParaRPr>
          </a:p>
        </p:txBody>
      </p:sp>
      <p:pic>
        <p:nvPicPr>
          <p:cNvPr id="1026" name="Picture 2" descr="Maggi 2-Minute Instant Noodles, Masala - 70 grams Pouch : Amazon.in:  Grocery &amp; Gourmet Foods">
            <a:extLst>
              <a:ext uri="{FF2B5EF4-FFF2-40B4-BE49-F238E27FC236}">
                <a16:creationId xmlns:a16="http://schemas.microsoft.com/office/drawing/2014/main" id="{F8CE3C63-4852-E32C-F499-B0EA4CB5E54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305" t="8195" r="18611" b="8334"/>
          <a:stretch/>
        </p:blipFill>
        <p:spPr bwMode="auto">
          <a:xfrm>
            <a:off x="1033398" y="2664864"/>
            <a:ext cx="2351994" cy="3162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Maggi 2-Minute Instant Noodles, Masala - 70 grams Pouch : Amazon.in:  Grocery &amp; Gourmet Foods">
            <a:extLst>
              <a:ext uri="{FF2B5EF4-FFF2-40B4-BE49-F238E27FC236}">
                <a16:creationId xmlns:a16="http://schemas.microsoft.com/office/drawing/2014/main" id="{77A1DF5D-88CA-A4E6-0E4F-9BD52AF474F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5" t="8195" r="18611" b="8334"/>
          <a:stretch/>
        </p:blipFill>
        <p:spPr bwMode="auto">
          <a:xfrm>
            <a:off x="7359402" y="2608782"/>
            <a:ext cx="610046" cy="8202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Maggi 2-Minute Instant Noodles, Masala - 70 grams Pouch : Amazon.in:  Grocery &amp; Gourmet Foods">
            <a:extLst>
              <a:ext uri="{FF2B5EF4-FFF2-40B4-BE49-F238E27FC236}">
                <a16:creationId xmlns:a16="http://schemas.microsoft.com/office/drawing/2014/main" id="{0104573A-25A9-A6A1-22A0-2A1EE290D3E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5" t="8195" r="18611" b="8334"/>
          <a:stretch/>
        </p:blipFill>
        <p:spPr bwMode="auto">
          <a:xfrm>
            <a:off x="8464302" y="2608782"/>
            <a:ext cx="610046" cy="82021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Maggi 2-Minute Instant Noodles, Masala - 70 grams Pouch : Amazon.in:  Grocery &amp; Gourmet Foods">
            <a:extLst>
              <a:ext uri="{FF2B5EF4-FFF2-40B4-BE49-F238E27FC236}">
                <a16:creationId xmlns:a16="http://schemas.microsoft.com/office/drawing/2014/main" id="{5D1E731D-4AD8-725B-5C24-14995A2098F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5" t="8195" r="18611" b="8334"/>
          <a:stretch/>
        </p:blipFill>
        <p:spPr bwMode="auto">
          <a:xfrm>
            <a:off x="9569202" y="2608782"/>
            <a:ext cx="610046" cy="82021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Maggi 2-Minute Instant Noodles, Masala - 70 grams Pouch : Amazon.in:  Grocery &amp; Gourmet Foods">
            <a:extLst>
              <a:ext uri="{FF2B5EF4-FFF2-40B4-BE49-F238E27FC236}">
                <a16:creationId xmlns:a16="http://schemas.microsoft.com/office/drawing/2014/main" id="{59E9AFD5-944B-BACA-6A68-F113AE704E4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5" t="8195" r="18611" b="8334"/>
          <a:stretch/>
        </p:blipFill>
        <p:spPr bwMode="auto">
          <a:xfrm>
            <a:off x="7359402" y="3694632"/>
            <a:ext cx="610046" cy="82021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Maggi 2-Minute Instant Noodles, Masala - 70 grams Pouch : Amazon.in:  Grocery &amp; Gourmet Foods">
            <a:extLst>
              <a:ext uri="{FF2B5EF4-FFF2-40B4-BE49-F238E27FC236}">
                <a16:creationId xmlns:a16="http://schemas.microsoft.com/office/drawing/2014/main" id="{0A0DB4F7-41AC-5D36-80AD-0C96A34A938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5" t="8195" r="18611" b="8334"/>
          <a:stretch/>
        </p:blipFill>
        <p:spPr bwMode="auto">
          <a:xfrm>
            <a:off x="8464302" y="3694632"/>
            <a:ext cx="610046" cy="82021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Maggi 2-Minute Instant Noodles, Masala - 70 grams Pouch : Amazon.in:  Grocery &amp; Gourmet Foods">
            <a:extLst>
              <a:ext uri="{FF2B5EF4-FFF2-40B4-BE49-F238E27FC236}">
                <a16:creationId xmlns:a16="http://schemas.microsoft.com/office/drawing/2014/main" id="{BF0D0B76-B466-6EA0-9C9F-910D0D1D5BB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5" t="8195" r="18611" b="8334"/>
          <a:stretch/>
        </p:blipFill>
        <p:spPr bwMode="auto">
          <a:xfrm>
            <a:off x="9569202" y="3694632"/>
            <a:ext cx="610046" cy="8202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Maggi 2-Minute Instant Noodles, Masala - 70 grams Pouch : Amazon.in:  Grocery &amp; Gourmet Foods">
            <a:extLst>
              <a:ext uri="{FF2B5EF4-FFF2-40B4-BE49-F238E27FC236}">
                <a16:creationId xmlns:a16="http://schemas.microsoft.com/office/drawing/2014/main" id="{618820EC-30E1-C6B2-7B09-DE5D3C58C46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5" t="8195" r="18611" b="8334"/>
          <a:stretch/>
        </p:blipFill>
        <p:spPr bwMode="auto">
          <a:xfrm>
            <a:off x="7359402" y="4913832"/>
            <a:ext cx="610046" cy="82021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Maggi 2-Minute Instant Noodles, Masala - 70 grams Pouch : Amazon.in:  Grocery &amp; Gourmet Foods">
            <a:extLst>
              <a:ext uri="{FF2B5EF4-FFF2-40B4-BE49-F238E27FC236}">
                <a16:creationId xmlns:a16="http://schemas.microsoft.com/office/drawing/2014/main" id="{874BD643-8521-444F-3D2F-77C123C6A5A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5" t="8195" r="18611" b="8334"/>
          <a:stretch/>
        </p:blipFill>
        <p:spPr bwMode="auto">
          <a:xfrm>
            <a:off x="8464302" y="4913832"/>
            <a:ext cx="610046" cy="82021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Maggi 2-Minute Instant Noodles, Masala - 70 grams Pouch : Amazon.in:  Grocery &amp; Gourmet Foods">
            <a:extLst>
              <a:ext uri="{FF2B5EF4-FFF2-40B4-BE49-F238E27FC236}">
                <a16:creationId xmlns:a16="http://schemas.microsoft.com/office/drawing/2014/main" id="{1BBAAC17-87D0-933A-CB5D-2E51B3C51FF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5" t="8195" r="18611" b="8334"/>
          <a:stretch/>
        </p:blipFill>
        <p:spPr bwMode="auto">
          <a:xfrm>
            <a:off x="9569202" y="4913832"/>
            <a:ext cx="610046" cy="820218"/>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Rounded Corners 16">
            <a:extLst>
              <a:ext uri="{FF2B5EF4-FFF2-40B4-BE49-F238E27FC236}">
                <a16:creationId xmlns:a16="http://schemas.microsoft.com/office/drawing/2014/main" id="{88A84645-6C16-B4E2-D2E3-B5BA1E83A8CC}"/>
              </a:ext>
            </a:extLst>
          </p:cNvPr>
          <p:cNvSpPr/>
          <p:nvPr/>
        </p:nvSpPr>
        <p:spPr>
          <a:xfrm>
            <a:off x="6864548" y="2238376"/>
            <a:ext cx="3727252" cy="3905250"/>
          </a:xfrm>
          <a:prstGeom prst="round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9743071B-A504-AB1D-8561-65324C4DBBA8}"/>
              </a:ext>
            </a:extLst>
          </p:cNvPr>
          <p:cNvSpPr txBox="1"/>
          <p:nvPr/>
        </p:nvSpPr>
        <p:spPr>
          <a:xfrm>
            <a:off x="7359402" y="6292725"/>
            <a:ext cx="3124200" cy="369332"/>
          </a:xfrm>
          <a:prstGeom prst="rect">
            <a:avLst/>
          </a:prstGeom>
          <a:noFill/>
        </p:spPr>
        <p:txBody>
          <a:bodyPr wrap="square" rtlCol="0">
            <a:spAutoFit/>
          </a:bodyPr>
          <a:lstStyle/>
          <a:p>
            <a:r>
              <a:rPr lang="en-US" dirty="0"/>
              <a:t>SAMPLE SIZE = 10000 Packets</a:t>
            </a:r>
            <a:endParaRPr lang="en-IN" dirty="0"/>
          </a:p>
        </p:txBody>
      </p:sp>
      <p:sp>
        <p:nvSpPr>
          <p:cNvPr id="19" name="TextBox 18">
            <a:extLst>
              <a:ext uri="{FF2B5EF4-FFF2-40B4-BE49-F238E27FC236}">
                <a16:creationId xmlns:a16="http://schemas.microsoft.com/office/drawing/2014/main" id="{85AA6E7C-4796-5783-871D-560198BC41B1}"/>
              </a:ext>
            </a:extLst>
          </p:cNvPr>
          <p:cNvSpPr txBox="1"/>
          <p:nvPr/>
        </p:nvSpPr>
        <p:spPr>
          <a:xfrm>
            <a:off x="3797944" y="3694632"/>
            <a:ext cx="2571750" cy="369332"/>
          </a:xfrm>
          <a:prstGeom prst="rect">
            <a:avLst/>
          </a:prstGeom>
          <a:noFill/>
        </p:spPr>
        <p:txBody>
          <a:bodyPr wrap="square" rtlCol="0">
            <a:spAutoFit/>
          </a:bodyPr>
          <a:lstStyle/>
          <a:p>
            <a:r>
              <a:rPr lang="en-US" b="1" dirty="0"/>
              <a:t>Lead content = 2.5 PPM</a:t>
            </a:r>
            <a:endParaRPr lang="en-IN" b="1" dirty="0"/>
          </a:p>
        </p:txBody>
      </p:sp>
    </p:spTree>
    <p:extLst>
      <p:ext uri="{BB962C8B-B14F-4D97-AF65-F5344CB8AC3E}">
        <p14:creationId xmlns:p14="http://schemas.microsoft.com/office/powerpoint/2010/main" val="4153824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me - Free web icons">
            <a:extLst>
              <a:ext uri="{FF2B5EF4-FFF2-40B4-BE49-F238E27FC236}">
                <a16:creationId xmlns:a16="http://schemas.microsoft.com/office/drawing/2014/main" id="{35501C34-0A28-0751-0A47-9BE03C99AB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7766" y="2895603"/>
            <a:ext cx="1123948" cy="112394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uilding - Free buildings icons">
            <a:extLst>
              <a:ext uri="{FF2B5EF4-FFF2-40B4-BE49-F238E27FC236}">
                <a16:creationId xmlns:a16="http://schemas.microsoft.com/office/drawing/2014/main" id="{1959426F-8C02-D02A-A19A-7600360388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7800" y="1343025"/>
            <a:ext cx="2571750" cy="257175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AA8EF48F-9ABB-9CBB-7361-332E5C0636AF}"/>
              </a:ext>
            </a:extLst>
          </p:cNvPr>
          <p:cNvCxnSpPr/>
          <p:nvPr/>
        </p:nvCxnSpPr>
        <p:spPr>
          <a:xfrm>
            <a:off x="2838450" y="3914775"/>
            <a:ext cx="599122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2056" name="Picture 8" descr="Free Car SVG, PNG Icon, Symbol. Download Image.">
            <a:extLst>
              <a:ext uri="{FF2B5EF4-FFF2-40B4-BE49-F238E27FC236}">
                <a16:creationId xmlns:a16="http://schemas.microsoft.com/office/drawing/2014/main" id="{EF9A84C5-E0D2-D003-A937-FBA00326125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14625" y="2752725"/>
            <a:ext cx="1619250" cy="161925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BF364820-F178-678E-E98B-6805ADB6AD6D}"/>
              </a:ext>
            </a:extLst>
          </p:cNvPr>
          <p:cNvCxnSpPr/>
          <p:nvPr/>
        </p:nvCxnSpPr>
        <p:spPr>
          <a:xfrm>
            <a:off x="3190875" y="1343025"/>
            <a:ext cx="5457825"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3DB4390-7A26-A36B-1F94-323104A926EA}"/>
              </a:ext>
            </a:extLst>
          </p:cNvPr>
          <p:cNvSpPr txBox="1"/>
          <p:nvPr/>
        </p:nvSpPr>
        <p:spPr>
          <a:xfrm>
            <a:off x="5024437" y="912257"/>
            <a:ext cx="2143125" cy="369332"/>
          </a:xfrm>
          <a:prstGeom prst="rect">
            <a:avLst/>
          </a:prstGeom>
          <a:noFill/>
        </p:spPr>
        <p:txBody>
          <a:bodyPr wrap="square" rtlCol="0">
            <a:spAutoFit/>
          </a:bodyPr>
          <a:lstStyle/>
          <a:p>
            <a:pPr algn="ctr"/>
            <a:r>
              <a:rPr lang="en-US" dirty="0"/>
              <a:t>1 hour</a:t>
            </a:r>
            <a:endParaRPr lang="en-IN" dirty="0"/>
          </a:p>
        </p:txBody>
      </p:sp>
      <p:sp>
        <p:nvSpPr>
          <p:cNvPr id="7" name="TextBox 6">
            <a:extLst>
              <a:ext uri="{FF2B5EF4-FFF2-40B4-BE49-F238E27FC236}">
                <a16:creationId xmlns:a16="http://schemas.microsoft.com/office/drawing/2014/main" id="{947C8EFB-E49C-5FBE-6BCD-BC52CE56C8ED}"/>
              </a:ext>
            </a:extLst>
          </p:cNvPr>
          <p:cNvSpPr txBox="1"/>
          <p:nvPr/>
        </p:nvSpPr>
        <p:spPr>
          <a:xfrm>
            <a:off x="1304925" y="3990974"/>
            <a:ext cx="1409700" cy="369332"/>
          </a:xfrm>
          <a:prstGeom prst="rect">
            <a:avLst/>
          </a:prstGeom>
          <a:noFill/>
        </p:spPr>
        <p:txBody>
          <a:bodyPr wrap="square" rtlCol="0">
            <a:spAutoFit/>
          </a:bodyPr>
          <a:lstStyle/>
          <a:p>
            <a:r>
              <a:rPr lang="en-US" dirty="0"/>
              <a:t>Home</a:t>
            </a:r>
            <a:endParaRPr lang="en-IN" dirty="0"/>
          </a:p>
        </p:txBody>
      </p:sp>
      <p:sp>
        <p:nvSpPr>
          <p:cNvPr id="8" name="TextBox 7">
            <a:extLst>
              <a:ext uri="{FF2B5EF4-FFF2-40B4-BE49-F238E27FC236}">
                <a16:creationId xmlns:a16="http://schemas.microsoft.com/office/drawing/2014/main" id="{EF1978CB-CC17-CC68-9242-296A669CD58A}"/>
              </a:ext>
            </a:extLst>
          </p:cNvPr>
          <p:cNvSpPr txBox="1"/>
          <p:nvPr/>
        </p:nvSpPr>
        <p:spPr>
          <a:xfrm>
            <a:off x="10048875" y="4002643"/>
            <a:ext cx="1409700" cy="369332"/>
          </a:xfrm>
          <a:prstGeom prst="rect">
            <a:avLst/>
          </a:prstGeom>
          <a:noFill/>
        </p:spPr>
        <p:txBody>
          <a:bodyPr wrap="square" rtlCol="0">
            <a:spAutoFit/>
          </a:bodyPr>
          <a:lstStyle/>
          <a:p>
            <a:r>
              <a:rPr lang="en-US" dirty="0"/>
              <a:t>Office</a:t>
            </a:r>
            <a:endParaRPr lang="en-IN" dirty="0"/>
          </a:p>
        </p:txBody>
      </p:sp>
      <p:sp>
        <p:nvSpPr>
          <p:cNvPr id="10" name="TextBox 9">
            <a:extLst>
              <a:ext uri="{FF2B5EF4-FFF2-40B4-BE49-F238E27FC236}">
                <a16:creationId xmlns:a16="http://schemas.microsoft.com/office/drawing/2014/main" id="{1AB1AC81-7CE0-C555-F88E-83024E765F6A}"/>
              </a:ext>
            </a:extLst>
          </p:cNvPr>
          <p:cNvSpPr txBox="1"/>
          <p:nvPr/>
        </p:nvSpPr>
        <p:spPr>
          <a:xfrm>
            <a:off x="723900" y="5133974"/>
            <a:ext cx="10915650" cy="1477328"/>
          </a:xfrm>
          <a:prstGeom prst="rect">
            <a:avLst/>
          </a:prstGeom>
          <a:noFill/>
        </p:spPr>
        <p:txBody>
          <a:bodyPr wrap="square">
            <a:spAutoFit/>
          </a:bodyPr>
          <a:lstStyle/>
          <a:p>
            <a:r>
              <a:rPr lang="en-US" dirty="0">
                <a:solidFill>
                  <a:srgbClr val="333333"/>
                </a:solidFill>
                <a:latin typeface="inter-regular"/>
              </a:rPr>
              <a:t>To under the characteristics of a general population, we take a random sample and analyze the properties of the sample. </a:t>
            </a:r>
          </a:p>
          <a:p>
            <a:r>
              <a:rPr lang="en-US" dirty="0">
                <a:solidFill>
                  <a:srgbClr val="333333"/>
                </a:solidFill>
                <a:latin typeface="inter-regular"/>
              </a:rPr>
              <a:t>We test whether or not the identified conclusion represents the population accurately and finally we interpret their results.</a:t>
            </a:r>
          </a:p>
          <a:p>
            <a:r>
              <a:rPr lang="en-US" dirty="0">
                <a:solidFill>
                  <a:srgbClr val="333333"/>
                </a:solidFill>
                <a:latin typeface="inter-regular"/>
              </a:rPr>
              <a:t>Whether or not to reject the hypothesis depends upon the percentage value that we get from the hypothesis.</a:t>
            </a:r>
            <a:endParaRPr lang="en-IN" dirty="0">
              <a:solidFill>
                <a:srgbClr val="333333"/>
              </a:solidFill>
              <a:latin typeface="inter-regular"/>
            </a:endParaRPr>
          </a:p>
        </p:txBody>
      </p:sp>
      <p:sp>
        <p:nvSpPr>
          <p:cNvPr id="11" name="Rectangle 10">
            <a:extLst>
              <a:ext uri="{FF2B5EF4-FFF2-40B4-BE49-F238E27FC236}">
                <a16:creationId xmlns:a16="http://schemas.microsoft.com/office/drawing/2014/main" id="{AFF7353B-41FC-738D-82DC-2ACE40B8A463}"/>
              </a:ext>
            </a:extLst>
          </p:cNvPr>
          <p:cNvSpPr/>
          <p:nvPr/>
        </p:nvSpPr>
        <p:spPr>
          <a:xfrm>
            <a:off x="619125" y="5046105"/>
            <a:ext cx="11125200" cy="161923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11233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3DD65-D8C4-E380-D8CE-11AF7D01557B}"/>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Null &amp; alternate hypothesis</a:t>
            </a:r>
          </a:p>
        </p:txBody>
      </p:sp>
      <p:sp>
        <p:nvSpPr>
          <p:cNvPr id="4" name="TextBox 3">
            <a:extLst>
              <a:ext uri="{FF2B5EF4-FFF2-40B4-BE49-F238E27FC236}">
                <a16:creationId xmlns:a16="http://schemas.microsoft.com/office/drawing/2014/main" id="{6817114A-55E7-E6AC-8A9E-CEA0F2370F51}"/>
              </a:ext>
            </a:extLst>
          </p:cNvPr>
          <p:cNvSpPr txBox="1"/>
          <p:nvPr/>
        </p:nvSpPr>
        <p:spPr>
          <a:xfrm>
            <a:off x="655162" y="959488"/>
            <a:ext cx="10881675" cy="1200329"/>
          </a:xfrm>
          <a:prstGeom prst="rect">
            <a:avLst/>
          </a:prstGeom>
          <a:noFill/>
        </p:spPr>
        <p:txBody>
          <a:bodyPr wrap="square">
            <a:spAutoFit/>
          </a:bodyPr>
          <a:lstStyle/>
          <a:p>
            <a:r>
              <a:rPr lang="en-US" dirty="0">
                <a:solidFill>
                  <a:srgbClr val="333333"/>
                </a:solidFill>
                <a:latin typeface="inter-regular"/>
              </a:rPr>
              <a:t>The probability and hypothesis testing give rise to two important concepts, namely:</a:t>
            </a:r>
          </a:p>
          <a:p>
            <a:endParaRPr lang="en-US" dirty="0">
              <a:solidFill>
                <a:srgbClr val="333333"/>
              </a:solidFill>
              <a:latin typeface="inter-regular"/>
            </a:endParaRPr>
          </a:p>
          <a:p>
            <a:pPr marL="285750" indent="-285750">
              <a:buFont typeface="Arial" panose="020B0604020202020204" pitchFamily="34" charset="0"/>
              <a:buChar char="•"/>
            </a:pPr>
            <a:r>
              <a:rPr lang="en-US" b="1" dirty="0">
                <a:solidFill>
                  <a:srgbClr val="333333"/>
                </a:solidFill>
                <a:latin typeface="inter-regular"/>
              </a:rPr>
              <a:t>Null Hypothesis (H0): </a:t>
            </a:r>
            <a:r>
              <a:rPr lang="en-US" dirty="0">
                <a:solidFill>
                  <a:srgbClr val="333333"/>
                </a:solidFill>
                <a:latin typeface="inter-regular"/>
              </a:rPr>
              <a:t>Result is no different from assumption.</a:t>
            </a:r>
          </a:p>
          <a:p>
            <a:pPr marL="285750" indent="-285750">
              <a:buFont typeface="Arial" panose="020B0604020202020204" pitchFamily="34" charset="0"/>
              <a:buChar char="•"/>
            </a:pPr>
            <a:r>
              <a:rPr lang="en-US" b="1" dirty="0">
                <a:solidFill>
                  <a:srgbClr val="333333"/>
                </a:solidFill>
                <a:latin typeface="inter-regular"/>
              </a:rPr>
              <a:t>Alternate Hypothesis (H1): </a:t>
            </a:r>
            <a:r>
              <a:rPr lang="en-US" dirty="0">
                <a:solidFill>
                  <a:srgbClr val="333333"/>
                </a:solidFill>
                <a:latin typeface="inter-regular"/>
              </a:rPr>
              <a:t>Result disproves the assumption.</a:t>
            </a:r>
          </a:p>
        </p:txBody>
      </p:sp>
      <p:cxnSp>
        <p:nvCxnSpPr>
          <p:cNvPr id="6" name="Straight Connector 5">
            <a:extLst>
              <a:ext uri="{FF2B5EF4-FFF2-40B4-BE49-F238E27FC236}">
                <a16:creationId xmlns:a16="http://schemas.microsoft.com/office/drawing/2014/main" id="{DAF15E36-8D60-7783-4923-C11E7B64D748}"/>
              </a:ext>
            </a:extLst>
          </p:cNvPr>
          <p:cNvCxnSpPr/>
          <p:nvPr/>
        </p:nvCxnSpPr>
        <p:spPr>
          <a:xfrm>
            <a:off x="542925" y="5276850"/>
            <a:ext cx="107918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8ACD8157-9959-3866-784F-C12047EC51BA}"/>
              </a:ext>
            </a:extLst>
          </p:cNvPr>
          <p:cNvSpPr/>
          <p:nvPr/>
        </p:nvSpPr>
        <p:spPr>
          <a:xfrm>
            <a:off x="3943350" y="3752850"/>
            <a:ext cx="3971925" cy="295274"/>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OUTCOME OF HYPOTHESIS</a:t>
            </a:r>
            <a:endParaRPr lang="en-IN" dirty="0">
              <a:solidFill>
                <a:schemeClr val="tx1"/>
              </a:solidFill>
            </a:endParaRPr>
          </a:p>
        </p:txBody>
      </p:sp>
      <p:sp>
        <p:nvSpPr>
          <p:cNvPr id="9" name="TextBox 8">
            <a:extLst>
              <a:ext uri="{FF2B5EF4-FFF2-40B4-BE49-F238E27FC236}">
                <a16:creationId xmlns:a16="http://schemas.microsoft.com/office/drawing/2014/main" id="{1C14F34D-FE2F-B138-7DCB-54D76ED19CA7}"/>
              </a:ext>
            </a:extLst>
          </p:cNvPr>
          <p:cNvSpPr txBox="1"/>
          <p:nvPr/>
        </p:nvSpPr>
        <p:spPr>
          <a:xfrm>
            <a:off x="542925" y="4191000"/>
            <a:ext cx="10687050" cy="646331"/>
          </a:xfrm>
          <a:prstGeom prst="rect">
            <a:avLst/>
          </a:prstGeom>
          <a:noFill/>
        </p:spPr>
        <p:txBody>
          <a:bodyPr wrap="square" rtlCol="0">
            <a:spAutoFit/>
          </a:bodyPr>
          <a:lstStyle/>
          <a:p>
            <a:r>
              <a:rPr lang="en-US" dirty="0"/>
              <a:t>Rejection of NULL hypothesis: Guilty</a:t>
            </a:r>
          </a:p>
          <a:p>
            <a:r>
              <a:rPr lang="en-US" dirty="0"/>
              <a:t>Failure to reject NULL hypothesis: Not Guilty</a:t>
            </a:r>
            <a:endParaRPr lang="en-IN" dirty="0"/>
          </a:p>
        </p:txBody>
      </p:sp>
      <p:sp>
        <p:nvSpPr>
          <p:cNvPr id="10" name="TextBox 9">
            <a:extLst>
              <a:ext uri="{FF2B5EF4-FFF2-40B4-BE49-F238E27FC236}">
                <a16:creationId xmlns:a16="http://schemas.microsoft.com/office/drawing/2014/main" id="{FD219BFE-2B56-EC6D-E154-4AE464AF2F29}"/>
              </a:ext>
            </a:extLst>
          </p:cNvPr>
          <p:cNvSpPr txBox="1"/>
          <p:nvPr/>
        </p:nvSpPr>
        <p:spPr>
          <a:xfrm>
            <a:off x="625929" y="5265955"/>
            <a:ext cx="11106150" cy="1477328"/>
          </a:xfrm>
          <a:prstGeom prst="rect">
            <a:avLst/>
          </a:prstGeom>
          <a:noFill/>
        </p:spPr>
        <p:txBody>
          <a:bodyPr wrap="square" rtlCol="0">
            <a:spAutoFit/>
          </a:bodyPr>
          <a:lstStyle/>
          <a:p>
            <a:r>
              <a:rPr lang="en-US" dirty="0"/>
              <a:t>As per our example, where the average time to commute from home to office is 1 hour. What will be our null hypothesis?</a:t>
            </a:r>
          </a:p>
          <a:p>
            <a:endParaRPr lang="en-US" dirty="0"/>
          </a:p>
          <a:p>
            <a:pPr marL="342900" indent="-342900">
              <a:buAutoNum type="alphaLcPeriod"/>
            </a:pPr>
            <a:r>
              <a:rPr lang="en-US" dirty="0"/>
              <a:t>Employees take an average of 1 hour to commute from home to office</a:t>
            </a:r>
          </a:p>
          <a:p>
            <a:pPr marL="342900" indent="-342900">
              <a:buAutoNum type="alphaLcPeriod"/>
            </a:pPr>
            <a:r>
              <a:rPr lang="en-US" dirty="0"/>
              <a:t>Employees take more than 1 hour to commute from home to office</a:t>
            </a:r>
          </a:p>
        </p:txBody>
      </p:sp>
      <p:sp>
        <p:nvSpPr>
          <p:cNvPr id="5" name="TextBox 4">
            <a:extLst>
              <a:ext uri="{FF2B5EF4-FFF2-40B4-BE49-F238E27FC236}">
                <a16:creationId xmlns:a16="http://schemas.microsoft.com/office/drawing/2014/main" id="{6D2A242D-6E03-134D-F5C1-C82CA8832A2B}"/>
              </a:ext>
            </a:extLst>
          </p:cNvPr>
          <p:cNvSpPr txBox="1"/>
          <p:nvPr/>
        </p:nvSpPr>
        <p:spPr>
          <a:xfrm>
            <a:off x="655161" y="2302693"/>
            <a:ext cx="10881675" cy="923330"/>
          </a:xfrm>
          <a:prstGeom prst="rect">
            <a:avLst/>
          </a:prstGeom>
          <a:noFill/>
        </p:spPr>
        <p:txBody>
          <a:bodyPr wrap="square">
            <a:spAutoFit/>
          </a:bodyPr>
          <a:lstStyle/>
          <a:p>
            <a:r>
              <a:rPr lang="en-US" b="0" i="1" dirty="0">
                <a:solidFill>
                  <a:srgbClr val="333333"/>
                </a:solidFill>
                <a:effectLst/>
                <a:latin typeface="Untitled Sans"/>
              </a:rPr>
              <a:t>Suppose an experiment is conducted to check if girls are shorter than boys at the age of 5. </a:t>
            </a:r>
          </a:p>
          <a:p>
            <a:r>
              <a:rPr lang="en-US" b="0" i="1" dirty="0">
                <a:solidFill>
                  <a:srgbClr val="333333"/>
                </a:solidFill>
                <a:effectLst/>
                <a:latin typeface="Untitled Sans"/>
              </a:rPr>
              <a:t>The null hypothesis will say that they are the same height</a:t>
            </a:r>
            <a:r>
              <a:rPr lang="en-US" i="1" dirty="0">
                <a:solidFill>
                  <a:srgbClr val="333333"/>
                </a:solidFill>
                <a:latin typeface="Untitled Sans"/>
              </a:rPr>
              <a:t> AND </a:t>
            </a:r>
            <a:r>
              <a:rPr lang="en-US" b="0" i="1" dirty="0">
                <a:solidFill>
                  <a:srgbClr val="333333"/>
                </a:solidFill>
                <a:effectLst/>
                <a:latin typeface="Untitled Sans"/>
              </a:rPr>
              <a:t>the alternative hypothesis would be that girls are shorter than boys at the age of 5.</a:t>
            </a:r>
            <a:endParaRPr lang="en-IN" i="1" dirty="0"/>
          </a:p>
        </p:txBody>
      </p:sp>
    </p:spTree>
    <p:extLst>
      <p:ext uri="{BB962C8B-B14F-4D97-AF65-F5344CB8AC3E}">
        <p14:creationId xmlns:p14="http://schemas.microsoft.com/office/powerpoint/2010/main" val="3656164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Normal Distributions (Bell Curve): Definition, Word Problems - Statistics  How To">
            <a:extLst>
              <a:ext uri="{FF2B5EF4-FFF2-40B4-BE49-F238E27FC236}">
                <a16:creationId xmlns:a16="http://schemas.microsoft.com/office/drawing/2014/main" id="{34222113-8738-EFEB-1B81-1EA8E62627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733"/>
          <a:stretch/>
        </p:blipFill>
        <p:spPr bwMode="auto">
          <a:xfrm>
            <a:off x="7339014" y="3505200"/>
            <a:ext cx="3509962" cy="280035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D800273-C336-4CDF-94F2-8B272741A0EE}"/>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CRITICAL VALUE METHOD</a:t>
            </a:r>
          </a:p>
        </p:txBody>
      </p:sp>
      <p:sp>
        <p:nvSpPr>
          <p:cNvPr id="4" name="TextBox 3">
            <a:extLst>
              <a:ext uri="{FF2B5EF4-FFF2-40B4-BE49-F238E27FC236}">
                <a16:creationId xmlns:a16="http://schemas.microsoft.com/office/drawing/2014/main" id="{9B8D8747-1250-9016-C5F1-FCE468772879}"/>
              </a:ext>
            </a:extLst>
          </p:cNvPr>
          <p:cNvSpPr txBox="1"/>
          <p:nvPr/>
        </p:nvSpPr>
        <p:spPr>
          <a:xfrm>
            <a:off x="757875" y="2721113"/>
            <a:ext cx="6076910" cy="400110"/>
          </a:xfrm>
          <a:prstGeom prst="rect">
            <a:avLst/>
          </a:prstGeom>
          <a:noFill/>
        </p:spPr>
        <p:txBody>
          <a:bodyPr wrap="square" rtlCol="0">
            <a:spAutoFit/>
          </a:bodyPr>
          <a:lstStyle/>
          <a:p>
            <a:r>
              <a:rPr lang="en-US" sz="2000" i="1" dirty="0"/>
              <a:t>E.g. </a:t>
            </a:r>
            <a:r>
              <a:rPr lang="en-US" sz="2000" b="1" dirty="0"/>
              <a:t>Amit’s claim: </a:t>
            </a:r>
            <a:r>
              <a:rPr lang="en-US" sz="2000" dirty="0"/>
              <a:t>Average score in archery = 100</a:t>
            </a:r>
            <a:endParaRPr lang="en-IN" sz="2000" dirty="0"/>
          </a:p>
        </p:txBody>
      </p:sp>
      <p:pic>
        <p:nvPicPr>
          <p:cNvPr id="3076" name="Picture 4" descr="Archery GIFs - Get the best gif on GIFER">
            <a:extLst>
              <a:ext uri="{FF2B5EF4-FFF2-40B4-BE49-F238E27FC236}">
                <a16:creationId xmlns:a16="http://schemas.microsoft.com/office/drawing/2014/main" id="{1070C447-9FBB-902B-5C44-9CBCFEA48A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6714" y="454265"/>
            <a:ext cx="3914776" cy="263950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96544BE-5D11-7DEF-9588-B4139FF9A1F7}"/>
              </a:ext>
            </a:extLst>
          </p:cNvPr>
          <p:cNvSpPr txBox="1"/>
          <p:nvPr/>
        </p:nvSpPr>
        <p:spPr>
          <a:xfrm>
            <a:off x="628651" y="3274159"/>
            <a:ext cx="3409950" cy="1631216"/>
          </a:xfrm>
          <a:prstGeom prst="rect">
            <a:avLst/>
          </a:prstGeom>
          <a:noFill/>
        </p:spPr>
        <p:txBody>
          <a:bodyPr wrap="square" rtlCol="0">
            <a:spAutoFit/>
          </a:bodyPr>
          <a:lstStyle/>
          <a:p>
            <a:r>
              <a:rPr lang="en-US" sz="2000" b="1" i="1" dirty="0"/>
              <a:t>5 Games of archery</a:t>
            </a:r>
          </a:p>
          <a:p>
            <a:endParaRPr lang="en-US" sz="2000" dirty="0"/>
          </a:p>
          <a:p>
            <a:pPr marL="342900" indent="-342900">
              <a:buFont typeface="Arial" panose="020B0604020202020204" pitchFamily="34" charset="0"/>
              <a:buChar char="•"/>
            </a:pPr>
            <a:r>
              <a:rPr lang="en-US" sz="2000" dirty="0"/>
              <a:t>Average score = 20</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Average score = 89</a:t>
            </a:r>
            <a:endParaRPr lang="en-IN" sz="2000" dirty="0"/>
          </a:p>
        </p:txBody>
      </p:sp>
      <p:sp>
        <p:nvSpPr>
          <p:cNvPr id="6" name="TextBox 5">
            <a:extLst>
              <a:ext uri="{FF2B5EF4-FFF2-40B4-BE49-F238E27FC236}">
                <a16:creationId xmlns:a16="http://schemas.microsoft.com/office/drawing/2014/main" id="{E1240798-4AFA-2DF8-60E1-526C15953F43}"/>
              </a:ext>
            </a:extLst>
          </p:cNvPr>
          <p:cNvSpPr txBox="1"/>
          <p:nvPr/>
        </p:nvSpPr>
        <p:spPr>
          <a:xfrm>
            <a:off x="3031650" y="3926562"/>
            <a:ext cx="3226275" cy="923330"/>
          </a:xfrm>
          <a:prstGeom prst="rect">
            <a:avLst/>
          </a:prstGeom>
          <a:noFill/>
        </p:spPr>
        <p:txBody>
          <a:bodyPr wrap="square" rtlCol="0">
            <a:spAutoFit/>
          </a:bodyPr>
          <a:lstStyle/>
          <a:p>
            <a:r>
              <a:rPr lang="en-US" b="1" dirty="0">
                <a:latin typeface="Arial Narrow" panose="020B0606020202030204" pitchFamily="34" charset="0"/>
              </a:rPr>
              <a:t>(Less likely to believe his claim)</a:t>
            </a:r>
          </a:p>
          <a:p>
            <a:endParaRPr lang="en-US" b="1" dirty="0">
              <a:latin typeface="Arial Narrow" panose="020B0606020202030204" pitchFamily="34" charset="0"/>
            </a:endParaRPr>
          </a:p>
          <a:p>
            <a:r>
              <a:rPr lang="en-US" b="1" dirty="0">
                <a:latin typeface="Arial Narrow" panose="020B0606020202030204" pitchFamily="34" charset="0"/>
              </a:rPr>
              <a:t>(More likely to believe his claim)</a:t>
            </a:r>
            <a:endParaRPr lang="en-IN" b="1" dirty="0">
              <a:latin typeface="Arial Narrow" panose="020B0606020202030204" pitchFamily="34" charset="0"/>
            </a:endParaRPr>
          </a:p>
        </p:txBody>
      </p:sp>
      <p:pic>
        <p:nvPicPr>
          <p:cNvPr id="3078" name="Picture 6" descr="Normal Distributions (Bell Curve): Definition, Word Problems - Statistics  How To">
            <a:extLst>
              <a:ext uri="{FF2B5EF4-FFF2-40B4-BE49-F238E27FC236}">
                <a16:creationId xmlns:a16="http://schemas.microsoft.com/office/drawing/2014/main" id="{BD5ECBE4-FE31-C631-227A-C3EBB9FEA0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733"/>
          <a:stretch/>
        </p:blipFill>
        <p:spPr bwMode="auto">
          <a:xfrm>
            <a:off x="7339014" y="3562350"/>
            <a:ext cx="3509962" cy="28003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C1C535A-2A74-E7ED-CBCB-A544034207B8}"/>
              </a:ext>
            </a:extLst>
          </p:cNvPr>
          <p:cNvSpPr txBox="1"/>
          <p:nvPr/>
        </p:nvSpPr>
        <p:spPr>
          <a:xfrm>
            <a:off x="10353675" y="3121223"/>
            <a:ext cx="1519240" cy="1477328"/>
          </a:xfrm>
          <a:prstGeom prst="rect">
            <a:avLst/>
          </a:prstGeom>
          <a:noFill/>
        </p:spPr>
        <p:txBody>
          <a:bodyPr wrap="square" rtlCol="0">
            <a:spAutoFit/>
          </a:bodyPr>
          <a:lstStyle/>
          <a:p>
            <a:r>
              <a:rPr lang="en-US" dirty="0"/>
              <a:t>H0: </a:t>
            </a:r>
            <a:r>
              <a:rPr lang="en-IN" b="0" i="0" dirty="0">
                <a:solidFill>
                  <a:srgbClr val="040C28"/>
                </a:solidFill>
                <a:effectLst/>
                <a:latin typeface="Google Sans"/>
              </a:rPr>
              <a:t>µ = 100</a:t>
            </a:r>
          </a:p>
          <a:p>
            <a:endParaRPr lang="en-IN" dirty="0">
              <a:solidFill>
                <a:srgbClr val="040C28"/>
              </a:solidFill>
              <a:latin typeface="Google Sans"/>
            </a:endParaRPr>
          </a:p>
          <a:p>
            <a:r>
              <a:rPr lang="en-IN" b="0" i="0" dirty="0">
                <a:solidFill>
                  <a:srgbClr val="040C28"/>
                </a:solidFill>
                <a:effectLst/>
                <a:latin typeface="Google Sans"/>
              </a:rPr>
              <a:t>X̄ = </a:t>
            </a:r>
            <a:r>
              <a:rPr lang="en-IN" dirty="0">
                <a:solidFill>
                  <a:srgbClr val="040C28"/>
                </a:solidFill>
                <a:latin typeface="Google Sans"/>
              </a:rPr>
              <a:t>20</a:t>
            </a:r>
            <a:endParaRPr lang="en-IN" b="0" i="0" dirty="0">
              <a:solidFill>
                <a:srgbClr val="040C28"/>
              </a:solidFill>
              <a:effectLst/>
              <a:latin typeface="Google Sans"/>
            </a:endParaRPr>
          </a:p>
          <a:p>
            <a:r>
              <a:rPr lang="en-IN" dirty="0">
                <a:solidFill>
                  <a:srgbClr val="040C28"/>
                </a:solidFill>
                <a:latin typeface="Google Sans"/>
              </a:rPr>
              <a:t>LCV: 70</a:t>
            </a:r>
          </a:p>
          <a:p>
            <a:r>
              <a:rPr lang="en-IN" b="0" i="0" dirty="0">
                <a:solidFill>
                  <a:srgbClr val="040C28"/>
                </a:solidFill>
                <a:effectLst/>
                <a:latin typeface="Google Sans"/>
              </a:rPr>
              <a:t>HCV: 130 </a:t>
            </a:r>
            <a:endParaRPr lang="en-IN" dirty="0"/>
          </a:p>
        </p:txBody>
      </p:sp>
      <p:sp>
        <p:nvSpPr>
          <p:cNvPr id="10" name="TextBox 9">
            <a:extLst>
              <a:ext uri="{FF2B5EF4-FFF2-40B4-BE49-F238E27FC236}">
                <a16:creationId xmlns:a16="http://schemas.microsoft.com/office/drawing/2014/main" id="{1CE6EB54-4AB2-C426-CC83-6468D35EAAE3}"/>
              </a:ext>
            </a:extLst>
          </p:cNvPr>
          <p:cNvSpPr txBox="1"/>
          <p:nvPr/>
        </p:nvSpPr>
        <p:spPr>
          <a:xfrm>
            <a:off x="9013032" y="6256758"/>
            <a:ext cx="295275" cy="369332"/>
          </a:xfrm>
          <a:prstGeom prst="rect">
            <a:avLst/>
          </a:prstGeom>
          <a:noFill/>
        </p:spPr>
        <p:txBody>
          <a:bodyPr wrap="square">
            <a:spAutoFit/>
          </a:bodyPr>
          <a:lstStyle/>
          <a:p>
            <a:r>
              <a:rPr lang="en-IN" b="0" i="0" dirty="0">
                <a:solidFill>
                  <a:srgbClr val="040C28"/>
                </a:solidFill>
                <a:effectLst/>
                <a:latin typeface="Google Sans"/>
              </a:rPr>
              <a:t>µ</a:t>
            </a:r>
            <a:endParaRPr lang="en-IN" dirty="0"/>
          </a:p>
        </p:txBody>
      </p:sp>
      <p:cxnSp>
        <p:nvCxnSpPr>
          <p:cNvPr id="12" name="Straight Connector 11">
            <a:extLst>
              <a:ext uri="{FF2B5EF4-FFF2-40B4-BE49-F238E27FC236}">
                <a16:creationId xmlns:a16="http://schemas.microsoft.com/office/drawing/2014/main" id="{BF697D69-02B2-3998-50A3-04520D23EC51}"/>
              </a:ext>
            </a:extLst>
          </p:cNvPr>
          <p:cNvCxnSpPr/>
          <p:nvPr/>
        </p:nvCxnSpPr>
        <p:spPr>
          <a:xfrm>
            <a:off x="8181975" y="5348667"/>
            <a:ext cx="0" cy="864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5FD2CC1-7301-EF95-8110-6E76AB9448BE}"/>
              </a:ext>
            </a:extLst>
          </p:cNvPr>
          <p:cNvCxnSpPr/>
          <p:nvPr/>
        </p:nvCxnSpPr>
        <p:spPr>
          <a:xfrm>
            <a:off x="10077450" y="5348667"/>
            <a:ext cx="0" cy="864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CE4A63A-F436-FC69-0F01-EE1B87AF697D}"/>
              </a:ext>
            </a:extLst>
          </p:cNvPr>
          <p:cNvSpPr txBox="1"/>
          <p:nvPr/>
        </p:nvSpPr>
        <p:spPr>
          <a:xfrm>
            <a:off x="7827169" y="6305550"/>
            <a:ext cx="709612" cy="369332"/>
          </a:xfrm>
          <a:prstGeom prst="rect">
            <a:avLst/>
          </a:prstGeom>
          <a:noFill/>
        </p:spPr>
        <p:txBody>
          <a:bodyPr wrap="square" rtlCol="0">
            <a:spAutoFit/>
          </a:bodyPr>
          <a:lstStyle/>
          <a:p>
            <a:r>
              <a:rPr lang="en-US" dirty="0"/>
              <a:t>LCV</a:t>
            </a:r>
            <a:endParaRPr lang="en-IN" dirty="0"/>
          </a:p>
        </p:txBody>
      </p:sp>
      <p:sp>
        <p:nvSpPr>
          <p:cNvPr id="15" name="TextBox 14">
            <a:extLst>
              <a:ext uri="{FF2B5EF4-FFF2-40B4-BE49-F238E27FC236}">
                <a16:creationId xmlns:a16="http://schemas.microsoft.com/office/drawing/2014/main" id="{5DDC7C08-CC27-F461-5591-1A3B67B82C56}"/>
              </a:ext>
            </a:extLst>
          </p:cNvPr>
          <p:cNvSpPr txBox="1"/>
          <p:nvPr/>
        </p:nvSpPr>
        <p:spPr>
          <a:xfrm>
            <a:off x="9855993" y="6292810"/>
            <a:ext cx="709612" cy="369332"/>
          </a:xfrm>
          <a:prstGeom prst="rect">
            <a:avLst/>
          </a:prstGeom>
          <a:noFill/>
        </p:spPr>
        <p:txBody>
          <a:bodyPr wrap="square" rtlCol="0">
            <a:spAutoFit/>
          </a:bodyPr>
          <a:lstStyle/>
          <a:p>
            <a:r>
              <a:rPr lang="en-US" dirty="0"/>
              <a:t>HCV</a:t>
            </a:r>
            <a:endParaRPr lang="en-IN" dirty="0"/>
          </a:p>
        </p:txBody>
      </p:sp>
      <p:sp>
        <p:nvSpPr>
          <p:cNvPr id="16" name="Oval 15">
            <a:extLst>
              <a:ext uri="{FF2B5EF4-FFF2-40B4-BE49-F238E27FC236}">
                <a16:creationId xmlns:a16="http://schemas.microsoft.com/office/drawing/2014/main" id="{3615C3E1-35E7-93FE-805E-1FD37957ABE0}"/>
              </a:ext>
            </a:extLst>
          </p:cNvPr>
          <p:cNvSpPr/>
          <p:nvPr/>
        </p:nvSpPr>
        <p:spPr>
          <a:xfrm>
            <a:off x="8347472" y="6213515"/>
            <a:ext cx="102394" cy="920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8CB3D470-A0A7-6833-AFF6-82E9989B4425}"/>
              </a:ext>
            </a:extLst>
          </p:cNvPr>
          <p:cNvSpPr txBox="1"/>
          <p:nvPr/>
        </p:nvSpPr>
        <p:spPr>
          <a:xfrm>
            <a:off x="986435" y="5993368"/>
            <a:ext cx="5848350" cy="369332"/>
          </a:xfrm>
          <a:prstGeom prst="rect">
            <a:avLst/>
          </a:prstGeom>
          <a:noFill/>
        </p:spPr>
        <p:txBody>
          <a:bodyPr wrap="square" rtlCol="0">
            <a:spAutoFit/>
          </a:bodyPr>
          <a:lstStyle/>
          <a:p>
            <a:r>
              <a:rPr lang="en-US" b="1" i="1" dirty="0"/>
              <a:t>Such methods are called as “Two tailed test”</a:t>
            </a:r>
            <a:endParaRPr lang="en-IN" b="1" i="1" dirty="0"/>
          </a:p>
        </p:txBody>
      </p:sp>
      <p:sp>
        <p:nvSpPr>
          <p:cNvPr id="9" name="TextBox 8">
            <a:extLst>
              <a:ext uri="{FF2B5EF4-FFF2-40B4-BE49-F238E27FC236}">
                <a16:creationId xmlns:a16="http://schemas.microsoft.com/office/drawing/2014/main" id="{58EB3EA0-FF7D-9582-FEA8-801D4F972296}"/>
              </a:ext>
            </a:extLst>
          </p:cNvPr>
          <p:cNvSpPr txBox="1"/>
          <p:nvPr/>
        </p:nvSpPr>
        <p:spPr>
          <a:xfrm>
            <a:off x="628651" y="1009077"/>
            <a:ext cx="7821214" cy="1200329"/>
          </a:xfrm>
          <a:prstGeom prst="rect">
            <a:avLst/>
          </a:prstGeom>
          <a:noFill/>
        </p:spPr>
        <p:txBody>
          <a:bodyPr wrap="square">
            <a:spAutoFit/>
          </a:bodyPr>
          <a:lstStyle/>
          <a:p>
            <a:r>
              <a:rPr lang="en-US" b="0" i="0" dirty="0">
                <a:effectLst/>
                <a:latin typeface="Untitled Sans"/>
              </a:rPr>
              <a:t>All sets of values that lead to rejecting the null hypothesis lie in the critical region.</a:t>
            </a:r>
          </a:p>
          <a:p>
            <a:r>
              <a:rPr lang="en-US" b="0" i="0" dirty="0">
                <a:effectLst/>
                <a:latin typeface="Untitled Sans"/>
              </a:rPr>
              <a:t> </a:t>
            </a:r>
          </a:p>
          <a:p>
            <a:r>
              <a:rPr lang="en-US" b="0" i="0" dirty="0">
                <a:effectLst/>
                <a:latin typeface="Untitled Sans"/>
              </a:rPr>
              <a:t>Furthermore, the value that separates the critical region from the non-critical region is known as the critical value.</a:t>
            </a:r>
            <a:endParaRPr lang="en-IN" dirty="0"/>
          </a:p>
        </p:txBody>
      </p:sp>
    </p:spTree>
    <p:extLst>
      <p:ext uri="{BB962C8B-B14F-4D97-AF65-F5344CB8AC3E}">
        <p14:creationId xmlns:p14="http://schemas.microsoft.com/office/powerpoint/2010/main" val="3653392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D2664E-5A2A-7CEF-1DFD-36185B916DE1}"/>
              </a:ext>
            </a:extLst>
          </p:cNvPr>
          <p:cNvSpPr txBox="1"/>
          <p:nvPr/>
        </p:nvSpPr>
        <p:spPr>
          <a:xfrm>
            <a:off x="790575" y="424934"/>
            <a:ext cx="6096000" cy="369332"/>
          </a:xfrm>
          <a:prstGeom prst="rect">
            <a:avLst/>
          </a:prstGeom>
          <a:noFill/>
        </p:spPr>
        <p:txBody>
          <a:bodyPr wrap="square">
            <a:spAutoFit/>
          </a:bodyPr>
          <a:lstStyle/>
          <a:p>
            <a:pPr algn="l"/>
            <a:r>
              <a:rPr lang="en-IN" b="1" cap="all" dirty="0">
                <a:solidFill>
                  <a:srgbClr val="27509B"/>
                </a:solidFill>
                <a:latin typeface="Michelin SemiBold" panose="02000000000000000000" pitchFamily="50" charset="0"/>
                <a:ea typeface="+mj-ea"/>
                <a:cs typeface="+mj-cs"/>
              </a:rPr>
              <a:t>P-Value</a:t>
            </a:r>
          </a:p>
        </p:txBody>
      </p:sp>
      <p:sp>
        <p:nvSpPr>
          <p:cNvPr id="4" name="TextBox 3">
            <a:extLst>
              <a:ext uri="{FF2B5EF4-FFF2-40B4-BE49-F238E27FC236}">
                <a16:creationId xmlns:a16="http://schemas.microsoft.com/office/drawing/2014/main" id="{9E0E9E7C-B227-0F81-7343-40DBA9D506A3}"/>
              </a:ext>
            </a:extLst>
          </p:cNvPr>
          <p:cNvSpPr txBox="1"/>
          <p:nvPr/>
        </p:nvSpPr>
        <p:spPr>
          <a:xfrm>
            <a:off x="719136" y="1024962"/>
            <a:ext cx="10391775" cy="1200329"/>
          </a:xfrm>
          <a:prstGeom prst="rect">
            <a:avLst/>
          </a:prstGeom>
          <a:noFill/>
        </p:spPr>
        <p:txBody>
          <a:bodyPr wrap="square">
            <a:spAutoFit/>
          </a:bodyPr>
          <a:lstStyle/>
          <a:p>
            <a:r>
              <a:rPr lang="en-US" b="0" i="0" dirty="0">
                <a:solidFill>
                  <a:srgbClr val="0D405F"/>
                </a:solidFill>
                <a:effectLst/>
                <a:latin typeface="Inter"/>
              </a:rPr>
              <a:t>The </a:t>
            </a:r>
            <a:r>
              <a:rPr lang="en-US" b="1" i="1" dirty="0">
                <a:solidFill>
                  <a:srgbClr val="0D405F"/>
                </a:solidFill>
                <a:effectLst/>
                <a:latin typeface="Inter"/>
              </a:rPr>
              <a:t>p </a:t>
            </a:r>
            <a:r>
              <a:rPr lang="en-US" b="1" i="0" dirty="0">
                <a:solidFill>
                  <a:srgbClr val="0D405F"/>
                </a:solidFill>
                <a:effectLst/>
                <a:latin typeface="Inter"/>
              </a:rPr>
              <a:t>value</a:t>
            </a:r>
            <a:r>
              <a:rPr lang="en-US" b="0" i="0" dirty="0">
                <a:solidFill>
                  <a:srgbClr val="0D405F"/>
                </a:solidFill>
                <a:effectLst/>
                <a:latin typeface="Inter"/>
              </a:rPr>
              <a:t> is a number, calculated from a statistical test, that describes how likely you are to have found a particular set of observations if the null hypothesis were true.</a:t>
            </a:r>
          </a:p>
          <a:p>
            <a:endParaRPr lang="en-US" dirty="0">
              <a:solidFill>
                <a:srgbClr val="0D405F"/>
              </a:solidFill>
              <a:latin typeface="Inter"/>
            </a:endParaRPr>
          </a:p>
          <a:p>
            <a:r>
              <a:rPr lang="en-US" dirty="0">
                <a:solidFill>
                  <a:srgbClr val="0D405F"/>
                </a:solidFill>
                <a:latin typeface="Inter"/>
              </a:rPr>
              <a:t>The P-value is known as the level of marginal significance within the hypothesis testing </a:t>
            </a:r>
            <a:endParaRPr lang="en-IN" dirty="0">
              <a:solidFill>
                <a:srgbClr val="0D405F"/>
              </a:solidFill>
              <a:latin typeface="Inter"/>
            </a:endParaRPr>
          </a:p>
        </p:txBody>
      </p:sp>
      <p:sp>
        <p:nvSpPr>
          <p:cNvPr id="5" name="Rectangle: Rounded Corners 4">
            <a:extLst>
              <a:ext uri="{FF2B5EF4-FFF2-40B4-BE49-F238E27FC236}">
                <a16:creationId xmlns:a16="http://schemas.microsoft.com/office/drawing/2014/main" id="{2187CEC4-D7D2-DDD7-140A-039AC317EF01}"/>
              </a:ext>
            </a:extLst>
          </p:cNvPr>
          <p:cNvSpPr/>
          <p:nvPr/>
        </p:nvSpPr>
        <p:spPr>
          <a:xfrm>
            <a:off x="647700" y="961250"/>
            <a:ext cx="10534649" cy="1327755"/>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C4E71BCB-3ABC-00BD-96F7-9C1B008F4D79}"/>
              </a:ext>
            </a:extLst>
          </p:cNvPr>
          <p:cNvSpPr txBox="1"/>
          <p:nvPr/>
        </p:nvSpPr>
        <p:spPr>
          <a:xfrm>
            <a:off x="790574" y="2416432"/>
            <a:ext cx="10534648" cy="1477328"/>
          </a:xfrm>
          <a:prstGeom prst="rect">
            <a:avLst/>
          </a:prstGeom>
          <a:noFill/>
        </p:spPr>
        <p:txBody>
          <a:bodyPr wrap="square">
            <a:spAutoFit/>
          </a:bodyPr>
          <a:lstStyle/>
          <a:p>
            <a:pPr marL="285750" indent="-285750">
              <a:buFont typeface="Arial" panose="020B0604020202020204" pitchFamily="34" charset="0"/>
              <a:buChar char="•"/>
            </a:pPr>
            <a:r>
              <a:rPr lang="en-US" b="0" i="1" dirty="0">
                <a:solidFill>
                  <a:srgbClr val="0D405F"/>
                </a:solidFill>
                <a:effectLst/>
                <a:latin typeface="Inter"/>
              </a:rPr>
              <a:t>P </a:t>
            </a:r>
            <a:r>
              <a:rPr lang="en-US" dirty="0">
                <a:solidFill>
                  <a:srgbClr val="333333"/>
                </a:solidFill>
                <a:latin typeface="inter-regular"/>
              </a:rPr>
              <a:t>values are used in hypothesis testing to help decide whether to reject the null hypothesis. The smaller the p value, the more likely you are to reject the null hypothesis.</a:t>
            </a:r>
          </a:p>
          <a:p>
            <a:pPr marL="285750" indent="-285750">
              <a:buFont typeface="Arial" panose="020B0604020202020204" pitchFamily="34" charset="0"/>
              <a:buChar char="•"/>
            </a:pPr>
            <a:endParaRPr lang="en-US" dirty="0">
              <a:solidFill>
                <a:srgbClr val="333333"/>
              </a:solidFill>
              <a:latin typeface="inter-regular"/>
            </a:endParaRPr>
          </a:p>
          <a:p>
            <a:pPr marL="285750" indent="-285750">
              <a:buFont typeface="Arial" panose="020B0604020202020204" pitchFamily="34" charset="0"/>
              <a:buChar char="•"/>
            </a:pPr>
            <a:r>
              <a:rPr lang="en-US" dirty="0">
                <a:solidFill>
                  <a:srgbClr val="333333"/>
                </a:solidFill>
                <a:latin typeface="inter-regular"/>
              </a:rPr>
              <a:t>That is, As the p-value decreases the statistical significance of the observed difference increases. If the p-value is too low, you reject the null hypothesis.</a:t>
            </a:r>
            <a:endParaRPr lang="en-IN" dirty="0">
              <a:solidFill>
                <a:srgbClr val="333333"/>
              </a:solidFill>
              <a:latin typeface="inter-regular"/>
            </a:endParaRPr>
          </a:p>
        </p:txBody>
      </p:sp>
      <p:pic>
        <p:nvPicPr>
          <p:cNvPr id="9" name="Picture 8">
            <a:extLst>
              <a:ext uri="{FF2B5EF4-FFF2-40B4-BE49-F238E27FC236}">
                <a16:creationId xmlns:a16="http://schemas.microsoft.com/office/drawing/2014/main" id="{E800BA6E-510A-AE57-B53C-461A9D06A3F5}"/>
              </a:ext>
            </a:extLst>
          </p:cNvPr>
          <p:cNvPicPr>
            <a:picLocks noChangeAspect="1"/>
          </p:cNvPicPr>
          <p:nvPr/>
        </p:nvPicPr>
        <p:blipFill>
          <a:blip r:embed="rId2"/>
          <a:stretch>
            <a:fillRect/>
          </a:stretch>
        </p:blipFill>
        <p:spPr>
          <a:xfrm>
            <a:off x="2085975" y="3893760"/>
            <a:ext cx="7211938" cy="2895600"/>
          </a:xfrm>
          <a:prstGeom prst="rect">
            <a:avLst/>
          </a:prstGeom>
        </p:spPr>
      </p:pic>
    </p:spTree>
    <p:extLst>
      <p:ext uri="{BB962C8B-B14F-4D97-AF65-F5344CB8AC3E}">
        <p14:creationId xmlns:p14="http://schemas.microsoft.com/office/powerpoint/2010/main" val="480217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7C877B-13F5-16AB-074D-180E3BD8DD99}"/>
              </a:ext>
            </a:extLst>
          </p:cNvPr>
          <p:cNvSpPr txBox="1"/>
          <p:nvPr/>
        </p:nvSpPr>
        <p:spPr>
          <a:xfrm>
            <a:off x="790575" y="424934"/>
            <a:ext cx="6096000" cy="369332"/>
          </a:xfrm>
          <a:prstGeom prst="rect">
            <a:avLst/>
          </a:prstGeom>
          <a:noFill/>
        </p:spPr>
        <p:txBody>
          <a:bodyPr wrap="square">
            <a:spAutoFit/>
          </a:bodyPr>
          <a:lstStyle/>
          <a:p>
            <a:r>
              <a:rPr lang="en-IN" b="1" cap="all" dirty="0">
                <a:solidFill>
                  <a:srgbClr val="27509B"/>
                </a:solidFill>
                <a:latin typeface="Michelin SemiBold" panose="02000000000000000000" pitchFamily="50" charset="0"/>
                <a:ea typeface="+mj-ea"/>
                <a:cs typeface="+mj-cs"/>
              </a:rPr>
              <a:t>One Tailed Hypothesis Testing</a:t>
            </a:r>
          </a:p>
        </p:txBody>
      </p:sp>
      <p:sp>
        <p:nvSpPr>
          <p:cNvPr id="4" name="TextBox 3">
            <a:extLst>
              <a:ext uri="{FF2B5EF4-FFF2-40B4-BE49-F238E27FC236}">
                <a16:creationId xmlns:a16="http://schemas.microsoft.com/office/drawing/2014/main" id="{1EE34BEA-E68F-CC20-B753-548F1581B6A7}"/>
              </a:ext>
            </a:extLst>
          </p:cNvPr>
          <p:cNvSpPr txBox="1"/>
          <p:nvPr/>
        </p:nvSpPr>
        <p:spPr>
          <a:xfrm>
            <a:off x="609599" y="966311"/>
            <a:ext cx="11077575" cy="1200329"/>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33333"/>
                </a:solidFill>
                <a:effectLst/>
                <a:latin typeface="Untitled Sans"/>
              </a:rPr>
              <a:t>One tailed hypothesis testing is done when the rejection region is only in one direction. It can also be known as directional hypothesis testing because the effects can be tested in one direction only. </a:t>
            </a:r>
          </a:p>
          <a:p>
            <a:pPr marL="285750" indent="-285750">
              <a:buFont typeface="Arial" panose="020B0604020202020204" pitchFamily="34" charset="0"/>
              <a:buChar char="•"/>
            </a:pPr>
            <a:endParaRPr lang="en-US" dirty="0">
              <a:solidFill>
                <a:srgbClr val="333333"/>
              </a:solidFill>
              <a:latin typeface="Untitled Sans"/>
            </a:endParaRPr>
          </a:p>
          <a:p>
            <a:pPr marL="285750" indent="-285750">
              <a:buFont typeface="Arial" panose="020B0604020202020204" pitchFamily="34" charset="0"/>
              <a:buChar char="•"/>
            </a:pPr>
            <a:r>
              <a:rPr lang="en-US" b="0" i="0" dirty="0">
                <a:solidFill>
                  <a:srgbClr val="333333"/>
                </a:solidFill>
                <a:effectLst/>
                <a:latin typeface="Untitled Sans"/>
              </a:rPr>
              <a:t>This type of testing is further classified into the right tailed test and left tailed test.</a:t>
            </a:r>
            <a:endParaRPr lang="en-IN" dirty="0"/>
          </a:p>
        </p:txBody>
      </p:sp>
      <p:pic>
        <p:nvPicPr>
          <p:cNvPr id="6" name="Picture 5">
            <a:extLst>
              <a:ext uri="{FF2B5EF4-FFF2-40B4-BE49-F238E27FC236}">
                <a16:creationId xmlns:a16="http://schemas.microsoft.com/office/drawing/2014/main" id="{5B27CCF7-A425-56A6-79EF-0E87F73FF455}"/>
              </a:ext>
            </a:extLst>
          </p:cNvPr>
          <p:cNvPicPr>
            <a:picLocks noChangeAspect="1"/>
          </p:cNvPicPr>
          <p:nvPr/>
        </p:nvPicPr>
        <p:blipFill rotWithShape="1">
          <a:blip r:embed="rId2">
            <a:extLst>
              <a:ext uri="{28A0092B-C50C-407E-A947-70E740481C1C}">
                <a14:useLocalDpi xmlns:a14="http://schemas.microsoft.com/office/drawing/2010/main" val="0"/>
              </a:ext>
            </a:extLst>
          </a:blip>
          <a:srcRect r="42884" b="17049"/>
          <a:stretch/>
        </p:blipFill>
        <p:spPr>
          <a:xfrm>
            <a:off x="466428" y="2724150"/>
            <a:ext cx="5016361" cy="3012576"/>
          </a:xfrm>
          <a:prstGeom prst="rect">
            <a:avLst/>
          </a:prstGeom>
        </p:spPr>
      </p:pic>
      <p:pic>
        <p:nvPicPr>
          <p:cNvPr id="8" name="Picture 7">
            <a:extLst>
              <a:ext uri="{FF2B5EF4-FFF2-40B4-BE49-F238E27FC236}">
                <a16:creationId xmlns:a16="http://schemas.microsoft.com/office/drawing/2014/main" id="{55D5030A-7B5E-EAD9-AEFB-38D6AC1923E6}"/>
              </a:ext>
            </a:extLst>
          </p:cNvPr>
          <p:cNvPicPr>
            <a:picLocks noChangeAspect="1"/>
          </p:cNvPicPr>
          <p:nvPr/>
        </p:nvPicPr>
        <p:blipFill rotWithShape="1">
          <a:blip r:embed="rId3">
            <a:extLst>
              <a:ext uri="{28A0092B-C50C-407E-A947-70E740481C1C}">
                <a14:useLocalDpi xmlns:a14="http://schemas.microsoft.com/office/drawing/2010/main" val="0"/>
              </a:ext>
            </a:extLst>
          </a:blip>
          <a:srcRect r="51483" b="27889"/>
          <a:stretch/>
        </p:blipFill>
        <p:spPr>
          <a:xfrm>
            <a:off x="6143328" y="2657352"/>
            <a:ext cx="5010447" cy="3079373"/>
          </a:xfrm>
          <a:prstGeom prst="rect">
            <a:avLst/>
          </a:prstGeom>
        </p:spPr>
      </p:pic>
    </p:spTree>
    <p:extLst>
      <p:ext uri="{BB962C8B-B14F-4D97-AF65-F5344CB8AC3E}">
        <p14:creationId xmlns:p14="http://schemas.microsoft.com/office/powerpoint/2010/main" val="3138107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7D29A7-EF85-FBEA-8098-A2374E3592DE}"/>
              </a:ext>
            </a:extLst>
          </p:cNvPr>
          <p:cNvSpPr txBox="1"/>
          <p:nvPr/>
        </p:nvSpPr>
        <p:spPr>
          <a:xfrm>
            <a:off x="790575" y="472559"/>
            <a:ext cx="6096000" cy="369332"/>
          </a:xfrm>
          <a:prstGeom prst="rect">
            <a:avLst/>
          </a:prstGeom>
          <a:noFill/>
        </p:spPr>
        <p:txBody>
          <a:bodyPr wrap="square">
            <a:spAutoFit/>
          </a:bodyPr>
          <a:lstStyle/>
          <a:p>
            <a:pPr algn="l"/>
            <a:r>
              <a:rPr lang="en-IN" b="1" cap="all" dirty="0">
                <a:solidFill>
                  <a:srgbClr val="27509B"/>
                </a:solidFill>
                <a:latin typeface="Michelin SemiBold" panose="02000000000000000000" pitchFamily="50" charset="0"/>
                <a:ea typeface="+mj-ea"/>
                <a:cs typeface="+mj-cs"/>
              </a:rPr>
              <a:t>Level of Significance</a:t>
            </a:r>
          </a:p>
        </p:txBody>
      </p:sp>
      <p:sp>
        <p:nvSpPr>
          <p:cNvPr id="5" name="TextBox 4">
            <a:extLst>
              <a:ext uri="{FF2B5EF4-FFF2-40B4-BE49-F238E27FC236}">
                <a16:creationId xmlns:a16="http://schemas.microsoft.com/office/drawing/2014/main" id="{94631EF5-ECD2-BF70-E05C-C8FC5D4E5920}"/>
              </a:ext>
            </a:extLst>
          </p:cNvPr>
          <p:cNvSpPr txBox="1"/>
          <p:nvPr/>
        </p:nvSpPr>
        <p:spPr>
          <a:xfrm>
            <a:off x="619124" y="2126040"/>
            <a:ext cx="11096625" cy="2031325"/>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333333"/>
                </a:solidFill>
                <a:latin typeface="inter-regular"/>
              </a:rPr>
              <a:t>The alpha value is a criterion for determining whether a test statistic is statistically significant. </a:t>
            </a:r>
          </a:p>
          <a:p>
            <a:pPr marL="285750" indent="-285750">
              <a:buFont typeface="Arial" panose="020B0604020202020204" pitchFamily="34" charset="0"/>
              <a:buChar char="•"/>
            </a:pPr>
            <a:endParaRPr lang="en-US" dirty="0">
              <a:solidFill>
                <a:srgbClr val="333333"/>
              </a:solidFill>
              <a:latin typeface="inter-regular"/>
            </a:endParaRPr>
          </a:p>
          <a:p>
            <a:pPr marL="285750" indent="-285750">
              <a:buFont typeface="Arial" panose="020B0604020202020204" pitchFamily="34" charset="0"/>
              <a:buChar char="•"/>
            </a:pPr>
            <a:r>
              <a:rPr lang="en-US" dirty="0">
                <a:solidFill>
                  <a:srgbClr val="333333"/>
                </a:solidFill>
                <a:latin typeface="inter-regular"/>
              </a:rPr>
              <a:t>In a statistical test, Alpha represents an acceptable probability of a Type I error. Because alpha is a probability, it can be anywhere between 0 and 1. </a:t>
            </a:r>
          </a:p>
          <a:p>
            <a:pPr marL="285750" indent="-285750">
              <a:buFont typeface="Arial" panose="020B0604020202020204" pitchFamily="34" charset="0"/>
              <a:buChar char="•"/>
            </a:pPr>
            <a:endParaRPr lang="en-US" dirty="0">
              <a:solidFill>
                <a:srgbClr val="333333"/>
              </a:solidFill>
              <a:latin typeface="inter-regular"/>
            </a:endParaRPr>
          </a:p>
          <a:p>
            <a:pPr marL="285750" indent="-285750">
              <a:buFont typeface="Arial" panose="020B0604020202020204" pitchFamily="34" charset="0"/>
              <a:buChar char="•"/>
            </a:pPr>
            <a:r>
              <a:rPr lang="en-US" dirty="0">
                <a:solidFill>
                  <a:srgbClr val="333333"/>
                </a:solidFill>
                <a:latin typeface="inter-regular"/>
              </a:rPr>
              <a:t>In practice, the most commonly used alpha values are 0.01, 0.05, and 0.1, which represent a 1%, 5%, and 10% chance of a Type I error, respectively (i.e. rejecting the null hypothesis when it is in fact correct).</a:t>
            </a:r>
            <a:endParaRPr lang="en-IN" dirty="0">
              <a:solidFill>
                <a:srgbClr val="333333"/>
              </a:solidFill>
              <a:latin typeface="inter-regular"/>
            </a:endParaRPr>
          </a:p>
        </p:txBody>
      </p:sp>
      <p:sp>
        <p:nvSpPr>
          <p:cNvPr id="7" name="TextBox 6">
            <a:extLst>
              <a:ext uri="{FF2B5EF4-FFF2-40B4-BE49-F238E27FC236}">
                <a16:creationId xmlns:a16="http://schemas.microsoft.com/office/drawing/2014/main" id="{69F00E3D-D89A-DBC7-1FEA-590FAE1F0955}"/>
              </a:ext>
            </a:extLst>
          </p:cNvPr>
          <p:cNvSpPr txBox="1"/>
          <p:nvPr/>
        </p:nvSpPr>
        <p:spPr>
          <a:xfrm>
            <a:off x="619124" y="1043880"/>
            <a:ext cx="10906126" cy="646331"/>
          </a:xfrm>
          <a:prstGeom prst="rect">
            <a:avLst/>
          </a:prstGeom>
          <a:noFill/>
        </p:spPr>
        <p:txBody>
          <a:bodyPr wrap="square">
            <a:spAutoFit/>
          </a:bodyPr>
          <a:lstStyle/>
          <a:p>
            <a:r>
              <a:rPr lang="en-US" dirty="0">
                <a:solidFill>
                  <a:srgbClr val="333333"/>
                </a:solidFill>
                <a:latin typeface="inter-regular"/>
              </a:rPr>
              <a:t>In hypothesis testing, the </a:t>
            </a:r>
            <a:r>
              <a:rPr lang="en-US" b="1" i="1" dirty="0">
                <a:solidFill>
                  <a:srgbClr val="333333"/>
                </a:solidFill>
                <a:latin typeface="inter-regular"/>
              </a:rPr>
              <a:t>level of significance </a:t>
            </a:r>
            <a:r>
              <a:rPr lang="en-US" dirty="0">
                <a:solidFill>
                  <a:srgbClr val="333333"/>
                </a:solidFill>
                <a:latin typeface="inter-regular"/>
              </a:rPr>
              <a:t>is a measure of how confident you can be about rejecting the null hypothesis.</a:t>
            </a:r>
            <a:endParaRPr lang="en-IN" dirty="0">
              <a:solidFill>
                <a:srgbClr val="333333"/>
              </a:solidFill>
              <a:latin typeface="inter-regular"/>
            </a:endParaRPr>
          </a:p>
        </p:txBody>
      </p:sp>
      <p:sp>
        <p:nvSpPr>
          <p:cNvPr id="8" name="Rectangle: Rounded Corners 7">
            <a:extLst>
              <a:ext uri="{FF2B5EF4-FFF2-40B4-BE49-F238E27FC236}">
                <a16:creationId xmlns:a16="http://schemas.microsoft.com/office/drawing/2014/main" id="{E5DE27B7-5BAC-3395-963B-DBC02FF39573}"/>
              </a:ext>
            </a:extLst>
          </p:cNvPr>
          <p:cNvSpPr/>
          <p:nvPr/>
        </p:nvSpPr>
        <p:spPr>
          <a:xfrm>
            <a:off x="523875" y="1009650"/>
            <a:ext cx="11096625" cy="666750"/>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22" name="Picture 2" descr="level of significance and two-tailed test">
            <a:extLst>
              <a:ext uri="{FF2B5EF4-FFF2-40B4-BE49-F238E27FC236}">
                <a16:creationId xmlns:a16="http://schemas.microsoft.com/office/drawing/2014/main" id="{C235CA94-107A-8FF9-206F-DDCD465566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0850" y="4429437"/>
            <a:ext cx="4594443" cy="241926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FBA3946-B939-4511-F8A5-CC9BFCAF55C9}"/>
              </a:ext>
            </a:extLst>
          </p:cNvPr>
          <p:cNvSpPr txBox="1"/>
          <p:nvPr/>
        </p:nvSpPr>
        <p:spPr>
          <a:xfrm>
            <a:off x="619124" y="4438739"/>
            <a:ext cx="5810251" cy="1200329"/>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333333"/>
                </a:solidFill>
                <a:latin typeface="inter-regular"/>
              </a:rPr>
              <a:t>If you set your level of significance at 0.05 for example, it would mean that there’s only a five percent chance that the difference between groups (assuming two groups are tested) is due to random sampling error.</a:t>
            </a:r>
            <a:endParaRPr lang="en-IN" dirty="0">
              <a:solidFill>
                <a:srgbClr val="333333"/>
              </a:solidFill>
              <a:latin typeface="inter-regular"/>
            </a:endParaRPr>
          </a:p>
        </p:txBody>
      </p:sp>
    </p:spTree>
    <p:extLst>
      <p:ext uri="{BB962C8B-B14F-4D97-AF65-F5344CB8AC3E}">
        <p14:creationId xmlns:p14="http://schemas.microsoft.com/office/powerpoint/2010/main" val="585498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1ED8E45-8001-823A-FC10-36B3C5A475EF}"/>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endParaRPr lang="en-US" sz="1800" b="1" cap="all" dirty="0">
              <a:solidFill>
                <a:srgbClr val="27509B"/>
              </a:solidFill>
              <a:latin typeface="Michelin SemiBold" panose="02000000000000000000" pitchFamily="50" charset="0"/>
            </a:endParaRPr>
          </a:p>
          <a:p>
            <a:r>
              <a:rPr lang="en-IN" sz="1800" b="1" cap="all" dirty="0">
                <a:solidFill>
                  <a:srgbClr val="27509B"/>
                </a:solidFill>
                <a:latin typeface="Michelin SemiBold" panose="02000000000000000000" pitchFamily="50" charset="0"/>
              </a:rPr>
              <a:t>Types of Hypothesis Testing</a:t>
            </a:r>
          </a:p>
          <a:p>
            <a:endParaRPr lang="en-US" sz="1800" b="1" cap="all" dirty="0">
              <a:solidFill>
                <a:srgbClr val="27509B"/>
              </a:solidFill>
              <a:latin typeface="Michelin SemiBold" panose="02000000000000000000" pitchFamily="50" charset="0"/>
            </a:endParaRPr>
          </a:p>
        </p:txBody>
      </p:sp>
      <p:sp>
        <p:nvSpPr>
          <p:cNvPr id="6" name="TextBox 5">
            <a:extLst>
              <a:ext uri="{FF2B5EF4-FFF2-40B4-BE49-F238E27FC236}">
                <a16:creationId xmlns:a16="http://schemas.microsoft.com/office/drawing/2014/main" id="{52A82279-3338-ADCF-6A60-D1C5C30744AC}"/>
              </a:ext>
            </a:extLst>
          </p:cNvPr>
          <p:cNvSpPr txBox="1"/>
          <p:nvPr/>
        </p:nvSpPr>
        <p:spPr>
          <a:xfrm>
            <a:off x="459920" y="1010841"/>
            <a:ext cx="11065329" cy="4524315"/>
          </a:xfrm>
          <a:prstGeom prst="rect">
            <a:avLst/>
          </a:prstGeom>
          <a:noFill/>
        </p:spPr>
        <p:txBody>
          <a:bodyPr wrap="square">
            <a:spAutoFit/>
          </a:bodyPr>
          <a:lstStyle/>
          <a:p>
            <a:pPr marL="285750" indent="-285750" algn="l">
              <a:buFont typeface="Arial" panose="020B0604020202020204" pitchFamily="34" charset="0"/>
              <a:buChar char="•"/>
            </a:pPr>
            <a:r>
              <a:rPr lang="en-US" b="1" i="0" dirty="0">
                <a:solidFill>
                  <a:srgbClr val="272C37"/>
                </a:solidFill>
                <a:effectLst/>
                <a:latin typeface="Roboto" panose="02000000000000000000" pitchFamily="2" charset="0"/>
              </a:rPr>
              <a:t>Z Test</a:t>
            </a:r>
          </a:p>
          <a:p>
            <a:pPr algn="l"/>
            <a:r>
              <a:rPr lang="en-US" dirty="0">
                <a:solidFill>
                  <a:srgbClr val="333333"/>
                </a:solidFill>
                <a:latin typeface="inter-regular"/>
              </a:rPr>
              <a:t>To determine whether a discovery or relationship is statistically significant, hypothesis testing uses a z-test. It usually checks to see if two means are the same (the null hypothesis). Only when the population standard deviation is known and the sample size is 30 data points or more, can a z-test be applied.</a:t>
            </a:r>
          </a:p>
          <a:p>
            <a:pPr algn="l"/>
            <a:endParaRPr lang="en-US" b="0" i="0" dirty="0">
              <a:solidFill>
                <a:srgbClr val="51565E"/>
              </a:solidFill>
              <a:effectLst/>
              <a:latin typeface="Roboto" panose="02000000000000000000" pitchFamily="2" charset="0"/>
            </a:endParaRPr>
          </a:p>
          <a:p>
            <a:pPr algn="l"/>
            <a:endParaRPr lang="en-US" b="0" i="0" dirty="0">
              <a:solidFill>
                <a:srgbClr val="51565E"/>
              </a:solidFill>
              <a:effectLst/>
              <a:latin typeface="Roboto" panose="02000000000000000000" pitchFamily="2" charset="0"/>
            </a:endParaRPr>
          </a:p>
          <a:p>
            <a:pPr marL="285750" indent="-285750" algn="l">
              <a:buFont typeface="Arial" panose="020B0604020202020204" pitchFamily="34" charset="0"/>
              <a:buChar char="•"/>
            </a:pPr>
            <a:r>
              <a:rPr lang="en-US" b="1" i="0" dirty="0">
                <a:solidFill>
                  <a:srgbClr val="272C37"/>
                </a:solidFill>
                <a:effectLst/>
                <a:latin typeface="Roboto" panose="02000000000000000000" pitchFamily="2" charset="0"/>
              </a:rPr>
              <a:t>T Test</a:t>
            </a:r>
          </a:p>
          <a:p>
            <a:pPr algn="l"/>
            <a:r>
              <a:rPr lang="en-US" dirty="0">
                <a:solidFill>
                  <a:srgbClr val="333333"/>
                </a:solidFill>
                <a:latin typeface="inter-regular"/>
              </a:rPr>
              <a:t>A statistical test called a t-test is employed to compare the means of two groups. To determine whether two groups differ or if a procedure or treatment affects the population of interest, it is frequently used in hypothesis testing.</a:t>
            </a:r>
          </a:p>
          <a:p>
            <a:pPr algn="l"/>
            <a:endParaRPr lang="en-US" dirty="0">
              <a:solidFill>
                <a:srgbClr val="333333"/>
              </a:solidFill>
              <a:latin typeface="inter-regular"/>
            </a:endParaRPr>
          </a:p>
          <a:p>
            <a:pPr algn="l"/>
            <a:endParaRPr lang="en-US" dirty="0">
              <a:solidFill>
                <a:srgbClr val="333333"/>
              </a:solidFill>
              <a:latin typeface="inter-regular"/>
            </a:endParaRPr>
          </a:p>
          <a:p>
            <a:pPr marL="285750" indent="-285750">
              <a:buFont typeface="Arial" panose="020B0604020202020204" pitchFamily="34" charset="0"/>
              <a:buChar char="•"/>
            </a:pPr>
            <a:r>
              <a:rPr lang="en-IN" b="1" i="0" dirty="0">
                <a:solidFill>
                  <a:srgbClr val="272C37"/>
                </a:solidFill>
                <a:effectLst/>
                <a:latin typeface="Roboto" panose="02000000000000000000" pitchFamily="2" charset="0"/>
              </a:rPr>
              <a:t>Chi-Square </a:t>
            </a:r>
            <a:endParaRPr lang="en-US" b="1" dirty="0">
              <a:solidFill>
                <a:srgbClr val="333333"/>
              </a:solidFill>
              <a:latin typeface="inter-regular"/>
            </a:endParaRPr>
          </a:p>
          <a:p>
            <a:pPr algn="l"/>
            <a:r>
              <a:rPr lang="en-US" dirty="0">
                <a:solidFill>
                  <a:srgbClr val="51565E"/>
                </a:solidFill>
                <a:latin typeface="Roboto" panose="02000000000000000000" pitchFamily="2" charset="0"/>
              </a:rPr>
              <a:t>T</a:t>
            </a:r>
            <a:r>
              <a:rPr lang="en-US" dirty="0">
                <a:solidFill>
                  <a:srgbClr val="333333"/>
                </a:solidFill>
                <a:latin typeface="inter-regular"/>
              </a:rPr>
              <a:t>he Chi-square test analyzes the differences between categorical variables from a random sample. The test's fundamental premise is that the observed values in your data should be compared to the predicted values that would be present if the null hypothesis were true.</a:t>
            </a:r>
            <a:br>
              <a:rPr lang="en-US" dirty="0"/>
            </a:br>
            <a:endParaRPr lang="en-US" dirty="0">
              <a:solidFill>
                <a:srgbClr val="333333"/>
              </a:solidFill>
              <a:latin typeface="inter-regular"/>
            </a:endParaRPr>
          </a:p>
        </p:txBody>
      </p:sp>
    </p:spTree>
    <p:extLst>
      <p:ext uri="{BB962C8B-B14F-4D97-AF65-F5344CB8AC3E}">
        <p14:creationId xmlns:p14="http://schemas.microsoft.com/office/powerpoint/2010/main" val="684407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FEB13-9B78-06BC-84BF-24CCFB9EBD3E}"/>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Z-test explained</a:t>
            </a:r>
          </a:p>
        </p:txBody>
      </p:sp>
      <p:sp>
        <p:nvSpPr>
          <p:cNvPr id="4" name="TextBox 3">
            <a:extLst>
              <a:ext uri="{FF2B5EF4-FFF2-40B4-BE49-F238E27FC236}">
                <a16:creationId xmlns:a16="http://schemas.microsoft.com/office/drawing/2014/main" id="{BF80D1A5-637D-D0B5-D2BA-C58E83234598}"/>
              </a:ext>
            </a:extLst>
          </p:cNvPr>
          <p:cNvSpPr txBox="1"/>
          <p:nvPr/>
        </p:nvSpPr>
        <p:spPr>
          <a:xfrm>
            <a:off x="628649" y="1121413"/>
            <a:ext cx="5467351" cy="3416320"/>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33333"/>
                </a:solidFill>
                <a:effectLst/>
                <a:latin typeface="Untitled Sans"/>
              </a:rPr>
              <a:t>Z test checks if the means of two large samples are different or not when the population variance is known.</a:t>
            </a:r>
          </a:p>
          <a:p>
            <a:pPr marL="285750" indent="-285750">
              <a:buFont typeface="Arial" panose="020B0604020202020204" pitchFamily="34" charset="0"/>
              <a:buChar char="•"/>
            </a:pPr>
            <a:endParaRPr lang="en-US" dirty="0">
              <a:solidFill>
                <a:srgbClr val="333333"/>
              </a:solidFill>
              <a:latin typeface="Untitled Sans"/>
            </a:endParaRPr>
          </a:p>
          <a:p>
            <a:pPr marL="285750" indent="-285750">
              <a:buFont typeface="Arial" panose="020B0604020202020204" pitchFamily="34" charset="0"/>
              <a:buChar char="•"/>
            </a:pPr>
            <a:r>
              <a:rPr lang="en-US" b="0" i="0" dirty="0">
                <a:solidFill>
                  <a:srgbClr val="333333"/>
                </a:solidFill>
                <a:effectLst/>
                <a:latin typeface="Untitled Sans"/>
              </a:rPr>
              <a:t>A z test can further be classified into left-tailed, right-tailed, and two-tailed hypothesis tests depending upon the parameters of the data.</a:t>
            </a: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b="0" i="0" dirty="0">
                <a:solidFill>
                  <a:srgbClr val="333333"/>
                </a:solidFill>
                <a:effectLst/>
                <a:latin typeface="Untitled Sans"/>
              </a:rPr>
              <a:t>A z test is conducted on a population that follows a</a:t>
            </a:r>
            <a:r>
              <a:rPr lang="en-US" dirty="0">
                <a:solidFill>
                  <a:srgbClr val="333333"/>
                </a:solidFill>
                <a:latin typeface="Untitled Sans"/>
              </a:rPr>
              <a:t> normal distribution with </a:t>
            </a:r>
            <a:r>
              <a:rPr lang="en-US" b="0" i="0" dirty="0">
                <a:solidFill>
                  <a:srgbClr val="333333"/>
                </a:solidFill>
                <a:effectLst/>
                <a:latin typeface="Untitled Sans"/>
              </a:rPr>
              <a:t>independent data points and has a sample size that is greater than or equal to 30. </a:t>
            </a:r>
            <a:endParaRPr lang="en-IN" dirty="0"/>
          </a:p>
        </p:txBody>
      </p:sp>
      <p:pic>
        <p:nvPicPr>
          <p:cNvPr id="8" name="Picture 7">
            <a:extLst>
              <a:ext uri="{FF2B5EF4-FFF2-40B4-BE49-F238E27FC236}">
                <a16:creationId xmlns:a16="http://schemas.microsoft.com/office/drawing/2014/main" id="{BDDC9342-BAA9-17CB-A2B4-22A3A141B81D}"/>
              </a:ext>
            </a:extLst>
          </p:cNvPr>
          <p:cNvPicPr>
            <a:picLocks noChangeAspect="1"/>
          </p:cNvPicPr>
          <p:nvPr/>
        </p:nvPicPr>
        <p:blipFill rotWithShape="1">
          <a:blip r:embed="rId2">
            <a:extLst>
              <a:ext uri="{28A0092B-C50C-407E-A947-70E740481C1C}">
                <a14:useLocalDpi xmlns:a14="http://schemas.microsoft.com/office/drawing/2010/main" val="0"/>
              </a:ext>
            </a:extLst>
          </a:blip>
          <a:srcRect r="70016" b="16934"/>
          <a:stretch/>
        </p:blipFill>
        <p:spPr>
          <a:xfrm>
            <a:off x="6730752" y="878155"/>
            <a:ext cx="4453517" cy="5101690"/>
          </a:xfrm>
          <a:prstGeom prst="rect">
            <a:avLst/>
          </a:prstGeom>
        </p:spPr>
      </p:pic>
    </p:spTree>
    <p:extLst>
      <p:ext uri="{BB962C8B-B14F-4D97-AF65-F5344CB8AC3E}">
        <p14:creationId xmlns:p14="http://schemas.microsoft.com/office/powerpoint/2010/main" val="4054053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FEB13-9B78-06BC-84BF-24CCFB9EBD3E}"/>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T-test explained</a:t>
            </a:r>
          </a:p>
        </p:txBody>
      </p:sp>
      <p:sp>
        <p:nvSpPr>
          <p:cNvPr id="4" name="TextBox 3">
            <a:extLst>
              <a:ext uri="{FF2B5EF4-FFF2-40B4-BE49-F238E27FC236}">
                <a16:creationId xmlns:a16="http://schemas.microsoft.com/office/drawing/2014/main" id="{BF80D1A5-637D-D0B5-D2BA-C58E83234598}"/>
              </a:ext>
            </a:extLst>
          </p:cNvPr>
          <p:cNvSpPr txBox="1"/>
          <p:nvPr/>
        </p:nvSpPr>
        <p:spPr>
          <a:xfrm>
            <a:off x="628649" y="1121413"/>
            <a:ext cx="10467976" cy="2585323"/>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333333"/>
                </a:solidFill>
                <a:latin typeface="Untitled Sans"/>
              </a:rPr>
              <a:t>A t-test is a statistical calculation that measures the difference in means between two sample groups</a:t>
            </a:r>
          </a:p>
          <a:p>
            <a:pPr marL="285750" indent="-285750">
              <a:buFont typeface="Arial" panose="020B0604020202020204" pitchFamily="34" charset="0"/>
              <a:buChar char="•"/>
            </a:pPr>
            <a:endParaRPr lang="en-US" dirty="0">
              <a:solidFill>
                <a:srgbClr val="333333"/>
              </a:solidFill>
              <a:latin typeface="Untitled Sans"/>
            </a:endParaRPr>
          </a:p>
          <a:p>
            <a:pPr marL="285750" indent="-285750">
              <a:buFont typeface="Arial" panose="020B0604020202020204" pitchFamily="34" charset="0"/>
              <a:buChar char="•"/>
            </a:pPr>
            <a:r>
              <a:rPr lang="en-US" dirty="0">
                <a:solidFill>
                  <a:srgbClr val="333333"/>
                </a:solidFill>
                <a:latin typeface="Untitled Sans"/>
              </a:rPr>
              <a:t>T-tests can help you measure the validity of results in fields like marketing, sales and accounting.</a:t>
            </a:r>
          </a:p>
          <a:p>
            <a:pPr marL="285750" indent="-285750">
              <a:buFont typeface="Arial" panose="020B0604020202020204" pitchFamily="34" charset="0"/>
              <a:buChar char="•"/>
            </a:pPr>
            <a:endParaRPr lang="en-US" dirty="0">
              <a:solidFill>
                <a:srgbClr val="333333"/>
              </a:solidFill>
              <a:latin typeface="Untitled Sans"/>
            </a:endParaRPr>
          </a:p>
          <a:p>
            <a:pPr marL="285750" indent="-285750">
              <a:buFont typeface="Arial" panose="020B0604020202020204" pitchFamily="34" charset="0"/>
              <a:buChar char="•"/>
            </a:pPr>
            <a:r>
              <a:rPr lang="en-US" dirty="0">
                <a:solidFill>
                  <a:srgbClr val="333333"/>
                </a:solidFill>
                <a:latin typeface="Untitled Sans"/>
              </a:rPr>
              <a:t>Conducting a t-test involves inputting the mean and standard deviation values into a defined formula.</a:t>
            </a:r>
          </a:p>
          <a:p>
            <a:pPr marL="285750" indent="-285750">
              <a:buFont typeface="Arial" panose="020B0604020202020204" pitchFamily="34" charset="0"/>
              <a:buChar char="•"/>
            </a:pPr>
            <a:endParaRPr lang="en-US" dirty="0">
              <a:solidFill>
                <a:srgbClr val="333333"/>
              </a:solidFill>
              <a:latin typeface="Untitled Sans"/>
            </a:endParaRPr>
          </a:p>
          <a:p>
            <a:pPr marL="285750" indent="-285750">
              <a:buFont typeface="Arial" panose="020B0604020202020204" pitchFamily="34" charset="0"/>
              <a:buChar char="•"/>
            </a:pPr>
            <a:r>
              <a:rPr lang="en-US" dirty="0">
                <a:solidFill>
                  <a:srgbClr val="333333"/>
                </a:solidFill>
                <a:latin typeface="Untitled Sans"/>
              </a:rPr>
              <a:t>Statistical research and data analysis apply t-tests to evaluate whether the differences that appear within a sample group occur by chance. </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716131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D5701C-486F-ECC9-A8D7-41CFA840E39A}"/>
              </a:ext>
            </a:extLst>
          </p:cNvPr>
          <p:cNvSpPr txBox="1"/>
          <p:nvPr/>
        </p:nvSpPr>
        <p:spPr>
          <a:xfrm>
            <a:off x="771525" y="320159"/>
            <a:ext cx="6096000" cy="369332"/>
          </a:xfrm>
          <a:prstGeom prst="rect">
            <a:avLst/>
          </a:prstGeom>
          <a:noFill/>
        </p:spPr>
        <p:txBody>
          <a:bodyPr wrap="square">
            <a:spAutoFit/>
          </a:bodyPr>
          <a:lstStyle/>
          <a:p>
            <a:pPr algn="l"/>
            <a:r>
              <a:rPr lang="en-IN" b="1" cap="all" dirty="0">
                <a:solidFill>
                  <a:srgbClr val="27509B"/>
                </a:solidFill>
                <a:latin typeface="Michelin SemiBold" panose="02000000000000000000" pitchFamily="50" charset="0"/>
                <a:ea typeface="+mj-ea"/>
                <a:cs typeface="+mj-cs"/>
              </a:rPr>
              <a:t>EXAMPLE</a:t>
            </a:r>
          </a:p>
        </p:txBody>
      </p:sp>
      <p:sp>
        <p:nvSpPr>
          <p:cNvPr id="4" name="TextBox 3">
            <a:extLst>
              <a:ext uri="{FF2B5EF4-FFF2-40B4-BE49-F238E27FC236}">
                <a16:creationId xmlns:a16="http://schemas.microsoft.com/office/drawing/2014/main" id="{E81798C4-9C55-848F-6799-8BC79167DB58}"/>
              </a:ext>
            </a:extLst>
          </p:cNvPr>
          <p:cNvSpPr txBox="1"/>
          <p:nvPr/>
        </p:nvSpPr>
        <p:spPr>
          <a:xfrm>
            <a:off x="409575" y="794266"/>
            <a:ext cx="11582399" cy="4247317"/>
          </a:xfrm>
          <a:prstGeom prst="rect">
            <a:avLst/>
          </a:prstGeom>
          <a:noFill/>
        </p:spPr>
        <p:txBody>
          <a:bodyPr wrap="square">
            <a:spAutoFit/>
          </a:bodyPr>
          <a:lstStyle/>
          <a:p>
            <a:pPr algn="l" fontAlgn="base"/>
            <a:r>
              <a:rPr lang="en-US" dirty="0">
                <a:effectLst/>
                <a:latin typeface="Untitled Sans"/>
              </a:rPr>
              <a:t>A researcher claims that the mean average weight of men is greater than 100kgs with a standard deviation of 15kgs.  30 men are </a:t>
            </a:r>
            <a:r>
              <a:rPr lang="en-US" dirty="0">
                <a:latin typeface="Untitled Sans"/>
              </a:rPr>
              <a:t>chosen with an average weight of 112.5 Kgs. Using hypothesis testing, check if there is enough evidence to support the researcher's claim. The confidence interval is given as 95%.</a:t>
            </a:r>
          </a:p>
          <a:p>
            <a:br>
              <a:rPr lang="en-US" dirty="0">
                <a:solidFill>
                  <a:srgbClr val="333333"/>
                </a:solidFill>
                <a:latin typeface="Untitled Sans"/>
              </a:rPr>
            </a:br>
            <a:r>
              <a:rPr lang="en-US" b="1" i="0" dirty="0">
                <a:solidFill>
                  <a:srgbClr val="333333"/>
                </a:solidFill>
                <a:effectLst/>
                <a:latin typeface="Untitled Sans"/>
              </a:rPr>
              <a:t>Step 1:</a:t>
            </a:r>
            <a:r>
              <a:rPr lang="en-US" b="0" i="0" dirty="0">
                <a:solidFill>
                  <a:srgbClr val="333333"/>
                </a:solidFill>
                <a:effectLst/>
                <a:latin typeface="Untitled Sans"/>
              </a:rPr>
              <a:t> This is an example of a right-tailed test. Set up the null hypothesis as </a:t>
            </a:r>
            <a:r>
              <a:rPr lang="en-US" b="0" i="0" dirty="0">
                <a:solidFill>
                  <a:srgbClr val="333333"/>
                </a:solidFill>
                <a:effectLst/>
                <a:latin typeface="MJXc-TeX-math-I"/>
              </a:rPr>
              <a:t>H</a:t>
            </a:r>
            <a:r>
              <a:rPr lang="en-US" b="0" i="0" dirty="0">
                <a:solidFill>
                  <a:srgbClr val="333333"/>
                </a:solidFill>
                <a:effectLst/>
                <a:latin typeface="MJXc-TeX-main-R"/>
              </a:rPr>
              <a:t>0</a:t>
            </a:r>
            <a:r>
              <a:rPr lang="en-US" b="0" i="0" dirty="0">
                <a:solidFill>
                  <a:srgbClr val="333333"/>
                </a:solidFill>
                <a:effectLst/>
                <a:latin typeface="Untitled Sans"/>
              </a:rPr>
              <a:t>: </a:t>
            </a:r>
            <a:r>
              <a:rPr lang="en-US" b="0" i="0" dirty="0">
                <a:solidFill>
                  <a:srgbClr val="333333"/>
                </a:solidFill>
                <a:effectLst/>
                <a:latin typeface="MJXc-TeX-math-I"/>
              </a:rPr>
              <a:t>μ</a:t>
            </a:r>
            <a:r>
              <a:rPr lang="en-US" b="0" i="0" dirty="0">
                <a:solidFill>
                  <a:srgbClr val="333333"/>
                </a:solidFill>
                <a:effectLst/>
                <a:latin typeface="Untitled Sans"/>
              </a:rPr>
              <a:t>= 100.</a:t>
            </a:r>
          </a:p>
          <a:p>
            <a:endParaRPr lang="en-US" dirty="0">
              <a:solidFill>
                <a:srgbClr val="333333"/>
              </a:solidFill>
              <a:latin typeface="Untitled Sans"/>
            </a:endParaRPr>
          </a:p>
          <a:p>
            <a:r>
              <a:rPr lang="en-US" b="1" i="0" dirty="0">
                <a:solidFill>
                  <a:srgbClr val="333333"/>
                </a:solidFill>
                <a:effectLst/>
                <a:latin typeface="Untitled Sans"/>
              </a:rPr>
              <a:t>Step 2:</a:t>
            </a:r>
            <a:r>
              <a:rPr lang="en-US" b="0" i="0" dirty="0">
                <a:solidFill>
                  <a:srgbClr val="333333"/>
                </a:solidFill>
                <a:effectLst/>
                <a:latin typeface="Untitled Sans"/>
              </a:rPr>
              <a:t> The alternative hypothesis is given by </a:t>
            </a:r>
            <a:r>
              <a:rPr lang="en-US" b="0" i="0" dirty="0">
                <a:solidFill>
                  <a:srgbClr val="333333"/>
                </a:solidFill>
                <a:effectLst/>
                <a:latin typeface="MJXc-TeX-math-I"/>
              </a:rPr>
              <a:t>H</a:t>
            </a:r>
            <a:r>
              <a:rPr lang="en-US" b="0" i="0" dirty="0">
                <a:solidFill>
                  <a:srgbClr val="333333"/>
                </a:solidFill>
                <a:effectLst/>
                <a:latin typeface="Untitled Sans"/>
              </a:rPr>
              <a:t>1: </a:t>
            </a:r>
            <a:r>
              <a:rPr lang="en-US" b="0" i="0" dirty="0">
                <a:solidFill>
                  <a:srgbClr val="333333"/>
                </a:solidFill>
                <a:effectLst/>
                <a:latin typeface="MJXc-TeX-math-I"/>
              </a:rPr>
              <a:t>μ</a:t>
            </a:r>
            <a:r>
              <a:rPr lang="en-US" b="0" i="0" dirty="0">
                <a:solidFill>
                  <a:srgbClr val="333333"/>
                </a:solidFill>
                <a:effectLst/>
                <a:latin typeface="Untitled Sans"/>
              </a:rPr>
              <a:t> &gt; 100.</a:t>
            </a:r>
            <a:br>
              <a:rPr lang="en-US" dirty="0"/>
            </a:br>
            <a:endParaRPr lang="en-US" dirty="0"/>
          </a:p>
          <a:p>
            <a:pPr algn="l" fontAlgn="base"/>
            <a:r>
              <a:rPr lang="en-US" b="1" i="0" dirty="0">
                <a:solidFill>
                  <a:srgbClr val="333333"/>
                </a:solidFill>
                <a:effectLst/>
                <a:latin typeface="Untitled Sans"/>
              </a:rPr>
              <a:t>Step 3:</a:t>
            </a:r>
            <a:r>
              <a:rPr lang="en-US" b="0" i="0" dirty="0">
                <a:solidFill>
                  <a:srgbClr val="333333"/>
                </a:solidFill>
                <a:effectLst/>
                <a:latin typeface="Untitled Sans"/>
              </a:rPr>
              <a:t> As this is a one-tailed test, </a:t>
            </a:r>
            <a:r>
              <a:rPr lang="en-US" b="0" i="0" dirty="0">
                <a:solidFill>
                  <a:srgbClr val="333333"/>
                </a:solidFill>
                <a:effectLst/>
                <a:latin typeface="MJXc-TeX-math-I"/>
              </a:rPr>
              <a:t>α</a:t>
            </a:r>
            <a:r>
              <a:rPr lang="en-US" b="0" i="0" dirty="0">
                <a:solidFill>
                  <a:srgbClr val="333333"/>
                </a:solidFill>
                <a:effectLst/>
                <a:latin typeface="Untitled Sans"/>
              </a:rPr>
              <a:t> = 100% - 95% = 5%. This can be used to determine the critical value.</a:t>
            </a:r>
          </a:p>
          <a:p>
            <a:pPr algn="l" fontAlgn="base"/>
            <a:r>
              <a:rPr lang="en-US" b="0" i="0" dirty="0">
                <a:solidFill>
                  <a:srgbClr val="333333"/>
                </a:solidFill>
                <a:effectLst/>
                <a:latin typeface="Untitled Sans"/>
              </a:rPr>
              <a:t>1 - </a:t>
            </a:r>
            <a:r>
              <a:rPr lang="en-US" b="0" i="0" dirty="0">
                <a:solidFill>
                  <a:srgbClr val="333333"/>
                </a:solidFill>
                <a:effectLst/>
                <a:latin typeface="MJXc-TeX-math-I"/>
              </a:rPr>
              <a:t>α</a:t>
            </a:r>
            <a:r>
              <a:rPr lang="en-US" b="0" i="0" dirty="0">
                <a:solidFill>
                  <a:srgbClr val="333333"/>
                </a:solidFill>
                <a:effectLst/>
                <a:latin typeface="Untitled Sans"/>
              </a:rPr>
              <a:t> = 1 - 0.05 = 0.95</a:t>
            </a:r>
          </a:p>
          <a:p>
            <a:pPr algn="l" fontAlgn="base"/>
            <a:r>
              <a:rPr lang="en-US" b="0" i="0" dirty="0">
                <a:solidFill>
                  <a:srgbClr val="333333"/>
                </a:solidFill>
                <a:effectLst/>
                <a:latin typeface="Untitled Sans"/>
              </a:rPr>
              <a:t>0.95 gives the required area under the curve. Now using a normal distribution table, the area 0.95 is at z </a:t>
            </a:r>
            <a:r>
              <a:rPr lang="en-US" b="0" i="0">
                <a:solidFill>
                  <a:srgbClr val="333333"/>
                </a:solidFill>
                <a:effectLst/>
                <a:latin typeface="Untitled Sans"/>
              </a:rPr>
              <a:t>= 1.96. </a:t>
            </a:r>
            <a:r>
              <a:rPr lang="en-US" b="0" i="0" dirty="0">
                <a:solidFill>
                  <a:srgbClr val="333333"/>
                </a:solidFill>
                <a:effectLst/>
                <a:latin typeface="Untitled Sans"/>
              </a:rPr>
              <a:t>A similar process can be followed for a t-test. The only additional requirement is to calculate the degrees of freedom given by n - 1.</a:t>
            </a:r>
          </a:p>
          <a:p>
            <a:pPr algn="l" fontAlgn="base"/>
            <a:endParaRPr lang="en-US" dirty="0">
              <a:solidFill>
                <a:srgbClr val="333333"/>
              </a:solidFill>
              <a:latin typeface="Untitled Sans"/>
            </a:endParaRPr>
          </a:p>
          <a:p>
            <a:pPr algn="l" fontAlgn="base"/>
            <a:r>
              <a:rPr lang="en-US" b="1" i="0" dirty="0">
                <a:solidFill>
                  <a:srgbClr val="333333"/>
                </a:solidFill>
                <a:effectLst/>
                <a:latin typeface="Untitled Sans"/>
              </a:rPr>
              <a:t>Step 4:</a:t>
            </a:r>
            <a:r>
              <a:rPr lang="en-US" b="0" i="0" dirty="0">
                <a:solidFill>
                  <a:srgbClr val="333333"/>
                </a:solidFill>
                <a:effectLst/>
                <a:latin typeface="Untitled Sans"/>
              </a:rPr>
              <a:t> Calculate the z test statistic. This is because the sample size is 30. Furthermore, the sample and population means are known along with the standard deviation.</a:t>
            </a:r>
          </a:p>
        </p:txBody>
      </p:sp>
      <p:pic>
        <p:nvPicPr>
          <p:cNvPr id="6" name="Picture 5">
            <a:extLst>
              <a:ext uri="{FF2B5EF4-FFF2-40B4-BE49-F238E27FC236}">
                <a16:creationId xmlns:a16="http://schemas.microsoft.com/office/drawing/2014/main" id="{2466A5A3-4324-E36D-5BBA-E5B2EF03C90B}"/>
              </a:ext>
            </a:extLst>
          </p:cNvPr>
          <p:cNvPicPr>
            <a:picLocks noChangeAspect="1"/>
          </p:cNvPicPr>
          <p:nvPr/>
        </p:nvPicPr>
        <p:blipFill>
          <a:blip r:embed="rId2"/>
          <a:stretch>
            <a:fillRect/>
          </a:stretch>
        </p:blipFill>
        <p:spPr>
          <a:xfrm>
            <a:off x="771525" y="5041583"/>
            <a:ext cx="3442334" cy="1721167"/>
          </a:xfrm>
          <a:prstGeom prst="rect">
            <a:avLst/>
          </a:prstGeom>
        </p:spPr>
      </p:pic>
      <p:sp>
        <p:nvSpPr>
          <p:cNvPr id="8" name="TextBox 7">
            <a:extLst>
              <a:ext uri="{FF2B5EF4-FFF2-40B4-BE49-F238E27FC236}">
                <a16:creationId xmlns:a16="http://schemas.microsoft.com/office/drawing/2014/main" id="{70938EB3-6377-D1E6-9AEA-83BE32D4F613}"/>
              </a:ext>
            </a:extLst>
          </p:cNvPr>
          <p:cNvSpPr txBox="1"/>
          <p:nvPr/>
        </p:nvSpPr>
        <p:spPr>
          <a:xfrm>
            <a:off x="5210174" y="5409039"/>
            <a:ext cx="6096000" cy="646331"/>
          </a:xfrm>
          <a:prstGeom prst="rect">
            <a:avLst/>
          </a:prstGeom>
          <a:noFill/>
        </p:spPr>
        <p:txBody>
          <a:bodyPr wrap="square">
            <a:spAutoFit/>
          </a:bodyPr>
          <a:lstStyle/>
          <a:p>
            <a:r>
              <a:rPr lang="en-US" b="1" i="0" dirty="0">
                <a:solidFill>
                  <a:srgbClr val="333333"/>
                </a:solidFill>
                <a:effectLst/>
                <a:latin typeface="Untitled Sans"/>
              </a:rPr>
              <a:t>Step 5:</a:t>
            </a:r>
            <a:r>
              <a:rPr lang="en-US" b="0" i="0" dirty="0">
                <a:solidFill>
                  <a:srgbClr val="333333"/>
                </a:solidFill>
                <a:effectLst/>
                <a:latin typeface="Untitled Sans"/>
              </a:rPr>
              <a:t> Conclusion. As 4.56 &gt; 1.96 thus, the null hypothesis can be rejected.</a:t>
            </a:r>
            <a:endParaRPr lang="en-IN" dirty="0"/>
          </a:p>
        </p:txBody>
      </p:sp>
    </p:spTree>
    <p:extLst>
      <p:ext uri="{BB962C8B-B14F-4D97-AF65-F5344CB8AC3E}">
        <p14:creationId xmlns:p14="http://schemas.microsoft.com/office/powerpoint/2010/main" val="4209132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2D93D0-C264-B9B4-FA27-5A9FC35DEC59}"/>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ANOVA</a:t>
            </a:r>
          </a:p>
        </p:txBody>
      </p:sp>
      <p:sp>
        <p:nvSpPr>
          <p:cNvPr id="7" name="Rectangle: Rounded Corners 6">
            <a:extLst>
              <a:ext uri="{FF2B5EF4-FFF2-40B4-BE49-F238E27FC236}">
                <a16:creationId xmlns:a16="http://schemas.microsoft.com/office/drawing/2014/main" id="{2C3BEC60-A378-9E75-35CD-FB49AFF04E0D}"/>
              </a:ext>
            </a:extLst>
          </p:cNvPr>
          <p:cNvSpPr/>
          <p:nvPr/>
        </p:nvSpPr>
        <p:spPr>
          <a:xfrm>
            <a:off x="459921" y="971461"/>
            <a:ext cx="11116638" cy="1400264"/>
          </a:xfrm>
          <a:prstGeom prst="round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i="1" dirty="0">
                <a:solidFill>
                  <a:srgbClr val="222222"/>
                </a:solidFill>
                <a:effectLst/>
                <a:latin typeface="Lato" panose="020F0502020204030203" pitchFamily="34" charset="0"/>
              </a:rPr>
              <a:t>Analysis of variance (ANOVA) </a:t>
            </a:r>
            <a:r>
              <a:rPr lang="en-US" b="0" i="0" dirty="0">
                <a:solidFill>
                  <a:srgbClr val="222222"/>
                </a:solidFill>
                <a:effectLst/>
                <a:latin typeface="Lato" panose="020F0502020204030203" pitchFamily="34" charset="0"/>
              </a:rPr>
              <a:t>is a statistical technique used to check if the means of two or more groups are significantly different from each other.</a:t>
            </a:r>
          </a:p>
          <a:p>
            <a:endParaRPr lang="en-US" dirty="0">
              <a:solidFill>
                <a:srgbClr val="222222"/>
              </a:solidFill>
              <a:latin typeface="Lato" panose="020F0502020204030203" pitchFamily="34" charset="0"/>
            </a:endParaRPr>
          </a:p>
          <a:p>
            <a:r>
              <a:rPr lang="en-US" b="0" i="0" dirty="0">
                <a:solidFill>
                  <a:srgbClr val="222222"/>
                </a:solidFill>
                <a:effectLst/>
                <a:latin typeface="Lato" panose="020F0502020204030203" pitchFamily="34" charset="0"/>
              </a:rPr>
              <a:t>ANOVA checks the impact of one or more factors by comparing the means of different samples.</a:t>
            </a:r>
            <a:endParaRPr lang="en-IN" dirty="0"/>
          </a:p>
        </p:txBody>
      </p:sp>
      <p:sp>
        <p:nvSpPr>
          <p:cNvPr id="6" name="TextBox 5">
            <a:extLst>
              <a:ext uri="{FF2B5EF4-FFF2-40B4-BE49-F238E27FC236}">
                <a16:creationId xmlns:a16="http://schemas.microsoft.com/office/drawing/2014/main" id="{A3AEAB2C-4950-9F20-6A7E-2821A12D4A5F}"/>
              </a:ext>
            </a:extLst>
          </p:cNvPr>
          <p:cNvSpPr txBox="1"/>
          <p:nvPr/>
        </p:nvSpPr>
        <p:spPr>
          <a:xfrm>
            <a:off x="459921" y="3080088"/>
            <a:ext cx="10655754" cy="1754326"/>
          </a:xfrm>
          <a:prstGeom prst="rect">
            <a:avLst/>
          </a:prstGeom>
          <a:noFill/>
        </p:spPr>
        <p:txBody>
          <a:bodyPr wrap="square">
            <a:spAutoFit/>
          </a:bodyPr>
          <a:lstStyle/>
          <a:p>
            <a:r>
              <a:rPr lang="en-US" b="0" i="1" dirty="0">
                <a:solidFill>
                  <a:srgbClr val="222222"/>
                </a:solidFill>
                <a:effectLst/>
                <a:latin typeface="Lato" panose="020F0502020204030203" pitchFamily="34" charset="0"/>
              </a:rPr>
              <a:t>Example</a:t>
            </a:r>
            <a:r>
              <a:rPr lang="en-US" b="0" i="0" dirty="0">
                <a:solidFill>
                  <a:srgbClr val="222222"/>
                </a:solidFill>
                <a:effectLst/>
                <a:latin typeface="Lato" panose="020F0502020204030203" pitchFamily="34" charset="0"/>
              </a:rPr>
              <a:t>:</a:t>
            </a:r>
          </a:p>
          <a:p>
            <a:endParaRPr lang="en-US" dirty="0">
              <a:solidFill>
                <a:srgbClr val="222222"/>
              </a:solidFill>
              <a:latin typeface="Lato" panose="020F0502020204030203" pitchFamily="34" charset="0"/>
            </a:endParaRPr>
          </a:p>
          <a:p>
            <a:r>
              <a:rPr lang="en-US" b="0" i="0" dirty="0">
                <a:solidFill>
                  <a:srgbClr val="222222"/>
                </a:solidFill>
                <a:effectLst/>
                <a:latin typeface="Lato" panose="020F0502020204030203" pitchFamily="34" charset="0"/>
              </a:rPr>
              <a:t>Consider a scenario where we have three medical treatments for patients with similar diseases. Once we have the test results, one approach is to assume that the treatment which took the least time to cure the patients is the best among them. What if some of these patients had already been partially cured, or if any other medication was already working on them?</a:t>
            </a:r>
            <a:endParaRPr lang="en-IN" dirty="0"/>
          </a:p>
        </p:txBody>
      </p:sp>
    </p:spTree>
    <p:extLst>
      <p:ext uri="{BB962C8B-B14F-4D97-AF65-F5344CB8AC3E}">
        <p14:creationId xmlns:p14="http://schemas.microsoft.com/office/powerpoint/2010/main" val="3380401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2D93D0-C264-B9B4-FA27-5A9FC35DEC59}"/>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Terminologies for ANOVA</a:t>
            </a:r>
          </a:p>
        </p:txBody>
      </p:sp>
      <p:sp>
        <p:nvSpPr>
          <p:cNvPr id="2" name="TextBox 1">
            <a:extLst>
              <a:ext uri="{FF2B5EF4-FFF2-40B4-BE49-F238E27FC236}">
                <a16:creationId xmlns:a16="http://schemas.microsoft.com/office/drawing/2014/main" id="{FA4FE2C8-E3E7-95BB-4F15-3DCF9D2C554B}"/>
              </a:ext>
            </a:extLst>
          </p:cNvPr>
          <p:cNvSpPr txBox="1"/>
          <p:nvPr/>
        </p:nvSpPr>
        <p:spPr>
          <a:xfrm>
            <a:off x="581025" y="1019175"/>
            <a:ext cx="10974204" cy="923330"/>
          </a:xfrm>
          <a:prstGeom prst="rect">
            <a:avLst/>
          </a:prstGeom>
          <a:noFill/>
        </p:spPr>
        <p:txBody>
          <a:bodyPr wrap="square" rtlCol="0">
            <a:spAutoFit/>
          </a:bodyPr>
          <a:lstStyle/>
          <a:p>
            <a:r>
              <a:rPr lang="en-IN" b="1" i="1" dirty="0">
                <a:solidFill>
                  <a:srgbClr val="222222"/>
                </a:solidFill>
                <a:effectLst/>
                <a:latin typeface="Lato" panose="020F0502020204030203" pitchFamily="34" charset="0"/>
              </a:rPr>
              <a:t>Grand Mean</a:t>
            </a:r>
          </a:p>
          <a:p>
            <a:r>
              <a:rPr lang="en-US" b="0" i="0" dirty="0">
                <a:solidFill>
                  <a:srgbClr val="222222"/>
                </a:solidFill>
                <a:effectLst/>
                <a:latin typeface="Lato" panose="020F0502020204030203" pitchFamily="34" charset="0"/>
              </a:rPr>
              <a:t>The grand mean is the mean of sample means or the mean of all observations combined, irrespective of the sample.</a:t>
            </a:r>
          </a:p>
        </p:txBody>
      </p:sp>
      <p:pic>
        <p:nvPicPr>
          <p:cNvPr id="1026" name="Picture 2" descr="Overlapping graphs">
            <a:extLst>
              <a:ext uri="{FF2B5EF4-FFF2-40B4-BE49-F238E27FC236}">
                <a16:creationId xmlns:a16="http://schemas.microsoft.com/office/drawing/2014/main" id="{650B746F-3BC1-814E-7046-477AA158A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2517" y="2216824"/>
            <a:ext cx="2451283" cy="172221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DCBDB5C-98C8-7449-1F09-17FB6F812EE9}"/>
              </a:ext>
            </a:extLst>
          </p:cNvPr>
          <p:cNvSpPr txBox="1"/>
          <p:nvPr/>
        </p:nvSpPr>
        <p:spPr>
          <a:xfrm>
            <a:off x="581023" y="2216824"/>
            <a:ext cx="7810501" cy="3970318"/>
          </a:xfrm>
          <a:prstGeom prst="rect">
            <a:avLst/>
          </a:prstGeom>
          <a:noFill/>
        </p:spPr>
        <p:txBody>
          <a:bodyPr wrap="square">
            <a:spAutoFit/>
          </a:bodyPr>
          <a:lstStyle/>
          <a:p>
            <a:r>
              <a:rPr lang="en-IN" b="1" i="1" dirty="0">
                <a:solidFill>
                  <a:srgbClr val="222222"/>
                </a:solidFill>
                <a:effectLst/>
                <a:latin typeface="Lato" panose="020F0502020204030203" pitchFamily="34" charset="0"/>
              </a:rPr>
              <a:t>Between Group Variability</a:t>
            </a:r>
          </a:p>
          <a:p>
            <a:r>
              <a:rPr lang="en-US" b="0" i="0" dirty="0">
                <a:solidFill>
                  <a:srgbClr val="222222"/>
                </a:solidFill>
                <a:effectLst/>
                <a:latin typeface="Lato" panose="020F0502020204030203" pitchFamily="34" charset="0"/>
              </a:rPr>
              <a:t>Consider the distributions of the below two samples. As these samples overlap, their individual means won’t differ by a great margin. Hence the difference between their individual and grand means won’t be significant enough.</a:t>
            </a:r>
          </a:p>
          <a:p>
            <a:endParaRPr lang="en-US" dirty="0">
              <a:solidFill>
                <a:srgbClr val="222222"/>
              </a:solidFill>
              <a:latin typeface="Lato" panose="020F0502020204030203" pitchFamily="34" charset="0"/>
            </a:endParaRPr>
          </a:p>
          <a:p>
            <a:r>
              <a:rPr lang="en-US" b="0" i="0" dirty="0">
                <a:solidFill>
                  <a:srgbClr val="222222"/>
                </a:solidFill>
                <a:effectLst/>
                <a:latin typeface="Lato" panose="020F0502020204030203" pitchFamily="34" charset="0"/>
              </a:rPr>
              <a:t>Now consider these two sample distributions. As the samples differ from each other by a big margin, their individual means would also differ. The difference between the individual means and grand mean would, therefore, also be significant.</a:t>
            </a:r>
          </a:p>
          <a:p>
            <a:endParaRPr lang="en-US" dirty="0">
              <a:solidFill>
                <a:srgbClr val="222222"/>
              </a:solidFill>
              <a:latin typeface="Lato" panose="020F0502020204030203" pitchFamily="34" charset="0"/>
            </a:endParaRPr>
          </a:p>
          <a:p>
            <a:r>
              <a:rPr lang="en-US" b="0" i="0" dirty="0">
                <a:solidFill>
                  <a:srgbClr val="222222"/>
                </a:solidFill>
                <a:effectLst/>
                <a:latin typeface="Lato" panose="020F0502020204030203" pitchFamily="34" charset="0"/>
              </a:rPr>
              <a:t>Such variability between the distributions is called </a:t>
            </a:r>
            <a:r>
              <a:rPr lang="en-US" b="1" i="0" dirty="0">
                <a:solidFill>
                  <a:srgbClr val="222222"/>
                </a:solidFill>
                <a:effectLst/>
                <a:latin typeface="Lato" panose="020F0502020204030203" pitchFamily="34" charset="0"/>
              </a:rPr>
              <a:t>Between-group variability</a:t>
            </a:r>
            <a:r>
              <a:rPr lang="en-US" b="0" i="0" dirty="0">
                <a:solidFill>
                  <a:srgbClr val="222222"/>
                </a:solidFill>
                <a:effectLst/>
                <a:latin typeface="Lato" panose="020F0502020204030203" pitchFamily="34" charset="0"/>
              </a:rPr>
              <a:t>.</a:t>
            </a:r>
            <a:endParaRPr lang="en-IN" dirty="0"/>
          </a:p>
          <a:p>
            <a:endParaRPr lang="en-IN" dirty="0"/>
          </a:p>
        </p:txBody>
      </p:sp>
      <p:pic>
        <p:nvPicPr>
          <p:cNvPr id="1028" name="Picture 4" descr="Variability distribution">
            <a:extLst>
              <a:ext uri="{FF2B5EF4-FFF2-40B4-BE49-F238E27FC236}">
                <a16:creationId xmlns:a16="http://schemas.microsoft.com/office/drawing/2014/main" id="{6A6E04E6-9C87-B0EA-3641-58E1840BD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2930" y="4116612"/>
            <a:ext cx="3690456" cy="1722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5036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2D93D0-C264-B9B4-FA27-5A9FC35DEC59}"/>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Terminologies for ANOVA</a:t>
            </a:r>
          </a:p>
        </p:txBody>
      </p:sp>
      <p:sp>
        <p:nvSpPr>
          <p:cNvPr id="5" name="TextBox 4">
            <a:extLst>
              <a:ext uri="{FF2B5EF4-FFF2-40B4-BE49-F238E27FC236}">
                <a16:creationId xmlns:a16="http://schemas.microsoft.com/office/drawing/2014/main" id="{0FAF59DB-B3FA-AB23-D29E-D36833B8BFFA}"/>
              </a:ext>
            </a:extLst>
          </p:cNvPr>
          <p:cNvSpPr txBox="1"/>
          <p:nvPr/>
        </p:nvSpPr>
        <p:spPr>
          <a:xfrm>
            <a:off x="459921" y="936747"/>
            <a:ext cx="6096000" cy="5078313"/>
          </a:xfrm>
          <a:prstGeom prst="rect">
            <a:avLst/>
          </a:prstGeom>
          <a:noFill/>
        </p:spPr>
        <p:txBody>
          <a:bodyPr wrap="square">
            <a:spAutoFit/>
          </a:bodyPr>
          <a:lstStyle/>
          <a:p>
            <a:pPr algn="l"/>
            <a:r>
              <a:rPr lang="en-IN" b="1" i="1" dirty="0">
                <a:solidFill>
                  <a:srgbClr val="222222"/>
                </a:solidFill>
                <a:effectLst/>
                <a:latin typeface="Lato" panose="020F0502020204030203" pitchFamily="34" charset="0"/>
              </a:rPr>
              <a:t>Within Group Variability</a:t>
            </a:r>
          </a:p>
          <a:p>
            <a:pPr algn="l"/>
            <a:endParaRPr lang="en-IN" b="1" i="1" dirty="0">
              <a:solidFill>
                <a:srgbClr val="222222"/>
              </a:solidFill>
              <a:latin typeface="Lato" panose="020F0502020204030203" pitchFamily="34" charset="0"/>
            </a:endParaRPr>
          </a:p>
          <a:p>
            <a:pPr algn="l"/>
            <a:r>
              <a:rPr lang="en-US" b="0" i="0" dirty="0">
                <a:solidFill>
                  <a:srgbClr val="222222"/>
                </a:solidFill>
                <a:effectLst/>
                <a:latin typeface="Lato" panose="020F0502020204030203" pitchFamily="34" charset="0"/>
              </a:rPr>
              <a:t>Consider the given distributions of three samples. As the spread (variability) of each sample increases, their distributions overlap, and they become part of a big population.</a:t>
            </a:r>
            <a:endParaRPr lang="en-IN" dirty="0">
              <a:solidFill>
                <a:srgbClr val="222222"/>
              </a:solidFill>
              <a:effectLst/>
              <a:latin typeface="Lato" panose="020F0502020204030203" pitchFamily="34" charset="0"/>
            </a:endParaRPr>
          </a:p>
          <a:p>
            <a:pPr algn="l"/>
            <a:endParaRPr lang="en-IN" dirty="0">
              <a:solidFill>
                <a:srgbClr val="222222"/>
              </a:solidFill>
              <a:latin typeface="Lato" panose="020F0502020204030203" pitchFamily="34" charset="0"/>
            </a:endParaRPr>
          </a:p>
          <a:p>
            <a:pPr algn="l"/>
            <a:r>
              <a:rPr lang="en-US" b="0" i="0" dirty="0">
                <a:solidFill>
                  <a:srgbClr val="222222"/>
                </a:solidFill>
                <a:effectLst/>
                <a:latin typeface="Lato" panose="020F0502020204030203" pitchFamily="34" charset="0"/>
              </a:rPr>
              <a:t>Now consider another distribution of the same three samples but with less variability. Although the means of samples are similar to those in the above image, they seem to belong to different populations.</a:t>
            </a:r>
          </a:p>
          <a:p>
            <a:pPr algn="l"/>
            <a:endParaRPr lang="en-US" dirty="0">
              <a:solidFill>
                <a:srgbClr val="222222"/>
              </a:solidFill>
              <a:latin typeface="Lato" panose="020F0502020204030203" pitchFamily="34" charset="0"/>
            </a:endParaRPr>
          </a:p>
          <a:p>
            <a:pPr algn="l"/>
            <a:r>
              <a:rPr lang="en-US" b="0" i="0" dirty="0">
                <a:solidFill>
                  <a:srgbClr val="222222"/>
                </a:solidFill>
                <a:effectLst/>
                <a:latin typeface="Lato" panose="020F0502020204030203" pitchFamily="34" charset="0"/>
              </a:rPr>
              <a:t>Such variations within a sample are denoted by </a:t>
            </a:r>
            <a:r>
              <a:rPr lang="en-US" b="1" i="0" dirty="0">
                <a:solidFill>
                  <a:srgbClr val="222222"/>
                </a:solidFill>
                <a:effectLst/>
                <a:latin typeface="Lato" panose="020F0502020204030203" pitchFamily="34" charset="0"/>
              </a:rPr>
              <a:t>Within-group variation</a:t>
            </a:r>
            <a:r>
              <a:rPr lang="en-US" b="0" i="0" dirty="0">
                <a:solidFill>
                  <a:srgbClr val="222222"/>
                </a:solidFill>
                <a:effectLst/>
                <a:latin typeface="Lato" panose="020F0502020204030203" pitchFamily="34" charset="0"/>
              </a:rPr>
              <a:t>.</a:t>
            </a:r>
          </a:p>
          <a:p>
            <a:pPr algn="l"/>
            <a:endParaRPr lang="en-US" dirty="0">
              <a:solidFill>
                <a:srgbClr val="222222"/>
              </a:solidFill>
              <a:latin typeface="Lato" panose="020F0502020204030203" pitchFamily="34" charset="0"/>
            </a:endParaRPr>
          </a:p>
          <a:p>
            <a:pPr algn="l"/>
            <a:r>
              <a:rPr lang="en-US" b="0" i="0" dirty="0">
                <a:solidFill>
                  <a:srgbClr val="222222"/>
                </a:solidFill>
                <a:effectLst/>
                <a:latin typeface="Lato" panose="020F0502020204030203" pitchFamily="34" charset="0"/>
              </a:rPr>
              <a:t>We can measure </a:t>
            </a:r>
            <a:r>
              <a:rPr lang="en-US" b="1" i="0" dirty="0">
                <a:solidFill>
                  <a:srgbClr val="222222"/>
                </a:solidFill>
                <a:effectLst/>
                <a:latin typeface="Lato" panose="020F0502020204030203" pitchFamily="34" charset="0"/>
              </a:rPr>
              <a:t>Within-group variability</a:t>
            </a:r>
            <a:r>
              <a:rPr lang="en-US" b="0" i="0" dirty="0">
                <a:solidFill>
                  <a:srgbClr val="222222"/>
                </a:solidFill>
                <a:effectLst/>
                <a:latin typeface="Lato" panose="020F0502020204030203" pitchFamily="34" charset="0"/>
              </a:rPr>
              <a:t> by looking at how much each value in each sample differs from its respective sample mean. </a:t>
            </a:r>
            <a:endParaRPr lang="en-IN" dirty="0">
              <a:solidFill>
                <a:srgbClr val="222222"/>
              </a:solidFill>
              <a:effectLst/>
              <a:latin typeface="Lato" panose="020F0502020204030203" pitchFamily="34" charset="0"/>
            </a:endParaRPr>
          </a:p>
        </p:txBody>
      </p:sp>
      <p:pic>
        <p:nvPicPr>
          <p:cNvPr id="2050" name="Picture 2" descr="Within-group variation graph in ANOVA 1">
            <a:extLst>
              <a:ext uri="{FF2B5EF4-FFF2-40B4-BE49-F238E27FC236}">
                <a16:creationId xmlns:a16="http://schemas.microsoft.com/office/drawing/2014/main" id="{605865E9-3CA7-FD01-49EF-D080B26A7A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5921" y="1200150"/>
            <a:ext cx="5176158" cy="16218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ithin-group variation graph in ANOVA 2">
            <a:extLst>
              <a:ext uri="{FF2B5EF4-FFF2-40B4-BE49-F238E27FC236}">
                <a16:creationId xmlns:a16="http://schemas.microsoft.com/office/drawing/2014/main" id="{F0DC8038-E1D0-13E8-3E4D-D651ECD8C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4575" y="2919800"/>
            <a:ext cx="4238849" cy="1490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5762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EA9A57-D23B-258F-97AC-45409556C4C8}"/>
              </a:ext>
            </a:extLst>
          </p:cNvPr>
          <p:cNvSpPr txBox="1"/>
          <p:nvPr/>
        </p:nvSpPr>
        <p:spPr>
          <a:xfrm>
            <a:off x="628650" y="453509"/>
            <a:ext cx="6096000" cy="369332"/>
          </a:xfrm>
          <a:prstGeom prst="rect">
            <a:avLst/>
          </a:prstGeom>
          <a:noFill/>
        </p:spPr>
        <p:txBody>
          <a:bodyPr wrap="square">
            <a:spAutoFit/>
          </a:bodyPr>
          <a:lstStyle/>
          <a:p>
            <a:pPr algn="l"/>
            <a:r>
              <a:rPr lang="en-IN" b="1" i="0" dirty="0">
                <a:solidFill>
                  <a:srgbClr val="292929"/>
                </a:solidFill>
                <a:effectLst/>
                <a:latin typeface="sohne"/>
              </a:rPr>
              <a:t>F-Statistic</a:t>
            </a:r>
          </a:p>
        </p:txBody>
      </p:sp>
      <p:sp>
        <p:nvSpPr>
          <p:cNvPr id="5" name="TextBox 4">
            <a:extLst>
              <a:ext uri="{FF2B5EF4-FFF2-40B4-BE49-F238E27FC236}">
                <a16:creationId xmlns:a16="http://schemas.microsoft.com/office/drawing/2014/main" id="{146984DB-3966-7EEF-4EEB-96E90FFE2025}"/>
              </a:ext>
            </a:extLst>
          </p:cNvPr>
          <p:cNvSpPr txBox="1"/>
          <p:nvPr/>
        </p:nvSpPr>
        <p:spPr>
          <a:xfrm>
            <a:off x="628650" y="1210360"/>
            <a:ext cx="10858500" cy="369332"/>
          </a:xfrm>
          <a:prstGeom prst="rect">
            <a:avLst/>
          </a:prstGeom>
          <a:noFill/>
        </p:spPr>
        <p:txBody>
          <a:bodyPr wrap="square">
            <a:spAutoFit/>
          </a:bodyPr>
          <a:lstStyle/>
          <a:p>
            <a:r>
              <a:rPr lang="en-US" b="0" i="0" dirty="0">
                <a:solidFill>
                  <a:srgbClr val="292929"/>
                </a:solidFill>
                <a:effectLst/>
                <a:latin typeface="source-serif-pro"/>
              </a:rPr>
              <a:t>The test statistic for the ANOVA test is the </a:t>
            </a:r>
            <a:r>
              <a:rPr lang="en-US" dirty="0">
                <a:solidFill>
                  <a:srgbClr val="292929"/>
                </a:solidFill>
                <a:latin typeface="source-serif-pro"/>
              </a:rPr>
              <a:t>F-Statistic, which </a:t>
            </a:r>
            <a:r>
              <a:rPr lang="en-US" b="0" i="0" dirty="0">
                <a:solidFill>
                  <a:srgbClr val="292929"/>
                </a:solidFill>
                <a:effectLst/>
                <a:latin typeface="source-serif-pro"/>
              </a:rPr>
              <a:t>is calculated as follows:</a:t>
            </a:r>
            <a:endParaRPr lang="en-IN" dirty="0"/>
          </a:p>
        </p:txBody>
      </p:sp>
      <p:pic>
        <p:nvPicPr>
          <p:cNvPr id="7" name="Picture 6">
            <a:extLst>
              <a:ext uri="{FF2B5EF4-FFF2-40B4-BE49-F238E27FC236}">
                <a16:creationId xmlns:a16="http://schemas.microsoft.com/office/drawing/2014/main" id="{2E663C69-B9AB-2AE4-7046-94F26273A32E}"/>
              </a:ext>
            </a:extLst>
          </p:cNvPr>
          <p:cNvPicPr>
            <a:picLocks noChangeAspect="1"/>
          </p:cNvPicPr>
          <p:nvPr/>
        </p:nvPicPr>
        <p:blipFill>
          <a:blip r:embed="rId2"/>
          <a:stretch>
            <a:fillRect/>
          </a:stretch>
        </p:blipFill>
        <p:spPr>
          <a:xfrm>
            <a:off x="4781550" y="1606124"/>
            <a:ext cx="2343150" cy="896614"/>
          </a:xfrm>
          <a:prstGeom prst="rect">
            <a:avLst/>
          </a:prstGeom>
        </p:spPr>
      </p:pic>
      <p:sp>
        <p:nvSpPr>
          <p:cNvPr id="9" name="TextBox 8">
            <a:extLst>
              <a:ext uri="{FF2B5EF4-FFF2-40B4-BE49-F238E27FC236}">
                <a16:creationId xmlns:a16="http://schemas.microsoft.com/office/drawing/2014/main" id="{F66CF4DD-FBE5-D027-7069-62F32CCC89E8}"/>
              </a:ext>
            </a:extLst>
          </p:cNvPr>
          <p:cNvSpPr txBox="1"/>
          <p:nvPr/>
        </p:nvSpPr>
        <p:spPr>
          <a:xfrm>
            <a:off x="1857375" y="2601010"/>
            <a:ext cx="9734550" cy="646331"/>
          </a:xfrm>
          <a:prstGeom prst="rect">
            <a:avLst/>
          </a:prstGeom>
          <a:noFill/>
        </p:spPr>
        <p:txBody>
          <a:bodyPr wrap="square">
            <a:spAutoFit/>
          </a:bodyPr>
          <a:lstStyle/>
          <a:p>
            <a:r>
              <a:rPr lang="en-US" b="0" i="0" dirty="0">
                <a:solidFill>
                  <a:srgbClr val="292929"/>
                </a:solidFill>
                <a:effectLst/>
                <a:latin typeface="source-serif-pro"/>
              </a:rPr>
              <a:t>Where;</a:t>
            </a:r>
          </a:p>
          <a:p>
            <a:r>
              <a:rPr lang="en-US" b="1" i="1" dirty="0">
                <a:solidFill>
                  <a:srgbClr val="292929"/>
                </a:solidFill>
                <a:effectLst/>
                <a:latin typeface="source-serif-pro"/>
              </a:rPr>
              <a:t>n_1</a:t>
            </a:r>
            <a:r>
              <a:rPr lang="en-US" b="0" i="0" dirty="0">
                <a:solidFill>
                  <a:srgbClr val="292929"/>
                </a:solidFill>
                <a:effectLst/>
                <a:latin typeface="source-serif-pro"/>
              </a:rPr>
              <a:t> and </a:t>
            </a:r>
            <a:r>
              <a:rPr lang="en-US" b="1" i="1" dirty="0">
                <a:solidFill>
                  <a:srgbClr val="292929"/>
                </a:solidFill>
                <a:effectLst/>
                <a:latin typeface="source-serif-pro"/>
              </a:rPr>
              <a:t>n_2</a:t>
            </a:r>
            <a:r>
              <a:rPr lang="en-US" b="0" i="0" dirty="0">
                <a:solidFill>
                  <a:srgbClr val="292929"/>
                </a:solidFill>
                <a:effectLst/>
                <a:latin typeface="source-serif-pro"/>
              </a:rPr>
              <a:t> are the </a:t>
            </a:r>
            <a:r>
              <a:rPr lang="en-US" b="1" i="0" dirty="0">
                <a:solidFill>
                  <a:srgbClr val="292929"/>
                </a:solidFill>
                <a:effectLst/>
                <a:latin typeface="source-serif-pro"/>
              </a:rPr>
              <a:t>degrees of freedom</a:t>
            </a:r>
            <a:r>
              <a:rPr lang="en-US" b="0" i="0" dirty="0">
                <a:solidFill>
                  <a:srgbClr val="292929"/>
                </a:solidFill>
                <a:effectLst/>
                <a:latin typeface="source-serif-pro"/>
              </a:rPr>
              <a:t> for each Sum of Squares (between and within groups):</a:t>
            </a:r>
            <a:endParaRPr lang="en-IN" dirty="0"/>
          </a:p>
        </p:txBody>
      </p:sp>
      <p:pic>
        <p:nvPicPr>
          <p:cNvPr id="11" name="Picture 10">
            <a:extLst>
              <a:ext uri="{FF2B5EF4-FFF2-40B4-BE49-F238E27FC236}">
                <a16:creationId xmlns:a16="http://schemas.microsoft.com/office/drawing/2014/main" id="{8BD0FDA7-99FA-9649-AD5D-ACF149D794C6}"/>
              </a:ext>
            </a:extLst>
          </p:cNvPr>
          <p:cNvPicPr>
            <a:picLocks noChangeAspect="1"/>
          </p:cNvPicPr>
          <p:nvPr/>
        </p:nvPicPr>
        <p:blipFill>
          <a:blip r:embed="rId3"/>
          <a:stretch>
            <a:fillRect/>
          </a:stretch>
        </p:blipFill>
        <p:spPr>
          <a:xfrm>
            <a:off x="4360069" y="4194758"/>
            <a:ext cx="2271713" cy="879838"/>
          </a:xfrm>
          <a:prstGeom prst="rect">
            <a:avLst/>
          </a:prstGeom>
        </p:spPr>
      </p:pic>
      <p:sp>
        <p:nvSpPr>
          <p:cNvPr id="13" name="TextBox 12">
            <a:extLst>
              <a:ext uri="{FF2B5EF4-FFF2-40B4-BE49-F238E27FC236}">
                <a16:creationId xmlns:a16="http://schemas.microsoft.com/office/drawing/2014/main" id="{3B8E9762-8946-C308-2EDB-3EF751145FBE}"/>
              </a:ext>
            </a:extLst>
          </p:cNvPr>
          <p:cNvSpPr txBox="1"/>
          <p:nvPr/>
        </p:nvSpPr>
        <p:spPr>
          <a:xfrm>
            <a:off x="1969294" y="5134697"/>
            <a:ext cx="9324975" cy="369332"/>
          </a:xfrm>
          <a:prstGeom prst="rect">
            <a:avLst/>
          </a:prstGeom>
          <a:noFill/>
        </p:spPr>
        <p:txBody>
          <a:bodyPr wrap="square">
            <a:spAutoFit/>
          </a:bodyPr>
          <a:lstStyle/>
          <a:p>
            <a:r>
              <a:rPr lang="en-US" b="0" i="0" dirty="0">
                <a:solidFill>
                  <a:srgbClr val="292929"/>
                </a:solidFill>
                <a:effectLst/>
                <a:latin typeface="source-serif-pro"/>
              </a:rPr>
              <a:t>Where </a:t>
            </a:r>
            <a:r>
              <a:rPr lang="en-US" b="1" i="1" dirty="0">
                <a:solidFill>
                  <a:srgbClr val="292929"/>
                </a:solidFill>
                <a:effectLst/>
                <a:latin typeface="source-serif-pro"/>
              </a:rPr>
              <a:t>m</a:t>
            </a:r>
            <a:r>
              <a:rPr lang="en-US" b="0" i="0" dirty="0">
                <a:solidFill>
                  <a:srgbClr val="292929"/>
                </a:solidFill>
                <a:effectLst/>
                <a:latin typeface="source-serif-pro"/>
              </a:rPr>
              <a:t> is the number of groups and </a:t>
            </a:r>
            <a:r>
              <a:rPr lang="en-US" b="1" i="1" dirty="0">
                <a:solidFill>
                  <a:srgbClr val="292929"/>
                </a:solidFill>
                <a:effectLst/>
                <a:latin typeface="source-serif-pro"/>
              </a:rPr>
              <a:t>n</a:t>
            </a:r>
            <a:r>
              <a:rPr lang="en-US" b="0" i="0" dirty="0">
                <a:solidFill>
                  <a:srgbClr val="292929"/>
                </a:solidFill>
                <a:effectLst/>
                <a:latin typeface="source-serif-pro"/>
              </a:rPr>
              <a:t> is the total number of data points.</a:t>
            </a:r>
            <a:endParaRPr lang="en-IN" dirty="0"/>
          </a:p>
        </p:txBody>
      </p:sp>
      <p:pic>
        <p:nvPicPr>
          <p:cNvPr id="2" name="Picture 1">
            <a:extLst>
              <a:ext uri="{FF2B5EF4-FFF2-40B4-BE49-F238E27FC236}">
                <a16:creationId xmlns:a16="http://schemas.microsoft.com/office/drawing/2014/main" id="{B75F7754-57D9-0A55-30C4-01FD0FAF9C58}"/>
              </a:ext>
            </a:extLst>
          </p:cNvPr>
          <p:cNvPicPr>
            <a:picLocks noChangeAspect="1"/>
          </p:cNvPicPr>
          <p:nvPr/>
        </p:nvPicPr>
        <p:blipFill>
          <a:blip r:embed="rId4"/>
          <a:stretch>
            <a:fillRect/>
          </a:stretch>
        </p:blipFill>
        <p:spPr>
          <a:xfrm>
            <a:off x="1724025" y="3244972"/>
            <a:ext cx="3209925" cy="942308"/>
          </a:xfrm>
          <a:prstGeom prst="rect">
            <a:avLst/>
          </a:prstGeom>
        </p:spPr>
      </p:pic>
      <p:pic>
        <p:nvPicPr>
          <p:cNvPr id="4" name="Picture 3">
            <a:extLst>
              <a:ext uri="{FF2B5EF4-FFF2-40B4-BE49-F238E27FC236}">
                <a16:creationId xmlns:a16="http://schemas.microsoft.com/office/drawing/2014/main" id="{607AC768-E0AB-67BA-8F2F-9396F286DC7E}"/>
              </a:ext>
            </a:extLst>
          </p:cNvPr>
          <p:cNvPicPr>
            <a:picLocks noChangeAspect="1"/>
          </p:cNvPicPr>
          <p:nvPr/>
        </p:nvPicPr>
        <p:blipFill>
          <a:blip r:embed="rId5"/>
          <a:stretch>
            <a:fillRect/>
          </a:stretch>
        </p:blipFill>
        <p:spPr>
          <a:xfrm>
            <a:off x="6057900" y="3244972"/>
            <a:ext cx="3876675" cy="943760"/>
          </a:xfrm>
          <a:prstGeom prst="rect">
            <a:avLst/>
          </a:prstGeom>
        </p:spPr>
      </p:pic>
    </p:spTree>
    <p:extLst>
      <p:ext uri="{BB962C8B-B14F-4D97-AF65-F5344CB8AC3E}">
        <p14:creationId xmlns:p14="http://schemas.microsoft.com/office/powerpoint/2010/main" val="25642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A459FF0-73DF-5D58-68F4-E4E3591E1E29}"/>
              </a:ext>
            </a:extLst>
          </p:cNvPr>
          <p:cNvGraphicFramePr>
            <a:graphicFrameLocks noGrp="1"/>
          </p:cNvGraphicFramePr>
          <p:nvPr/>
        </p:nvGraphicFramePr>
        <p:xfrm>
          <a:off x="485775" y="669773"/>
          <a:ext cx="11153775" cy="5278164"/>
        </p:xfrm>
        <a:graphic>
          <a:graphicData uri="http://schemas.openxmlformats.org/drawingml/2006/table">
            <a:tbl>
              <a:tblPr/>
              <a:tblGrid>
                <a:gridCol w="11153775">
                  <a:extLst>
                    <a:ext uri="{9D8B030D-6E8A-4147-A177-3AD203B41FA5}">
                      <a16:colId xmlns:a16="http://schemas.microsoft.com/office/drawing/2014/main" val="507371993"/>
                    </a:ext>
                  </a:extLst>
                </a:gridCol>
              </a:tblGrid>
              <a:tr h="305557">
                <a:tc>
                  <a:txBody>
                    <a:bodyPr/>
                    <a:lstStyle/>
                    <a:p>
                      <a:pPr marL="285750" indent="-285750" algn="l">
                        <a:buFont typeface="Arial" panose="020B0604020202020204" pitchFamily="34" charset="0"/>
                        <a:buChar char="•"/>
                      </a:pPr>
                      <a:r>
                        <a:rPr lang="en-US" sz="1600" b="1" dirty="0">
                          <a:effectLst/>
                          <a:latin typeface="Lato" panose="020F0502020204030203" pitchFamily="34" charset="0"/>
                          <a:ea typeface="Lato" panose="020F0502020204030203" pitchFamily="34" charset="0"/>
                          <a:cs typeface="Lato" panose="020F0502020204030203" pitchFamily="34" charset="0"/>
                        </a:rPr>
                        <a:t>If the </a:t>
                      </a:r>
                      <a:r>
                        <a:rPr lang="en-US" sz="1600" b="1" i="1" dirty="0">
                          <a:effectLst/>
                          <a:latin typeface="Lato" panose="020F0502020204030203" pitchFamily="34" charset="0"/>
                          <a:ea typeface="Lato" panose="020F0502020204030203" pitchFamily="34" charset="0"/>
                          <a:cs typeface="Lato" panose="020F0502020204030203" pitchFamily="34" charset="0"/>
                        </a:rPr>
                        <a:t>F</a:t>
                      </a:r>
                      <a:r>
                        <a:rPr lang="en-US" sz="1600" b="1" dirty="0">
                          <a:effectLst/>
                          <a:latin typeface="Lato" panose="020F0502020204030203" pitchFamily="34" charset="0"/>
                          <a:ea typeface="Lato" panose="020F0502020204030203" pitchFamily="34" charset="0"/>
                          <a:cs typeface="Lato" panose="020F0502020204030203" pitchFamily="34" charset="0"/>
                        </a:rPr>
                        <a:t> statistic is </a:t>
                      </a:r>
                      <a:r>
                        <a:rPr lang="en-US" sz="1600" b="1" i="1" dirty="0">
                          <a:effectLst/>
                          <a:latin typeface="Lato" panose="020F0502020204030203" pitchFamily="34" charset="0"/>
                          <a:ea typeface="Lato" panose="020F0502020204030203" pitchFamily="34" charset="0"/>
                          <a:cs typeface="Lato" panose="020F0502020204030203" pitchFamily="34" charset="0"/>
                        </a:rPr>
                        <a:t>smaller</a:t>
                      </a:r>
                      <a:r>
                        <a:rPr lang="en-US" sz="1600" b="1" dirty="0">
                          <a:effectLst/>
                          <a:latin typeface="Lato" panose="020F0502020204030203" pitchFamily="34" charset="0"/>
                          <a:ea typeface="Lato" panose="020F0502020204030203" pitchFamily="34" charset="0"/>
                          <a:cs typeface="Lato" panose="020F0502020204030203" pitchFamily="34" charset="0"/>
                        </a:rPr>
                        <a:t> than the critical </a:t>
                      </a:r>
                      <a:r>
                        <a:rPr lang="en-US" sz="1600" b="1" i="1" dirty="0">
                          <a:effectLst/>
                          <a:latin typeface="Lato" panose="020F0502020204030203" pitchFamily="34" charset="0"/>
                          <a:ea typeface="Lato" panose="020F0502020204030203" pitchFamily="34" charset="0"/>
                          <a:cs typeface="Lato" panose="020F0502020204030203" pitchFamily="34" charset="0"/>
                        </a:rPr>
                        <a:t>F</a:t>
                      </a:r>
                      <a:r>
                        <a:rPr lang="en-US" sz="1600" b="1" dirty="0">
                          <a:effectLst/>
                          <a:latin typeface="Lato" panose="020F0502020204030203" pitchFamily="34" charset="0"/>
                          <a:ea typeface="Lato" panose="020F0502020204030203" pitchFamily="34" charset="0"/>
                          <a:cs typeface="Lato" panose="020F0502020204030203" pitchFamily="34" charset="0"/>
                        </a:rPr>
                        <a:t> value:</a:t>
                      </a:r>
                      <a:endParaRPr lang="en-US" sz="1600" dirty="0">
                        <a:effectLst/>
                        <a:latin typeface="Lato" panose="020F0502020204030203" pitchFamily="34" charset="0"/>
                        <a:ea typeface="Lato" panose="020F0502020204030203" pitchFamily="34" charset="0"/>
                        <a:cs typeface="Lato" panose="020F0502020204030203" pitchFamily="34" charset="0"/>
                      </a:endParaRP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2987381112"/>
                  </a:ext>
                </a:extLst>
              </a:tr>
              <a:tr h="305557">
                <a:tc>
                  <a:txBody>
                    <a:bodyPr/>
                    <a:lstStyle/>
                    <a:p>
                      <a:pPr lvl="1" algn="l">
                        <a:lnSpc>
                          <a:spcPct val="150000"/>
                        </a:lnSpc>
                      </a:pPr>
                      <a:r>
                        <a:rPr lang="en-US" sz="1800" b="0" i="0" kern="1200" dirty="0">
                          <a:solidFill>
                            <a:srgbClr val="292929"/>
                          </a:solidFill>
                          <a:effectLst/>
                          <a:latin typeface="source-serif-pro"/>
                          <a:ea typeface="+mn-ea"/>
                          <a:cs typeface="+mn-cs"/>
                        </a:rPr>
                        <a:t>Accept the null hypothesis, H0, as a reasonable possibility.</a:t>
                      </a: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2587672328"/>
                  </a:ext>
                </a:extLst>
              </a:tr>
              <a:tr h="305557">
                <a:tc>
                  <a:txBody>
                    <a:bodyPr/>
                    <a:lstStyle/>
                    <a:p>
                      <a:pPr lvl="1" algn="l">
                        <a:lnSpc>
                          <a:spcPct val="150000"/>
                        </a:lnSpc>
                      </a:pPr>
                      <a:r>
                        <a:rPr lang="en-US" sz="1800" b="0" i="0" kern="1200" dirty="0">
                          <a:solidFill>
                            <a:srgbClr val="292929"/>
                          </a:solidFill>
                          <a:effectLst/>
                          <a:latin typeface="source-serif-pro"/>
                          <a:ea typeface="+mn-ea"/>
                          <a:cs typeface="+mn-cs"/>
                        </a:rPr>
                        <a:t>Do not accept the research hypothesis, H1.</a:t>
                      </a: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3617176096"/>
                  </a:ext>
                </a:extLst>
              </a:tr>
              <a:tr h="442487">
                <a:tc>
                  <a:txBody>
                    <a:bodyPr/>
                    <a:lstStyle/>
                    <a:p>
                      <a:pPr lvl="1" algn="l">
                        <a:lnSpc>
                          <a:spcPct val="150000"/>
                        </a:lnSpc>
                      </a:pPr>
                      <a:r>
                        <a:rPr lang="en-US" sz="1800" b="0" i="0" kern="1200" dirty="0">
                          <a:solidFill>
                            <a:srgbClr val="292929"/>
                          </a:solidFill>
                          <a:effectLst/>
                          <a:latin typeface="source-serif-pro"/>
                          <a:ea typeface="+mn-ea"/>
                          <a:cs typeface="+mn-cs"/>
                        </a:rPr>
                        <a:t>The sample averages are not significantly different from each other.</a:t>
                      </a: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763078244"/>
                  </a:ext>
                </a:extLst>
              </a:tr>
              <a:tr h="442487">
                <a:tc>
                  <a:txBody>
                    <a:bodyPr/>
                    <a:lstStyle/>
                    <a:p>
                      <a:pPr lvl="1" algn="l">
                        <a:lnSpc>
                          <a:spcPct val="150000"/>
                        </a:lnSpc>
                      </a:pPr>
                      <a:r>
                        <a:rPr lang="en-US" sz="1800" b="0" i="0" kern="1200" dirty="0">
                          <a:solidFill>
                            <a:srgbClr val="292929"/>
                          </a:solidFill>
                          <a:effectLst/>
                          <a:latin typeface="source-serif-pro"/>
                          <a:ea typeface="+mn-ea"/>
                          <a:cs typeface="+mn-cs"/>
                        </a:rPr>
                        <a:t>The observed differences among the sample averages could reasonably be due to random chance alone.</a:t>
                      </a: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1991631472"/>
                  </a:ext>
                </a:extLst>
              </a:tr>
              <a:tr h="579418">
                <a:tc>
                  <a:txBody>
                    <a:bodyPr/>
                    <a:lstStyle/>
                    <a:p>
                      <a:pPr lvl="1" algn="l">
                        <a:lnSpc>
                          <a:spcPct val="150000"/>
                        </a:lnSpc>
                      </a:pPr>
                      <a:r>
                        <a:rPr lang="en-US" sz="1800" b="0" i="0" kern="1200" dirty="0">
                          <a:solidFill>
                            <a:srgbClr val="292929"/>
                          </a:solidFill>
                          <a:effectLst/>
                          <a:latin typeface="source-serif-pro"/>
                          <a:ea typeface="+mn-ea"/>
                          <a:cs typeface="+mn-cs"/>
                        </a:rPr>
                        <a:t>The result is not statistically significant. (All of the above statements are equivalent to one another.)</a:t>
                      </a:r>
                    </a:p>
                    <a:p>
                      <a:pPr lvl="1" algn="l">
                        <a:lnSpc>
                          <a:spcPct val="150000"/>
                        </a:lnSpc>
                      </a:pPr>
                      <a:endParaRPr lang="en-US" sz="1800" b="0" i="0" kern="1200" dirty="0">
                        <a:solidFill>
                          <a:srgbClr val="292929"/>
                        </a:solidFill>
                        <a:effectLst/>
                        <a:latin typeface="source-serif-pro"/>
                        <a:ea typeface="+mn-ea"/>
                        <a:cs typeface="+mn-cs"/>
                      </a:endParaRP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553987980"/>
                  </a:ext>
                </a:extLst>
              </a:tr>
              <a:tr h="305557">
                <a:tc>
                  <a:txBody>
                    <a:bodyPr/>
                    <a:lstStyle/>
                    <a:p>
                      <a:pPr marL="285750" indent="-285750" algn="l">
                        <a:buFont typeface="Arial" panose="020B0604020202020204" pitchFamily="34" charset="0"/>
                        <a:buChar char="•"/>
                      </a:pPr>
                      <a:r>
                        <a:rPr lang="en-US" sz="1600" b="1" dirty="0">
                          <a:effectLst/>
                          <a:latin typeface="Lato" panose="020F0502020204030203" pitchFamily="34" charset="0"/>
                          <a:ea typeface="Lato" panose="020F0502020204030203" pitchFamily="34" charset="0"/>
                          <a:cs typeface="Lato" panose="020F0502020204030203" pitchFamily="34" charset="0"/>
                        </a:rPr>
                        <a:t>If the </a:t>
                      </a:r>
                      <a:r>
                        <a:rPr lang="en-US" sz="1600" b="1" i="1" dirty="0">
                          <a:effectLst/>
                          <a:latin typeface="Lato" panose="020F0502020204030203" pitchFamily="34" charset="0"/>
                          <a:ea typeface="Lato" panose="020F0502020204030203" pitchFamily="34" charset="0"/>
                          <a:cs typeface="Lato" panose="020F0502020204030203" pitchFamily="34" charset="0"/>
                        </a:rPr>
                        <a:t>F</a:t>
                      </a:r>
                      <a:r>
                        <a:rPr lang="en-US" sz="1600" b="1" dirty="0">
                          <a:effectLst/>
                          <a:latin typeface="Lato" panose="020F0502020204030203" pitchFamily="34" charset="0"/>
                          <a:ea typeface="Lato" panose="020F0502020204030203" pitchFamily="34" charset="0"/>
                          <a:cs typeface="Lato" panose="020F0502020204030203" pitchFamily="34" charset="0"/>
                        </a:rPr>
                        <a:t> statistic is </a:t>
                      </a:r>
                      <a:r>
                        <a:rPr lang="en-US" sz="1600" b="1" i="1" dirty="0">
                          <a:effectLst/>
                          <a:latin typeface="Lato" panose="020F0502020204030203" pitchFamily="34" charset="0"/>
                          <a:ea typeface="Lato" panose="020F0502020204030203" pitchFamily="34" charset="0"/>
                          <a:cs typeface="Lato" panose="020F0502020204030203" pitchFamily="34" charset="0"/>
                        </a:rPr>
                        <a:t>larger</a:t>
                      </a:r>
                      <a:r>
                        <a:rPr lang="en-US" sz="1600" b="1" dirty="0">
                          <a:effectLst/>
                          <a:latin typeface="Lato" panose="020F0502020204030203" pitchFamily="34" charset="0"/>
                          <a:ea typeface="Lato" panose="020F0502020204030203" pitchFamily="34" charset="0"/>
                          <a:cs typeface="Lato" panose="020F0502020204030203" pitchFamily="34" charset="0"/>
                        </a:rPr>
                        <a:t> than the critical </a:t>
                      </a:r>
                      <a:r>
                        <a:rPr lang="en-US" sz="1600" b="1" i="1" dirty="0">
                          <a:effectLst/>
                          <a:latin typeface="Lato" panose="020F0502020204030203" pitchFamily="34" charset="0"/>
                          <a:ea typeface="Lato" panose="020F0502020204030203" pitchFamily="34" charset="0"/>
                          <a:cs typeface="Lato" panose="020F0502020204030203" pitchFamily="34" charset="0"/>
                        </a:rPr>
                        <a:t>F</a:t>
                      </a:r>
                      <a:r>
                        <a:rPr lang="en-US" sz="1600" b="1" dirty="0">
                          <a:effectLst/>
                          <a:latin typeface="Lato" panose="020F0502020204030203" pitchFamily="34" charset="0"/>
                          <a:ea typeface="Lato" panose="020F0502020204030203" pitchFamily="34" charset="0"/>
                          <a:cs typeface="Lato" panose="020F0502020204030203" pitchFamily="34" charset="0"/>
                        </a:rPr>
                        <a:t> value:</a:t>
                      </a:r>
                      <a:endParaRPr lang="en-US" sz="1600" dirty="0">
                        <a:effectLst/>
                        <a:latin typeface="Lato" panose="020F0502020204030203" pitchFamily="34" charset="0"/>
                        <a:ea typeface="Lato" panose="020F0502020204030203" pitchFamily="34" charset="0"/>
                        <a:cs typeface="Lato" panose="020F0502020204030203" pitchFamily="34" charset="0"/>
                      </a:endParaRP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3045088470"/>
                  </a:ext>
                </a:extLst>
              </a:tr>
              <a:tr h="0">
                <a:tc>
                  <a:txBody>
                    <a:bodyPr/>
                    <a:lstStyle/>
                    <a:p>
                      <a:pPr marL="457200" marR="0" lvl="1" indent="0" algn="l" defTabSz="914400" rtl="0" eaLnBrk="1" fontAlgn="auto" latinLnBrk="0" hangingPunct="1">
                        <a:lnSpc>
                          <a:spcPct val="150000"/>
                        </a:lnSpc>
                        <a:spcBef>
                          <a:spcPts val="0"/>
                        </a:spcBef>
                        <a:spcAft>
                          <a:spcPts val="0"/>
                        </a:spcAft>
                        <a:buClrTx/>
                        <a:buSzTx/>
                        <a:buFontTx/>
                        <a:buNone/>
                        <a:tabLst/>
                        <a:defRPr/>
                      </a:pPr>
                      <a:r>
                        <a:rPr lang="en-US" sz="1800" b="0" i="0" kern="1200" dirty="0">
                          <a:solidFill>
                            <a:srgbClr val="292929"/>
                          </a:solidFill>
                          <a:effectLst/>
                          <a:latin typeface="source-serif-pro"/>
                          <a:ea typeface="+mn-ea"/>
                          <a:cs typeface="+mn-cs"/>
                        </a:rPr>
                        <a:t>Reject the null hypothesis, H0.</a:t>
                      </a: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4232716378"/>
                  </a:ext>
                </a:extLst>
              </a:tr>
              <a:tr h="168627">
                <a:tc>
                  <a:txBody>
                    <a:bodyPr/>
                    <a:lstStyle/>
                    <a:p>
                      <a:pPr marL="457200" lvl="1" algn="l" defTabSz="914400" rtl="0" eaLnBrk="1" latinLnBrk="0" hangingPunct="1">
                        <a:lnSpc>
                          <a:spcPct val="150000"/>
                        </a:lnSpc>
                      </a:pPr>
                      <a:r>
                        <a:rPr lang="en-US" sz="1800" b="0" i="0" kern="1200" dirty="0">
                          <a:solidFill>
                            <a:srgbClr val="292929"/>
                          </a:solidFill>
                          <a:effectLst/>
                          <a:latin typeface="source-serif-pro"/>
                          <a:ea typeface="+mn-ea"/>
                          <a:cs typeface="+mn-cs"/>
                        </a:rPr>
                        <a:t>Accept the alternate hypothesis, H1</a:t>
                      </a: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3026733901"/>
                  </a:ext>
                </a:extLst>
              </a:tr>
              <a:tr h="305557">
                <a:tc>
                  <a:txBody>
                    <a:bodyPr/>
                    <a:lstStyle/>
                    <a:p>
                      <a:pPr marL="457200" lvl="1" algn="l" defTabSz="914400" rtl="0" eaLnBrk="1" latinLnBrk="0" hangingPunct="1">
                        <a:lnSpc>
                          <a:spcPct val="150000"/>
                        </a:lnSpc>
                      </a:pPr>
                      <a:r>
                        <a:rPr lang="en-US" sz="1800" b="0" i="0" kern="1200" dirty="0">
                          <a:solidFill>
                            <a:srgbClr val="292929"/>
                          </a:solidFill>
                          <a:effectLst/>
                          <a:latin typeface="source-serif-pro"/>
                          <a:ea typeface="+mn-ea"/>
                          <a:cs typeface="+mn-cs"/>
                        </a:rPr>
                        <a:t>The sample averages are significantly different from each other.</a:t>
                      </a: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3429733599"/>
                  </a:ext>
                </a:extLst>
              </a:tr>
              <a:tr h="524323">
                <a:tc>
                  <a:txBody>
                    <a:bodyPr/>
                    <a:lstStyle/>
                    <a:p>
                      <a:pPr marL="457200" lvl="1" algn="l" defTabSz="914400" rtl="0" eaLnBrk="1" latinLnBrk="0" hangingPunct="1">
                        <a:lnSpc>
                          <a:spcPct val="150000"/>
                        </a:lnSpc>
                      </a:pPr>
                      <a:r>
                        <a:rPr lang="en-US" sz="1800" b="0" i="0" kern="1200" dirty="0">
                          <a:solidFill>
                            <a:srgbClr val="292929"/>
                          </a:solidFill>
                          <a:effectLst/>
                          <a:latin typeface="source-serif-pro"/>
                          <a:ea typeface="+mn-ea"/>
                          <a:cs typeface="+mn-cs"/>
                        </a:rPr>
                        <a:t>The observed differences among the sample averages could not reasonably be due to random chance alone.</a:t>
                      </a: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3040179166"/>
                  </a:ext>
                </a:extLst>
              </a:tr>
              <a:tr h="442487">
                <a:tc>
                  <a:txBody>
                    <a:bodyPr/>
                    <a:lstStyle/>
                    <a:p>
                      <a:pPr marL="457200" lvl="1" algn="l" defTabSz="914400" rtl="0" eaLnBrk="1" latinLnBrk="0" hangingPunct="1">
                        <a:lnSpc>
                          <a:spcPct val="150000"/>
                        </a:lnSpc>
                      </a:pPr>
                      <a:r>
                        <a:rPr lang="en-US" sz="1800" b="0" i="0" kern="1200" dirty="0">
                          <a:solidFill>
                            <a:srgbClr val="292929"/>
                          </a:solidFill>
                          <a:effectLst/>
                          <a:latin typeface="source-serif-pro"/>
                          <a:ea typeface="+mn-ea"/>
                          <a:cs typeface="+mn-cs"/>
                        </a:rPr>
                        <a:t>The result is statistically significant. (All of the above statements are equivalent to one another.)</a:t>
                      </a:r>
                    </a:p>
                  </a:txBody>
                  <a:tcPr marL="15848" marR="15848" marT="15848" marB="15848">
                    <a:lnL>
                      <a:noFill/>
                    </a:lnL>
                    <a:lnR>
                      <a:noFill/>
                    </a:lnR>
                    <a:lnT w="6350" cap="flat" cmpd="sng" algn="ctr">
                      <a:solidFill>
                        <a:srgbClr val="F5F5F5"/>
                      </a:solidFill>
                      <a:prstDash val="solid"/>
                      <a:round/>
                      <a:headEnd type="none" w="med" len="med"/>
                      <a:tailEnd type="none" w="med" len="med"/>
                    </a:lnT>
                    <a:lnB w="6350" cap="flat" cmpd="sng" algn="ctr">
                      <a:solidFill>
                        <a:srgbClr val="F5F5F5"/>
                      </a:solidFill>
                      <a:prstDash val="solid"/>
                      <a:round/>
                      <a:headEnd type="none" w="med" len="med"/>
                      <a:tailEnd type="none" w="med" len="med"/>
                    </a:lnB>
                  </a:tcPr>
                </a:tc>
                <a:extLst>
                  <a:ext uri="{0D108BD9-81ED-4DB2-BD59-A6C34878D82A}">
                    <a16:rowId xmlns:a16="http://schemas.microsoft.com/office/drawing/2014/main" val="553905114"/>
                  </a:ext>
                </a:extLst>
              </a:tr>
            </a:tbl>
          </a:graphicData>
        </a:graphic>
      </p:graphicFrame>
    </p:spTree>
    <p:extLst>
      <p:ext uri="{BB962C8B-B14F-4D97-AF65-F5344CB8AC3E}">
        <p14:creationId xmlns:p14="http://schemas.microsoft.com/office/powerpoint/2010/main" val="1839355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2D93D0-C264-B9B4-FA27-5A9FC35DEC59}"/>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EXAMPLE</a:t>
            </a:r>
          </a:p>
        </p:txBody>
      </p:sp>
      <p:sp>
        <p:nvSpPr>
          <p:cNvPr id="7" name="Rectangle: Rounded Corners 6">
            <a:extLst>
              <a:ext uri="{FF2B5EF4-FFF2-40B4-BE49-F238E27FC236}">
                <a16:creationId xmlns:a16="http://schemas.microsoft.com/office/drawing/2014/main" id="{2C3BEC60-A378-9E75-35CD-FB49AFF04E0D}"/>
              </a:ext>
            </a:extLst>
          </p:cNvPr>
          <p:cNvSpPr/>
          <p:nvPr/>
        </p:nvSpPr>
        <p:spPr>
          <a:xfrm>
            <a:off x="459921" y="971461"/>
            <a:ext cx="11116638" cy="820218"/>
          </a:xfrm>
          <a:prstGeom prst="round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0" i="0" dirty="0">
                <a:solidFill>
                  <a:srgbClr val="292929"/>
                </a:solidFill>
                <a:effectLst/>
                <a:latin typeface="source-serif-pro"/>
              </a:rPr>
              <a:t>We are investigating whether the effect of three different types of pill on weight loss. Through giving three separate groups of people one of these three pills, we observe the following loss in weight (in kg) :</a:t>
            </a:r>
            <a:endParaRPr lang="en-IN" dirty="0">
              <a:solidFill>
                <a:srgbClr val="333333"/>
              </a:solidFill>
              <a:latin typeface="inter-regular"/>
            </a:endParaRPr>
          </a:p>
        </p:txBody>
      </p:sp>
      <p:pic>
        <p:nvPicPr>
          <p:cNvPr id="3" name="Picture 2">
            <a:extLst>
              <a:ext uri="{FF2B5EF4-FFF2-40B4-BE49-F238E27FC236}">
                <a16:creationId xmlns:a16="http://schemas.microsoft.com/office/drawing/2014/main" id="{6EF7C117-D712-D9ED-F51E-56FE5E749081}"/>
              </a:ext>
            </a:extLst>
          </p:cNvPr>
          <p:cNvPicPr>
            <a:picLocks noChangeAspect="1"/>
          </p:cNvPicPr>
          <p:nvPr/>
        </p:nvPicPr>
        <p:blipFill>
          <a:blip r:embed="rId2"/>
          <a:stretch>
            <a:fillRect/>
          </a:stretch>
        </p:blipFill>
        <p:spPr>
          <a:xfrm>
            <a:off x="3662362" y="1896931"/>
            <a:ext cx="4443413" cy="2096601"/>
          </a:xfrm>
          <a:prstGeom prst="rect">
            <a:avLst/>
          </a:prstGeom>
        </p:spPr>
      </p:pic>
      <p:sp>
        <p:nvSpPr>
          <p:cNvPr id="6" name="TextBox 5">
            <a:extLst>
              <a:ext uri="{FF2B5EF4-FFF2-40B4-BE49-F238E27FC236}">
                <a16:creationId xmlns:a16="http://schemas.microsoft.com/office/drawing/2014/main" id="{8CA25CEF-589E-79F0-E6F9-9ED48F2C0D0C}"/>
              </a:ext>
            </a:extLst>
          </p:cNvPr>
          <p:cNvSpPr txBox="1"/>
          <p:nvPr/>
        </p:nvSpPr>
        <p:spPr>
          <a:xfrm>
            <a:off x="706828" y="4098784"/>
            <a:ext cx="6096000" cy="369332"/>
          </a:xfrm>
          <a:prstGeom prst="rect">
            <a:avLst/>
          </a:prstGeom>
          <a:noFill/>
        </p:spPr>
        <p:txBody>
          <a:bodyPr wrap="square">
            <a:spAutoFit/>
          </a:bodyPr>
          <a:lstStyle/>
          <a:p>
            <a:pPr algn="l"/>
            <a:r>
              <a:rPr lang="en-US" b="1" i="0" dirty="0">
                <a:solidFill>
                  <a:srgbClr val="292929"/>
                </a:solidFill>
                <a:effectLst/>
                <a:latin typeface="sohne"/>
              </a:rPr>
              <a:t>Hypotheses and Significance Level</a:t>
            </a:r>
          </a:p>
        </p:txBody>
      </p:sp>
      <p:sp>
        <p:nvSpPr>
          <p:cNvPr id="9" name="TextBox 8">
            <a:extLst>
              <a:ext uri="{FF2B5EF4-FFF2-40B4-BE49-F238E27FC236}">
                <a16:creationId xmlns:a16="http://schemas.microsoft.com/office/drawing/2014/main" id="{47C75BB1-B587-4E8F-817D-0F483CFF12E6}"/>
              </a:ext>
            </a:extLst>
          </p:cNvPr>
          <p:cNvSpPr txBox="1"/>
          <p:nvPr/>
        </p:nvSpPr>
        <p:spPr>
          <a:xfrm>
            <a:off x="459921" y="4468116"/>
            <a:ext cx="11272158" cy="369332"/>
          </a:xfrm>
          <a:prstGeom prst="rect">
            <a:avLst/>
          </a:prstGeom>
          <a:noFill/>
        </p:spPr>
        <p:txBody>
          <a:bodyPr wrap="square">
            <a:spAutoFit/>
          </a:bodyPr>
          <a:lstStyle/>
          <a:p>
            <a:pPr algn="l">
              <a:buFont typeface="Arial" panose="020B0604020202020204" pitchFamily="34" charset="0"/>
              <a:buChar char="•"/>
            </a:pPr>
            <a:r>
              <a:rPr lang="en-US" b="1" i="1" dirty="0">
                <a:solidFill>
                  <a:srgbClr val="292929"/>
                </a:solidFill>
                <a:effectLst/>
                <a:latin typeface="source-serif-pro"/>
              </a:rPr>
              <a:t>H0:</a:t>
            </a:r>
            <a:r>
              <a:rPr lang="en-US" b="0" i="0" dirty="0">
                <a:solidFill>
                  <a:srgbClr val="292929"/>
                </a:solidFill>
                <a:effectLst/>
                <a:latin typeface="source-serif-pro"/>
              </a:rPr>
              <a:t> all three pills have the same effect on weight loss. So, the means between groups aren’t significantly different</a:t>
            </a:r>
          </a:p>
        </p:txBody>
      </p:sp>
      <p:pic>
        <p:nvPicPr>
          <p:cNvPr id="11" name="Picture 10">
            <a:extLst>
              <a:ext uri="{FF2B5EF4-FFF2-40B4-BE49-F238E27FC236}">
                <a16:creationId xmlns:a16="http://schemas.microsoft.com/office/drawing/2014/main" id="{310047F6-6255-465C-AA94-D57D6C6DA480}"/>
              </a:ext>
            </a:extLst>
          </p:cNvPr>
          <p:cNvPicPr>
            <a:picLocks noChangeAspect="1"/>
          </p:cNvPicPr>
          <p:nvPr/>
        </p:nvPicPr>
        <p:blipFill>
          <a:blip r:embed="rId3"/>
          <a:stretch>
            <a:fillRect/>
          </a:stretch>
        </p:blipFill>
        <p:spPr>
          <a:xfrm>
            <a:off x="4143375" y="4789517"/>
            <a:ext cx="2743200" cy="522515"/>
          </a:xfrm>
          <a:prstGeom prst="rect">
            <a:avLst/>
          </a:prstGeom>
        </p:spPr>
      </p:pic>
      <p:sp>
        <p:nvSpPr>
          <p:cNvPr id="13" name="TextBox 12">
            <a:extLst>
              <a:ext uri="{FF2B5EF4-FFF2-40B4-BE49-F238E27FC236}">
                <a16:creationId xmlns:a16="http://schemas.microsoft.com/office/drawing/2014/main" id="{61427638-A0E6-A38E-E9A6-84B7408690C5}"/>
              </a:ext>
            </a:extLst>
          </p:cNvPr>
          <p:cNvSpPr txBox="1"/>
          <p:nvPr/>
        </p:nvSpPr>
        <p:spPr>
          <a:xfrm>
            <a:off x="459921" y="5312032"/>
            <a:ext cx="11455854" cy="646331"/>
          </a:xfrm>
          <a:prstGeom prst="rect">
            <a:avLst/>
          </a:prstGeom>
          <a:noFill/>
        </p:spPr>
        <p:txBody>
          <a:bodyPr wrap="square">
            <a:spAutoFit/>
          </a:bodyPr>
          <a:lstStyle/>
          <a:p>
            <a:pPr algn="l">
              <a:buFont typeface="Arial" panose="020B0604020202020204" pitchFamily="34" charset="0"/>
              <a:buChar char="•"/>
            </a:pPr>
            <a:r>
              <a:rPr lang="en-US" b="1" i="1" dirty="0">
                <a:solidFill>
                  <a:srgbClr val="292929"/>
                </a:solidFill>
                <a:effectLst/>
                <a:latin typeface="source-serif-pro"/>
              </a:rPr>
              <a:t>H1</a:t>
            </a:r>
            <a:r>
              <a:rPr lang="en-US" dirty="0">
                <a:solidFill>
                  <a:srgbClr val="292929"/>
                </a:solidFill>
                <a:latin typeface="source-serif-pro"/>
              </a:rPr>
              <a:t>: a</a:t>
            </a:r>
            <a:r>
              <a:rPr lang="en-US" b="0" i="0" dirty="0">
                <a:solidFill>
                  <a:srgbClr val="292929"/>
                </a:solidFill>
                <a:effectLst/>
                <a:latin typeface="source-serif-pro"/>
              </a:rPr>
              <a:t>t least one of the pills is better or worse weight loss than the others. So, the means between groups are significantly different:</a:t>
            </a:r>
          </a:p>
        </p:txBody>
      </p:sp>
      <p:pic>
        <p:nvPicPr>
          <p:cNvPr id="15" name="Picture 14">
            <a:extLst>
              <a:ext uri="{FF2B5EF4-FFF2-40B4-BE49-F238E27FC236}">
                <a16:creationId xmlns:a16="http://schemas.microsoft.com/office/drawing/2014/main" id="{8EC26ACC-DF6A-7F0A-33C6-C864FC52D5E6}"/>
              </a:ext>
            </a:extLst>
          </p:cNvPr>
          <p:cNvPicPr>
            <a:picLocks noChangeAspect="1"/>
          </p:cNvPicPr>
          <p:nvPr/>
        </p:nvPicPr>
        <p:blipFill>
          <a:blip r:embed="rId4"/>
          <a:stretch>
            <a:fillRect/>
          </a:stretch>
        </p:blipFill>
        <p:spPr>
          <a:xfrm>
            <a:off x="4241121" y="5886539"/>
            <a:ext cx="2654979" cy="546408"/>
          </a:xfrm>
          <a:prstGeom prst="rect">
            <a:avLst/>
          </a:prstGeom>
        </p:spPr>
      </p:pic>
      <p:sp>
        <p:nvSpPr>
          <p:cNvPr id="17" name="TextBox 16">
            <a:extLst>
              <a:ext uri="{FF2B5EF4-FFF2-40B4-BE49-F238E27FC236}">
                <a16:creationId xmlns:a16="http://schemas.microsoft.com/office/drawing/2014/main" id="{8CAB914A-59A0-E3AC-9296-A4FB8D546A5C}"/>
              </a:ext>
            </a:extLst>
          </p:cNvPr>
          <p:cNvSpPr txBox="1"/>
          <p:nvPr/>
        </p:nvSpPr>
        <p:spPr>
          <a:xfrm>
            <a:off x="1581149" y="6452055"/>
            <a:ext cx="8296275" cy="369332"/>
          </a:xfrm>
          <a:prstGeom prst="rect">
            <a:avLst/>
          </a:prstGeom>
          <a:noFill/>
        </p:spPr>
        <p:txBody>
          <a:bodyPr wrap="square">
            <a:spAutoFit/>
          </a:bodyPr>
          <a:lstStyle/>
          <a:p>
            <a:r>
              <a:rPr lang="en-US" b="0" i="0" dirty="0">
                <a:solidFill>
                  <a:srgbClr val="292929"/>
                </a:solidFill>
                <a:effectLst/>
                <a:latin typeface="source-serif-pro"/>
              </a:rPr>
              <a:t>For this test we will use a significance level of </a:t>
            </a:r>
            <a:r>
              <a:rPr lang="en-US" b="1" i="0" dirty="0">
                <a:solidFill>
                  <a:srgbClr val="292929"/>
                </a:solidFill>
                <a:effectLst/>
                <a:latin typeface="source-serif-pro"/>
              </a:rPr>
              <a:t>5%</a:t>
            </a:r>
            <a:r>
              <a:rPr lang="en-US" b="0" i="0" dirty="0">
                <a:solidFill>
                  <a:srgbClr val="292929"/>
                </a:solidFill>
                <a:effectLst/>
                <a:latin typeface="source-serif-pro"/>
              </a:rPr>
              <a:t>, which is the standard.</a:t>
            </a:r>
            <a:endParaRPr lang="en-IN" dirty="0"/>
          </a:p>
        </p:txBody>
      </p:sp>
    </p:spTree>
    <p:extLst>
      <p:ext uri="{BB962C8B-B14F-4D97-AF65-F5344CB8AC3E}">
        <p14:creationId xmlns:p14="http://schemas.microsoft.com/office/powerpoint/2010/main" val="1233920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3C50E4-2CF9-EDD0-4E61-1DD02FAD71D4}"/>
              </a:ext>
            </a:extLst>
          </p:cNvPr>
          <p:cNvSpPr txBox="1"/>
          <p:nvPr/>
        </p:nvSpPr>
        <p:spPr>
          <a:xfrm>
            <a:off x="695325" y="358259"/>
            <a:ext cx="6096000" cy="369332"/>
          </a:xfrm>
          <a:prstGeom prst="rect">
            <a:avLst/>
          </a:prstGeom>
          <a:noFill/>
        </p:spPr>
        <p:txBody>
          <a:bodyPr wrap="square">
            <a:spAutoFit/>
          </a:bodyPr>
          <a:lstStyle/>
          <a:p>
            <a:pPr algn="l"/>
            <a:r>
              <a:rPr lang="en-IN" b="1" i="0">
                <a:solidFill>
                  <a:srgbClr val="292929"/>
                </a:solidFill>
                <a:effectLst/>
                <a:latin typeface="sohne"/>
              </a:rPr>
              <a:t>SSW</a:t>
            </a:r>
            <a:endParaRPr lang="en-IN" b="1" i="0" dirty="0">
              <a:solidFill>
                <a:srgbClr val="292929"/>
              </a:solidFill>
              <a:effectLst/>
              <a:latin typeface="sohne"/>
            </a:endParaRPr>
          </a:p>
        </p:txBody>
      </p:sp>
      <p:sp>
        <p:nvSpPr>
          <p:cNvPr id="5" name="TextBox 4">
            <a:extLst>
              <a:ext uri="{FF2B5EF4-FFF2-40B4-BE49-F238E27FC236}">
                <a16:creationId xmlns:a16="http://schemas.microsoft.com/office/drawing/2014/main" id="{7587FA24-9662-2D97-82C8-47B1CE96E965}"/>
              </a:ext>
            </a:extLst>
          </p:cNvPr>
          <p:cNvSpPr txBox="1"/>
          <p:nvPr/>
        </p:nvSpPr>
        <p:spPr>
          <a:xfrm>
            <a:off x="695325" y="727591"/>
            <a:ext cx="6096000" cy="369332"/>
          </a:xfrm>
          <a:prstGeom prst="rect">
            <a:avLst/>
          </a:prstGeom>
          <a:noFill/>
        </p:spPr>
        <p:txBody>
          <a:bodyPr wrap="square">
            <a:spAutoFit/>
          </a:bodyPr>
          <a:lstStyle/>
          <a:p>
            <a:r>
              <a:rPr lang="en-US" b="0" i="0" dirty="0">
                <a:solidFill>
                  <a:srgbClr val="292929"/>
                </a:solidFill>
                <a:effectLst/>
                <a:latin typeface="source-serif-pro"/>
              </a:rPr>
              <a:t>Now we calculate the Sum of Squares within each group</a:t>
            </a:r>
            <a:endParaRPr lang="en-IN" dirty="0"/>
          </a:p>
        </p:txBody>
      </p:sp>
      <p:pic>
        <p:nvPicPr>
          <p:cNvPr id="7" name="Picture 6">
            <a:extLst>
              <a:ext uri="{FF2B5EF4-FFF2-40B4-BE49-F238E27FC236}">
                <a16:creationId xmlns:a16="http://schemas.microsoft.com/office/drawing/2014/main" id="{25E77774-EED4-CF21-E816-C56473848F3A}"/>
              </a:ext>
            </a:extLst>
          </p:cNvPr>
          <p:cNvPicPr>
            <a:picLocks noChangeAspect="1"/>
          </p:cNvPicPr>
          <p:nvPr/>
        </p:nvPicPr>
        <p:blipFill>
          <a:blip r:embed="rId2"/>
          <a:stretch>
            <a:fillRect/>
          </a:stretch>
        </p:blipFill>
        <p:spPr>
          <a:xfrm>
            <a:off x="4010025" y="1096923"/>
            <a:ext cx="3209925" cy="942308"/>
          </a:xfrm>
          <a:prstGeom prst="rect">
            <a:avLst/>
          </a:prstGeom>
        </p:spPr>
      </p:pic>
      <p:sp>
        <p:nvSpPr>
          <p:cNvPr id="9" name="TextBox 8">
            <a:extLst>
              <a:ext uri="{FF2B5EF4-FFF2-40B4-BE49-F238E27FC236}">
                <a16:creationId xmlns:a16="http://schemas.microsoft.com/office/drawing/2014/main" id="{4FC3F835-DB13-ADAD-CEDB-4A4C687F7912}"/>
              </a:ext>
            </a:extLst>
          </p:cNvPr>
          <p:cNvSpPr txBox="1"/>
          <p:nvPr/>
        </p:nvSpPr>
        <p:spPr>
          <a:xfrm>
            <a:off x="1114425" y="1951672"/>
            <a:ext cx="9963150" cy="1477328"/>
          </a:xfrm>
          <a:prstGeom prst="rect">
            <a:avLst/>
          </a:prstGeom>
          <a:noFill/>
        </p:spPr>
        <p:txBody>
          <a:bodyPr wrap="square">
            <a:spAutoFit/>
          </a:bodyPr>
          <a:lstStyle/>
          <a:p>
            <a:r>
              <a:rPr lang="en-US" b="0" i="0" dirty="0">
                <a:solidFill>
                  <a:srgbClr val="292929"/>
                </a:solidFill>
                <a:effectLst/>
                <a:latin typeface="source-serif-pro"/>
              </a:rPr>
              <a:t>Where;</a:t>
            </a:r>
          </a:p>
          <a:p>
            <a:r>
              <a:rPr lang="en-US" b="1" i="1" dirty="0" err="1">
                <a:solidFill>
                  <a:srgbClr val="292929"/>
                </a:solidFill>
                <a:effectLst/>
                <a:latin typeface="source-serif-pro"/>
              </a:rPr>
              <a:t>n_i</a:t>
            </a:r>
            <a:r>
              <a:rPr lang="en-US" b="0" i="0" dirty="0">
                <a:solidFill>
                  <a:srgbClr val="292929"/>
                </a:solidFill>
                <a:effectLst/>
                <a:latin typeface="source-serif-pro"/>
              </a:rPr>
              <a:t> is the number of data points in each group, </a:t>
            </a:r>
          </a:p>
          <a:p>
            <a:r>
              <a:rPr lang="en-US" b="1" i="1" dirty="0">
                <a:solidFill>
                  <a:srgbClr val="292929"/>
                </a:solidFill>
                <a:effectLst/>
                <a:latin typeface="source-serif-pro"/>
              </a:rPr>
              <a:t>m </a:t>
            </a:r>
            <a:r>
              <a:rPr lang="en-US" b="0" i="0" dirty="0">
                <a:solidFill>
                  <a:srgbClr val="292929"/>
                </a:solidFill>
                <a:effectLst/>
                <a:latin typeface="source-serif-pro"/>
              </a:rPr>
              <a:t>is the number of groups,</a:t>
            </a:r>
          </a:p>
          <a:p>
            <a:r>
              <a:rPr lang="en-US" b="1" i="1" dirty="0">
                <a:solidFill>
                  <a:srgbClr val="292929"/>
                </a:solidFill>
                <a:effectLst/>
                <a:latin typeface="source-serif-pro"/>
              </a:rPr>
              <a:t>x̄_</a:t>
            </a:r>
            <a:r>
              <a:rPr lang="en-US" b="1" i="1" dirty="0" err="1">
                <a:solidFill>
                  <a:srgbClr val="292929"/>
                </a:solidFill>
                <a:effectLst/>
                <a:latin typeface="source-serif-pro"/>
              </a:rPr>
              <a:t>i</a:t>
            </a:r>
            <a:r>
              <a:rPr lang="en-US" b="0" i="0" dirty="0">
                <a:solidFill>
                  <a:srgbClr val="292929"/>
                </a:solidFill>
                <a:effectLst/>
                <a:latin typeface="source-serif-pro"/>
              </a:rPr>
              <a:t> is the mean of each group and </a:t>
            </a:r>
          </a:p>
          <a:p>
            <a:r>
              <a:rPr lang="en-US" b="1" i="1" dirty="0" err="1">
                <a:solidFill>
                  <a:srgbClr val="292929"/>
                </a:solidFill>
                <a:effectLst/>
                <a:latin typeface="source-serif-pro"/>
              </a:rPr>
              <a:t>x_i,j</a:t>
            </a:r>
            <a:r>
              <a:rPr lang="en-US" b="0" i="0" dirty="0">
                <a:solidFill>
                  <a:srgbClr val="292929"/>
                </a:solidFill>
                <a:effectLst/>
                <a:latin typeface="source-serif-pro"/>
              </a:rPr>
              <a:t> are the data points.</a:t>
            </a:r>
            <a:endParaRPr lang="en-IN" dirty="0"/>
          </a:p>
        </p:txBody>
      </p:sp>
      <p:pic>
        <p:nvPicPr>
          <p:cNvPr id="11" name="Picture 10">
            <a:extLst>
              <a:ext uri="{FF2B5EF4-FFF2-40B4-BE49-F238E27FC236}">
                <a16:creationId xmlns:a16="http://schemas.microsoft.com/office/drawing/2014/main" id="{89004F18-6D52-DA96-BB30-E530E1554006}"/>
              </a:ext>
            </a:extLst>
          </p:cNvPr>
          <p:cNvPicPr>
            <a:picLocks noChangeAspect="1"/>
          </p:cNvPicPr>
          <p:nvPr/>
        </p:nvPicPr>
        <p:blipFill>
          <a:blip r:embed="rId3"/>
          <a:stretch>
            <a:fillRect/>
          </a:stretch>
        </p:blipFill>
        <p:spPr>
          <a:xfrm>
            <a:off x="1529240" y="3524251"/>
            <a:ext cx="9133520" cy="3200400"/>
          </a:xfrm>
          <a:prstGeom prst="rect">
            <a:avLst/>
          </a:prstGeom>
        </p:spPr>
      </p:pic>
    </p:spTree>
    <p:extLst>
      <p:ext uri="{BB962C8B-B14F-4D97-AF65-F5344CB8AC3E}">
        <p14:creationId xmlns:p14="http://schemas.microsoft.com/office/powerpoint/2010/main" val="3060806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141552-BD6D-AD8E-6CBC-569126D7CD2A}"/>
              </a:ext>
            </a:extLst>
          </p:cNvPr>
          <p:cNvSpPr txBox="1"/>
          <p:nvPr/>
        </p:nvSpPr>
        <p:spPr>
          <a:xfrm>
            <a:off x="609600" y="529709"/>
            <a:ext cx="6096000" cy="369332"/>
          </a:xfrm>
          <a:prstGeom prst="rect">
            <a:avLst/>
          </a:prstGeom>
          <a:noFill/>
        </p:spPr>
        <p:txBody>
          <a:bodyPr wrap="square">
            <a:spAutoFit/>
          </a:bodyPr>
          <a:lstStyle/>
          <a:p>
            <a:pPr algn="l"/>
            <a:r>
              <a:rPr lang="en-IN" b="1" i="0" dirty="0">
                <a:solidFill>
                  <a:srgbClr val="292929"/>
                </a:solidFill>
                <a:effectLst/>
                <a:latin typeface="sohne"/>
              </a:rPr>
              <a:t>SSB</a:t>
            </a:r>
          </a:p>
        </p:txBody>
      </p:sp>
      <p:sp>
        <p:nvSpPr>
          <p:cNvPr id="5" name="TextBox 4">
            <a:extLst>
              <a:ext uri="{FF2B5EF4-FFF2-40B4-BE49-F238E27FC236}">
                <a16:creationId xmlns:a16="http://schemas.microsoft.com/office/drawing/2014/main" id="{A33B9840-059C-92E9-2CAF-82A3AB91D693}"/>
              </a:ext>
            </a:extLst>
          </p:cNvPr>
          <p:cNvSpPr txBox="1"/>
          <p:nvPr/>
        </p:nvSpPr>
        <p:spPr>
          <a:xfrm>
            <a:off x="609600" y="977384"/>
            <a:ext cx="6096000" cy="369332"/>
          </a:xfrm>
          <a:prstGeom prst="rect">
            <a:avLst/>
          </a:prstGeom>
          <a:noFill/>
        </p:spPr>
        <p:txBody>
          <a:bodyPr wrap="square">
            <a:spAutoFit/>
          </a:bodyPr>
          <a:lstStyle/>
          <a:p>
            <a:r>
              <a:rPr lang="en-US" b="0" i="0" dirty="0">
                <a:solidFill>
                  <a:srgbClr val="292929"/>
                </a:solidFill>
                <a:effectLst/>
                <a:latin typeface="source-serif-pro"/>
              </a:rPr>
              <a:t>Now we calculate the Sum of Squares between groups</a:t>
            </a:r>
            <a:endParaRPr lang="en-IN" dirty="0"/>
          </a:p>
        </p:txBody>
      </p:sp>
      <p:pic>
        <p:nvPicPr>
          <p:cNvPr id="7" name="Picture 6">
            <a:extLst>
              <a:ext uri="{FF2B5EF4-FFF2-40B4-BE49-F238E27FC236}">
                <a16:creationId xmlns:a16="http://schemas.microsoft.com/office/drawing/2014/main" id="{79B6D774-F5DD-C8CD-A93A-328A75B40FFA}"/>
              </a:ext>
            </a:extLst>
          </p:cNvPr>
          <p:cNvPicPr>
            <a:picLocks noChangeAspect="1"/>
          </p:cNvPicPr>
          <p:nvPr/>
        </p:nvPicPr>
        <p:blipFill>
          <a:blip r:embed="rId2"/>
          <a:stretch>
            <a:fillRect/>
          </a:stretch>
        </p:blipFill>
        <p:spPr>
          <a:xfrm>
            <a:off x="3590925" y="1315998"/>
            <a:ext cx="4476750" cy="1089846"/>
          </a:xfrm>
          <a:prstGeom prst="rect">
            <a:avLst/>
          </a:prstGeom>
        </p:spPr>
      </p:pic>
      <p:sp>
        <p:nvSpPr>
          <p:cNvPr id="9" name="TextBox 8">
            <a:extLst>
              <a:ext uri="{FF2B5EF4-FFF2-40B4-BE49-F238E27FC236}">
                <a16:creationId xmlns:a16="http://schemas.microsoft.com/office/drawing/2014/main" id="{70DD0942-B89C-3CE6-B0A3-6346E5E8A143}"/>
              </a:ext>
            </a:extLst>
          </p:cNvPr>
          <p:cNvSpPr txBox="1"/>
          <p:nvPr/>
        </p:nvSpPr>
        <p:spPr>
          <a:xfrm>
            <a:off x="1371600" y="2301069"/>
            <a:ext cx="6096000" cy="1477328"/>
          </a:xfrm>
          <a:prstGeom prst="rect">
            <a:avLst/>
          </a:prstGeom>
          <a:noFill/>
        </p:spPr>
        <p:txBody>
          <a:bodyPr wrap="square">
            <a:spAutoFit/>
          </a:bodyPr>
          <a:lstStyle/>
          <a:p>
            <a:r>
              <a:rPr lang="en-US" b="0" i="0" dirty="0">
                <a:solidFill>
                  <a:srgbClr val="292929"/>
                </a:solidFill>
                <a:effectLst/>
                <a:latin typeface="source-serif-pro"/>
              </a:rPr>
              <a:t>Where;</a:t>
            </a:r>
          </a:p>
          <a:p>
            <a:r>
              <a:rPr lang="en-US" b="1" i="1" dirty="0">
                <a:solidFill>
                  <a:srgbClr val="292929"/>
                </a:solidFill>
                <a:effectLst/>
                <a:latin typeface="source-serif-pro"/>
              </a:rPr>
              <a:t>n</a:t>
            </a:r>
            <a:r>
              <a:rPr lang="en-US" b="0" i="0" dirty="0">
                <a:solidFill>
                  <a:srgbClr val="292929"/>
                </a:solidFill>
                <a:effectLst/>
                <a:latin typeface="source-serif-pro"/>
              </a:rPr>
              <a:t> is the number of data points in each group,</a:t>
            </a:r>
          </a:p>
          <a:p>
            <a:r>
              <a:rPr lang="en-US" b="1" i="1" dirty="0">
                <a:solidFill>
                  <a:srgbClr val="292929"/>
                </a:solidFill>
                <a:effectLst/>
                <a:latin typeface="source-serif-pro"/>
              </a:rPr>
              <a:t>m </a:t>
            </a:r>
            <a:r>
              <a:rPr lang="en-US" b="0" i="0" dirty="0">
                <a:solidFill>
                  <a:srgbClr val="292929"/>
                </a:solidFill>
                <a:effectLst/>
                <a:latin typeface="source-serif-pro"/>
              </a:rPr>
              <a:t>is the number of groups, </a:t>
            </a:r>
          </a:p>
          <a:p>
            <a:r>
              <a:rPr lang="en-US" b="1" i="1" dirty="0">
                <a:solidFill>
                  <a:srgbClr val="292929"/>
                </a:solidFill>
                <a:effectLst/>
                <a:latin typeface="source-serif-pro"/>
              </a:rPr>
              <a:t>x̄_</a:t>
            </a:r>
            <a:r>
              <a:rPr lang="en-US" b="1" i="1" dirty="0" err="1">
                <a:solidFill>
                  <a:srgbClr val="292929"/>
                </a:solidFill>
                <a:effectLst/>
                <a:latin typeface="source-serif-pro"/>
              </a:rPr>
              <a:t>i</a:t>
            </a:r>
            <a:r>
              <a:rPr lang="en-US" b="0" i="0" dirty="0">
                <a:solidFill>
                  <a:srgbClr val="292929"/>
                </a:solidFill>
                <a:effectLst/>
                <a:latin typeface="source-serif-pro"/>
              </a:rPr>
              <a:t> is the mean of each group and</a:t>
            </a:r>
          </a:p>
          <a:p>
            <a:r>
              <a:rPr lang="en-US" b="1" i="1" dirty="0">
                <a:solidFill>
                  <a:srgbClr val="292929"/>
                </a:solidFill>
                <a:effectLst/>
                <a:latin typeface="source-serif-pro"/>
              </a:rPr>
              <a:t>x̄</a:t>
            </a:r>
            <a:r>
              <a:rPr lang="en-US" b="0" i="0" dirty="0">
                <a:solidFill>
                  <a:srgbClr val="292929"/>
                </a:solidFill>
                <a:effectLst/>
                <a:latin typeface="source-serif-pro"/>
              </a:rPr>
              <a:t> is the grand mean.</a:t>
            </a:r>
            <a:endParaRPr lang="en-IN" dirty="0"/>
          </a:p>
        </p:txBody>
      </p:sp>
      <p:pic>
        <p:nvPicPr>
          <p:cNvPr id="11" name="Picture 10">
            <a:extLst>
              <a:ext uri="{FF2B5EF4-FFF2-40B4-BE49-F238E27FC236}">
                <a16:creationId xmlns:a16="http://schemas.microsoft.com/office/drawing/2014/main" id="{9B04359D-A48D-7329-A88D-3DD3EA2EC86F}"/>
              </a:ext>
            </a:extLst>
          </p:cNvPr>
          <p:cNvPicPr>
            <a:picLocks noChangeAspect="1"/>
          </p:cNvPicPr>
          <p:nvPr/>
        </p:nvPicPr>
        <p:blipFill>
          <a:blip r:embed="rId3"/>
          <a:stretch>
            <a:fillRect/>
          </a:stretch>
        </p:blipFill>
        <p:spPr>
          <a:xfrm>
            <a:off x="1452562" y="3941498"/>
            <a:ext cx="9534525" cy="2428875"/>
          </a:xfrm>
          <a:prstGeom prst="rect">
            <a:avLst/>
          </a:prstGeom>
        </p:spPr>
      </p:pic>
    </p:spTree>
    <p:extLst>
      <p:ext uri="{BB962C8B-B14F-4D97-AF65-F5344CB8AC3E}">
        <p14:creationId xmlns:p14="http://schemas.microsoft.com/office/powerpoint/2010/main" val="1366013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BE2834-ACEE-7E7F-3558-06A0451FD2C7}"/>
              </a:ext>
            </a:extLst>
          </p:cNvPr>
          <p:cNvSpPr txBox="1"/>
          <p:nvPr/>
        </p:nvSpPr>
        <p:spPr>
          <a:xfrm>
            <a:off x="552450" y="482084"/>
            <a:ext cx="6096000" cy="369332"/>
          </a:xfrm>
          <a:prstGeom prst="rect">
            <a:avLst/>
          </a:prstGeom>
          <a:noFill/>
        </p:spPr>
        <p:txBody>
          <a:bodyPr wrap="square">
            <a:spAutoFit/>
          </a:bodyPr>
          <a:lstStyle/>
          <a:p>
            <a:pPr algn="l"/>
            <a:r>
              <a:rPr lang="en-IN" b="1" i="0" dirty="0">
                <a:solidFill>
                  <a:srgbClr val="292929"/>
                </a:solidFill>
                <a:effectLst/>
                <a:latin typeface="sohne"/>
              </a:rPr>
              <a:t>F-Statistic and Critical Value</a:t>
            </a:r>
          </a:p>
        </p:txBody>
      </p:sp>
      <p:pic>
        <p:nvPicPr>
          <p:cNvPr id="5" name="Picture 4">
            <a:extLst>
              <a:ext uri="{FF2B5EF4-FFF2-40B4-BE49-F238E27FC236}">
                <a16:creationId xmlns:a16="http://schemas.microsoft.com/office/drawing/2014/main" id="{5163741A-9962-A44E-6E3E-C654B0A846A2}"/>
              </a:ext>
            </a:extLst>
          </p:cNvPr>
          <p:cNvPicPr>
            <a:picLocks noChangeAspect="1"/>
          </p:cNvPicPr>
          <p:nvPr/>
        </p:nvPicPr>
        <p:blipFill>
          <a:blip r:embed="rId2"/>
          <a:stretch>
            <a:fillRect/>
          </a:stretch>
        </p:blipFill>
        <p:spPr>
          <a:xfrm>
            <a:off x="2962275" y="952500"/>
            <a:ext cx="5753100" cy="1093349"/>
          </a:xfrm>
          <a:prstGeom prst="rect">
            <a:avLst/>
          </a:prstGeom>
        </p:spPr>
      </p:pic>
      <p:sp>
        <p:nvSpPr>
          <p:cNvPr id="7" name="TextBox 6">
            <a:extLst>
              <a:ext uri="{FF2B5EF4-FFF2-40B4-BE49-F238E27FC236}">
                <a16:creationId xmlns:a16="http://schemas.microsoft.com/office/drawing/2014/main" id="{DC1C15CB-11D4-F0A8-B2E4-D434F9FB0FC9}"/>
              </a:ext>
            </a:extLst>
          </p:cNvPr>
          <p:cNvSpPr txBox="1"/>
          <p:nvPr/>
        </p:nvSpPr>
        <p:spPr>
          <a:xfrm>
            <a:off x="1000125" y="2165983"/>
            <a:ext cx="10706100" cy="923330"/>
          </a:xfrm>
          <a:prstGeom prst="rect">
            <a:avLst/>
          </a:prstGeom>
          <a:noFill/>
        </p:spPr>
        <p:txBody>
          <a:bodyPr wrap="square">
            <a:spAutoFit/>
          </a:bodyPr>
          <a:lstStyle/>
          <a:p>
            <a:r>
              <a:rPr lang="en-US" b="0" i="0" dirty="0">
                <a:solidFill>
                  <a:srgbClr val="292929"/>
                </a:solidFill>
                <a:effectLst/>
                <a:latin typeface="source-serif-pro"/>
              </a:rPr>
              <a:t>We can compare this to our critical value, which we can find using the</a:t>
            </a:r>
            <a:r>
              <a:rPr lang="en-US" b="0" i="0" u="sng" dirty="0">
                <a:effectLst/>
                <a:latin typeface="source-serif-pro"/>
                <a:hlinkClick r:id="rId3"/>
              </a:rPr>
              <a:t> F-Distribution Table</a:t>
            </a:r>
            <a:r>
              <a:rPr lang="en-US" b="0" i="0" dirty="0">
                <a:solidFill>
                  <a:srgbClr val="292929"/>
                </a:solidFill>
                <a:effectLst/>
                <a:latin typeface="source-serif-pro"/>
              </a:rPr>
              <a:t>.</a:t>
            </a:r>
          </a:p>
          <a:p>
            <a:endParaRPr lang="en-US" dirty="0">
              <a:solidFill>
                <a:srgbClr val="292929"/>
              </a:solidFill>
              <a:latin typeface="source-serif-pro"/>
            </a:endParaRPr>
          </a:p>
          <a:p>
            <a:pPr algn="l"/>
            <a:r>
              <a:rPr lang="en-US" b="0" i="0" dirty="0">
                <a:solidFill>
                  <a:srgbClr val="292929"/>
                </a:solidFill>
                <a:effectLst/>
                <a:latin typeface="source-serif-pro"/>
              </a:rPr>
              <a:t>We know our degrees of freedom are </a:t>
            </a:r>
            <a:r>
              <a:rPr lang="en-US" b="1" i="0" dirty="0">
                <a:solidFill>
                  <a:srgbClr val="292929"/>
                </a:solidFill>
                <a:effectLst/>
                <a:latin typeface="source-serif-pro"/>
              </a:rPr>
              <a:t>2</a:t>
            </a:r>
            <a:r>
              <a:rPr lang="en-US" b="0" i="0" dirty="0">
                <a:solidFill>
                  <a:srgbClr val="292929"/>
                </a:solidFill>
                <a:effectLst/>
                <a:latin typeface="source-serif-pro"/>
              </a:rPr>
              <a:t> and </a:t>
            </a:r>
            <a:r>
              <a:rPr lang="en-US" b="1" i="0" dirty="0">
                <a:solidFill>
                  <a:srgbClr val="292929"/>
                </a:solidFill>
                <a:effectLst/>
                <a:latin typeface="source-serif-pro"/>
              </a:rPr>
              <a:t>12</a:t>
            </a:r>
            <a:r>
              <a:rPr lang="en-US" b="0" i="0" dirty="0">
                <a:solidFill>
                  <a:srgbClr val="292929"/>
                </a:solidFill>
                <a:effectLst/>
                <a:latin typeface="source-serif-pro"/>
              </a:rPr>
              <a:t> (from the above equation), thus the critical value is </a:t>
            </a:r>
            <a:r>
              <a:rPr lang="en-US" b="1" i="0" dirty="0">
                <a:solidFill>
                  <a:srgbClr val="292929"/>
                </a:solidFill>
                <a:effectLst/>
                <a:latin typeface="source-serif-pro"/>
              </a:rPr>
              <a:t>3.89.</a:t>
            </a:r>
            <a:r>
              <a:rPr lang="en-US" b="0" i="0" dirty="0">
                <a:solidFill>
                  <a:srgbClr val="292929"/>
                </a:solidFill>
                <a:effectLst/>
                <a:latin typeface="source-serif-pro"/>
              </a:rPr>
              <a:t> </a:t>
            </a:r>
            <a:endParaRPr lang="en-IN" dirty="0"/>
          </a:p>
        </p:txBody>
      </p:sp>
      <p:sp>
        <p:nvSpPr>
          <p:cNvPr id="9" name="TextBox 8">
            <a:extLst>
              <a:ext uri="{FF2B5EF4-FFF2-40B4-BE49-F238E27FC236}">
                <a16:creationId xmlns:a16="http://schemas.microsoft.com/office/drawing/2014/main" id="{C5E7DEC1-DF92-59DF-37D9-FD565D5905E7}"/>
              </a:ext>
            </a:extLst>
          </p:cNvPr>
          <p:cNvSpPr txBox="1"/>
          <p:nvPr/>
        </p:nvSpPr>
        <p:spPr>
          <a:xfrm>
            <a:off x="552450" y="3740798"/>
            <a:ext cx="10229850" cy="369332"/>
          </a:xfrm>
          <a:prstGeom prst="rect">
            <a:avLst/>
          </a:prstGeom>
          <a:noFill/>
        </p:spPr>
        <p:txBody>
          <a:bodyPr wrap="square">
            <a:spAutoFit/>
          </a:bodyPr>
          <a:lstStyle/>
          <a:p>
            <a:r>
              <a:rPr lang="en-US" b="0" i="0" dirty="0">
                <a:solidFill>
                  <a:srgbClr val="292929"/>
                </a:solidFill>
                <a:effectLst/>
                <a:latin typeface="source-serif-pro"/>
              </a:rPr>
              <a:t>Therefore, </a:t>
            </a:r>
            <a:r>
              <a:rPr lang="en-US" b="1" i="0" dirty="0">
                <a:solidFill>
                  <a:srgbClr val="292929"/>
                </a:solidFill>
                <a:effectLst/>
                <a:latin typeface="source-serif-pro"/>
              </a:rPr>
              <a:t>1.632 &lt; 3.89</a:t>
            </a:r>
            <a:r>
              <a:rPr lang="en-US" b="0" i="0" dirty="0">
                <a:solidFill>
                  <a:srgbClr val="292929"/>
                </a:solidFill>
                <a:effectLst/>
                <a:latin typeface="source-serif-pro"/>
              </a:rPr>
              <a:t>, we fail to reject the null hypothesis and each weight loss pill has a similar effect!</a:t>
            </a:r>
            <a:endParaRPr lang="en-IN" dirty="0"/>
          </a:p>
        </p:txBody>
      </p:sp>
      <p:sp>
        <p:nvSpPr>
          <p:cNvPr id="10" name="Rectangle: Rounded Corners 9">
            <a:extLst>
              <a:ext uri="{FF2B5EF4-FFF2-40B4-BE49-F238E27FC236}">
                <a16:creationId xmlns:a16="http://schemas.microsoft.com/office/drawing/2014/main" id="{C943C1B0-DFE8-6523-029B-584A8D3E4654}"/>
              </a:ext>
            </a:extLst>
          </p:cNvPr>
          <p:cNvSpPr/>
          <p:nvPr/>
        </p:nvSpPr>
        <p:spPr>
          <a:xfrm>
            <a:off x="457200" y="3700363"/>
            <a:ext cx="10591800" cy="45020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95581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TotalTime>
  <Words>2436</Words>
  <Application>Microsoft Office PowerPoint</Application>
  <PresentationFormat>Widescreen</PresentationFormat>
  <Paragraphs>198</Paragraphs>
  <Slides>23</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23</vt:i4>
      </vt:variant>
    </vt:vector>
  </HeadingPairs>
  <TitlesOfParts>
    <vt:vector size="39" baseType="lpstr">
      <vt:lpstr>Arial</vt:lpstr>
      <vt:lpstr>Arial Narrow</vt:lpstr>
      <vt:lpstr>Calibri</vt:lpstr>
      <vt:lpstr>Google Sans</vt:lpstr>
      <vt:lpstr>Inter</vt:lpstr>
      <vt:lpstr>inter-regular</vt:lpstr>
      <vt:lpstr>Lato</vt:lpstr>
      <vt:lpstr>Michelin SemiBold</vt:lpstr>
      <vt:lpstr>MJXc-TeX-main-R</vt:lpstr>
      <vt:lpstr>MJXc-TeX-math-I</vt:lpstr>
      <vt:lpstr>Nunito</vt:lpstr>
      <vt:lpstr>Roboto</vt:lpstr>
      <vt:lpstr>sohne</vt:lpstr>
      <vt:lpstr>source-serif-pro</vt:lpstr>
      <vt:lpstr>Untitled Sans</vt:lpstr>
      <vt:lpstr>Office Theme</vt:lpstr>
      <vt:lpstr>Hypothesis testing, Anova</vt:lpstr>
      <vt:lpstr>Confidence Intervals</vt:lpstr>
      <vt:lpstr>Hypothesis Testing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&amp; Probability</dc:title>
  <dc:creator>Ankit Mirajkar</dc:creator>
  <cp:lastModifiedBy>Ankit Mirajkar</cp:lastModifiedBy>
  <cp:revision>35</cp:revision>
  <dcterms:created xsi:type="dcterms:W3CDTF">2024-03-23T02:03:47Z</dcterms:created>
  <dcterms:modified xsi:type="dcterms:W3CDTF">2026-03-01T05:01:19Z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2023-06-18T00:00:00Z</vt:filetime>
  </property>
  <property fmtid="{D5CDD505-2E9C-101B-9397-08002B2CF9AE}" pid="3" name="Creator">
    <vt:lpwstr>Microsoft® PowerPoint® 2019</vt:lpwstr>
  </property>
  <property fmtid="{D5CDD505-2E9C-101B-9397-08002B2CF9AE}" pid="4" name="LastSaved">
    <vt:filetime>2024-03-23T00:00:00Z</vt:filetime>
  </property>
</Properties>
</file>