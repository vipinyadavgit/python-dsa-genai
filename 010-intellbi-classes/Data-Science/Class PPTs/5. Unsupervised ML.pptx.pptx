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1" r:id="rId2"/>
    <p:sldId id="256" r:id="rId3"/>
    <p:sldId id="265" r:id="rId4"/>
    <p:sldId id="266" r:id="rId5"/>
    <p:sldId id="267" r:id="rId6"/>
    <p:sldId id="268" r:id="rId7"/>
    <p:sldId id="269" r:id="rId8"/>
    <p:sldId id="270" r:id="rId9"/>
    <p:sldId id="272"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102" autoAdjust="0"/>
  </p:normalViewPr>
  <p:slideViewPr>
    <p:cSldViewPr snapToGrid="0">
      <p:cViewPr varScale="1">
        <p:scale>
          <a:sx n="61" d="100"/>
          <a:sy n="61" d="100"/>
        </p:scale>
        <p:origin x="88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48CDEC-8550-4DE5-9561-9BBB2F121DE1}" type="datetimeFigureOut">
              <a:rPr lang="en-IN" smtClean="0"/>
              <a:t>27-09-2025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231B4A-11B0-464E-8403-EC6705A47AC1}" type="slidenum">
              <a:rPr lang="en-IN" smtClean="0"/>
              <a:t>‹#›</a:t>
            </a:fld>
            <a:endParaRPr lang="en-IN"/>
          </a:p>
        </p:txBody>
      </p:sp>
    </p:spTree>
    <p:extLst>
      <p:ext uri="{BB962C8B-B14F-4D97-AF65-F5344CB8AC3E}">
        <p14:creationId xmlns:p14="http://schemas.microsoft.com/office/powerpoint/2010/main" val="189956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12121"/>
                </a:solidFill>
                <a:effectLst/>
                <a:latin typeface="Gordita"/>
              </a:rPr>
              <a:t> Consider a scenario where you deal with a project with significant variables and dimensions. Not all these variables will be critical. Some may be the primary key variables, whereas others are not. So, the Principal Component Method of factor analysis gives you a calculative way of eliminating a few extra less important variables, thereby maintaining the transparency of all information. </a:t>
            </a:r>
            <a:endParaRPr lang="en-IN" dirty="0"/>
          </a:p>
        </p:txBody>
      </p:sp>
      <p:sp>
        <p:nvSpPr>
          <p:cNvPr id="4" name="Slide Number Placeholder 3"/>
          <p:cNvSpPr>
            <a:spLocks noGrp="1"/>
          </p:cNvSpPr>
          <p:nvPr>
            <p:ph type="sldNum" sz="quarter" idx="5"/>
          </p:nvPr>
        </p:nvSpPr>
        <p:spPr/>
        <p:txBody>
          <a:bodyPr/>
          <a:lstStyle/>
          <a:p>
            <a:fld id="{9A231B4A-11B0-464E-8403-EC6705A47AC1}" type="slidenum">
              <a:rPr lang="en-IN" smtClean="0"/>
              <a:t>8</a:t>
            </a:fld>
            <a:endParaRPr lang="en-IN"/>
          </a:p>
        </p:txBody>
      </p:sp>
    </p:spTree>
    <p:extLst>
      <p:ext uri="{BB962C8B-B14F-4D97-AF65-F5344CB8AC3E}">
        <p14:creationId xmlns:p14="http://schemas.microsoft.com/office/powerpoint/2010/main" val="4162201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9CF42-11AA-5A0D-0728-1DFA6979E8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6D2856-0F38-C914-F042-9635A87F9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B58F62-4E5E-8883-FE4A-8D94A4EC8037}"/>
              </a:ext>
            </a:extLst>
          </p:cNvPr>
          <p:cNvSpPr>
            <a:spLocks noGrp="1"/>
          </p:cNvSpPr>
          <p:nvPr>
            <p:ph type="dt" sz="half" idx="10"/>
          </p:nvPr>
        </p:nvSpPr>
        <p:spPr/>
        <p:txBody>
          <a:bodyPr/>
          <a:lstStyle/>
          <a:p>
            <a:fld id="{DB4AE3E1-97D3-4938-9FFE-672E2BD57442}" type="datetimeFigureOut">
              <a:rPr lang="en-IN" smtClean="0"/>
              <a:t>27-09-2025</a:t>
            </a:fld>
            <a:endParaRPr lang="en-IN"/>
          </a:p>
        </p:txBody>
      </p:sp>
      <p:sp>
        <p:nvSpPr>
          <p:cNvPr id="5" name="Footer Placeholder 4">
            <a:extLst>
              <a:ext uri="{FF2B5EF4-FFF2-40B4-BE49-F238E27FC236}">
                <a16:creationId xmlns:a16="http://schemas.microsoft.com/office/drawing/2014/main" id="{3BEA643D-CA6C-257F-CD24-C3F814786A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66FE76-3D3A-3F1F-EBCB-3D6E07BB49E4}"/>
              </a:ext>
            </a:extLst>
          </p:cNvPr>
          <p:cNvSpPr>
            <a:spLocks noGrp="1"/>
          </p:cNvSpPr>
          <p:nvPr>
            <p:ph type="sldNum" sz="quarter" idx="12"/>
          </p:nvPr>
        </p:nvSpPr>
        <p:spPr/>
        <p:txBody>
          <a:bodyPr/>
          <a:lstStyle/>
          <a:p>
            <a:fld id="{A62AEFE3-65FD-4B54-B4C0-AF8EECB67971}" type="slidenum">
              <a:rPr lang="en-IN" smtClean="0"/>
              <a:t>‹#›</a:t>
            </a:fld>
            <a:endParaRPr lang="en-IN"/>
          </a:p>
        </p:txBody>
      </p:sp>
    </p:spTree>
    <p:extLst>
      <p:ext uri="{BB962C8B-B14F-4D97-AF65-F5344CB8AC3E}">
        <p14:creationId xmlns:p14="http://schemas.microsoft.com/office/powerpoint/2010/main" val="1953822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4FF7F-3425-4F97-C981-F87D4528B2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F9FD45-EB68-BE6E-3CB1-D0B2243059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DBD2A7-313D-5F39-0F57-01C6AFF9C18C}"/>
              </a:ext>
            </a:extLst>
          </p:cNvPr>
          <p:cNvSpPr>
            <a:spLocks noGrp="1"/>
          </p:cNvSpPr>
          <p:nvPr>
            <p:ph type="dt" sz="half" idx="10"/>
          </p:nvPr>
        </p:nvSpPr>
        <p:spPr/>
        <p:txBody>
          <a:bodyPr/>
          <a:lstStyle/>
          <a:p>
            <a:fld id="{DB4AE3E1-97D3-4938-9FFE-672E2BD57442}" type="datetimeFigureOut">
              <a:rPr lang="en-IN" smtClean="0"/>
              <a:t>27-09-2025</a:t>
            </a:fld>
            <a:endParaRPr lang="en-IN"/>
          </a:p>
        </p:txBody>
      </p:sp>
      <p:sp>
        <p:nvSpPr>
          <p:cNvPr id="5" name="Footer Placeholder 4">
            <a:extLst>
              <a:ext uri="{FF2B5EF4-FFF2-40B4-BE49-F238E27FC236}">
                <a16:creationId xmlns:a16="http://schemas.microsoft.com/office/drawing/2014/main" id="{AAD891F3-2564-192D-8E11-3B3609A261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43AA6D-1EE4-45CB-656A-776D260FD3E1}"/>
              </a:ext>
            </a:extLst>
          </p:cNvPr>
          <p:cNvSpPr>
            <a:spLocks noGrp="1"/>
          </p:cNvSpPr>
          <p:nvPr>
            <p:ph type="sldNum" sz="quarter" idx="12"/>
          </p:nvPr>
        </p:nvSpPr>
        <p:spPr/>
        <p:txBody>
          <a:bodyPr/>
          <a:lstStyle/>
          <a:p>
            <a:fld id="{A62AEFE3-65FD-4B54-B4C0-AF8EECB67971}" type="slidenum">
              <a:rPr lang="en-IN" smtClean="0"/>
              <a:t>‹#›</a:t>
            </a:fld>
            <a:endParaRPr lang="en-IN"/>
          </a:p>
        </p:txBody>
      </p:sp>
    </p:spTree>
    <p:extLst>
      <p:ext uri="{BB962C8B-B14F-4D97-AF65-F5344CB8AC3E}">
        <p14:creationId xmlns:p14="http://schemas.microsoft.com/office/powerpoint/2010/main" val="1005469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A3AB8-04E3-5764-5F5F-CBA758FED5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27261C-ABBB-3287-7EDD-A395ED66BD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76F8B9-9CB1-B14D-E159-284B932704D2}"/>
              </a:ext>
            </a:extLst>
          </p:cNvPr>
          <p:cNvSpPr>
            <a:spLocks noGrp="1"/>
          </p:cNvSpPr>
          <p:nvPr>
            <p:ph type="dt" sz="half" idx="10"/>
          </p:nvPr>
        </p:nvSpPr>
        <p:spPr/>
        <p:txBody>
          <a:bodyPr/>
          <a:lstStyle/>
          <a:p>
            <a:fld id="{DB4AE3E1-97D3-4938-9FFE-672E2BD57442}" type="datetimeFigureOut">
              <a:rPr lang="en-IN" smtClean="0"/>
              <a:t>27-09-2025</a:t>
            </a:fld>
            <a:endParaRPr lang="en-IN"/>
          </a:p>
        </p:txBody>
      </p:sp>
      <p:sp>
        <p:nvSpPr>
          <p:cNvPr id="5" name="Footer Placeholder 4">
            <a:extLst>
              <a:ext uri="{FF2B5EF4-FFF2-40B4-BE49-F238E27FC236}">
                <a16:creationId xmlns:a16="http://schemas.microsoft.com/office/drawing/2014/main" id="{371320C8-2851-313E-0F6D-7E1AC1551D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1E636A-FAC8-CEFF-3F2F-C6CCE9FDC247}"/>
              </a:ext>
            </a:extLst>
          </p:cNvPr>
          <p:cNvSpPr>
            <a:spLocks noGrp="1"/>
          </p:cNvSpPr>
          <p:nvPr>
            <p:ph type="sldNum" sz="quarter" idx="12"/>
          </p:nvPr>
        </p:nvSpPr>
        <p:spPr/>
        <p:txBody>
          <a:bodyPr/>
          <a:lstStyle/>
          <a:p>
            <a:fld id="{A62AEFE3-65FD-4B54-B4C0-AF8EECB67971}" type="slidenum">
              <a:rPr lang="en-IN" smtClean="0"/>
              <a:t>‹#›</a:t>
            </a:fld>
            <a:endParaRPr lang="en-IN"/>
          </a:p>
        </p:txBody>
      </p:sp>
    </p:spTree>
    <p:extLst>
      <p:ext uri="{BB962C8B-B14F-4D97-AF65-F5344CB8AC3E}">
        <p14:creationId xmlns:p14="http://schemas.microsoft.com/office/powerpoint/2010/main" val="2952021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77462-9F6E-6ACD-4F6B-48C5CC44A1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A64793-2BD2-C27D-89BF-0B5B08BFD9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D7C2E3-6BDA-A407-0336-F12325B1EE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36E6E60-ECB8-7D02-9B33-A3EE13628778}"/>
              </a:ext>
            </a:extLst>
          </p:cNvPr>
          <p:cNvSpPr>
            <a:spLocks noGrp="1"/>
          </p:cNvSpPr>
          <p:nvPr>
            <p:ph type="dt" sz="half" idx="10"/>
          </p:nvPr>
        </p:nvSpPr>
        <p:spPr/>
        <p:txBody>
          <a:bodyPr/>
          <a:lstStyle/>
          <a:p>
            <a:fld id="{DB4AE3E1-97D3-4938-9FFE-672E2BD57442}" type="datetimeFigureOut">
              <a:rPr lang="en-IN" smtClean="0"/>
              <a:t>27-09-2025</a:t>
            </a:fld>
            <a:endParaRPr lang="en-IN"/>
          </a:p>
        </p:txBody>
      </p:sp>
      <p:sp>
        <p:nvSpPr>
          <p:cNvPr id="6" name="Footer Placeholder 5">
            <a:extLst>
              <a:ext uri="{FF2B5EF4-FFF2-40B4-BE49-F238E27FC236}">
                <a16:creationId xmlns:a16="http://schemas.microsoft.com/office/drawing/2014/main" id="{D7A980FB-79C4-67A1-F5A8-3B94759E4E0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492E96-F811-33ED-B581-C6BA5EA60C5B}"/>
              </a:ext>
            </a:extLst>
          </p:cNvPr>
          <p:cNvSpPr>
            <a:spLocks noGrp="1"/>
          </p:cNvSpPr>
          <p:nvPr>
            <p:ph type="sldNum" sz="quarter" idx="12"/>
          </p:nvPr>
        </p:nvSpPr>
        <p:spPr/>
        <p:txBody>
          <a:bodyPr/>
          <a:lstStyle/>
          <a:p>
            <a:fld id="{A62AEFE3-65FD-4B54-B4C0-AF8EECB67971}" type="slidenum">
              <a:rPr lang="en-IN" smtClean="0"/>
              <a:t>‹#›</a:t>
            </a:fld>
            <a:endParaRPr lang="en-IN"/>
          </a:p>
        </p:txBody>
      </p:sp>
    </p:spTree>
    <p:extLst>
      <p:ext uri="{BB962C8B-B14F-4D97-AF65-F5344CB8AC3E}">
        <p14:creationId xmlns:p14="http://schemas.microsoft.com/office/powerpoint/2010/main" val="1925556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DFE0E-3A9C-E401-8FE6-1AB66154E6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571ADB-83E9-520F-6CEE-44B21C2687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F49EEF-386E-CC1F-5C28-84BAFA1A18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B10DC35-0AF0-C795-1EBC-4DBB38EAED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93C5D3-B085-D8F1-F43D-9DECBC9E25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F2C37F-1F56-39AD-3DE9-5D3E54ECFD0B}"/>
              </a:ext>
            </a:extLst>
          </p:cNvPr>
          <p:cNvSpPr>
            <a:spLocks noGrp="1"/>
          </p:cNvSpPr>
          <p:nvPr>
            <p:ph type="dt" sz="half" idx="10"/>
          </p:nvPr>
        </p:nvSpPr>
        <p:spPr/>
        <p:txBody>
          <a:bodyPr/>
          <a:lstStyle/>
          <a:p>
            <a:fld id="{DB4AE3E1-97D3-4938-9FFE-672E2BD57442}" type="datetimeFigureOut">
              <a:rPr lang="en-IN" smtClean="0"/>
              <a:t>27-09-2025</a:t>
            </a:fld>
            <a:endParaRPr lang="en-IN"/>
          </a:p>
        </p:txBody>
      </p:sp>
      <p:sp>
        <p:nvSpPr>
          <p:cNvPr id="8" name="Footer Placeholder 7">
            <a:extLst>
              <a:ext uri="{FF2B5EF4-FFF2-40B4-BE49-F238E27FC236}">
                <a16:creationId xmlns:a16="http://schemas.microsoft.com/office/drawing/2014/main" id="{B017AEE5-199C-8FA2-97CC-2BBF7DA5A38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6DACB31-E34C-640C-D8B2-420C4918BF52}"/>
              </a:ext>
            </a:extLst>
          </p:cNvPr>
          <p:cNvSpPr>
            <a:spLocks noGrp="1"/>
          </p:cNvSpPr>
          <p:nvPr>
            <p:ph type="sldNum" sz="quarter" idx="12"/>
          </p:nvPr>
        </p:nvSpPr>
        <p:spPr/>
        <p:txBody>
          <a:bodyPr/>
          <a:lstStyle/>
          <a:p>
            <a:fld id="{A62AEFE3-65FD-4B54-B4C0-AF8EECB67971}" type="slidenum">
              <a:rPr lang="en-IN" smtClean="0"/>
              <a:t>‹#›</a:t>
            </a:fld>
            <a:endParaRPr lang="en-IN"/>
          </a:p>
        </p:txBody>
      </p:sp>
    </p:spTree>
    <p:extLst>
      <p:ext uri="{BB962C8B-B14F-4D97-AF65-F5344CB8AC3E}">
        <p14:creationId xmlns:p14="http://schemas.microsoft.com/office/powerpoint/2010/main" val="2142647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7AA30-5E98-149E-2136-B10FA5F93F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264F927-F05A-8CC2-21AF-7FB50B6FDF07}"/>
              </a:ext>
            </a:extLst>
          </p:cNvPr>
          <p:cNvSpPr>
            <a:spLocks noGrp="1"/>
          </p:cNvSpPr>
          <p:nvPr>
            <p:ph type="dt" sz="half" idx="10"/>
          </p:nvPr>
        </p:nvSpPr>
        <p:spPr/>
        <p:txBody>
          <a:bodyPr/>
          <a:lstStyle/>
          <a:p>
            <a:fld id="{DB4AE3E1-97D3-4938-9FFE-672E2BD57442}" type="datetimeFigureOut">
              <a:rPr lang="en-IN" smtClean="0"/>
              <a:t>27-09-2025</a:t>
            </a:fld>
            <a:endParaRPr lang="en-IN"/>
          </a:p>
        </p:txBody>
      </p:sp>
      <p:sp>
        <p:nvSpPr>
          <p:cNvPr id="4" name="Footer Placeholder 3">
            <a:extLst>
              <a:ext uri="{FF2B5EF4-FFF2-40B4-BE49-F238E27FC236}">
                <a16:creationId xmlns:a16="http://schemas.microsoft.com/office/drawing/2014/main" id="{DA8E913A-17DC-0D10-FFCF-4FD19D7268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A99727-F43D-106B-2377-4FE4791C450D}"/>
              </a:ext>
            </a:extLst>
          </p:cNvPr>
          <p:cNvSpPr>
            <a:spLocks noGrp="1"/>
          </p:cNvSpPr>
          <p:nvPr>
            <p:ph type="sldNum" sz="quarter" idx="12"/>
          </p:nvPr>
        </p:nvSpPr>
        <p:spPr/>
        <p:txBody>
          <a:bodyPr/>
          <a:lstStyle/>
          <a:p>
            <a:fld id="{A62AEFE3-65FD-4B54-B4C0-AF8EECB67971}" type="slidenum">
              <a:rPr lang="en-IN" smtClean="0"/>
              <a:t>‹#›</a:t>
            </a:fld>
            <a:endParaRPr lang="en-IN"/>
          </a:p>
        </p:txBody>
      </p:sp>
    </p:spTree>
    <p:extLst>
      <p:ext uri="{BB962C8B-B14F-4D97-AF65-F5344CB8AC3E}">
        <p14:creationId xmlns:p14="http://schemas.microsoft.com/office/powerpoint/2010/main" val="1774399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D07D81-3912-B1AB-D2F2-139E1D04B8CA}"/>
              </a:ext>
            </a:extLst>
          </p:cNvPr>
          <p:cNvSpPr>
            <a:spLocks noGrp="1"/>
          </p:cNvSpPr>
          <p:nvPr>
            <p:ph type="dt" sz="half" idx="10"/>
          </p:nvPr>
        </p:nvSpPr>
        <p:spPr/>
        <p:txBody>
          <a:bodyPr/>
          <a:lstStyle/>
          <a:p>
            <a:fld id="{DB4AE3E1-97D3-4938-9FFE-672E2BD57442}" type="datetimeFigureOut">
              <a:rPr lang="en-IN" smtClean="0"/>
              <a:t>27-09-2025</a:t>
            </a:fld>
            <a:endParaRPr lang="en-IN"/>
          </a:p>
        </p:txBody>
      </p:sp>
      <p:sp>
        <p:nvSpPr>
          <p:cNvPr id="3" name="Footer Placeholder 2">
            <a:extLst>
              <a:ext uri="{FF2B5EF4-FFF2-40B4-BE49-F238E27FC236}">
                <a16:creationId xmlns:a16="http://schemas.microsoft.com/office/drawing/2014/main" id="{DE5AAD36-ACC2-771A-DB99-549264723AD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BD23498-FA69-2B44-1776-1966B8532DA8}"/>
              </a:ext>
            </a:extLst>
          </p:cNvPr>
          <p:cNvSpPr>
            <a:spLocks noGrp="1"/>
          </p:cNvSpPr>
          <p:nvPr>
            <p:ph type="sldNum" sz="quarter" idx="12"/>
          </p:nvPr>
        </p:nvSpPr>
        <p:spPr/>
        <p:txBody>
          <a:bodyPr/>
          <a:lstStyle/>
          <a:p>
            <a:fld id="{A62AEFE3-65FD-4B54-B4C0-AF8EECB67971}" type="slidenum">
              <a:rPr lang="en-IN" smtClean="0"/>
              <a:t>‹#›</a:t>
            </a:fld>
            <a:endParaRPr lang="en-IN"/>
          </a:p>
        </p:txBody>
      </p:sp>
    </p:spTree>
    <p:extLst>
      <p:ext uri="{BB962C8B-B14F-4D97-AF65-F5344CB8AC3E}">
        <p14:creationId xmlns:p14="http://schemas.microsoft.com/office/powerpoint/2010/main" val="1903412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087A4-C6FF-AB31-8395-61F61D744C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C72C84-965E-DAA9-323D-535E4550DC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17A2D4-6910-EEE6-26A9-AC7172455E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348199-2D58-84F8-2CFF-4E7A2424B673}"/>
              </a:ext>
            </a:extLst>
          </p:cNvPr>
          <p:cNvSpPr>
            <a:spLocks noGrp="1"/>
          </p:cNvSpPr>
          <p:nvPr>
            <p:ph type="dt" sz="half" idx="10"/>
          </p:nvPr>
        </p:nvSpPr>
        <p:spPr/>
        <p:txBody>
          <a:bodyPr/>
          <a:lstStyle/>
          <a:p>
            <a:fld id="{DB4AE3E1-97D3-4938-9FFE-672E2BD57442}" type="datetimeFigureOut">
              <a:rPr lang="en-IN" smtClean="0"/>
              <a:t>27-09-2025</a:t>
            </a:fld>
            <a:endParaRPr lang="en-IN"/>
          </a:p>
        </p:txBody>
      </p:sp>
      <p:sp>
        <p:nvSpPr>
          <p:cNvPr id="6" name="Footer Placeholder 5">
            <a:extLst>
              <a:ext uri="{FF2B5EF4-FFF2-40B4-BE49-F238E27FC236}">
                <a16:creationId xmlns:a16="http://schemas.microsoft.com/office/drawing/2014/main" id="{AC0528E8-0379-D5B0-6122-6BC8DE7FE2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86C17C-76BE-7A6E-A498-2AFE8FDDE9AC}"/>
              </a:ext>
            </a:extLst>
          </p:cNvPr>
          <p:cNvSpPr>
            <a:spLocks noGrp="1"/>
          </p:cNvSpPr>
          <p:nvPr>
            <p:ph type="sldNum" sz="quarter" idx="12"/>
          </p:nvPr>
        </p:nvSpPr>
        <p:spPr/>
        <p:txBody>
          <a:bodyPr/>
          <a:lstStyle/>
          <a:p>
            <a:fld id="{A62AEFE3-65FD-4B54-B4C0-AF8EECB67971}" type="slidenum">
              <a:rPr lang="en-IN" smtClean="0"/>
              <a:t>‹#›</a:t>
            </a:fld>
            <a:endParaRPr lang="en-IN"/>
          </a:p>
        </p:txBody>
      </p:sp>
    </p:spTree>
    <p:extLst>
      <p:ext uri="{BB962C8B-B14F-4D97-AF65-F5344CB8AC3E}">
        <p14:creationId xmlns:p14="http://schemas.microsoft.com/office/powerpoint/2010/main" val="1438248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84A5C-2C9A-6FF4-79CD-84B9C4E54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747EE48-45D5-08FD-CFC7-6E0B984C06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DB63173-C3B1-BE3C-DF4A-C98094DE87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E7FFB-2908-AEEB-D6A1-E817517DADF2}"/>
              </a:ext>
            </a:extLst>
          </p:cNvPr>
          <p:cNvSpPr>
            <a:spLocks noGrp="1"/>
          </p:cNvSpPr>
          <p:nvPr>
            <p:ph type="dt" sz="half" idx="10"/>
          </p:nvPr>
        </p:nvSpPr>
        <p:spPr/>
        <p:txBody>
          <a:bodyPr/>
          <a:lstStyle/>
          <a:p>
            <a:fld id="{DB4AE3E1-97D3-4938-9FFE-672E2BD57442}" type="datetimeFigureOut">
              <a:rPr lang="en-IN" smtClean="0"/>
              <a:t>27-09-2025</a:t>
            </a:fld>
            <a:endParaRPr lang="en-IN"/>
          </a:p>
        </p:txBody>
      </p:sp>
      <p:sp>
        <p:nvSpPr>
          <p:cNvPr id="6" name="Footer Placeholder 5">
            <a:extLst>
              <a:ext uri="{FF2B5EF4-FFF2-40B4-BE49-F238E27FC236}">
                <a16:creationId xmlns:a16="http://schemas.microsoft.com/office/drawing/2014/main" id="{A9DCFF2C-5AB5-83B8-CCAA-31E4C375AF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D8EB0A-F615-74EC-F15F-D66EBF22297A}"/>
              </a:ext>
            </a:extLst>
          </p:cNvPr>
          <p:cNvSpPr>
            <a:spLocks noGrp="1"/>
          </p:cNvSpPr>
          <p:nvPr>
            <p:ph type="sldNum" sz="quarter" idx="12"/>
          </p:nvPr>
        </p:nvSpPr>
        <p:spPr/>
        <p:txBody>
          <a:bodyPr/>
          <a:lstStyle/>
          <a:p>
            <a:fld id="{A62AEFE3-65FD-4B54-B4C0-AF8EECB67971}" type="slidenum">
              <a:rPr lang="en-IN" smtClean="0"/>
              <a:t>‹#›</a:t>
            </a:fld>
            <a:endParaRPr lang="en-IN"/>
          </a:p>
        </p:txBody>
      </p:sp>
    </p:spTree>
    <p:extLst>
      <p:ext uri="{BB962C8B-B14F-4D97-AF65-F5344CB8AC3E}">
        <p14:creationId xmlns:p14="http://schemas.microsoft.com/office/powerpoint/2010/main" val="1023948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E0B9-4D7E-5432-A139-2C555F4B18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82F560-EF46-24C6-DD66-E0A4B59DEA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3203F3-1B40-28D9-CE5E-5C0F6B8EC221}"/>
              </a:ext>
            </a:extLst>
          </p:cNvPr>
          <p:cNvSpPr>
            <a:spLocks noGrp="1"/>
          </p:cNvSpPr>
          <p:nvPr>
            <p:ph type="dt" sz="half" idx="10"/>
          </p:nvPr>
        </p:nvSpPr>
        <p:spPr/>
        <p:txBody>
          <a:bodyPr/>
          <a:lstStyle/>
          <a:p>
            <a:fld id="{DB4AE3E1-97D3-4938-9FFE-672E2BD57442}" type="datetimeFigureOut">
              <a:rPr lang="en-IN" smtClean="0"/>
              <a:t>27-09-2025</a:t>
            </a:fld>
            <a:endParaRPr lang="en-IN"/>
          </a:p>
        </p:txBody>
      </p:sp>
      <p:sp>
        <p:nvSpPr>
          <p:cNvPr id="5" name="Footer Placeholder 4">
            <a:extLst>
              <a:ext uri="{FF2B5EF4-FFF2-40B4-BE49-F238E27FC236}">
                <a16:creationId xmlns:a16="http://schemas.microsoft.com/office/drawing/2014/main" id="{8F0B244C-3C76-A3CA-D098-A06FF267CC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1FEC93-ABF7-DC33-F501-7595AA51C9AD}"/>
              </a:ext>
            </a:extLst>
          </p:cNvPr>
          <p:cNvSpPr>
            <a:spLocks noGrp="1"/>
          </p:cNvSpPr>
          <p:nvPr>
            <p:ph type="sldNum" sz="quarter" idx="12"/>
          </p:nvPr>
        </p:nvSpPr>
        <p:spPr/>
        <p:txBody>
          <a:bodyPr/>
          <a:lstStyle/>
          <a:p>
            <a:fld id="{A62AEFE3-65FD-4B54-B4C0-AF8EECB67971}" type="slidenum">
              <a:rPr lang="en-IN" smtClean="0"/>
              <a:t>‹#›</a:t>
            </a:fld>
            <a:endParaRPr lang="en-IN"/>
          </a:p>
        </p:txBody>
      </p:sp>
    </p:spTree>
    <p:extLst>
      <p:ext uri="{BB962C8B-B14F-4D97-AF65-F5344CB8AC3E}">
        <p14:creationId xmlns:p14="http://schemas.microsoft.com/office/powerpoint/2010/main" val="3748345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86E006-EBD3-354B-423C-93FE796EBB5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194FEB-C755-0DD9-655B-5895BDAD02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0D514F-A163-5958-6EAB-20F585159334}"/>
              </a:ext>
            </a:extLst>
          </p:cNvPr>
          <p:cNvSpPr>
            <a:spLocks noGrp="1"/>
          </p:cNvSpPr>
          <p:nvPr>
            <p:ph type="dt" sz="half" idx="10"/>
          </p:nvPr>
        </p:nvSpPr>
        <p:spPr/>
        <p:txBody>
          <a:bodyPr/>
          <a:lstStyle/>
          <a:p>
            <a:fld id="{DB4AE3E1-97D3-4938-9FFE-672E2BD57442}" type="datetimeFigureOut">
              <a:rPr lang="en-IN" smtClean="0"/>
              <a:t>27-09-2025</a:t>
            </a:fld>
            <a:endParaRPr lang="en-IN"/>
          </a:p>
        </p:txBody>
      </p:sp>
      <p:sp>
        <p:nvSpPr>
          <p:cNvPr id="5" name="Footer Placeholder 4">
            <a:extLst>
              <a:ext uri="{FF2B5EF4-FFF2-40B4-BE49-F238E27FC236}">
                <a16:creationId xmlns:a16="http://schemas.microsoft.com/office/drawing/2014/main" id="{940521FD-F044-FE43-10AF-F6F04A4D93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189B25-AE47-A75A-E60E-8B54FB511EC2}"/>
              </a:ext>
            </a:extLst>
          </p:cNvPr>
          <p:cNvSpPr>
            <a:spLocks noGrp="1"/>
          </p:cNvSpPr>
          <p:nvPr>
            <p:ph type="sldNum" sz="quarter" idx="12"/>
          </p:nvPr>
        </p:nvSpPr>
        <p:spPr/>
        <p:txBody>
          <a:bodyPr/>
          <a:lstStyle/>
          <a:p>
            <a:fld id="{A62AEFE3-65FD-4B54-B4C0-AF8EECB67971}" type="slidenum">
              <a:rPr lang="en-IN" smtClean="0"/>
              <a:t>‹#›</a:t>
            </a:fld>
            <a:endParaRPr lang="en-IN"/>
          </a:p>
        </p:txBody>
      </p:sp>
    </p:spTree>
    <p:extLst>
      <p:ext uri="{BB962C8B-B14F-4D97-AF65-F5344CB8AC3E}">
        <p14:creationId xmlns:p14="http://schemas.microsoft.com/office/powerpoint/2010/main" val="1186102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 Templateswise.com - Machine Learning PP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5B0F5B-1F51-4F07-9BC5-565764121CA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353"/>
            <a:ext cx="12192000" cy="6857295"/>
          </a:xfrm>
          <a:prstGeom prst="rect">
            <a:avLst/>
          </a:prstGeom>
        </p:spPr>
      </p:pic>
      <p:pic>
        <p:nvPicPr>
          <p:cNvPr id="305" name="Picture 304">
            <a:extLst>
              <a:ext uri="{FF2B5EF4-FFF2-40B4-BE49-F238E27FC236}">
                <a16:creationId xmlns:a16="http://schemas.microsoft.com/office/drawing/2014/main" id="{3D5F88F3-6355-4E24-ACCB-8680BE8B0C1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10"/>
            <a:ext cx="12192000" cy="6856781"/>
          </a:xfrm>
          <a:prstGeom prst="rect">
            <a:avLst/>
          </a:prstGeom>
        </p:spPr>
      </p:pic>
      <p:sp>
        <p:nvSpPr>
          <p:cNvPr id="3" name="Date Placeholder 2"/>
          <p:cNvSpPr>
            <a:spLocks noGrp="1"/>
          </p:cNvSpPr>
          <p:nvPr userDrawn="1">
            <p:ph type="dt" sz="half" idx="10"/>
          </p:nvPr>
        </p:nvSpPr>
        <p:spPr/>
        <p:txBody>
          <a:bodyPr/>
          <a:lstStyle>
            <a:lvl1pPr>
              <a:defRPr>
                <a:solidFill>
                  <a:schemeClr val="bg1">
                    <a:lumMod val="65000"/>
                  </a:schemeClr>
                </a:solidFill>
              </a:defRPr>
            </a:lvl1pPr>
          </a:lstStyle>
          <a:p>
            <a:fld id="{FFF30096-E2FA-4C53-8FFA-C198FACBBC31}" type="datetimeFigureOut">
              <a:rPr lang="en-US" smtClean="0"/>
              <a:pPr/>
              <a:t>9/27/2025</a:t>
            </a:fld>
            <a:endParaRPr lang="en-US" dirty="0"/>
          </a:p>
        </p:txBody>
      </p:sp>
      <p:sp>
        <p:nvSpPr>
          <p:cNvPr id="4" name="Footer Placeholder 3"/>
          <p:cNvSpPr>
            <a:spLocks noGrp="1"/>
          </p:cNvSpPr>
          <p:nvPr userDrawn="1">
            <p:ph type="ftr" sz="quarter" idx="11"/>
          </p:nvPr>
        </p:nvSpPr>
        <p:spPr/>
        <p:txBody>
          <a:bodyPr/>
          <a:lstStyle>
            <a:lvl1pPr>
              <a:defRPr>
                <a:solidFill>
                  <a:schemeClr val="bg1">
                    <a:lumMod val="65000"/>
                  </a:schemeClr>
                </a:solidFill>
              </a:defRPr>
            </a:lvl1pPr>
          </a:lstStyle>
          <a:p>
            <a:endParaRPr lang="en-US" dirty="0"/>
          </a:p>
        </p:txBody>
      </p:sp>
      <p:sp>
        <p:nvSpPr>
          <p:cNvPr id="5" name="Slide Number Placeholder 4"/>
          <p:cNvSpPr>
            <a:spLocks noGrp="1"/>
          </p:cNvSpPr>
          <p:nvPr userDrawn="1">
            <p:ph type="sldNum" sz="quarter" idx="12"/>
          </p:nvPr>
        </p:nvSpPr>
        <p:spPr/>
        <p:txBody>
          <a:bodyPr/>
          <a:lstStyle>
            <a:lvl1pPr>
              <a:defRPr>
                <a:solidFill>
                  <a:schemeClr val="bg1">
                    <a:lumMod val="65000"/>
                  </a:schemeClr>
                </a:solidFill>
              </a:defRPr>
            </a:lvl1pPr>
          </a:lstStyle>
          <a:p>
            <a:fld id="{BE6EB2CE-F8EE-47A0-A8D1-750600A29654}" type="slidenum">
              <a:rPr lang="en-US" smtClean="0"/>
              <a:pPr/>
              <a:t>‹#›</a:t>
            </a:fld>
            <a:endParaRPr lang="en-US" dirty="0"/>
          </a:p>
        </p:txBody>
      </p:sp>
      <p:sp>
        <p:nvSpPr>
          <p:cNvPr id="128" name="Title 1">
            <a:extLst>
              <a:ext uri="{FF2B5EF4-FFF2-40B4-BE49-F238E27FC236}">
                <a16:creationId xmlns:a16="http://schemas.microsoft.com/office/drawing/2014/main" id="{8F0D60C6-8501-4D6D-8057-7CDBF8F5453E}"/>
              </a:ext>
            </a:extLst>
          </p:cNvPr>
          <p:cNvSpPr>
            <a:spLocks noGrp="1"/>
          </p:cNvSpPr>
          <p:nvPr userDrawn="1">
            <p:ph type="title" hasCustomPrompt="1"/>
          </p:nvPr>
        </p:nvSpPr>
        <p:spPr>
          <a:xfrm>
            <a:off x="6480043" y="2372883"/>
            <a:ext cx="5131055" cy="1143000"/>
          </a:xfrm>
        </p:spPr>
        <p:txBody>
          <a:bodyPr>
            <a:noAutofit/>
          </a:bodyPr>
          <a:lstStyle>
            <a:lvl1pPr algn="l">
              <a:defRPr sz="5200" baseline="0">
                <a:solidFill>
                  <a:schemeClr val="bg1"/>
                </a:solidFill>
              </a:defRPr>
            </a:lvl1pPr>
          </a:lstStyle>
          <a:p>
            <a:r>
              <a:rPr lang="en-US" dirty="0"/>
              <a:t>Machine Learning</a:t>
            </a:r>
            <a:endParaRPr lang="en-US" noProof="0" dirty="0"/>
          </a:p>
        </p:txBody>
      </p:sp>
      <p:sp>
        <p:nvSpPr>
          <p:cNvPr id="129" name="Text Placeholder 4">
            <a:extLst>
              <a:ext uri="{FF2B5EF4-FFF2-40B4-BE49-F238E27FC236}">
                <a16:creationId xmlns:a16="http://schemas.microsoft.com/office/drawing/2014/main" id="{8EC25800-91F8-45D6-87F4-8C499CA81027}"/>
              </a:ext>
            </a:extLst>
          </p:cNvPr>
          <p:cNvSpPr>
            <a:spLocks noGrp="1"/>
          </p:cNvSpPr>
          <p:nvPr userDrawn="1">
            <p:ph type="body" sz="quarter" idx="35" hasCustomPrompt="1"/>
          </p:nvPr>
        </p:nvSpPr>
        <p:spPr>
          <a:xfrm>
            <a:off x="6698827" y="3236980"/>
            <a:ext cx="4896544" cy="603249"/>
          </a:xfrm>
        </p:spPr>
        <p:txBody>
          <a:bodyPr anchor="ctr">
            <a:noAutofit/>
          </a:bodyPr>
          <a:lstStyle>
            <a:lvl1pPr marL="0" indent="0" algn="l">
              <a:buNone/>
              <a:defRPr sz="2400">
                <a:solidFill>
                  <a:schemeClr val="bg1"/>
                </a:solidFill>
                <a:latin typeface="+mj-lt"/>
              </a:defRPr>
            </a:lvl1pPr>
          </a:lstStyle>
          <a:p>
            <a:r>
              <a:rPr lang="en-US" dirty="0"/>
              <a:t>PowerPoint template</a:t>
            </a:r>
          </a:p>
        </p:txBody>
      </p:sp>
      <p:grpSp>
        <p:nvGrpSpPr>
          <p:cNvPr id="379" name="Group 378">
            <a:extLst>
              <a:ext uri="{FF2B5EF4-FFF2-40B4-BE49-F238E27FC236}">
                <a16:creationId xmlns:a16="http://schemas.microsoft.com/office/drawing/2014/main" id="{5EFE17CA-9B2C-4214-86AB-24D59D14F4A9}"/>
              </a:ext>
            </a:extLst>
          </p:cNvPr>
          <p:cNvGrpSpPr/>
          <p:nvPr userDrawn="1"/>
        </p:nvGrpSpPr>
        <p:grpSpPr>
          <a:xfrm>
            <a:off x="9277381" y="3956098"/>
            <a:ext cx="1077387" cy="1077396"/>
            <a:chOff x="6958036" y="2967073"/>
            <a:chExt cx="808040" cy="808047"/>
          </a:xfrm>
        </p:grpSpPr>
        <p:sp>
          <p:nvSpPr>
            <p:cNvPr id="312" name="Freeform 209">
              <a:extLst>
                <a:ext uri="{FF2B5EF4-FFF2-40B4-BE49-F238E27FC236}">
                  <a16:creationId xmlns:a16="http://schemas.microsoft.com/office/drawing/2014/main" id="{B7EDEA35-2645-47DB-BCDF-9C7C2664619E}"/>
                </a:ext>
              </a:extLst>
            </p:cNvPr>
            <p:cNvSpPr>
              <a:spLocks/>
            </p:cNvSpPr>
            <p:nvPr userDrawn="1"/>
          </p:nvSpPr>
          <p:spPr bwMode="auto">
            <a:xfrm>
              <a:off x="6958036" y="2967073"/>
              <a:ext cx="808040" cy="808047"/>
            </a:xfrm>
            <a:custGeom>
              <a:avLst/>
              <a:gdLst>
                <a:gd name="T0" fmla="*/ 1017 w 1017"/>
                <a:gd name="T1" fmla="*/ 535 h 1017"/>
                <a:gd name="T2" fmla="*/ 1007 w 1017"/>
                <a:gd name="T3" fmla="*/ 612 h 1017"/>
                <a:gd name="T4" fmla="*/ 987 w 1017"/>
                <a:gd name="T5" fmla="*/ 684 h 1017"/>
                <a:gd name="T6" fmla="*/ 956 w 1017"/>
                <a:gd name="T7" fmla="*/ 751 h 1017"/>
                <a:gd name="T8" fmla="*/ 917 w 1017"/>
                <a:gd name="T9" fmla="*/ 813 h 1017"/>
                <a:gd name="T10" fmla="*/ 868 w 1017"/>
                <a:gd name="T11" fmla="*/ 869 h 1017"/>
                <a:gd name="T12" fmla="*/ 813 w 1017"/>
                <a:gd name="T13" fmla="*/ 917 h 1017"/>
                <a:gd name="T14" fmla="*/ 751 w 1017"/>
                <a:gd name="T15" fmla="*/ 956 h 1017"/>
                <a:gd name="T16" fmla="*/ 684 w 1017"/>
                <a:gd name="T17" fmla="*/ 987 h 1017"/>
                <a:gd name="T18" fmla="*/ 611 w 1017"/>
                <a:gd name="T19" fmla="*/ 1007 h 1017"/>
                <a:gd name="T20" fmla="*/ 535 w 1017"/>
                <a:gd name="T21" fmla="*/ 1017 h 1017"/>
                <a:gd name="T22" fmla="*/ 482 w 1017"/>
                <a:gd name="T23" fmla="*/ 1017 h 1017"/>
                <a:gd name="T24" fmla="*/ 406 w 1017"/>
                <a:gd name="T25" fmla="*/ 1007 h 1017"/>
                <a:gd name="T26" fmla="*/ 334 w 1017"/>
                <a:gd name="T27" fmla="*/ 987 h 1017"/>
                <a:gd name="T28" fmla="*/ 266 w 1017"/>
                <a:gd name="T29" fmla="*/ 956 h 1017"/>
                <a:gd name="T30" fmla="*/ 205 w 1017"/>
                <a:gd name="T31" fmla="*/ 917 h 1017"/>
                <a:gd name="T32" fmla="*/ 150 w 1017"/>
                <a:gd name="T33" fmla="*/ 869 h 1017"/>
                <a:gd name="T34" fmla="*/ 101 w 1017"/>
                <a:gd name="T35" fmla="*/ 813 h 1017"/>
                <a:gd name="T36" fmla="*/ 62 w 1017"/>
                <a:gd name="T37" fmla="*/ 751 h 1017"/>
                <a:gd name="T38" fmla="*/ 31 w 1017"/>
                <a:gd name="T39" fmla="*/ 684 h 1017"/>
                <a:gd name="T40" fmla="*/ 10 w 1017"/>
                <a:gd name="T41" fmla="*/ 612 h 1017"/>
                <a:gd name="T42" fmla="*/ 1 w 1017"/>
                <a:gd name="T43" fmla="*/ 535 h 1017"/>
                <a:gd name="T44" fmla="*/ 1 w 1017"/>
                <a:gd name="T45" fmla="*/ 483 h 1017"/>
                <a:gd name="T46" fmla="*/ 10 w 1017"/>
                <a:gd name="T47" fmla="*/ 407 h 1017"/>
                <a:gd name="T48" fmla="*/ 31 w 1017"/>
                <a:gd name="T49" fmla="*/ 334 h 1017"/>
                <a:gd name="T50" fmla="*/ 62 w 1017"/>
                <a:gd name="T51" fmla="*/ 266 h 1017"/>
                <a:gd name="T52" fmla="*/ 101 w 1017"/>
                <a:gd name="T53" fmla="*/ 204 h 1017"/>
                <a:gd name="T54" fmla="*/ 150 w 1017"/>
                <a:gd name="T55" fmla="*/ 149 h 1017"/>
                <a:gd name="T56" fmla="*/ 205 w 1017"/>
                <a:gd name="T57" fmla="*/ 101 h 1017"/>
                <a:gd name="T58" fmla="*/ 266 w 1017"/>
                <a:gd name="T59" fmla="*/ 61 h 1017"/>
                <a:gd name="T60" fmla="*/ 334 w 1017"/>
                <a:gd name="T61" fmla="*/ 31 h 1017"/>
                <a:gd name="T62" fmla="*/ 406 w 1017"/>
                <a:gd name="T63" fmla="*/ 10 h 1017"/>
                <a:gd name="T64" fmla="*/ 482 w 1017"/>
                <a:gd name="T65" fmla="*/ 1 h 1017"/>
                <a:gd name="T66" fmla="*/ 535 w 1017"/>
                <a:gd name="T67" fmla="*/ 1 h 1017"/>
                <a:gd name="T68" fmla="*/ 611 w 1017"/>
                <a:gd name="T69" fmla="*/ 10 h 1017"/>
                <a:gd name="T70" fmla="*/ 684 w 1017"/>
                <a:gd name="T71" fmla="*/ 31 h 1017"/>
                <a:gd name="T72" fmla="*/ 751 w 1017"/>
                <a:gd name="T73" fmla="*/ 61 h 1017"/>
                <a:gd name="T74" fmla="*/ 813 w 1017"/>
                <a:gd name="T75" fmla="*/ 101 h 1017"/>
                <a:gd name="T76" fmla="*/ 868 w 1017"/>
                <a:gd name="T77" fmla="*/ 149 h 1017"/>
                <a:gd name="T78" fmla="*/ 917 w 1017"/>
                <a:gd name="T79" fmla="*/ 204 h 1017"/>
                <a:gd name="T80" fmla="*/ 956 w 1017"/>
                <a:gd name="T81" fmla="*/ 266 h 1017"/>
                <a:gd name="T82" fmla="*/ 987 w 1017"/>
                <a:gd name="T83" fmla="*/ 334 h 1017"/>
                <a:gd name="T84" fmla="*/ 1007 w 1017"/>
                <a:gd name="T85" fmla="*/ 407 h 1017"/>
                <a:gd name="T86" fmla="*/ 1017 w 1017"/>
                <a:gd name="T87" fmla="*/ 483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7" h="1017">
                  <a:moveTo>
                    <a:pt x="1017" y="509"/>
                  </a:moveTo>
                  <a:lnTo>
                    <a:pt x="1017" y="509"/>
                  </a:lnTo>
                  <a:lnTo>
                    <a:pt x="1017" y="535"/>
                  </a:lnTo>
                  <a:lnTo>
                    <a:pt x="1014" y="561"/>
                  </a:lnTo>
                  <a:lnTo>
                    <a:pt x="1011" y="586"/>
                  </a:lnTo>
                  <a:lnTo>
                    <a:pt x="1007" y="612"/>
                  </a:lnTo>
                  <a:lnTo>
                    <a:pt x="1002" y="636"/>
                  </a:lnTo>
                  <a:lnTo>
                    <a:pt x="995" y="660"/>
                  </a:lnTo>
                  <a:lnTo>
                    <a:pt x="987" y="684"/>
                  </a:lnTo>
                  <a:lnTo>
                    <a:pt x="978" y="707"/>
                  </a:lnTo>
                  <a:lnTo>
                    <a:pt x="967" y="729"/>
                  </a:lnTo>
                  <a:lnTo>
                    <a:pt x="956" y="751"/>
                  </a:lnTo>
                  <a:lnTo>
                    <a:pt x="944" y="773"/>
                  </a:lnTo>
                  <a:lnTo>
                    <a:pt x="930" y="794"/>
                  </a:lnTo>
                  <a:lnTo>
                    <a:pt x="917" y="813"/>
                  </a:lnTo>
                  <a:lnTo>
                    <a:pt x="902" y="833"/>
                  </a:lnTo>
                  <a:lnTo>
                    <a:pt x="885" y="851"/>
                  </a:lnTo>
                  <a:lnTo>
                    <a:pt x="868" y="869"/>
                  </a:lnTo>
                  <a:lnTo>
                    <a:pt x="851" y="886"/>
                  </a:lnTo>
                  <a:lnTo>
                    <a:pt x="832" y="901"/>
                  </a:lnTo>
                  <a:lnTo>
                    <a:pt x="813" y="917"/>
                  </a:lnTo>
                  <a:lnTo>
                    <a:pt x="793" y="931"/>
                  </a:lnTo>
                  <a:lnTo>
                    <a:pt x="773" y="944"/>
                  </a:lnTo>
                  <a:lnTo>
                    <a:pt x="751" y="956"/>
                  </a:lnTo>
                  <a:lnTo>
                    <a:pt x="729" y="968"/>
                  </a:lnTo>
                  <a:lnTo>
                    <a:pt x="707" y="978"/>
                  </a:lnTo>
                  <a:lnTo>
                    <a:pt x="684" y="987"/>
                  </a:lnTo>
                  <a:lnTo>
                    <a:pt x="660" y="994"/>
                  </a:lnTo>
                  <a:lnTo>
                    <a:pt x="636" y="1001"/>
                  </a:lnTo>
                  <a:lnTo>
                    <a:pt x="611" y="1007"/>
                  </a:lnTo>
                  <a:lnTo>
                    <a:pt x="586" y="1012"/>
                  </a:lnTo>
                  <a:lnTo>
                    <a:pt x="561" y="1015"/>
                  </a:lnTo>
                  <a:lnTo>
                    <a:pt x="535" y="1017"/>
                  </a:lnTo>
                  <a:lnTo>
                    <a:pt x="509" y="1017"/>
                  </a:lnTo>
                  <a:lnTo>
                    <a:pt x="509" y="1017"/>
                  </a:lnTo>
                  <a:lnTo>
                    <a:pt x="482" y="1017"/>
                  </a:lnTo>
                  <a:lnTo>
                    <a:pt x="457" y="1015"/>
                  </a:lnTo>
                  <a:lnTo>
                    <a:pt x="432" y="1012"/>
                  </a:lnTo>
                  <a:lnTo>
                    <a:pt x="406" y="1007"/>
                  </a:lnTo>
                  <a:lnTo>
                    <a:pt x="381" y="1001"/>
                  </a:lnTo>
                  <a:lnTo>
                    <a:pt x="358" y="994"/>
                  </a:lnTo>
                  <a:lnTo>
                    <a:pt x="334" y="987"/>
                  </a:lnTo>
                  <a:lnTo>
                    <a:pt x="311" y="978"/>
                  </a:lnTo>
                  <a:lnTo>
                    <a:pt x="288" y="968"/>
                  </a:lnTo>
                  <a:lnTo>
                    <a:pt x="266" y="956"/>
                  </a:lnTo>
                  <a:lnTo>
                    <a:pt x="245" y="944"/>
                  </a:lnTo>
                  <a:lnTo>
                    <a:pt x="224" y="931"/>
                  </a:lnTo>
                  <a:lnTo>
                    <a:pt x="205" y="917"/>
                  </a:lnTo>
                  <a:lnTo>
                    <a:pt x="185" y="901"/>
                  </a:lnTo>
                  <a:lnTo>
                    <a:pt x="167" y="886"/>
                  </a:lnTo>
                  <a:lnTo>
                    <a:pt x="150" y="869"/>
                  </a:lnTo>
                  <a:lnTo>
                    <a:pt x="132" y="851"/>
                  </a:lnTo>
                  <a:lnTo>
                    <a:pt x="116" y="833"/>
                  </a:lnTo>
                  <a:lnTo>
                    <a:pt x="101" y="813"/>
                  </a:lnTo>
                  <a:lnTo>
                    <a:pt x="87" y="794"/>
                  </a:lnTo>
                  <a:lnTo>
                    <a:pt x="74" y="773"/>
                  </a:lnTo>
                  <a:lnTo>
                    <a:pt x="62" y="751"/>
                  </a:lnTo>
                  <a:lnTo>
                    <a:pt x="50" y="729"/>
                  </a:lnTo>
                  <a:lnTo>
                    <a:pt x="40" y="707"/>
                  </a:lnTo>
                  <a:lnTo>
                    <a:pt x="31" y="684"/>
                  </a:lnTo>
                  <a:lnTo>
                    <a:pt x="23" y="660"/>
                  </a:lnTo>
                  <a:lnTo>
                    <a:pt x="16" y="636"/>
                  </a:lnTo>
                  <a:lnTo>
                    <a:pt x="10" y="612"/>
                  </a:lnTo>
                  <a:lnTo>
                    <a:pt x="6" y="586"/>
                  </a:lnTo>
                  <a:lnTo>
                    <a:pt x="3" y="561"/>
                  </a:lnTo>
                  <a:lnTo>
                    <a:pt x="1" y="535"/>
                  </a:lnTo>
                  <a:lnTo>
                    <a:pt x="0" y="509"/>
                  </a:lnTo>
                  <a:lnTo>
                    <a:pt x="0" y="509"/>
                  </a:lnTo>
                  <a:lnTo>
                    <a:pt x="1" y="483"/>
                  </a:lnTo>
                  <a:lnTo>
                    <a:pt x="3" y="457"/>
                  </a:lnTo>
                  <a:lnTo>
                    <a:pt x="6" y="431"/>
                  </a:lnTo>
                  <a:lnTo>
                    <a:pt x="10" y="407"/>
                  </a:lnTo>
                  <a:lnTo>
                    <a:pt x="16" y="381"/>
                  </a:lnTo>
                  <a:lnTo>
                    <a:pt x="23" y="357"/>
                  </a:lnTo>
                  <a:lnTo>
                    <a:pt x="31" y="334"/>
                  </a:lnTo>
                  <a:lnTo>
                    <a:pt x="40" y="311"/>
                  </a:lnTo>
                  <a:lnTo>
                    <a:pt x="50" y="288"/>
                  </a:lnTo>
                  <a:lnTo>
                    <a:pt x="62" y="266"/>
                  </a:lnTo>
                  <a:lnTo>
                    <a:pt x="74" y="245"/>
                  </a:lnTo>
                  <a:lnTo>
                    <a:pt x="87" y="225"/>
                  </a:lnTo>
                  <a:lnTo>
                    <a:pt x="101" y="204"/>
                  </a:lnTo>
                  <a:lnTo>
                    <a:pt x="116" y="185"/>
                  </a:lnTo>
                  <a:lnTo>
                    <a:pt x="132" y="167"/>
                  </a:lnTo>
                  <a:lnTo>
                    <a:pt x="150" y="149"/>
                  </a:lnTo>
                  <a:lnTo>
                    <a:pt x="167" y="132"/>
                  </a:lnTo>
                  <a:lnTo>
                    <a:pt x="185" y="116"/>
                  </a:lnTo>
                  <a:lnTo>
                    <a:pt x="205" y="101"/>
                  </a:lnTo>
                  <a:lnTo>
                    <a:pt x="224" y="86"/>
                  </a:lnTo>
                  <a:lnTo>
                    <a:pt x="245" y="74"/>
                  </a:lnTo>
                  <a:lnTo>
                    <a:pt x="266" y="61"/>
                  </a:lnTo>
                  <a:lnTo>
                    <a:pt x="288" y="51"/>
                  </a:lnTo>
                  <a:lnTo>
                    <a:pt x="311" y="40"/>
                  </a:lnTo>
                  <a:lnTo>
                    <a:pt x="334" y="31"/>
                  </a:lnTo>
                  <a:lnTo>
                    <a:pt x="358" y="23"/>
                  </a:lnTo>
                  <a:lnTo>
                    <a:pt x="381" y="16"/>
                  </a:lnTo>
                  <a:lnTo>
                    <a:pt x="406" y="10"/>
                  </a:lnTo>
                  <a:lnTo>
                    <a:pt x="432" y="6"/>
                  </a:lnTo>
                  <a:lnTo>
                    <a:pt x="457" y="2"/>
                  </a:lnTo>
                  <a:lnTo>
                    <a:pt x="482" y="1"/>
                  </a:lnTo>
                  <a:lnTo>
                    <a:pt x="509" y="0"/>
                  </a:lnTo>
                  <a:lnTo>
                    <a:pt x="509" y="0"/>
                  </a:lnTo>
                  <a:lnTo>
                    <a:pt x="535" y="1"/>
                  </a:lnTo>
                  <a:lnTo>
                    <a:pt x="561" y="2"/>
                  </a:lnTo>
                  <a:lnTo>
                    <a:pt x="586" y="6"/>
                  </a:lnTo>
                  <a:lnTo>
                    <a:pt x="611" y="10"/>
                  </a:lnTo>
                  <a:lnTo>
                    <a:pt x="636" y="16"/>
                  </a:lnTo>
                  <a:lnTo>
                    <a:pt x="660" y="23"/>
                  </a:lnTo>
                  <a:lnTo>
                    <a:pt x="684" y="31"/>
                  </a:lnTo>
                  <a:lnTo>
                    <a:pt x="707" y="40"/>
                  </a:lnTo>
                  <a:lnTo>
                    <a:pt x="729" y="51"/>
                  </a:lnTo>
                  <a:lnTo>
                    <a:pt x="751" y="61"/>
                  </a:lnTo>
                  <a:lnTo>
                    <a:pt x="773" y="74"/>
                  </a:lnTo>
                  <a:lnTo>
                    <a:pt x="793" y="86"/>
                  </a:lnTo>
                  <a:lnTo>
                    <a:pt x="813" y="101"/>
                  </a:lnTo>
                  <a:lnTo>
                    <a:pt x="832" y="116"/>
                  </a:lnTo>
                  <a:lnTo>
                    <a:pt x="851" y="132"/>
                  </a:lnTo>
                  <a:lnTo>
                    <a:pt x="868" y="149"/>
                  </a:lnTo>
                  <a:lnTo>
                    <a:pt x="885" y="167"/>
                  </a:lnTo>
                  <a:lnTo>
                    <a:pt x="902" y="185"/>
                  </a:lnTo>
                  <a:lnTo>
                    <a:pt x="917" y="204"/>
                  </a:lnTo>
                  <a:lnTo>
                    <a:pt x="930" y="225"/>
                  </a:lnTo>
                  <a:lnTo>
                    <a:pt x="944" y="245"/>
                  </a:lnTo>
                  <a:lnTo>
                    <a:pt x="956" y="266"/>
                  </a:lnTo>
                  <a:lnTo>
                    <a:pt x="967" y="288"/>
                  </a:lnTo>
                  <a:lnTo>
                    <a:pt x="978" y="311"/>
                  </a:lnTo>
                  <a:lnTo>
                    <a:pt x="987" y="334"/>
                  </a:lnTo>
                  <a:lnTo>
                    <a:pt x="995" y="357"/>
                  </a:lnTo>
                  <a:lnTo>
                    <a:pt x="1002" y="381"/>
                  </a:lnTo>
                  <a:lnTo>
                    <a:pt x="1007" y="407"/>
                  </a:lnTo>
                  <a:lnTo>
                    <a:pt x="1011" y="431"/>
                  </a:lnTo>
                  <a:lnTo>
                    <a:pt x="1014" y="457"/>
                  </a:lnTo>
                  <a:lnTo>
                    <a:pt x="1017" y="483"/>
                  </a:lnTo>
                  <a:lnTo>
                    <a:pt x="1017" y="509"/>
                  </a:lnTo>
                  <a:lnTo>
                    <a:pt x="1017" y="509"/>
                  </a:lnTo>
                  <a:close/>
                </a:path>
              </a:pathLst>
            </a:custGeom>
            <a:solidFill>
              <a:srgbClr val="49CF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3" name="Freeform 210">
              <a:extLst>
                <a:ext uri="{FF2B5EF4-FFF2-40B4-BE49-F238E27FC236}">
                  <a16:creationId xmlns:a16="http://schemas.microsoft.com/office/drawing/2014/main" id="{3A131A28-A969-430F-AF64-5E0F21D646AC}"/>
                </a:ext>
              </a:extLst>
            </p:cNvPr>
            <p:cNvSpPr>
              <a:spLocks noEditPoints="1"/>
            </p:cNvSpPr>
            <p:nvPr userDrawn="1"/>
          </p:nvSpPr>
          <p:spPr bwMode="auto">
            <a:xfrm>
              <a:off x="7075512" y="3165513"/>
              <a:ext cx="574677" cy="360367"/>
            </a:xfrm>
            <a:custGeom>
              <a:avLst/>
              <a:gdLst>
                <a:gd name="T0" fmla="*/ 629 w 726"/>
                <a:gd name="T1" fmla="*/ 223 h 454"/>
                <a:gd name="T2" fmla="*/ 452 w 726"/>
                <a:gd name="T3" fmla="*/ 141 h 454"/>
                <a:gd name="T4" fmla="*/ 462 w 726"/>
                <a:gd name="T5" fmla="*/ 137 h 454"/>
                <a:gd name="T6" fmla="*/ 466 w 726"/>
                <a:gd name="T7" fmla="*/ 16 h 454"/>
                <a:gd name="T8" fmla="*/ 462 w 726"/>
                <a:gd name="T9" fmla="*/ 5 h 454"/>
                <a:gd name="T10" fmla="*/ 274 w 726"/>
                <a:gd name="T11" fmla="*/ 0 h 454"/>
                <a:gd name="T12" fmla="*/ 264 w 726"/>
                <a:gd name="T13" fmla="*/ 5 h 454"/>
                <a:gd name="T14" fmla="*/ 259 w 726"/>
                <a:gd name="T15" fmla="*/ 126 h 454"/>
                <a:gd name="T16" fmla="*/ 264 w 726"/>
                <a:gd name="T17" fmla="*/ 137 h 454"/>
                <a:gd name="T18" fmla="*/ 356 w 726"/>
                <a:gd name="T19" fmla="*/ 141 h 454"/>
                <a:gd name="T20" fmla="*/ 97 w 726"/>
                <a:gd name="T21" fmla="*/ 313 h 454"/>
                <a:gd name="T22" fmla="*/ 9 w 726"/>
                <a:gd name="T23" fmla="*/ 314 h 454"/>
                <a:gd name="T24" fmla="*/ 0 w 726"/>
                <a:gd name="T25" fmla="*/ 328 h 454"/>
                <a:gd name="T26" fmla="*/ 1 w 726"/>
                <a:gd name="T27" fmla="*/ 445 h 454"/>
                <a:gd name="T28" fmla="*/ 15 w 726"/>
                <a:gd name="T29" fmla="*/ 454 h 454"/>
                <a:gd name="T30" fmla="*/ 197 w 726"/>
                <a:gd name="T31" fmla="*/ 453 h 454"/>
                <a:gd name="T32" fmla="*/ 206 w 726"/>
                <a:gd name="T33" fmla="*/ 439 h 454"/>
                <a:gd name="T34" fmla="*/ 205 w 726"/>
                <a:gd name="T35" fmla="*/ 323 h 454"/>
                <a:gd name="T36" fmla="*/ 191 w 726"/>
                <a:gd name="T37" fmla="*/ 313 h 454"/>
                <a:gd name="T38" fmla="*/ 356 w 726"/>
                <a:gd name="T39" fmla="*/ 236 h 454"/>
                <a:gd name="T40" fmla="*/ 274 w 726"/>
                <a:gd name="T41" fmla="*/ 313 h 454"/>
                <a:gd name="T42" fmla="*/ 260 w 726"/>
                <a:gd name="T43" fmla="*/ 323 h 454"/>
                <a:gd name="T44" fmla="*/ 259 w 726"/>
                <a:gd name="T45" fmla="*/ 439 h 454"/>
                <a:gd name="T46" fmla="*/ 268 w 726"/>
                <a:gd name="T47" fmla="*/ 453 h 454"/>
                <a:gd name="T48" fmla="*/ 452 w 726"/>
                <a:gd name="T49" fmla="*/ 454 h 454"/>
                <a:gd name="T50" fmla="*/ 465 w 726"/>
                <a:gd name="T51" fmla="*/ 445 h 454"/>
                <a:gd name="T52" fmla="*/ 466 w 726"/>
                <a:gd name="T53" fmla="*/ 328 h 454"/>
                <a:gd name="T54" fmla="*/ 457 w 726"/>
                <a:gd name="T55" fmla="*/ 314 h 454"/>
                <a:gd name="T56" fmla="*/ 370 w 726"/>
                <a:gd name="T57" fmla="*/ 236 h 454"/>
                <a:gd name="T58" fmla="*/ 534 w 726"/>
                <a:gd name="T59" fmla="*/ 313 h 454"/>
                <a:gd name="T60" fmla="*/ 523 w 726"/>
                <a:gd name="T61" fmla="*/ 318 h 454"/>
                <a:gd name="T62" fmla="*/ 519 w 726"/>
                <a:gd name="T63" fmla="*/ 439 h 454"/>
                <a:gd name="T64" fmla="*/ 523 w 726"/>
                <a:gd name="T65" fmla="*/ 449 h 454"/>
                <a:gd name="T66" fmla="*/ 711 w 726"/>
                <a:gd name="T67" fmla="*/ 454 h 454"/>
                <a:gd name="T68" fmla="*/ 721 w 726"/>
                <a:gd name="T69" fmla="*/ 449 h 454"/>
                <a:gd name="T70" fmla="*/ 726 w 726"/>
                <a:gd name="T71" fmla="*/ 328 h 454"/>
                <a:gd name="T72" fmla="*/ 721 w 726"/>
                <a:gd name="T73" fmla="*/ 318 h 454"/>
                <a:gd name="T74" fmla="*/ 711 w 726"/>
                <a:gd name="T75" fmla="*/ 313 h 454"/>
                <a:gd name="T76" fmla="*/ 272 w 726"/>
                <a:gd name="T77" fmla="*/ 16 h 454"/>
                <a:gd name="T78" fmla="*/ 452 w 726"/>
                <a:gd name="T79" fmla="*/ 14 h 454"/>
                <a:gd name="T80" fmla="*/ 453 w 726"/>
                <a:gd name="T81" fmla="*/ 16 h 454"/>
                <a:gd name="T82" fmla="*/ 453 w 726"/>
                <a:gd name="T83" fmla="*/ 128 h 454"/>
                <a:gd name="T84" fmla="*/ 274 w 726"/>
                <a:gd name="T85" fmla="*/ 128 h 454"/>
                <a:gd name="T86" fmla="*/ 272 w 726"/>
                <a:gd name="T87" fmla="*/ 126 h 454"/>
                <a:gd name="T88" fmla="*/ 194 w 726"/>
                <a:gd name="T89" fmla="*/ 439 h 454"/>
                <a:gd name="T90" fmla="*/ 15 w 726"/>
                <a:gd name="T91" fmla="*/ 441 h 454"/>
                <a:gd name="T92" fmla="*/ 13 w 726"/>
                <a:gd name="T93" fmla="*/ 439 h 454"/>
                <a:gd name="T94" fmla="*/ 13 w 726"/>
                <a:gd name="T95" fmla="*/ 327 h 454"/>
                <a:gd name="T96" fmla="*/ 191 w 726"/>
                <a:gd name="T97" fmla="*/ 326 h 454"/>
                <a:gd name="T98" fmla="*/ 194 w 726"/>
                <a:gd name="T99" fmla="*/ 328 h 454"/>
                <a:gd name="T100" fmla="*/ 453 w 726"/>
                <a:gd name="T101" fmla="*/ 439 h 454"/>
                <a:gd name="T102" fmla="*/ 274 w 726"/>
                <a:gd name="T103" fmla="*/ 441 h 454"/>
                <a:gd name="T104" fmla="*/ 272 w 726"/>
                <a:gd name="T105" fmla="*/ 439 h 454"/>
                <a:gd name="T106" fmla="*/ 273 w 726"/>
                <a:gd name="T107" fmla="*/ 327 h 454"/>
                <a:gd name="T108" fmla="*/ 452 w 726"/>
                <a:gd name="T109" fmla="*/ 326 h 454"/>
                <a:gd name="T110" fmla="*/ 453 w 726"/>
                <a:gd name="T111" fmla="*/ 328 h 454"/>
                <a:gd name="T112" fmla="*/ 712 w 726"/>
                <a:gd name="T113" fmla="*/ 440 h 454"/>
                <a:gd name="T114" fmla="*/ 534 w 726"/>
                <a:gd name="T115" fmla="*/ 441 h 454"/>
                <a:gd name="T116" fmla="*/ 532 w 726"/>
                <a:gd name="T117" fmla="*/ 328 h 454"/>
                <a:gd name="T118" fmla="*/ 534 w 726"/>
                <a:gd name="T119" fmla="*/ 326 h 454"/>
                <a:gd name="T120" fmla="*/ 712 w 726"/>
                <a:gd name="T121" fmla="*/ 327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26" h="454">
                  <a:moveTo>
                    <a:pt x="711" y="313"/>
                  </a:moveTo>
                  <a:lnTo>
                    <a:pt x="629" y="313"/>
                  </a:lnTo>
                  <a:lnTo>
                    <a:pt x="629" y="223"/>
                  </a:lnTo>
                  <a:lnTo>
                    <a:pt x="370" y="223"/>
                  </a:lnTo>
                  <a:lnTo>
                    <a:pt x="370" y="141"/>
                  </a:lnTo>
                  <a:lnTo>
                    <a:pt x="452" y="141"/>
                  </a:lnTo>
                  <a:lnTo>
                    <a:pt x="452" y="141"/>
                  </a:lnTo>
                  <a:lnTo>
                    <a:pt x="457" y="139"/>
                  </a:lnTo>
                  <a:lnTo>
                    <a:pt x="462" y="137"/>
                  </a:lnTo>
                  <a:lnTo>
                    <a:pt x="465" y="131"/>
                  </a:lnTo>
                  <a:lnTo>
                    <a:pt x="466" y="126"/>
                  </a:lnTo>
                  <a:lnTo>
                    <a:pt x="466" y="16"/>
                  </a:lnTo>
                  <a:lnTo>
                    <a:pt x="466" y="16"/>
                  </a:lnTo>
                  <a:lnTo>
                    <a:pt x="465" y="9"/>
                  </a:lnTo>
                  <a:lnTo>
                    <a:pt x="462" y="5"/>
                  </a:lnTo>
                  <a:lnTo>
                    <a:pt x="457" y="2"/>
                  </a:lnTo>
                  <a:lnTo>
                    <a:pt x="452" y="0"/>
                  </a:lnTo>
                  <a:lnTo>
                    <a:pt x="274" y="0"/>
                  </a:lnTo>
                  <a:lnTo>
                    <a:pt x="274" y="0"/>
                  </a:lnTo>
                  <a:lnTo>
                    <a:pt x="268" y="2"/>
                  </a:lnTo>
                  <a:lnTo>
                    <a:pt x="264" y="5"/>
                  </a:lnTo>
                  <a:lnTo>
                    <a:pt x="260" y="9"/>
                  </a:lnTo>
                  <a:lnTo>
                    <a:pt x="259" y="16"/>
                  </a:lnTo>
                  <a:lnTo>
                    <a:pt x="259" y="126"/>
                  </a:lnTo>
                  <a:lnTo>
                    <a:pt x="259" y="126"/>
                  </a:lnTo>
                  <a:lnTo>
                    <a:pt x="260" y="131"/>
                  </a:lnTo>
                  <a:lnTo>
                    <a:pt x="264" y="137"/>
                  </a:lnTo>
                  <a:lnTo>
                    <a:pt x="268" y="139"/>
                  </a:lnTo>
                  <a:lnTo>
                    <a:pt x="274" y="141"/>
                  </a:lnTo>
                  <a:lnTo>
                    <a:pt x="356" y="141"/>
                  </a:lnTo>
                  <a:lnTo>
                    <a:pt x="356" y="223"/>
                  </a:lnTo>
                  <a:lnTo>
                    <a:pt x="97" y="223"/>
                  </a:lnTo>
                  <a:lnTo>
                    <a:pt x="97" y="313"/>
                  </a:lnTo>
                  <a:lnTo>
                    <a:pt x="15" y="313"/>
                  </a:lnTo>
                  <a:lnTo>
                    <a:pt x="15" y="313"/>
                  </a:lnTo>
                  <a:lnTo>
                    <a:pt x="9" y="314"/>
                  </a:lnTo>
                  <a:lnTo>
                    <a:pt x="4" y="318"/>
                  </a:lnTo>
                  <a:lnTo>
                    <a:pt x="1" y="323"/>
                  </a:lnTo>
                  <a:lnTo>
                    <a:pt x="0" y="328"/>
                  </a:lnTo>
                  <a:lnTo>
                    <a:pt x="0" y="439"/>
                  </a:lnTo>
                  <a:lnTo>
                    <a:pt x="0" y="439"/>
                  </a:lnTo>
                  <a:lnTo>
                    <a:pt x="1" y="445"/>
                  </a:lnTo>
                  <a:lnTo>
                    <a:pt x="4" y="449"/>
                  </a:lnTo>
                  <a:lnTo>
                    <a:pt x="9" y="453"/>
                  </a:lnTo>
                  <a:lnTo>
                    <a:pt x="15" y="454"/>
                  </a:lnTo>
                  <a:lnTo>
                    <a:pt x="191" y="454"/>
                  </a:lnTo>
                  <a:lnTo>
                    <a:pt x="191" y="454"/>
                  </a:lnTo>
                  <a:lnTo>
                    <a:pt x="197" y="453"/>
                  </a:lnTo>
                  <a:lnTo>
                    <a:pt x="202" y="449"/>
                  </a:lnTo>
                  <a:lnTo>
                    <a:pt x="205" y="445"/>
                  </a:lnTo>
                  <a:lnTo>
                    <a:pt x="206" y="439"/>
                  </a:lnTo>
                  <a:lnTo>
                    <a:pt x="206" y="328"/>
                  </a:lnTo>
                  <a:lnTo>
                    <a:pt x="206" y="328"/>
                  </a:lnTo>
                  <a:lnTo>
                    <a:pt x="205" y="323"/>
                  </a:lnTo>
                  <a:lnTo>
                    <a:pt x="202" y="318"/>
                  </a:lnTo>
                  <a:lnTo>
                    <a:pt x="197" y="314"/>
                  </a:lnTo>
                  <a:lnTo>
                    <a:pt x="191" y="313"/>
                  </a:lnTo>
                  <a:lnTo>
                    <a:pt x="109" y="313"/>
                  </a:lnTo>
                  <a:lnTo>
                    <a:pt x="109" y="236"/>
                  </a:lnTo>
                  <a:lnTo>
                    <a:pt x="356" y="236"/>
                  </a:lnTo>
                  <a:lnTo>
                    <a:pt x="356" y="313"/>
                  </a:lnTo>
                  <a:lnTo>
                    <a:pt x="274" y="313"/>
                  </a:lnTo>
                  <a:lnTo>
                    <a:pt x="274" y="313"/>
                  </a:lnTo>
                  <a:lnTo>
                    <a:pt x="268" y="314"/>
                  </a:lnTo>
                  <a:lnTo>
                    <a:pt x="264" y="318"/>
                  </a:lnTo>
                  <a:lnTo>
                    <a:pt x="260" y="323"/>
                  </a:lnTo>
                  <a:lnTo>
                    <a:pt x="259" y="328"/>
                  </a:lnTo>
                  <a:lnTo>
                    <a:pt x="259" y="439"/>
                  </a:lnTo>
                  <a:lnTo>
                    <a:pt x="259" y="439"/>
                  </a:lnTo>
                  <a:lnTo>
                    <a:pt x="260" y="445"/>
                  </a:lnTo>
                  <a:lnTo>
                    <a:pt x="264" y="449"/>
                  </a:lnTo>
                  <a:lnTo>
                    <a:pt x="268" y="453"/>
                  </a:lnTo>
                  <a:lnTo>
                    <a:pt x="274" y="454"/>
                  </a:lnTo>
                  <a:lnTo>
                    <a:pt x="452" y="454"/>
                  </a:lnTo>
                  <a:lnTo>
                    <a:pt x="452" y="454"/>
                  </a:lnTo>
                  <a:lnTo>
                    <a:pt x="457" y="453"/>
                  </a:lnTo>
                  <a:lnTo>
                    <a:pt x="462" y="449"/>
                  </a:lnTo>
                  <a:lnTo>
                    <a:pt x="465" y="445"/>
                  </a:lnTo>
                  <a:lnTo>
                    <a:pt x="466" y="439"/>
                  </a:lnTo>
                  <a:lnTo>
                    <a:pt x="466" y="328"/>
                  </a:lnTo>
                  <a:lnTo>
                    <a:pt x="466" y="328"/>
                  </a:lnTo>
                  <a:lnTo>
                    <a:pt x="465" y="323"/>
                  </a:lnTo>
                  <a:lnTo>
                    <a:pt x="462" y="318"/>
                  </a:lnTo>
                  <a:lnTo>
                    <a:pt x="457" y="314"/>
                  </a:lnTo>
                  <a:lnTo>
                    <a:pt x="452" y="313"/>
                  </a:lnTo>
                  <a:lnTo>
                    <a:pt x="370" y="313"/>
                  </a:lnTo>
                  <a:lnTo>
                    <a:pt x="370" y="236"/>
                  </a:lnTo>
                  <a:lnTo>
                    <a:pt x="616" y="236"/>
                  </a:lnTo>
                  <a:lnTo>
                    <a:pt x="616" y="313"/>
                  </a:lnTo>
                  <a:lnTo>
                    <a:pt x="534" y="313"/>
                  </a:lnTo>
                  <a:lnTo>
                    <a:pt x="534" y="313"/>
                  </a:lnTo>
                  <a:lnTo>
                    <a:pt x="529" y="314"/>
                  </a:lnTo>
                  <a:lnTo>
                    <a:pt x="523" y="318"/>
                  </a:lnTo>
                  <a:lnTo>
                    <a:pt x="521" y="323"/>
                  </a:lnTo>
                  <a:lnTo>
                    <a:pt x="519" y="328"/>
                  </a:lnTo>
                  <a:lnTo>
                    <a:pt x="519" y="439"/>
                  </a:lnTo>
                  <a:lnTo>
                    <a:pt x="519" y="439"/>
                  </a:lnTo>
                  <a:lnTo>
                    <a:pt x="521" y="445"/>
                  </a:lnTo>
                  <a:lnTo>
                    <a:pt x="523" y="449"/>
                  </a:lnTo>
                  <a:lnTo>
                    <a:pt x="529" y="453"/>
                  </a:lnTo>
                  <a:lnTo>
                    <a:pt x="534" y="454"/>
                  </a:lnTo>
                  <a:lnTo>
                    <a:pt x="711" y="454"/>
                  </a:lnTo>
                  <a:lnTo>
                    <a:pt x="711" y="454"/>
                  </a:lnTo>
                  <a:lnTo>
                    <a:pt x="716" y="453"/>
                  </a:lnTo>
                  <a:lnTo>
                    <a:pt x="721" y="449"/>
                  </a:lnTo>
                  <a:lnTo>
                    <a:pt x="724" y="445"/>
                  </a:lnTo>
                  <a:lnTo>
                    <a:pt x="726" y="439"/>
                  </a:lnTo>
                  <a:lnTo>
                    <a:pt x="726" y="328"/>
                  </a:lnTo>
                  <a:lnTo>
                    <a:pt x="726" y="328"/>
                  </a:lnTo>
                  <a:lnTo>
                    <a:pt x="724" y="323"/>
                  </a:lnTo>
                  <a:lnTo>
                    <a:pt x="721" y="318"/>
                  </a:lnTo>
                  <a:lnTo>
                    <a:pt x="716" y="314"/>
                  </a:lnTo>
                  <a:lnTo>
                    <a:pt x="711" y="313"/>
                  </a:lnTo>
                  <a:lnTo>
                    <a:pt x="711" y="313"/>
                  </a:lnTo>
                  <a:close/>
                  <a:moveTo>
                    <a:pt x="272" y="126"/>
                  </a:moveTo>
                  <a:lnTo>
                    <a:pt x="272" y="16"/>
                  </a:lnTo>
                  <a:lnTo>
                    <a:pt x="272" y="16"/>
                  </a:lnTo>
                  <a:lnTo>
                    <a:pt x="273" y="14"/>
                  </a:lnTo>
                  <a:lnTo>
                    <a:pt x="274" y="14"/>
                  </a:lnTo>
                  <a:lnTo>
                    <a:pt x="452" y="14"/>
                  </a:lnTo>
                  <a:lnTo>
                    <a:pt x="452" y="14"/>
                  </a:lnTo>
                  <a:lnTo>
                    <a:pt x="453" y="14"/>
                  </a:lnTo>
                  <a:lnTo>
                    <a:pt x="453" y="16"/>
                  </a:lnTo>
                  <a:lnTo>
                    <a:pt x="453" y="126"/>
                  </a:lnTo>
                  <a:lnTo>
                    <a:pt x="453" y="126"/>
                  </a:lnTo>
                  <a:lnTo>
                    <a:pt x="453" y="128"/>
                  </a:lnTo>
                  <a:lnTo>
                    <a:pt x="452" y="128"/>
                  </a:lnTo>
                  <a:lnTo>
                    <a:pt x="274" y="128"/>
                  </a:lnTo>
                  <a:lnTo>
                    <a:pt x="274" y="128"/>
                  </a:lnTo>
                  <a:lnTo>
                    <a:pt x="273" y="128"/>
                  </a:lnTo>
                  <a:lnTo>
                    <a:pt x="272" y="126"/>
                  </a:lnTo>
                  <a:lnTo>
                    <a:pt x="272" y="126"/>
                  </a:lnTo>
                  <a:close/>
                  <a:moveTo>
                    <a:pt x="194" y="328"/>
                  </a:moveTo>
                  <a:lnTo>
                    <a:pt x="194" y="439"/>
                  </a:lnTo>
                  <a:lnTo>
                    <a:pt x="194" y="439"/>
                  </a:lnTo>
                  <a:lnTo>
                    <a:pt x="192" y="440"/>
                  </a:lnTo>
                  <a:lnTo>
                    <a:pt x="191" y="441"/>
                  </a:lnTo>
                  <a:lnTo>
                    <a:pt x="15" y="441"/>
                  </a:lnTo>
                  <a:lnTo>
                    <a:pt x="15" y="441"/>
                  </a:lnTo>
                  <a:lnTo>
                    <a:pt x="13" y="440"/>
                  </a:lnTo>
                  <a:lnTo>
                    <a:pt x="13" y="439"/>
                  </a:lnTo>
                  <a:lnTo>
                    <a:pt x="13" y="328"/>
                  </a:lnTo>
                  <a:lnTo>
                    <a:pt x="13" y="328"/>
                  </a:lnTo>
                  <a:lnTo>
                    <a:pt x="13" y="327"/>
                  </a:lnTo>
                  <a:lnTo>
                    <a:pt x="15" y="326"/>
                  </a:lnTo>
                  <a:lnTo>
                    <a:pt x="191" y="326"/>
                  </a:lnTo>
                  <a:lnTo>
                    <a:pt x="191" y="326"/>
                  </a:lnTo>
                  <a:lnTo>
                    <a:pt x="192" y="327"/>
                  </a:lnTo>
                  <a:lnTo>
                    <a:pt x="194" y="328"/>
                  </a:lnTo>
                  <a:lnTo>
                    <a:pt x="194" y="328"/>
                  </a:lnTo>
                  <a:close/>
                  <a:moveTo>
                    <a:pt x="453" y="328"/>
                  </a:moveTo>
                  <a:lnTo>
                    <a:pt x="453" y="439"/>
                  </a:lnTo>
                  <a:lnTo>
                    <a:pt x="453" y="439"/>
                  </a:lnTo>
                  <a:lnTo>
                    <a:pt x="453" y="440"/>
                  </a:lnTo>
                  <a:lnTo>
                    <a:pt x="452" y="441"/>
                  </a:lnTo>
                  <a:lnTo>
                    <a:pt x="274" y="441"/>
                  </a:lnTo>
                  <a:lnTo>
                    <a:pt x="274" y="441"/>
                  </a:lnTo>
                  <a:lnTo>
                    <a:pt x="273" y="440"/>
                  </a:lnTo>
                  <a:lnTo>
                    <a:pt x="272" y="439"/>
                  </a:lnTo>
                  <a:lnTo>
                    <a:pt x="272" y="328"/>
                  </a:lnTo>
                  <a:lnTo>
                    <a:pt x="272" y="328"/>
                  </a:lnTo>
                  <a:lnTo>
                    <a:pt x="273" y="327"/>
                  </a:lnTo>
                  <a:lnTo>
                    <a:pt x="274" y="326"/>
                  </a:lnTo>
                  <a:lnTo>
                    <a:pt x="452" y="326"/>
                  </a:lnTo>
                  <a:lnTo>
                    <a:pt x="452" y="326"/>
                  </a:lnTo>
                  <a:lnTo>
                    <a:pt x="453" y="327"/>
                  </a:lnTo>
                  <a:lnTo>
                    <a:pt x="453" y="328"/>
                  </a:lnTo>
                  <a:lnTo>
                    <a:pt x="453" y="328"/>
                  </a:lnTo>
                  <a:close/>
                  <a:moveTo>
                    <a:pt x="713" y="439"/>
                  </a:moveTo>
                  <a:lnTo>
                    <a:pt x="713" y="439"/>
                  </a:lnTo>
                  <a:lnTo>
                    <a:pt x="712" y="440"/>
                  </a:lnTo>
                  <a:lnTo>
                    <a:pt x="711" y="441"/>
                  </a:lnTo>
                  <a:lnTo>
                    <a:pt x="534" y="441"/>
                  </a:lnTo>
                  <a:lnTo>
                    <a:pt x="534" y="441"/>
                  </a:lnTo>
                  <a:lnTo>
                    <a:pt x="532" y="440"/>
                  </a:lnTo>
                  <a:lnTo>
                    <a:pt x="532" y="439"/>
                  </a:lnTo>
                  <a:lnTo>
                    <a:pt x="532" y="328"/>
                  </a:lnTo>
                  <a:lnTo>
                    <a:pt x="532" y="328"/>
                  </a:lnTo>
                  <a:lnTo>
                    <a:pt x="532" y="327"/>
                  </a:lnTo>
                  <a:lnTo>
                    <a:pt x="534" y="326"/>
                  </a:lnTo>
                  <a:lnTo>
                    <a:pt x="711" y="326"/>
                  </a:lnTo>
                  <a:lnTo>
                    <a:pt x="711" y="326"/>
                  </a:lnTo>
                  <a:lnTo>
                    <a:pt x="712" y="327"/>
                  </a:lnTo>
                  <a:lnTo>
                    <a:pt x="713" y="328"/>
                  </a:lnTo>
                  <a:lnTo>
                    <a:pt x="713" y="4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grpSp>
        <p:nvGrpSpPr>
          <p:cNvPr id="380" name="Group 379">
            <a:extLst>
              <a:ext uri="{FF2B5EF4-FFF2-40B4-BE49-F238E27FC236}">
                <a16:creationId xmlns:a16="http://schemas.microsoft.com/office/drawing/2014/main" id="{7E9CB719-72BE-45F6-99B3-6D38E7DF4C0C}"/>
              </a:ext>
            </a:extLst>
          </p:cNvPr>
          <p:cNvGrpSpPr/>
          <p:nvPr userDrawn="1"/>
        </p:nvGrpSpPr>
        <p:grpSpPr>
          <a:xfrm>
            <a:off x="7956577" y="3956098"/>
            <a:ext cx="1077387" cy="1077396"/>
            <a:chOff x="5967433" y="2967073"/>
            <a:chExt cx="808040" cy="808047"/>
          </a:xfrm>
        </p:grpSpPr>
        <p:sp>
          <p:nvSpPr>
            <p:cNvPr id="311" name="Freeform 208">
              <a:extLst>
                <a:ext uri="{FF2B5EF4-FFF2-40B4-BE49-F238E27FC236}">
                  <a16:creationId xmlns:a16="http://schemas.microsoft.com/office/drawing/2014/main" id="{05EFCEF5-D342-47DF-AA10-72E4E33E542F}"/>
                </a:ext>
              </a:extLst>
            </p:cNvPr>
            <p:cNvSpPr>
              <a:spLocks/>
            </p:cNvSpPr>
            <p:nvPr userDrawn="1"/>
          </p:nvSpPr>
          <p:spPr bwMode="auto">
            <a:xfrm>
              <a:off x="5967433" y="2967073"/>
              <a:ext cx="808040" cy="808047"/>
            </a:xfrm>
            <a:custGeom>
              <a:avLst/>
              <a:gdLst>
                <a:gd name="T0" fmla="*/ 1017 w 1017"/>
                <a:gd name="T1" fmla="*/ 535 h 1017"/>
                <a:gd name="T2" fmla="*/ 1007 w 1017"/>
                <a:gd name="T3" fmla="*/ 612 h 1017"/>
                <a:gd name="T4" fmla="*/ 986 w 1017"/>
                <a:gd name="T5" fmla="*/ 684 h 1017"/>
                <a:gd name="T6" fmla="*/ 956 w 1017"/>
                <a:gd name="T7" fmla="*/ 751 h 1017"/>
                <a:gd name="T8" fmla="*/ 917 w 1017"/>
                <a:gd name="T9" fmla="*/ 813 h 1017"/>
                <a:gd name="T10" fmla="*/ 869 w 1017"/>
                <a:gd name="T11" fmla="*/ 869 h 1017"/>
                <a:gd name="T12" fmla="*/ 814 w 1017"/>
                <a:gd name="T13" fmla="*/ 917 h 1017"/>
                <a:gd name="T14" fmla="*/ 751 w 1017"/>
                <a:gd name="T15" fmla="*/ 956 h 1017"/>
                <a:gd name="T16" fmla="*/ 683 w 1017"/>
                <a:gd name="T17" fmla="*/ 987 h 1017"/>
                <a:gd name="T18" fmla="*/ 612 w 1017"/>
                <a:gd name="T19" fmla="*/ 1007 h 1017"/>
                <a:gd name="T20" fmla="*/ 535 w 1017"/>
                <a:gd name="T21" fmla="*/ 1017 h 1017"/>
                <a:gd name="T22" fmla="*/ 483 w 1017"/>
                <a:gd name="T23" fmla="*/ 1017 h 1017"/>
                <a:gd name="T24" fmla="*/ 407 w 1017"/>
                <a:gd name="T25" fmla="*/ 1007 h 1017"/>
                <a:gd name="T26" fmla="*/ 334 w 1017"/>
                <a:gd name="T27" fmla="*/ 987 h 1017"/>
                <a:gd name="T28" fmla="*/ 267 w 1017"/>
                <a:gd name="T29" fmla="*/ 956 h 1017"/>
                <a:gd name="T30" fmla="*/ 204 w 1017"/>
                <a:gd name="T31" fmla="*/ 917 h 1017"/>
                <a:gd name="T32" fmla="*/ 149 w 1017"/>
                <a:gd name="T33" fmla="*/ 869 h 1017"/>
                <a:gd name="T34" fmla="*/ 102 w 1017"/>
                <a:gd name="T35" fmla="*/ 813 h 1017"/>
                <a:gd name="T36" fmla="*/ 62 w 1017"/>
                <a:gd name="T37" fmla="*/ 751 h 1017"/>
                <a:gd name="T38" fmla="*/ 32 w 1017"/>
                <a:gd name="T39" fmla="*/ 684 h 1017"/>
                <a:gd name="T40" fmla="*/ 11 w 1017"/>
                <a:gd name="T41" fmla="*/ 612 h 1017"/>
                <a:gd name="T42" fmla="*/ 2 w 1017"/>
                <a:gd name="T43" fmla="*/ 535 h 1017"/>
                <a:gd name="T44" fmla="*/ 2 w 1017"/>
                <a:gd name="T45" fmla="*/ 483 h 1017"/>
                <a:gd name="T46" fmla="*/ 11 w 1017"/>
                <a:gd name="T47" fmla="*/ 407 h 1017"/>
                <a:gd name="T48" fmla="*/ 32 w 1017"/>
                <a:gd name="T49" fmla="*/ 334 h 1017"/>
                <a:gd name="T50" fmla="*/ 62 w 1017"/>
                <a:gd name="T51" fmla="*/ 266 h 1017"/>
                <a:gd name="T52" fmla="*/ 102 w 1017"/>
                <a:gd name="T53" fmla="*/ 204 h 1017"/>
                <a:gd name="T54" fmla="*/ 149 w 1017"/>
                <a:gd name="T55" fmla="*/ 149 h 1017"/>
                <a:gd name="T56" fmla="*/ 204 w 1017"/>
                <a:gd name="T57" fmla="*/ 101 h 1017"/>
                <a:gd name="T58" fmla="*/ 267 w 1017"/>
                <a:gd name="T59" fmla="*/ 61 h 1017"/>
                <a:gd name="T60" fmla="*/ 334 w 1017"/>
                <a:gd name="T61" fmla="*/ 31 h 1017"/>
                <a:gd name="T62" fmla="*/ 407 w 1017"/>
                <a:gd name="T63" fmla="*/ 10 h 1017"/>
                <a:gd name="T64" fmla="*/ 483 w 1017"/>
                <a:gd name="T65" fmla="*/ 1 h 1017"/>
                <a:gd name="T66" fmla="*/ 535 w 1017"/>
                <a:gd name="T67" fmla="*/ 1 h 1017"/>
                <a:gd name="T68" fmla="*/ 612 w 1017"/>
                <a:gd name="T69" fmla="*/ 10 h 1017"/>
                <a:gd name="T70" fmla="*/ 683 w 1017"/>
                <a:gd name="T71" fmla="*/ 31 h 1017"/>
                <a:gd name="T72" fmla="*/ 751 w 1017"/>
                <a:gd name="T73" fmla="*/ 61 h 1017"/>
                <a:gd name="T74" fmla="*/ 814 w 1017"/>
                <a:gd name="T75" fmla="*/ 101 h 1017"/>
                <a:gd name="T76" fmla="*/ 869 w 1017"/>
                <a:gd name="T77" fmla="*/ 149 h 1017"/>
                <a:gd name="T78" fmla="*/ 917 w 1017"/>
                <a:gd name="T79" fmla="*/ 204 h 1017"/>
                <a:gd name="T80" fmla="*/ 956 w 1017"/>
                <a:gd name="T81" fmla="*/ 266 h 1017"/>
                <a:gd name="T82" fmla="*/ 986 w 1017"/>
                <a:gd name="T83" fmla="*/ 334 h 1017"/>
                <a:gd name="T84" fmla="*/ 1007 w 1017"/>
                <a:gd name="T85" fmla="*/ 407 h 1017"/>
                <a:gd name="T86" fmla="*/ 1017 w 1017"/>
                <a:gd name="T87" fmla="*/ 483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7" h="1017">
                  <a:moveTo>
                    <a:pt x="1017" y="509"/>
                  </a:moveTo>
                  <a:lnTo>
                    <a:pt x="1017" y="509"/>
                  </a:lnTo>
                  <a:lnTo>
                    <a:pt x="1017" y="535"/>
                  </a:lnTo>
                  <a:lnTo>
                    <a:pt x="1015" y="561"/>
                  </a:lnTo>
                  <a:lnTo>
                    <a:pt x="1012" y="586"/>
                  </a:lnTo>
                  <a:lnTo>
                    <a:pt x="1007" y="612"/>
                  </a:lnTo>
                  <a:lnTo>
                    <a:pt x="1001" y="636"/>
                  </a:lnTo>
                  <a:lnTo>
                    <a:pt x="994" y="660"/>
                  </a:lnTo>
                  <a:lnTo>
                    <a:pt x="986" y="684"/>
                  </a:lnTo>
                  <a:lnTo>
                    <a:pt x="978" y="707"/>
                  </a:lnTo>
                  <a:lnTo>
                    <a:pt x="968" y="729"/>
                  </a:lnTo>
                  <a:lnTo>
                    <a:pt x="956" y="751"/>
                  </a:lnTo>
                  <a:lnTo>
                    <a:pt x="944" y="773"/>
                  </a:lnTo>
                  <a:lnTo>
                    <a:pt x="931" y="794"/>
                  </a:lnTo>
                  <a:lnTo>
                    <a:pt x="917" y="813"/>
                  </a:lnTo>
                  <a:lnTo>
                    <a:pt x="901" y="833"/>
                  </a:lnTo>
                  <a:lnTo>
                    <a:pt x="886" y="851"/>
                  </a:lnTo>
                  <a:lnTo>
                    <a:pt x="869" y="869"/>
                  </a:lnTo>
                  <a:lnTo>
                    <a:pt x="852" y="886"/>
                  </a:lnTo>
                  <a:lnTo>
                    <a:pt x="833" y="901"/>
                  </a:lnTo>
                  <a:lnTo>
                    <a:pt x="814" y="917"/>
                  </a:lnTo>
                  <a:lnTo>
                    <a:pt x="794" y="931"/>
                  </a:lnTo>
                  <a:lnTo>
                    <a:pt x="773" y="944"/>
                  </a:lnTo>
                  <a:lnTo>
                    <a:pt x="751" y="956"/>
                  </a:lnTo>
                  <a:lnTo>
                    <a:pt x="729" y="968"/>
                  </a:lnTo>
                  <a:lnTo>
                    <a:pt x="708" y="978"/>
                  </a:lnTo>
                  <a:lnTo>
                    <a:pt x="683" y="987"/>
                  </a:lnTo>
                  <a:lnTo>
                    <a:pt x="660" y="994"/>
                  </a:lnTo>
                  <a:lnTo>
                    <a:pt x="636" y="1001"/>
                  </a:lnTo>
                  <a:lnTo>
                    <a:pt x="612" y="1007"/>
                  </a:lnTo>
                  <a:lnTo>
                    <a:pt x="587" y="1012"/>
                  </a:lnTo>
                  <a:lnTo>
                    <a:pt x="561" y="1015"/>
                  </a:lnTo>
                  <a:lnTo>
                    <a:pt x="535" y="1017"/>
                  </a:lnTo>
                  <a:lnTo>
                    <a:pt x="510" y="1017"/>
                  </a:lnTo>
                  <a:lnTo>
                    <a:pt x="510" y="1017"/>
                  </a:lnTo>
                  <a:lnTo>
                    <a:pt x="483" y="1017"/>
                  </a:lnTo>
                  <a:lnTo>
                    <a:pt x="457" y="1015"/>
                  </a:lnTo>
                  <a:lnTo>
                    <a:pt x="431" y="1012"/>
                  </a:lnTo>
                  <a:lnTo>
                    <a:pt x="407" y="1007"/>
                  </a:lnTo>
                  <a:lnTo>
                    <a:pt x="382" y="1001"/>
                  </a:lnTo>
                  <a:lnTo>
                    <a:pt x="357" y="994"/>
                  </a:lnTo>
                  <a:lnTo>
                    <a:pt x="334" y="987"/>
                  </a:lnTo>
                  <a:lnTo>
                    <a:pt x="311" y="978"/>
                  </a:lnTo>
                  <a:lnTo>
                    <a:pt x="288" y="968"/>
                  </a:lnTo>
                  <a:lnTo>
                    <a:pt x="267" y="956"/>
                  </a:lnTo>
                  <a:lnTo>
                    <a:pt x="246" y="944"/>
                  </a:lnTo>
                  <a:lnTo>
                    <a:pt x="225" y="931"/>
                  </a:lnTo>
                  <a:lnTo>
                    <a:pt x="204" y="917"/>
                  </a:lnTo>
                  <a:lnTo>
                    <a:pt x="186" y="901"/>
                  </a:lnTo>
                  <a:lnTo>
                    <a:pt x="167" y="886"/>
                  </a:lnTo>
                  <a:lnTo>
                    <a:pt x="149" y="869"/>
                  </a:lnTo>
                  <a:lnTo>
                    <a:pt x="133" y="851"/>
                  </a:lnTo>
                  <a:lnTo>
                    <a:pt x="117" y="833"/>
                  </a:lnTo>
                  <a:lnTo>
                    <a:pt x="102" y="813"/>
                  </a:lnTo>
                  <a:lnTo>
                    <a:pt x="87" y="794"/>
                  </a:lnTo>
                  <a:lnTo>
                    <a:pt x="74" y="773"/>
                  </a:lnTo>
                  <a:lnTo>
                    <a:pt x="62" y="751"/>
                  </a:lnTo>
                  <a:lnTo>
                    <a:pt x="51" y="729"/>
                  </a:lnTo>
                  <a:lnTo>
                    <a:pt x="41" y="707"/>
                  </a:lnTo>
                  <a:lnTo>
                    <a:pt x="32" y="684"/>
                  </a:lnTo>
                  <a:lnTo>
                    <a:pt x="24" y="660"/>
                  </a:lnTo>
                  <a:lnTo>
                    <a:pt x="17" y="636"/>
                  </a:lnTo>
                  <a:lnTo>
                    <a:pt x="11" y="612"/>
                  </a:lnTo>
                  <a:lnTo>
                    <a:pt x="6" y="586"/>
                  </a:lnTo>
                  <a:lnTo>
                    <a:pt x="3" y="561"/>
                  </a:lnTo>
                  <a:lnTo>
                    <a:pt x="2" y="535"/>
                  </a:lnTo>
                  <a:lnTo>
                    <a:pt x="0" y="509"/>
                  </a:lnTo>
                  <a:lnTo>
                    <a:pt x="0" y="509"/>
                  </a:lnTo>
                  <a:lnTo>
                    <a:pt x="2" y="483"/>
                  </a:lnTo>
                  <a:lnTo>
                    <a:pt x="3" y="457"/>
                  </a:lnTo>
                  <a:lnTo>
                    <a:pt x="6" y="431"/>
                  </a:lnTo>
                  <a:lnTo>
                    <a:pt x="11" y="407"/>
                  </a:lnTo>
                  <a:lnTo>
                    <a:pt x="17" y="381"/>
                  </a:lnTo>
                  <a:lnTo>
                    <a:pt x="24" y="357"/>
                  </a:lnTo>
                  <a:lnTo>
                    <a:pt x="32" y="334"/>
                  </a:lnTo>
                  <a:lnTo>
                    <a:pt x="41" y="311"/>
                  </a:lnTo>
                  <a:lnTo>
                    <a:pt x="51" y="288"/>
                  </a:lnTo>
                  <a:lnTo>
                    <a:pt x="62" y="266"/>
                  </a:lnTo>
                  <a:lnTo>
                    <a:pt x="74" y="245"/>
                  </a:lnTo>
                  <a:lnTo>
                    <a:pt x="87" y="225"/>
                  </a:lnTo>
                  <a:lnTo>
                    <a:pt x="102" y="204"/>
                  </a:lnTo>
                  <a:lnTo>
                    <a:pt x="117" y="185"/>
                  </a:lnTo>
                  <a:lnTo>
                    <a:pt x="133" y="167"/>
                  </a:lnTo>
                  <a:lnTo>
                    <a:pt x="149" y="149"/>
                  </a:lnTo>
                  <a:lnTo>
                    <a:pt x="167" y="132"/>
                  </a:lnTo>
                  <a:lnTo>
                    <a:pt x="186" y="116"/>
                  </a:lnTo>
                  <a:lnTo>
                    <a:pt x="204" y="101"/>
                  </a:lnTo>
                  <a:lnTo>
                    <a:pt x="225" y="86"/>
                  </a:lnTo>
                  <a:lnTo>
                    <a:pt x="246" y="74"/>
                  </a:lnTo>
                  <a:lnTo>
                    <a:pt x="267" y="61"/>
                  </a:lnTo>
                  <a:lnTo>
                    <a:pt x="288" y="51"/>
                  </a:lnTo>
                  <a:lnTo>
                    <a:pt x="311" y="40"/>
                  </a:lnTo>
                  <a:lnTo>
                    <a:pt x="334" y="31"/>
                  </a:lnTo>
                  <a:lnTo>
                    <a:pt x="357" y="23"/>
                  </a:lnTo>
                  <a:lnTo>
                    <a:pt x="382" y="16"/>
                  </a:lnTo>
                  <a:lnTo>
                    <a:pt x="407" y="10"/>
                  </a:lnTo>
                  <a:lnTo>
                    <a:pt x="431" y="6"/>
                  </a:lnTo>
                  <a:lnTo>
                    <a:pt x="457" y="2"/>
                  </a:lnTo>
                  <a:lnTo>
                    <a:pt x="483" y="1"/>
                  </a:lnTo>
                  <a:lnTo>
                    <a:pt x="510" y="0"/>
                  </a:lnTo>
                  <a:lnTo>
                    <a:pt x="510" y="0"/>
                  </a:lnTo>
                  <a:lnTo>
                    <a:pt x="535" y="1"/>
                  </a:lnTo>
                  <a:lnTo>
                    <a:pt x="561" y="2"/>
                  </a:lnTo>
                  <a:lnTo>
                    <a:pt x="587" y="6"/>
                  </a:lnTo>
                  <a:lnTo>
                    <a:pt x="612" y="10"/>
                  </a:lnTo>
                  <a:lnTo>
                    <a:pt x="636" y="16"/>
                  </a:lnTo>
                  <a:lnTo>
                    <a:pt x="660" y="23"/>
                  </a:lnTo>
                  <a:lnTo>
                    <a:pt x="683" y="31"/>
                  </a:lnTo>
                  <a:lnTo>
                    <a:pt x="708" y="40"/>
                  </a:lnTo>
                  <a:lnTo>
                    <a:pt x="729" y="51"/>
                  </a:lnTo>
                  <a:lnTo>
                    <a:pt x="751" y="61"/>
                  </a:lnTo>
                  <a:lnTo>
                    <a:pt x="773" y="74"/>
                  </a:lnTo>
                  <a:lnTo>
                    <a:pt x="794" y="86"/>
                  </a:lnTo>
                  <a:lnTo>
                    <a:pt x="814" y="101"/>
                  </a:lnTo>
                  <a:lnTo>
                    <a:pt x="833" y="116"/>
                  </a:lnTo>
                  <a:lnTo>
                    <a:pt x="852" y="132"/>
                  </a:lnTo>
                  <a:lnTo>
                    <a:pt x="869" y="149"/>
                  </a:lnTo>
                  <a:lnTo>
                    <a:pt x="886" y="167"/>
                  </a:lnTo>
                  <a:lnTo>
                    <a:pt x="901" y="185"/>
                  </a:lnTo>
                  <a:lnTo>
                    <a:pt x="917" y="204"/>
                  </a:lnTo>
                  <a:lnTo>
                    <a:pt x="931" y="225"/>
                  </a:lnTo>
                  <a:lnTo>
                    <a:pt x="944" y="245"/>
                  </a:lnTo>
                  <a:lnTo>
                    <a:pt x="956" y="266"/>
                  </a:lnTo>
                  <a:lnTo>
                    <a:pt x="968" y="288"/>
                  </a:lnTo>
                  <a:lnTo>
                    <a:pt x="978" y="311"/>
                  </a:lnTo>
                  <a:lnTo>
                    <a:pt x="986" y="334"/>
                  </a:lnTo>
                  <a:lnTo>
                    <a:pt x="994" y="357"/>
                  </a:lnTo>
                  <a:lnTo>
                    <a:pt x="1001" y="381"/>
                  </a:lnTo>
                  <a:lnTo>
                    <a:pt x="1007" y="407"/>
                  </a:lnTo>
                  <a:lnTo>
                    <a:pt x="1012" y="431"/>
                  </a:lnTo>
                  <a:lnTo>
                    <a:pt x="1015" y="457"/>
                  </a:lnTo>
                  <a:lnTo>
                    <a:pt x="1017" y="483"/>
                  </a:lnTo>
                  <a:lnTo>
                    <a:pt x="1017" y="509"/>
                  </a:lnTo>
                  <a:lnTo>
                    <a:pt x="1017" y="509"/>
                  </a:lnTo>
                  <a:close/>
                </a:path>
              </a:pathLst>
            </a:custGeom>
            <a:solidFill>
              <a:srgbClr val="49CF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5" name="Freeform 212">
              <a:extLst>
                <a:ext uri="{FF2B5EF4-FFF2-40B4-BE49-F238E27FC236}">
                  <a16:creationId xmlns:a16="http://schemas.microsoft.com/office/drawing/2014/main" id="{8E9BEAC3-3E89-4520-8E85-50E08075465A}"/>
                </a:ext>
              </a:extLst>
            </p:cNvPr>
            <p:cNvSpPr>
              <a:spLocks noEditPoints="1"/>
            </p:cNvSpPr>
            <p:nvPr userDrawn="1"/>
          </p:nvSpPr>
          <p:spPr bwMode="auto">
            <a:xfrm>
              <a:off x="6191271" y="3189326"/>
              <a:ext cx="360364" cy="363542"/>
            </a:xfrm>
            <a:custGeom>
              <a:avLst/>
              <a:gdLst>
                <a:gd name="T0" fmla="*/ 455 w 455"/>
                <a:gd name="T1" fmla="*/ 456 h 456"/>
                <a:gd name="T2" fmla="*/ 0 w 455"/>
                <a:gd name="T3" fmla="*/ 456 h 456"/>
                <a:gd name="T4" fmla="*/ 0 w 455"/>
                <a:gd name="T5" fmla="*/ 0 h 456"/>
                <a:gd name="T6" fmla="*/ 455 w 455"/>
                <a:gd name="T7" fmla="*/ 0 h 456"/>
                <a:gd name="T8" fmla="*/ 455 w 455"/>
                <a:gd name="T9" fmla="*/ 456 h 456"/>
                <a:gd name="T10" fmla="*/ 44 w 455"/>
                <a:gd name="T11" fmla="*/ 411 h 456"/>
                <a:gd name="T12" fmla="*/ 410 w 455"/>
                <a:gd name="T13" fmla="*/ 411 h 456"/>
                <a:gd name="T14" fmla="*/ 410 w 455"/>
                <a:gd name="T15" fmla="*/ 45 h 456"/>
                <a:gd name="T16" fmla="*/ 44 w 455"/>
                <a:gd name="T17" fmla="*/ 45 h 456"/>
                <a:gd name="T18" fmla="*/ 44 w 455"/>
                <a:gd name="T19" fmla="*/ 411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5" h="456">
                  <a:moveTo>
                    <a:pt x="455" y="456"/>
                  </a:moveTo>
                  <a:lnTo>
                    <a:pt x="0" y="456"/>
                  </a:lnTo>
                  <a:lnTo>
                    <a:pt x="0" y="0"/>
                  </a:lnTo>
                  <a:lnTo>
                    <a:pt x="455" y="0"/>
                  </a:lnTo>
                  <a:lnTo>
                    <a:pt x="455" y="456"/>
                  </a:lnTo>
                  <a:close/>
                  <a:moveTo>
                    <a:pt x="44" y="411"/>
                  </a:moveTo>
                  <a:lnTo>
                    <a:pt x="410" y="411"/>
                  </a:lnTo>
                  <a:lnTo>
                    <a:pt x="410" y="45"/>
                  </a:lnTo>
                  <a:lnTo>
                    <a:pt x="44" y="45"/>
                  </a:lnTo>
                  <a:lnTo>
                    <a:pt x="44" y="411"/>
                  </a:lnTo>
                  <a:close/>
                </a:path>
              </a:pathLst>
            </a:custGeom>
            <a:noFill/>
            <a:ln w="7938">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2400"/>
            </a:p>
          </p:txBody>
        </p:sp>
        <p:sp>
          <p:nvSpPr>
            <p:cNvPr id="316" name="Freeform 213">
              <a:extLst>
                <a:ext uri="{FF2B5EF4-FFF2-40B4-BE49-F238E27FC236}">
                  <a16:creationId xmlns:a16="http://schemas.microsoft.com/office/drawing/2014/main" id="{97769BBC-F8FB-4337-A318-F36F27E0EF3B}"/>
                </a:ext>
              </a:extLst>
            </p:cNvPr>
            <p:cNvSpPr>
              <a:spLocks/>
            </p:cNvSpPr>
            <p:nvPr userDrawn="1"/>
          </p:nvSpPr>
          <p:spPr bwMode="auto">
            <a:xfrm>
              <a:off x="6226196" y="3103600"/>
              <a:ext cx="17463" cy="74613"/>
            </a:xfrm>
            <a:custGeom>
              <a:avLst/>
              <a:gdLst>
                <a:gd name="T0" fmla="*/ 22 w 22"/>
                <a:gd name="T1" fmla="*/ 58 h 93"/>
                <a:gd name="T2" fmla="*/ 22 w 22"/>
                <a:gd name="T3" fmla="*/ 93 h 93"/>
                <a:gd name="T4" fmla="*/ 0 w 22"/>
                <a:gd name="T5" fmla="*/ 93 h 93"/>
                <a:gd name="T6" fmla="*/ 0 w 22"/>
                <a:gd name="T7" fmla="*/ 58 h 93"/>
                <a:gd name="T8" fmla="*/ 0 w 22"/>
                <a:gd name="T9" fmla="*/ 58 h 93"/>
                <a:gd name="T10" fmla="*/ 0 w 22"/>
                <a:gd name="T11" fmla="*/ 55 h 93"/>
                <a:gd name="T12" fmla="*/ 3 w 22"/>
                <a:gd name="T13" fmla="*/ 51 h 93"/>
                <a:gd name="T14" fmla="*/ 5 w 22"/>
                <a:gd name="T15" fmla="*/ 49 h 93"/>
                <a:gd name="T16" fmla="*/ 8 w 22"/>
                <a:gd name="T17" fmla="*/ 47 h 93"/>
                <a:gd name="T18" fmla="*/ 8 w 22"/>
                <a:gd name="T19" fmla="*/ 3 h 93"/>
                <a:gd name="T20" fmla="*/ 8 w 22"/>
                <a:gd name="T21" fmla="*/ 3 h 93"/>
                <a:gd name="T22" fmla="*/ 8 w 22"/>
                <a:gd name="T23" fmla="*/ 1 h 93"/>
                <a:gd name="T24" fmla="*/ 12 w 22"/>
                <a:gd name="T25" fmla="*/ 0 h 93"/>
                <a:gd name="T26" fmla="*/ 12 w 22"/>
                <a:gd name="T27" fmla="*/ 0 h 93"/>
                <a:gd name="T28" fmla="*/ 14 w 22"/>
                <a:gd name="T29" fmla="*/ 1 h 93"/>
                <a:gd name="T30" fmla="*/ 15 w 22"/>
                <a:gd name="T31" fmla="*/ 3 h 93"/>
                <a:gd name="T32" fmla="*/ 15 w 22"/>
                <a:gd name="T33" fmla="*/ 47 h 93"/>
                <a:gd name="T34" fmla="*/ 15 w 22"/>
                <a:gd name="T35" fmla="*/ 47 h 93"/>
                <a:gd name="T36" fmla="*/ 19 w 22"/>
                <a:gd name="T37" fmla="*/ 49 h 93"/>
                <a:gd name="T38" fmla="*/ 21 w 22"/>
                <a:gd name="T39" fmla="*/ 51 h 93"/>
                <a:gd name="T40" fmla="*/ 22 w 22"/>
                <a:gd name="T41" fmla="*/ 55 h 93"/>
                <a:gd name="T42" fmla="*/ 22 w 22"/>
                <a:gd name="T43" fmla="*/ 58 h 93"/>
                <a:gd name="T44" fmla="*/ 22 w 22"/>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93">
                  <a:moveTo>
                    <a:pt x="22" y="58"/>
                  </a:moveTo>
                  <a:lnTo>
                    <a:pt x="22" y="93"/>
                  </a:lnTo>
                  <a:lnTo>
                    <a:pt x="0" y="93"/>
                  </a:lnTo>
                  <a:lnTo>
                    <a:pt x="0" y="58"/>
                  </a:lnTo>
                  <a:lnTo>
                    <a:pt x="0" y="58"/>
                  </a:lnTo>
                  <a:lnTo>
                    <a:pt x="0" y="55"/>
                  </a:lnTo>
                  <a:lnTo>
                    <a:pt x="3" y="51"/>
                  </a:lnTo>
                  <a:lnTo>
                    <a:pt x="5" y="49"/>
                  </a:lnTo>
                  <a:lnTo>
                    <a:pt x="8" y="47"/>
                  </a:lnTo>
                  <a:lnTo>
                    <a:pt x="8" y="3"/>
                  </a:lnTo>
                  <a:lnTo>
                    <a:pt x="8" y="3"/>
                  </a:lnTo>
                  <a:lnTo>
                    <a:pt x="8" y="1"/>
                  </a:lnTo>
                  <a:lnTo>
                    <a:pt x="12" y="0"/>
                  </a:lnTo>
                  <a:lnTo>
                    <a:pt x="12" y="0"/>
                  </a:lnTo>
                  <a:lnTo>
                    <a:pt x="14" y="1"/>
                  </a:lnTo>
                  <a:lnTo>
                    <a:pt x="15" y="3"/>
                  </a:lnTo>
                  <a:lnTo>
                    <a:pt x="15" y="47"/>
                  </a:lnTo>
                  <a:lnTo>
                    <a:pt x="15" y="47"/>
                  </a:lnTo>
                  <a:lnTo>
                    <a:pt x="19" y="49"/>
                  </a:lnTo>
                  <a:lnTo>
                    <a:pt x="21" y="51"/>
                  </a:lnTo>
                  <a:lnTo>
                    <a:pt x="22" y="55"/>
                  </a:lnTo>
                  <a:lnTo>
                    <a:pt x="22" y="58"/>
                  </a:lnTo>
                  <a:lnTo>
                    <a:pt x="22"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7" name="Freeform 214">
              <a:extLst>
                <a:ext uri="{FF2B5EF4-FFF2-40B4-BE49-F238E27FC236}">
                  <a16:creationId xmlns:a16="http://schemas.microsoft.com/office/drawing/2014/main" id="{937F110C-8A75-40CF-B8FB-49996C676BC0}"/>
                </a:ext>
              </a:extLst>
            </p:cNvPr>
            <p:cNvSpPr>
              <a:spLocks/>
            </p:cNvSpPr>
            <p:nvPr userDrawn="1"/>
          </p:nvSpPr>
          <p:spPr bwMode="auto">
            <a:xfrm>
              <a:off x="6256359" y="3103600"/>
              <a:ext cx="19050" cy="74613"/>
            </a:xfrm>
            <a:custGeom>
              <a:avLst/>
              <a:gdLst>
                <a:gd name="T0" fmla="*/ 23 w 23"/>
                <a:gd name="T1" fmla="*/ 58 h 93"/>
                <a:gd name="T2" fmla="*/ 23 w 23"/>
                <a:gd name="T3" fmla="*/ 93 h 93"/>
                <a:gd name="T4" fmla="*/ 0 w 23"/>
                <a:gd name="T5" fmla="*/ 93 h 93"/>
                <a:gd name="T6" fmla="*/ 0 w 23"/>
                <a:gd name="T7" fmla="*/ 58 h 93"/>
                <a:gd name="T8" fmla="*/ 0 w 23"/>
                <a:gd name="T9" fmla="*/ 58 h 93"/>
                <a:gd name="T10" fmla="*/ 2 w 23"/>
                <a:gd name="T11" fmla="*/ 55 h 93"/>
                <a:gd name="T12" fmla="*/ 3 w 23"/>
                <a:gd name="T13" fmla="*/ 51 h 93"/>
                <a:gd name="T14" fmla="*/ 5 w 23"/>
                <a:gd name="T15" fmla="*/ 49 h 93"/>
                <a:gd name="T16" fmla="*/ 8 w 23"/>
                <a:gd name="T17" fmla="*/ 47 h 93"/>
                <a:gd name="T18" fmla="*/ 8 w 23"/>
                <a:gd name="T19" fmla="*/ 3 h 93"/>
                <a:gd name="T20" fmla="*/ 8 w 23"/>
                <a:gd name="T21" fmla="*/ 3 h 93"/>
                <a:gd name="T22" fmla="*/ 10 w 23"/>
                <a:gd name="T23" fmla="*/ 1 h 93"/>
                <a:gd name="T24" fmla="*/ 12 w 23"/>
                <a:gd name="T25" fmla="*/ 0 h 93"/>
                <a:gd name="T26" fmla="*/ 12 w 23"/>
                <a:gd name="T27" fmla="*/ 0 h 93"/>
                <a:gd name="T28" fmla="*/ 14 w 23"/>
                <a:gd name="T29" fmla="*/ 1 h 93"/>
                <a:gd name="T30" fmla="*/ 15 w 23"/>
                <a:gd name="T31" fmla="*/ 3 h 93"/>
                <a:gd name="T32" fmla="*/ 15 w 23"/>
                <a:gd name="T33" fmla="*/ 47 h 93"/>
                <a:gd name="T34" fmla="*/ 15 w 23"/>
                <a:gd name="T35" fmla="*/ 47 h 93"/>
                <a:gd name="T36" fmla="*/ 19 w 23"/>
                <a:gd name="T37" fmla="*/ 49 h 93"/>
                <a:gd name="T38" fmla="*/ 21 w 23"/>
                <a:gd name="T39" fmla="*/ 51 h 93"/>
                <a:gd name="T40" fmla="*/ 22 w 23"/>
                <a:gd name="T41" fmla="*/ 55 h 93"/>
                <a:gd name="T42" fmla="*/ 23 w 23"/>
                <a:gd name="T43" fmla="*/ 58 h 93"/>
                <a:gd name="T44" fmla="*/ 23 w 23"/>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23" y="58"/>
                  </a:moveTo>
                  <a:lnTo>
                    <a:pt x="23" y="93"/>
                  </a:lnTo>
                  <a:lnTo>
                    <a:pt x="0" y="93"/>
                  </a:lnTo>
                  <a:lnTo>
                    <a:pt x="0" y="58"/>
                  </a:lnTo>
                  <a:lnTo>
                    <a:pt x="0" y="58"/>
                  </a:lnTo>
                  <a:lnTo>
                    <a:pt x="2" y="55"/>
                  </a:lnTo>
                  <a:lnTo>
                    <a:pt x="3" y="51"/>
                  </a:lnTo>
                  <a:lnTo>
                    <a:pt x="5" y="49"/>
                  </a:lnTo>
                  <a:lnTo>
                    <a:pt x="8" y="47"/>
                  </a:lnTo>
                  <a:lnTo>
                    <a:pt x="8" y="3"/>
                  </a:lnTo>
                  <a:lnTo>
                    <a:pt x="8" y="3"/>
                  </a:lnTo>
                  <a:lnTo>
                    <a:pt x="10" y="1"/>
                  </a:lnTo>
                  <a:lnTo>
                    <a:pt x="12" y="0"/>
                  </a:lnTo>
                  <a:lnTo>
                    <a:pt x="12" y="0"/>
                  </a:lnTo>
                  <a:lnTo>
                    <a:pt x="14" y="1"/>
                  </a:lnTo>
                  <a:lnTo>
                    <a:pt x="15" y="3"/>
                  </a:lnTo>
                  <a:lnTo>
                    <a:pt x="15" y="47"/>
                  </a:lnTo>
                  <a:lnTo>
                    <a:pt x="15" y="47"/>
                  </a:lnTo>
                  <a:lnTo>
                    <a:pt x="19" y="49"/>
                  </a:lnTo>
                  <a:lnTo>
                    <a:pt x="21" y="51"/>
                  </a:lnTo>
                  <a:lnTo>
                    <a:pt x="22" y="55"/>
                  </a:lnTo>
                  <a:lnTo>
                    <a:pt x="23" y="58"/>
                  </a:lnTo>
                  <a:lnTo>
                    <a:pt x="23"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8" name="Freeform 215">
              <a:extLst>
                <a:ext uri="{FF2B5EF4-FFF2-40B4-BE49-F238E27FC236}">
                  <a16:creationId xmlns:a16="http://schemas.microsoft.com/office/drawing/2014/main" id="{C7AFF641-B25A-43C0-995A-3F7277C33A93}"/>
                </a:ext>
              </a:extLst>
            </p:cNvPr>
            <p:cNvSpPr>
              <a:spLocks/>
            </p:cNvSpPr>
            <p:nvPr userDrawn="1"/>
          </p:nvSpPr>
          <p:spPr bwMode="auto">
            <a:xfrm>
              <a:off x="6286521" y="3103600"/>
              <a:ext cx="19050" cy="74613"/>
            </a:xfrm>
            <a:custGeom>
              <a:avLst/>
              <a:gdLst>
                <a:gd name="T0" fmla="*/ 23 w 23"/>
                <a:gd name="T1" fmla="*/ 58 h 93"/>
                <a:gd name="T2" fmla="*/ 23 w 23"/>
                <a:gd name="T3" fmla="*/ 93 h 93"/>
                <a:gd name="T4" fmla="*/ 0 w 23"/>
                <a:gd name="T5" fmla="*/ 93 h 93"/>
                <a:gd name="T6" fmla="*/ 0 w 23"/>
                <a:gd name="T7" fmla="*/ 58 h 93"/>
                <a:gd name="T8" fmla="*/ 0 w 23"/>
                <a:gd name="T9" fmla="*/ 58 h 93"/>
                <a:gd name="T10" fmla="*/ 2 w 23"/>
                <a:gd name="T11" fmla="*/ 55 h 93"/>
                <a:gd name="T12" fmla="*/ 3 w 23"/>
                <a:gd name="T13" fmla="*/ 51 h 93"/>
                <a:gd name="T14" fmla="*/ 5 w 23"/>
                <a:gd name="T15" fmla="*/ 49 h 93"/>
                <a:gd name="T16" fmla="*/ 8 w 23"/>
                <a:gd name="T17" fmla="*/ 47 h 93"/>
                <a:gd name="T18" fmla="*/ 8 w 23"/>
                <a:gd name="T19" fmla="*/ 3 h 93"/>
                <a:gd name="T20" fmla="*/ 8 w 23"/>
                <a:gd name="T21" fmla="*/ 3 h 93"/>
                <a:gd name="T22" fmla="*/ 10 w 23"/>
                <a:gd name="T23" fmla="*/ 1 h 93"/>
                <a:gd name="T24" fmla="*/ 12 w 23"/>
                <a:gd name="T25" fmla="*/ 0 h 93"/>
                <a:gd name="T26" fmla="*/ 12 w 23"/>
                <a:gd name="T27" fmla="*/ 0 h 93"/>
                <a:gd name="T28" fmla="*/ 14 w 23"/>
                <a:gd name="T29" fmla="*/ 1 h 93"/>
                <a:gd name="T30" fmla="*/ 15 w 23"/>
                <a:gd name="T31" fmla="*/ 3 h 93"/>
                <a:gd name="T32" fmla="*/ 15 w 23"/>
                <a:gd name="T33" fmla="*/ 47 h 93"/>
                <a:gd name="T34" fmla="*/ 15 w 23"/>
                <a:gd name="T35" fmla="*/ 47 h 93"/>
                <a:gd name="T36" fmla="*/ 19 w 23"/>
                <a:gd name="T37" fmla="*/ 49 h 93"/>
                <a:gd name="T38" fmla="*/ 21 w 23"/>
                <a:gd name="T39" fmla="*/ 51 h 93"/>
                <a:gd name="T40" fmla="*/ 22 w 23"/>
                <a:gd name="T41" fmla="*/ 55 h 93"/>
                <a:gd name="T42" fmla="*/ 23 w 23"/>
                <a:gd name="T43" fmla="*/ 58 h 93"/>
                <a:gd name="T44" fmla="*/ 23 w 23"/>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23" y="58"/>
                  </a:moveTo>
                  <a:lnTo>
                    <a:pt x="23" y="93"/>
                  </a:lnTo>
                  <a:lnTo>
                    <a:pt x="0" y="93"/>
                  </a:lnTo>
                  <a:lnTo>
                    <a:pt x="0" y="58"/>
                  </a:lnTo>
                  <a:lnTo>
                    <a:pt x="0" y="58"/>
                  </a:lnTo>
                  <a:lnTo>
                    <a:pt x="2" y="55"/>
                  </a:lnTo>
                  <a:lnTo>
                    <a:pt x="3" y="51"/>
                  </a:lnTo>
                  <a:lnTo>
                    <a:pt x="5" y="49"/>
                  </a:lnTo>
                  <a:lnTo>
                    <a:pt x="8" y="47"/>
                  </a:lnTo>
                  <a:lnTo>
                    <a:pt x="8" y="3"/>
                  </a:lnTo>
                  <a:lnTo>
                    <a:pt x="8" y="3"/>
                  </a:lnTo>
                  <a:lnTo>
                    <a:pt x="10" y="1"/>
                  </a:lnTo>
                  <a:lnTo>
                    <a:pt x="12" y="0"/>
                  </a:lnTo>
                  <a:lnTo>
                    <a:pt x="12" y="0"/>
                  </a:lnTo>
                  <a:lnTo>
                    <a:pt x="14" y="1"/>
                  </a:lnTo>
                  <a:lnTo>
                    <a:pt x="15" y="3"/>
                  </a:lnTo>
                  <a:lnTo>
                    <a:pt x="15" y="47"/>
                  </a:lnTo>
                  <a:lnTo>
                    <a:pt x="15" y="47"/>
                  </a:lnTo>
                  <a:lnTo>
                    <a:pt x="19" y="49"/>
                  </a:lnTo>
                  <a:lnTo>
                    <a:pt x="21" y="51"/>
                  </a:lnTo>
                  <a:lnTo>
                    <a:pt x="22" y="55"/>
                  </a:lnTo>
                  <a:lnTo>
                    <a:pt x="23" y="58"/>
                  </a:lnTo>
                  <a:lnTo>
                    <a:pt x="23"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9" name="Freeform 216">
              <a:extLst>
                <a:ext uri="{FF2B5EF4-FFF2-40B4-BE49-F238E27FC236}">
                  <a16:creationId xmlns:a16="http://schemas.microsoft.com/office/drawing/2014/main" id="{3E7F35EF-D1DE-42A9-82FC-EEC44FB1AD4D}"/>
                </a:ext>
              </a:extLst>
            </p:cNvPr>
            <p:cNvSpPr>
              <a:spLocks/>
            </p:cNvSpPr>
            <p:nvPr userDrawn="1"/>
          </p:nvSpPr>
          <p:spPr bwMode="auto">
            <a:xfrm>
              <a:off x="6316684" y="3103600"/>
              <a:ext cx="19050" cy="74613"/>
            </a:xfrm>
            <a:custGeom>
              <a:avLst/>
              <a:gdLst>
                <a:gd name="T0" fmla="*/ 23 w 23"/>
                <a:gd name="T1" fmla="*/ 58 h 93"/>
                <a:gd name="T2" fmla="*/ 23 w 23"/>
                <a:gd name="T3" fmla="*/ 93 h 93"/>
                <a:gd name="T4" fmla="*/ 0 w 23"/>
                <a:gd name="T5" fmla="*/ 93 h 93"/>
                <a:gd name="T6" fmla="*/ 0 w 23"/>
                <a:gd name="T7" fmla="*/ 58 h 93"/>
                <a:gd name="T8" fmla="*/ 0 w 23"/>
                <a:gd name="T9" fmla="*/ 58 h 93"/>
                <a:gd name="T10" fmla="*/ 2 w 23"/>
                <a:gd name="T11" fmla="*/ 55 h 93"/>
                <a:gd name="T12" fmla="*/ 3 w 23"/>
                <a:gd name="T13" fmla="*/ 51 h 93"/>
                <a:gd name="T14" fmla="*/ 5 w 23"/>
                <a:gd name="T15" fmla="*/ 49 h 93"/>
                <a:gd name="T16" fmla="*/ 8 w 23"/>
                <a:gd name="T17" fmla="*/ 47 h 93"/>
                <a:gd name="T18" fmla="*/ 8 w 23"/>
                <a:gd name="T19" fmla="*/ 3 h 93"/>
                <a:gd name="T20" fmla="*/ 8 w 23"/>
                <a:gd name="T21" fmla="*/ 3 h 93"/>
                <a:gd name="T22" fmla="*/ 10 w 23"/>
                <a:gd name="T23" fmla="*/ 1 h 93"/>
                <a:gd name="T24" fmla="*/ 12 w 23"/>
                <a:gd name="T25" fmla="*/ 0 h 93"/>
                <a:gd name="T26" fmla="*/ 12 w 23"/>
                <a:gd name="T27" fmla="*/ 0 h 93"/>
                <a:gd name="T28" fmla="*/ 14 w 23"/>
                <a:gd name="T29" fmla="*/ 1 h 93"/>
                <a:gd name="T30" fmla="*/ 15 w 23"/>
                <a:gd name="T31" fmla="*/ 3 h 93"/>
                <a:gd name="T32" fmla="*/ 15 w 23"/>
                <a:gd name="T33" fmla="*/ 47 h 93"/>
                <a:gd name="T34" fmla="*/ 15 w 23"/>
                <a:gd name="T35" fmla="*/ 47 h 93"/>
                <a:gd name="T36" fmla="*/ 19 w 23"/>
                <a:gd name="T37" fmla="*/ 49 h 93"/>
                <a:gd name="T38" fmla="*/ 21 w 23"/>
                <a:gd name="T39" fmla="*/ 51 h 93"/>
                <a:gd name="T40" fmla="*/ 22 w 23"/>
                <a:gd name="T41" fmla="*/ 55 h 93"/>
                <a:gd name="T42" fmla="*/ 23 w 23"/>
                <a:gd name="T43" fmla="*/ 58 h 93"/>
                <a:gd name="T44" fmla="*/ 23 w 23"/>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23" y="58"/>
                  </a:moveTo>
                  <a:lnTo>
                    <a:pt x="23" y="93"/>
                  </a:lnTo>
                  <a:lnTo>
                    <a:pt x="0" y="93"/>
                  </a:lnTo>
                  <a:lnTo>
                    <a:pt x="0" y="58"/>
                  </a:lnTo>
                  <a:lnTo>
                    <a:pt x="0" y="58"/>
                  </a:lnTo>
                  <a:lnTo>
                    <a:pt x="2" y="55"/>
                  </a:lnTo>
                  <a:lnTo>
                    <a:pt x="3" y="51"/>
                  </a:lnTo>
                  <a:lnTo>
                    <a:pt x="5" y="49"/>
                  </a:lnTo>
                  <a:lnTo>
                    <a:pt x="8" y="47"/>
                  </a:lnTo>
                  <a:lnTo>
                    <a:pt x="8" y="3"/>
                  </a:lnTo>
                  <a:lnTo>
                    <a:pt x="8" y="3"/>
                  </a:lnTo>
                  <a:lnTo>
                    <a:pt x="10" y="1"/>
                  </a:lnTo>
                  <a:lnTo>
                    <a:pt x="12" y="0"/>
                  </a:lnTo>
                  <a:lnTo>
                    <a:pt x="12" y="0"/>
                  </a:lnTo>
                  <a:lnTo>
                    <a:pt x="14" y="1"/>
                  </a:lnTo>
                  <a:lnTo>
                    <a:pt x="15" y="3"/>
                  </a:lnTo>
                  <a:lnTo>
                    <a:pt x="15" y="47"/>
                  </a:lnTo>
                  <a:lnTo>
                    <a:pt x="15" y="47"/>
                  </a:lnTo>
                  <a:lnTo>
                    <a:pt x="19" y="49"/>
                  </a:lnTo>
                  <a:lnTo>
                    <a:pt x="21" y="51"/>
                  </a:lnTo>
                  <a:lnTo>
                    <a:pt x="22" y="55"/>
                  </a:lnTo>
                  <a:lnTo>
                    <a:pt x="23" y="58"/>
                  </a:lnTo>
                  <a:lnTo>
                    <a:pt x="23"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0" name="Freeform 217">
              <a:extLst>
                <a:ext uri="{FF2B5EF4-FFF2-40B4-BE49-F238E27FC236}">
                  <a16:creationId xmlns:a16="http://schemas.microsoft.com/office/drawing/2014/main" id="{CF5A6E20-C256-469C-AC32-FBFF14564ACA}"/>
                </a:ext>
              </a:extLst>
            </p:cNvPr>
            <p:cNvSpPr>
              <a:spLocks/>
            </p:cNvSpPr>
            <p:nvPr userDrawn="1"/>
          </p:nvSpPr>
          <p:spPr bwMode="auto">
            <a:xfrm>
              <a:off x="6346847" y="3103600"/>
              <a:ext cx="19050" cy="74613"/>
            </a:xfrm>
            <a:custGeom>
              <a:avLst/>
              <a:gdLst>
                <a:gd name="T0" fmla="*/ 23 w 23"/>
                <a:gd name="T1" fmla="*/ 58 h 93"/>
                <a:gd name="T2" fmla="*/ 23 w 23"/>
                <a:gd name="T3" fmla="*/ 93 h 93"/>
                <a:gd name="T4" fmla="*/ 0 w 23"/>
                <a:gd name="T5" fmla="*/ 93 h 93"/>
                <a:gd name="T6" fmla="*/ 0 w 23"/>
                <a:gd name="T7" fmla="*/ 58 h 93"/>
                <a:gd name="T8" fmla="*/ 0 w 23"/>
                <a:gd name="T9" fmla="*/ 58 h 93"/>
                <a:gd name="T10" fmla="*/ 2 w 23"/>
                <a:gd name="T11" fmla="*/ 55 h 93"/>
                <a:gd name="T12" fmla="*/ 3 w 23"/>
                <a:gd name="T13" fmla="*/ 51 h 93"/>
                <a:gd name="T14" fmla="*/ 5 w 23"/>
                <a:gd name="T15" fmla="*/ 49 h 93"/>
                <a:gd name="T16" fmla="*/ 8 w 23"/>
                <a:gd name="T17" fmla="*/ 47 h 93"/>
                <a:gd name="T18" fmla="*/ 8 w 23"/>
                <a:gd name="T19" fmla="*/ 3 h 93"/>
                <a:gd name="T20" fmla="*/ 8 w 23"/>
                <a:gd name="T21" fmla="*/ 3 h 93"/>
                <a:gd name="T22" fmla="*/ 10 w 23"/>
                <a:gd name="T23" fmla="*/ 1 h 93"/>
                <a:gd name="T24" fmla="*/ 12 w 23"/>
                <a:gd name="T25" fmla="*/ 0 h 93"/>
                <a:gd name="T26" fmla="*/ 12 w 23"/>
                <a:gd name="T27" fmla="*/ 0 h 93"/>
                <a:gd name="T28" fmla="*/ 14 w 23"/>
                <a:gd name="T29" fmla="*/ 1 h 93"/>
                <a:gd name="T30" fmla="*/ 15 w 23"/>
                <a:gd name="T31" fmla="*/ 3 h 93"/>
                <a:gd name="T32" fmla="*/ 15 w 23"/>
                <a:gd name="T33" fmla="*/ 47 h 93"/>
                <a:gd name="T34" fmla="*/ 15 w 23"/>
                <a:gd name="T35" fmla="*/ 47 h 93"/>
                <a:gd name="T36" fmla="*/ 19 w 23"/>
                <a:gd name="T37" fmla="*/ 49 h 93"/>
                <a:gd name="T38" fmla="*/ 21 w 23"/>
                <a:gd name="T39" fmla="*/ 51 h 93"/>
                <a:gd name="T40" fmla="*/ 22 w 23"/>
                <a:gd name="T41" fmla="*/ 55 h 93"/>
                <a:gd name="T42" fmla="*/ 23 w 23"/>
                <a:gd name="T43" fmla="*/ 58 h 93"/>
                <a:gd name="T44" fmla="*/ 23 w 23"/>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23" y="58"/>
                  </a:moveTo>
                  <a:lnTo>
                    <a:pt x="23" y="93"/>
                  </a:lnTo>
                  <a:lnTo>
                    <a:pt x="0" y="93"/>
                  </a:lnTo>
                  <a:lnTo>
                    <a:pt x="0" y="58"/>
                  </a:lnTo>
                  <a:lnTo>
                    <a:pt x="0" y="58"/>
                  </a:lnTo>
                  <a:lnTo>
                    <a:pt x="2" y="55"/>
                  </a:lnTo>
                  <a:lnTo>
                    <a:pt x="3" y="51"/>
                  </a:lnTo>
                  <a:lnTo>
                    <a:pt x="5" y="49"/>
                  </a:lnTo>
                  <a:lnTo>
                    <a:pt x="8" y="47"/>
                  </a:lnTo>
                  <a:lnTo>
                    <a:pt x="8" y="3"/>
                  </a:lnTo>
                  <a:lnTo>
                    <a:pt x="8" y="3"/>
                  </a:lnTo>
                  <a:lnTo>
                    <a:pt x="10" y="1"/>
                  </a:lnTo>
                  <a:lnTo>
                    <a:pt x="12" y="0"/>
                  </a:lnTo>
                  <a:lnTo>
                    <a:pt x="12" y="0"/>
                  </a:lnTo>
                  <a:lnTo>
                    <a:pt x="14" y="1"/>
                  </a:lnTo>
                  <a:lnTo>
                    <a:pt x="15" y="3"/>
                  </a:lnTo>
                  <a:lnTo>
                    <a:pt x="15" y="47"/>
                  </a:lnTo>
                  <a:lnTo>
                    <a:pt x="15" y="47"/>
                  </a:lnTo>
                  <a:lnTo>
                    <a:pt x="19" y="49"/>
                  </a:lnTo>
                  <a:lnTo>
                    <a:pt x="21" y="51"/>
                  </a:lnTo>
                  <a:lnTo>
                    <a:pt x="22" y="55"/>
                  </a:lnTo>
                  <a:lnTo>
                    <a:pt x="23" y="58"/>
                  </a:lnTo>
                  <a:lnTo>
                    <a:pt x="23"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1" name="Freeform 218">
              <a:extLst>
                <a:ext uri="{FF2B5EF4-FFF2-40B4-BE49-F238E27FC236}">
                  <a16:creationId xmlns:a16="http://schemas.microsoft.com/office/drawing/2014/main" id="{E1E2EDD4-5E96-4056-8797-9A5C942F2CD5}"/>
                </a:ext>
              </a:extLst>
            </p:cNvPr>
            <p:cNvSpPr>
              <a:spLocks/>
            </p:cNvSpPr>
            <p:nvPr userDrawn="1"/>
          </p:nvSpPr>
          <p:spPr bwMode="auto">
            <a:xfrm>
              <a:off x="6377009" y="3103600"/>
              <a:ext cx="19050" cy="74613"/>
            </a:xfrm>
            <a:custGeom>
              <a:avLst/>
              <a:gdLst>
                <a:gd name="T0" fmla="*/ 23 w 23"/>
                <a:gd name="T1" fmla="*/ 58 h 93"/>
                <a:gd name="T2" fmla="*/ 23 w 23"/>
                <a:gd name="T3" fmla="*/ 93 h 93"/>
                <a:gd name="T4" fmla="*/ 0 w 23"/>
                <a:gd name="T5" fmla="*/ 93 h 93"/>
                <a:gd name="T6" fmla="*/ 0 w 23"/>
                <a:gd name="T7" fmla="*/ 58 h 93"/>
                <a:gd name="T8" fmla="*/ 0 w 23"/>
                <a:gd name="T9" fmla="*/ 58 h 93"/>
                <a:gd name="T10" fmla="*/ 2 w 23"/>
                <a:gd name="T11" fmla="*/ 55 h 93"/>
                <a:gd name="T12" fmla="*/ 3 w 23"/>
                <a:gd name="T13" fmla="*/ 51 h 93"/>
                <a:gd name="T14" fmla="*/ 5 w 23"/>
                <a:gd name="T15" fmla="*/ 49 h 93"/>
                <a:gd name="T16" fmla="*/ 8 w 23"/>
                <a:gd name="T17" fmla="*/ 47 h 93"/>
                <a:gd name="T18" fmla="*/ 8 w 23"/>
                <a:gd name="T19" fmla="*/ 3 h 93"/>
                <a:gd name="T20" fmla="*/ 8 w 23"/>
                <a:gd name="T21" fmla="*/ 3 h 93"/>
                <a:gd name="T22" fmla="*/ 10 w 23"/>
                <a:gd name="T23" fmla="*/ 1 h 93"/>
                <a:gd name="T24" fmla="*/ 12 w 23"/>
                <a:gd name="T25" fmla="*/ 0 h 93"/>
                <a:gd name="T26" fmla="*/ 12 w 23"/>
                <a:gd name="T27" fmla="*/ 0 h 93"/>
                <a:gd name="T28" fmla="*/ 14 w 23"/>
                <a:gd name="T29" fmla="*/ 1 h 93"/>
                <a:gd name="T30" fmla="*/ 15 w 23"/>
                <a:gd name="T31" fmla="*/ 3 h 93"/>
                <a:gd name="T32" fmla="*/ 15 w 23"/>
                <a:gd name="T33" fmla="*/ 47 h 93"/>
                <a:gd name="T34" fmla="*/ 15 w 23"/>
                <a:gd name="T35" fmla="*/ 47 h 93"/>
                <a:gd name="T36" fmla="*/ 19 w 23"/>
                <a:gd name="T37" fmla="*/ 49 h 93"/>
                <a:gd name="T38" fmla="*/ 21 w 23"/>
                <a:gd name="T39" fmla="*/ 51 h 93"/>
                <a:gd name="T40" fmla="*/ 22 w 23"/>
                <a:gd name="T41" fmla="*/ 55 h 93"/>
                <a:gd name="T42" fmla="*/ 23 w 23"/>
                <a:gd name="T43" fmla="*/ 58 h 93"/>
                <a:gd name="T44" fmla="*/ 23 w 23"/>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23" y="58"/>
                  </a:moveTo>
                  <a:lnTo>
                    <a:pt x="23" y="93"/>
                  </a:lnTo>
                  <a:lnTo>
                    <a:pt x="0" y="93"/>
                  </a:lnTo>
                  <a:lnTo>
                    <a:pt x="0" y="58"/>
                  </a:lnTo>
                  <a:lnTo>
                    <a:pt x="0" y="58"/>
                  </a:lnTo>
                  <a:lnTo>
                    <a:pt x="2" y="55"/>
                  </a:lnTo>
                  <a:lnTo>
                    <a:pt x="3" y="51"/>
                  </a:lnTo>
                  <a:lnTo>
                    <a:pt x="5" y="49"/>
                  </a:lnTo>
                  <a:lnTo>
                    <a:pt x="8" y="47"/>
                  </a:lnTo>
                  <a:lnTo>
                    <a:pt x="8" y="3"/>
                  </a:lnTo>
                  <a:lnTo>
                    <a:pt x="8" y="3"/>
                  </a:lnTo>
                  <a:lnTo>
                    <a:pt x="10" y="1"/>
                  </a:lnTo>
                  <a:lnTo>
                    <a:pt x="12" y="0"/>
                  </a:lnTo>
                  <a:lnTo>
                    <a:pt x="12" y="0"/>
                  </a:lnTo>
                  <a:lnTo>
                    <a:pt x="14" y="1"/>
                  </a:lnTo>
                  <a:lnTo>
                    <a:pt x="15" y="3"/>
                  </a:lnTo>
                  <a:lnTo>
                    <a:pt x="15" y="47"/>
                  </a:lnTo>
                  <a:lnTo>
                    <a:pt x="15" y="47"/>
                  </a:lnTo>
                  <a:lnTo>
                    <a:pt x="19" y="49"/>
                  </a:lnTo>
                  <a:lnTo>
                    <a:pt x="21" y="51"/>
                  </a:lnTo>
                  <a:lnTo>
                    <a:pt x="22" y="55"/>
                  </a:lnTo>
                  <a:lnTo>
                    <a:pt x="23" y="58"/>
                  </a:lnTo>
                  <a:lnTo>
                    <a:pt x="23"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2" name="Freeform 219">
              <a:extLst>
                <a:ext uri="{FF2B5EF4-FFF2-40B4-BE49-F238E27FC236}">
                  <a16:creationId xmlns:a16="http://schemas.microsoft.com/office/drawing/2014/main" id="{9B8F6332-58D5-4C77-88F8-F8CB19179C3C}"/>
                </a:ext>
              </a:extLst>
            </p:cNvPr>
            <p:cNvSpPr>
              <a:spLocks/>
            </p:cNvSpPr>
            <p:nvPr userDrawn="1"/>
          </p:nvSpPr>
          <p:spPr bwMode="auto">
            <a:xfrm>
              <a:off x="6408759" y="3103600"/>
              <a:ext cx="17463" cy="74613"/>
            </a:xfrm>
            <a:custGeom>
              <a:avLst/>
              <a:gdLst>
                <a:gd name="T0" fmla="*/ 21 w 21"/>
                <a:gd name="T1" fmla="*/ 58 h 93"/>
                <a:gd name="T2" fmla="*/ 21 w 21"/>
                <a:gd name="T3" fmla="*/ 93 h 93"/>
                <a:gd name="T4" fmla="*/ 0 w 21"/>
                <a:gd name="T5" fmla="*/ 93 h 93"/>
                <a:gd name="T6" fmla="*/ 0 w 21"/>
                <a:gd name="T7" fmla="*/ 58 h 93"/>
                <a:gd name="T8" fmla="*/ 0 w 21"/>
                <a:gd name="T9" fmla="*/ 58 h 93"/>
                <a:gd name="T10" fmla="*/ 0 w 21"/>
                <a:gd name="T11" fmla="*/ 55 h 93"/>
                <a:gd name="T12" fmla="*/ 1 w 21"/>
                <a:gd name="T13" fmla="*/ 51 h 93"/>
                <a:gd name="T14" fmla="*/ 3 w 21"/>
                <a:gd name="T15" fmla="*/ 49 h 93"/>
                <a:gd name="T16" fmla="*/ 6 w 21"/>
                <a:gd name="T17" fmla="*/ 47 h 93"/>
                <a:gd name="T18" fmla="*/ 6 w 21"/>
                <a:gd name="T19" fmla="*/ 3 h 93"/>
                <a:gd name="T20" fmla="*/ 6 w 21"/>
                <a:gd name="T21" fmla="*/ 3 h 93"/>
                <a:gd name="T22" fmla="*/ 8 w 21"/>
                <a:gd name="T23" fmla="*/ 1 h 93"/>
                <a:gd name="T24" fmla="*/ 10 w 21"/>
                <a:gd name="T25" fmla="*/ 0 h 93"/>
                <a:gd name="T26" fmla="*/ 10 w 21"/>
                <a:gd name="T27" fmla="*/ 0 h 93"/>
                <a:gd name="T28" fmla="*/ 13 w 21"/>
                <a:gd name="T29" fmla="*/ 1 h 93"/>
                <a:gd name="T30" fmla="*/ 15 w 21"/>
                <a:gd name="T31" fmla="*/ 3 h 93"/>
                <a:gd name="T32" fmla="*/ 15 w 21"/>
                <a:gd name="T33" fmla="*/ 47 h 93"/>
                <a:gd name="T34" fmla="*/ 15 w 21"/>
                <a:gd name="T35" fmla="*/ 47 h 93"/>
                <a:gd name="T36" fmla="*/ 17 w 21"/>
                <a:gd name="T37" fmla="*/ 49 h 93"/>
                <a:gd name="T38" fmla="*/ 19 w 21"/>
                <a:gd name="T39" fmla="*/ 51 h 93"/>
                <a:gd name="T40" fmla="*/ 21 w 21"/>
                <a:gd name="T41" fmla="*/ 55 h 93"/>
                <a:gd name="T42" fmla="*/ 21 w 21"/>
                <a:gd name="T43" fmla="*/ 58 h 93"/>
                <a:gd name="T44" fmla="*/ 21 w 21"/>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21" y="58"/>
                  </a:moveTo>
                  <a:lnTo>
                    <a:pt x="21" y="93"/>
                  </a:lnTo>
                  <a:lnTo>
                    <a:pt x="0" y="93"/>
                  </a:lnTo>
                  <a:lnTo>
                    <a:pt x="0" y="58"/>
                  </a:lnTo>
                  <a:lnTo>
                    <a:pt x="0" y="58"/>
                  </a:lnTo>
                  <a:lnTo>
                    <a:pt x="0" y="55"/>
                  </a:lnTo>
                  <a:lnTo>
                    <a:pt x="1" y="51"/>
                  </a:lnTo>
                  <a:lnTo>
                    <a:pt x="3" y="49"/>
                  </a:lnTo>
                  <a:lnTo>
                    <a:pt x="6" y="47"/>
                  </a:lnTo>
                  <a:lnTo>
                    <a:pt x="6" y="3"/>
                  </a:lnTo>
                  <a:lnTo>
                    <a:pt x="6" y="3"/>
                  </a:lnTo>
                  <a:lnTo>
                    <a:pt x="8" y="1"/>
                  </a:lnTo>
                  <a:lnTo>
                    <a:pt x="10" y="0"/>
                  </a:lnTo>
                  <a:lnTo>
                    <a:pt x="10" y="0"/>
                  </a:lnTo>
                  <a:lnTo>
                    <a:pt x="13" y="1"/>
                  </a:lnTo>
                  <a:lnTo>
                    <a:pt x="15" y="3"/>
                  </a:lnTo>
                  <a:lnTo>
                    <a:pt x="15" y="47"/>
                  </a:lnTo>
                  <a:lnTo>
                    <a:pt x="15" y="47"/>
                  </a:lnTo>
                  <a:lnTo>
                    <a:pt x="17" y="49"/>
                  </a:lnTo>
                  <a:lnTo>
                    <a:pt x="19" y="51"/>
                  </a:lnTo>
                  <a:lnTo>
                    <a:pt x="21" y="55"/>
                  </a:lnTo>
                  <a:lnTo>
                    <a:pt x="21" y="58"/>
                  </a:lnTo>
                  <a:lnTo>
                    <a:pt x="21"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3" name="Freeform 220">
              <a:extLst>
                <a:ext uri="{FF2B5EF4-FFF2-40B4-BE49-F238E27FC236}">
                  <a16:creationId xmlns:a16="http://schemas.microsoft.com/office/drawing/2014/main" id="{C2317824-232E-4367-9685-8B76F7D8683D}"/>
                </a:ext>
              </a:extLst>
            </p:cNvPr>
            <p:cNvSpPr>
              <a:spLocks/>
            </p:cNvSpPr>
            <p:nvPr userDrawn="1"/>
          </p:nvSpPr>
          <p:spPr bwMode="auto">
            <a:xfrm>
              <a:off x="6438922" y="3103600"/>
              <a:ext cx="17463" cy="74613"/>
            </a:xfrm>
            <a:custGeom>
              <a:avLst/>
              <a:gdLst>
                <a:gd name="T0" fmla="*/ 21 w 21"/>
                <a:gd name="T1" fmla="*/ 58 h 93"/>
                <a:gd name="T2" fmla="*/ 21 w 21"/>
                <a:gd name="T3" fmla="*/ 93 h 93"/>
                <a:gd name="T4" fmla="*/ 0 w 21"/>
                <a:gd name="T5" fmla="*/ 93 h 93"/>
                <a:gd name="T6" fmla="*/ 0 w 21"/>
                <a:gd name="T7" fmla="*/ 58 h 93"/>
                <a:gd name="T8" fmla="*/ 0 w 21"/>
                <a:gd name="T9" fmla="*/ 58 h 93"/>
                <a:gd name="T10" fmla="*/ 0 w 21"/>
                <a:gd name="T11" fmla="*/ 55 h 93"/>
                <a:gd name="T12" fmla="*/ 1 w 21"/>
                <a:gd name="T13" fmla="*/ 51 h 93"/>
                <a:gd name="T14" fmla="*/ 3 w 21"/>
                <a:gd name="T15" fmla="*/ 49 h 93"/>
                <a:gd name="T16" fmla="*/ 6 w 21"/>
                <a:gd name="T17" fmla="*/ 47 h 93"/>
                <a:gd name="T18" fmla="*/ 6 w 21"/>
                <a:gd name="T19" fmla="*/ 3 h 93"/>
                <a:gd name="T20" fmla="*/ 6 w 21"/>
                <a:gd name="T21" fmla="*/ 3 h 93"/>
                <a:gd name="T22" fmla="*/ 8 w 21"/>
                <a:gd name="T23" fmla="*/ 1 h 93"/>
                <a:gd name="T24" fmla="*/ 10 w 21"/>
                <a:gd name="T25" fmla="*/ 0 h 93"/>
                <a:gd name="T26" fmla="*/ 10 w 21"/>
                <a:gd name="T27" fmla="*/ 0 h 93"/>
                <a:gd name="T28" fmla="*/ 13 w 21"/>
                <a:gd name="T29" fmla="*/ 1 h 93"/>
                <a:gd name="T30" fmla="*/ 15 w 21"/>
                <a:gd name="T31" fmla="*/ 3 h 93"/>
                <a:gd name="T32" fmla="*/ 15 w 21"/>
                <a:gd name="T33" fmla="*/ 47 h 93"/>
                <a:gd name="T34" fmla="*/ 15 w 21"/>
                <a:gd name="T35" fmla="*/ 47 h 93"/>
                <a:gd name="T36" fmla="*/ 17 w 21"/>
                <a:gd name="T37" fmla="*/ 49 h 93"/>
                <a:gd name="T38" fmla="*/ 19 w 21"/>
                <a:gd name="T39" fmla="*/ 51 h 93"/>
                <a:gd name="T40" fmla="*/ 21 w 21"/>
                <a:gd name="T41" fmla="*/ 55 h 93"/>
                <a:gd name="T42" fmla="*/ 21 w 21"/>
                <a:gd name="T43" fmla="*/ 58 h 93"/>
                <a:gd name="T44" fmla="*/ 21 w 21"/>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21" y="58"/>
                  </a:moveTo>
                  <a:lnTo>
                    <a:pt x="21" y="93"/>
                  </a:lnTo>
                  <a:lnTo>
                    <a:pt x="0" y="93"/>
                  </a:lnTo>
                  <a:lnTo>
                    <a:pt x="0" y="58"/>
                  </a:lnTo>
                  <a:lnTo>
                    <a:pt x="0" y="58"/>
                  </a:lnTo>
                  <a:lnTo>
                    <a:pt x="0" y="55"/>
                  </a:lnTo>
                  <a:lnTo>
                    <a:pt x="1" y="51"/>
                  </a:lnTo>
                  <a:lnTo>
                    <a:pt x="3" y="49"/>
                  </a:lnTo>
                  <a:lnTo>
                    <a:pt x="6" y="47"/>
                  </a:lnTo>
                  <a:lnTo>
                    <a:pt x="6" y="3"/>
                  </a:lnTo>
                  <a:lnTo>
                    <a:pt x="6" y="3"/>
                  </a:lnTo>
                  <a:lnTo>
                    <a:pt x="8" y="1"/>
                  </a:lnTo>
                  <a:lnTo>
                    <a:pt x="10" y="0"/>
                  </a:lnTo>
                  <a:lnTo>
                    <a:pt x="10" y="0"/>
                  </a:lnTo>
                  <a:lnTo>
                    <a:pt x="13" y="1"/>
                  </a:lnTo>
                  <a:lnTo>
                    <a:pt x="15" y="3"/>
                  </a:lnTo>
                  <a:lnTo>
                    <a:pt x="15" y="47"/>
                  </a:lnTo>
                  <a:lnTo>
                    <a:pt x="15" y="47"/>
                  </a:lnTo>
                  <a:lnTo>
                    <a:pt x="17" y="49"/>
                  </a:lnTo>
                  <a:lnTo>
                    <a:pt x="19" y="51"/>
                  </a:lnTo>
                  <a:lnTo>
                    <a:pt x="21" y="55"/>
                  </a:lnTo>
                  <a:lnTo>
                    <a:pt x="21" y="58"/>
                  </a:lnTo>
                  <a:lnTo>
                    <a:pt x="21"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4" name="Freeform 221">
              <a:extLst>
                <a:ext uri="{FF2B5EF4-FFF2-40B4-BE49-F238E27FC236}">
                  <a16:creationId xmlns:a16="http://schemas.microsoft.com/office/drawing/2014/main" id="{E32A2936-192F-4AE3-9D23-A6456292FCEC}"/>
                </a:ext>
              </a:extLst>
            </p:cNvPr>
            <p:cNvSpPr>
              <a:spLocks/>
            </p:cNvSpPr>
            <p:nvPr userDrawn="1"/>
          </p:nvSpPr>
          <p:spPr bwMode="auto">
            <a:xfrm>
              <a:off x="6499247" y="3103600"/>
              <a:ext cx="17463" cy="74613"/>
            </a:xfrm>
            <a:custGeom>
              <a:avLst/>
              <a:gdLst>
                <a:gd name="T0" fmla="*/ 21 w 21"/>
                <a:gd name="T1" fmla="*/ 58 h 93"/>
                <a:gd name="T2" fmla="*/ 21 w 21"/>
                <a:gd name="T3" fmla="*/ 93 h 93"/>
                <a:gd name="T4" fmla="*/ 0 w 21"/>
                <a:gd name="T5" fmla="*/ 93 h 93"/>
                <a:gd name="T6" fmla="*/ 0 w 21"/>
                <a:gd name="T7" fmla="*/ 58 h 93"/>
                <a:gd name="T8" fmla="*/ 0 w 21"/>
                <a:gd name="T9" fmla="*/ 58 h 93"/>
                <a:gd name="T10" fmla="*/ 0 w 21"/>
                <a:gd name="T11" fmla="*/ 55 h 93"/>
                <a:gd name="T12" fmla="*/ 2 w 21"/>
                <a:gd name="T13" fmla="*/ 51 h 93"/>
                <a:gd name="T14" fmla="*/ 4 w 21"/>
                <a:gd name="T15" fmla="*/ 49 h 93"/>
                <a:gd name="T16" fmla="*/ 6 w 21"/>
                <a:gd name="T17" fmla="*/ 47 h 93"/>
                <a:gd name="T18" fmla="*/ 6 w 21"/>
                <a:gd name="T19" fmla="*/ 3 h 93"/>
                <a:gd name="T20" fmla="*/ 6 w 21"/>
                <a:gd name="T21" fmla="*/ 3 h 93"/>
                <a:gd name="T22" fmla="*/ 8 w 21"/>
                <a:gd name="T23" fmla="*/ 1 h 93"/>
                <a:gd name="T24" fmla="*/ 11 w 21"/>
                <a:gd name="T25" fmla="*/ 0 h 93"/>
                <a:gd name="T26" fmla="*/ 11 w 21"/>
                <a:gd name="T27" fmla="*/ 0 h 93"/>
                <a:gd name="T28" fmla="*/ 13 w 21"/>
                <a:gd name="T29" fmla="*/ 1 h 93"/>
                <a:gd name="T30" fmla="*/ 15 w 21"/>
                <a:gd name="T31" fmla="*/ 3 h 93"/>
                <a:gd name="T32" fmla="*/ 15 w 21"/>
                <a:gd name="T33" fmla="*/ 47 h 93"/>
                <a:gd name="T34" fmla="*/ 15 w 21"/>
                <a:gd name="T35" fmla="*/ 47 h 93"/>
                <a:gd name="T36" fmla="*/ 17 w 21"/>
                <a:gd name="T37" fmla="*/ 49 h 93"/>
                <a:gd name="T38" fmla="*/ 19 w 21"/>
                <a:gd name="T39" fmla="*/ 51 h 93"/>
                <a:gd name="T40" fmla="*/ 21 w 21"/>
                <a:gd name="T41" fmla="*/ 55 h 93"/>
                <a:gd name="T42" fmla="*/ 21 w 21"/>
                <a:gd name="T43" fmla="*/ 58 h 93"/>
                <a:gd name="T44" fmla="*/ 21 w 21"/>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21" y="58"/>
                  </a:moveTo>
                  <a:lnTo>
                    <a:pt x="21" y="93"/>
                  </a:lnTo>
                  <a:lnTo>
                    <a:pt x="0" y="93"/>
                  </a:lnTo>
                  <a:lnTo>
                    <a:pt x="0" y="58"/>
                  </a:lnTo>
                  <a:lnTo>
                    <a:pt x="0" y="58"/>
                  </a:lnTo>
                  <a:lnTo>
                    <a:pt x="0" y="55"/>
                  </a:lnTo>
                  <a:lnTo>
                    <a:pt x="2" y="51"/>
                  </a:lnTo>
                  <a:lnTo>
                    <a:pt x="4" y="49"/>
                  </a:lnTo>
                  <a:lnTo>
                    <a:pt x="6" y="47"/>
                  </a:lnTo>
                  <a:lnTo>
                    <a:pt x="6" y="3"/>
                  </a:lnTo>
                  <a:lnTo>
                    <a:pt x="6" y="3"/>
                  </a:lnTo>
                  <a:lnTo>
                    <a:pt x="8" y="1"/>
                  </a:lnTo>
                  <a:lnTo>
                    <a:pt x="11" y="0"/>
                  </a:lnTo>
                  <a:lnTo>
                    <a:pt x="11" y="0"/>
                  </a:lnTo>
                  <a:lnTo>
                    <a:pt x="13" y="1"/>
                  </a:lnTo>
                  <a:lnTo>
                    <a:pt x="15" y="3"/>
                  </a:lnTo>
                  <a:lnTo>
                    <a:pt x="15" y="47"/>
                  </a:lnTo>
                  <a:lnTo>
                    <a:pt x="15" y="47"/>
                  </a:lnTo>
                  <a:lnTo>
                    <a:pt x="17" y="49"/>
                  </a:lnTo>
                  <a:lnTo>
                    <a:pt x="19" y="51"/>
                  </a:lnTo>
                  <a:lnTo>
                    <a:pt x="21" y="55"/>
                  </a:lnTo>
                  <a:lnTo>
                    <a:pt x="21" y="58"/>
                  </a:lnTo>
                  <a:lnTo>
                    <a:pt x="21"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5" name="Freeform 222">
              <a:extLst>
                <a:ext uri="{FF2B5EF4-FFF2-40B4-BE49-F238E27FC236}">
                  <a16:creationId xmlns:a16="http://schemas.microsoft.com/office/drawing/2014/main" id="{FF2AAED4-6FE3-4C8D-A2AF-8B2F54FE3005}"/>
                </a:ext>
              </a:extLst>
            </p:cNvPr>
            <p:cNvSpPr>
              <a:spLocks/>
            </p:cNvSpPr>
            <p:nvPr userDrawn="1"/>
          </p:nvSpPr>
          <p:spPr bwMode="auto">
            <a:xfrm>
              <a:off x="6469085" y="3103600"/>
              <a:ext cx="17463" cy="74613"/>
            </a:xfrm>
            <a:custGeom>
              <a:avLst/>
              <a:gdLst>
                <a:gd name="T0" fmla="*/ 21 w 21"/>
                <a:gd name="T1" fmla="*/ 58 h 93"/>
                <a:gd name="T2" fmla="*/ 21 w 21"/>
                <a:gd name="T3" fmla="*/ 93 h 93"/>
                <a:gd name="T4" fmla="*/ 0 w 21"/>
                <a:gd name="T5" fmla="*/ 93 h 93"/>
                <a:gd name="T6" fmla="*/ 0 w 21"/>
                <a:gd name="T7" fmla="*/ 58 h 93"/>
                <a:gd name="T8" fmla="*/ 0 w 21"/>
                <a:gd name="T9" fmla="*/ 58 h 93"/>
                <a:gd name="T10" fmla="*/ 0 w 21"/>
                <a:gd name="T11" fmla="*/ 55 h 93"/>
                <a:gd name="T12" fmla="*/ 2 w 21"/>
                <a:gd name="T13" fmla="*/ 51 h 93"/>
                <a:gd name="T14" fmla="*/ 4 w 21"/>
                <a:gd name="T15" fmla="*/ 49 h 93"/>
                <a:gd name="T16" fmla="*/ 6 w 21"/>
                <a:gd name="T17" fmla="*/ 47 h 93"/>
                <a:gd name="T18" fmla="*/ 6 w 21"/>
                <a:gd name="T19" fmla="*/ 3 h 93"/>
                <a:gd name="T20" fmla="*/ 6 w 21"/>
                <a:gd name="T21" fmla="*/ 3 h 93"/>
                <a:gd name="T22" fmla="*/ 8 w 21"/>
                <a:gd name="T23" fmla="*/ 1 h 93"/>
                <a:gd name="T24" fmla="*/ 10 w 21"/>
                <a:gd name="T25" fmla="*/ 0 h 93"/>
                <a:gd name="T26" fmla="*/ 10 w 21"/>
                <a:gd name="T27" fmla="*/ 0 h 93"/>
                <a:gd name="T28" fmla="*/ 13 w 21"/>
                <a:gd name="T29" fmla="*/ 1 h 93"/>
                <a:gd name="T30" fmla="*/ 15 w 21"/>
                <a:gd name="T31" fmla="*/ 3 h 93"/>
                <a:gd name="T32" fmla="*/ 15 w 21"/>
                <a:gd name="T33" fmla="*/ 47 h 93"/>
                <a:gd name="T34" fmla="*/ 15 w 21"/>
                <a:gd name="T35" fmla="*/ 47 h 93"/>
                <a:gd name="T36" fmla="*/ 17 w 21"/>
                <a:gd name="T37" fmla="*/ 49 h 93"/>
                <a:gd name="T38" fmla="*/ 19 w 21"/>
                <a:gd name="T39" fmla="*/ 51 h 93"/>
                <a:gd name="T40" fmla="*/ 21 w 21"/>
                <a:gd name="T41" fmla="*/ 55 h 93"/>
                <a:gd name="T42" fmla="*/ 21 w 21"/>
                <a:gd name="T43" fmla="*/ 58 h 93"/>
                <a:gd name="T44" fmla="*/ 21 w 21"/>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21" y="58"/>
                  </a:moveTo>
                  <a:lnTo>
                    <a:pt x="21" y="93"/>
                  </a:lnTo>
                  <a:lnTo>
                    <a:pt x="0" y="93"/>
                  </a:lnTo>
                  <a:lnTo>
                    <a:pt x="0" y="58"/>
                  </a:lnTo>
                  <a:lnTo>
                    <a:pt x="0" y="58"/>
                  </a:lnTo>
                  <a:lnTo>
                    <a:pt x="0" y="55"/>
                  </a:lnTo>
                  <a:lnTo>
                    <a:pt x="2" y="51"/>
                  </a:lnTo>
                  <a:lnTo>
                    <a:pt x="4" y="49"/>
                  </a:lnTo>
                  <a:lnTo>
                    <a:pt x="6" y="47"/>
                  </a:lnTo>
                  <a:lnTo>
                    <a:pt x="6" y="3"/>
                  </a:lnTo>
                  <a:lnTo>
                    <a:pt x="6" y="3"/>
                  </a:lnTo>
                  <a:lnTo>
                    <a:pt x="8" y="1"/>
                  </a:lnTo>
                  <a:lnTo>
                    <a:pt x="10" y="0"/>
                  </a:lnTo>
                  <a:lnTo>
                    <a:pt x="10" y="0"/>
                  </a:lnTo>
                  <a:lnTo>
                    <a:pt x="13" y="1"/>
                  </a:lnTo>
                  <a:lnTo>
                    <a:pt x="15" y="3"/>
                  </a:lnTo>
                  <a:lnTo>
                    <a:pt x="15" y="47"/>
                  </a:lnTo>
                  <a:lnTo>
                    <a:pt x="15" y="47"/>
                  </a:lnTo>
                  <a:lnTo>
                    <a:pt x="17" y="49"/>
                  </a:lnTo>
                  <a:lnTo>
                    <a:pt x="19" y="51"/>
                  </a:lnTo>
                  <a:lnTo>
                    <a:pt x="21" y="55"/>
                  </a:lnTo>
                  <a:lnTo>
                    <a:pt x="21" y="58"/>
                  </a:lnTo>
                  <a:lnTo>
                    <a:pt x="21"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6" name="Freeform 223">
              <a:extLst>
                <a:ext uri="{FF2B5EF4-FFF2-40B4-BE49-F238E27FC236}">
                  <a16:creationId xmlns:a16="http://schemas.microsoft.com/office/drawing/2014/main" id="{9B8D8A00-1ED8-4BCD-A28A-09C27082E0A7}"/>
                </a:ext>
              </a:extLst>
            </p:cNvPr>
            <p:cNvSpPr>
              <a:spLocks/>
            </p:cNvSpPr>
            <p:nvPr userDrawn="1"/>
          </p:nvSpPr>
          <p:spPr bwMode="auto">
            <a:xfrm>
              <a:off x="6499247" y="3563980"/>
              <a:ext cx="17463" cy="74613"/>
            </a:xfrm>
            <a:custGeom>
              <a:avLst/>
              <a:gdLst>
                <a:gd name="T0" fmla="*/ 0 w 21"/>
                <a:gd name="T1" fmla="*/ 35 h 93"/>
                <a:gd name="T2" fmla="*/ 0 w 21"/>
                <a:gd name="T3" fmla="*/ 0 h 93"/>
                <a:gd name="T4" fmla="*/ 21 w 21"/>
                <a:gd name="T5" fmla="*/ 0 h 93"/>
                <a:gd name="T6" fmla="*/ 21 w 21"/>
                <a:gd name="T7" fmla="*/ 35 h 93"/>
                <a:gd name="T8" fmla="*/ 21 w 21"/>
                <a:gd name="T9" fmla="*/ 35 h 93"/>
                <a:gd name="T10" fmla="*/ 21 w 21"/>
                <a:gd name="T11" fmla="*/ 38 h 93"/>
                <a:gd name="T12" fmla="*/ 19 w 21"/>
                <a:gd name="T13" fmla="*/ 42 h 93"/>
                <a:gd name="T14" fmla="*/ 17 w 21"/>
                <a:gd name="T15" fmla="*/ 44 h 93"/>
                <a:gd name="T16" fmla="*/ 15 w 21"/>
                <a:gd name="T17" fmla="*/ 45 h 93"/>
                <a:gd name="T18" fmla="*/ 15 w 21"/>
                <a:gd name="T19" fmla="*/ 90 h 93"/>
                <a:gd name="T20" fmla="*/ 15 w 21"/>
                <a:gd name="T21" fmla="*/ 90 h 93"/>
                <a:gd name="T22" fmla="*/ 13 w 21"/>
                <a:gd name="T23" fmla="*/ 92 h 93"/>
                <a:gd name="T24" fmla="*/ 11 w 21"/>
                <a:gd name="T25" fmla="*/ 93 h 93"/>
                <a:gd name="T26" fmla="*/ 11 w 21"/>
                <a:gd name="T27" fmla="*/ 93 h 93"/>
                <a:gd name="T28" fmla="*/ 8 w 21"/>
                <a:gd name="T29" fmla="*/ 92 h 93"/>
                <a:gd name="T30" fmla="*/ 6 w 21"/>
                <a:gd name="T31" fmla="*/ 90 h 93"/>
                <a:gd name="T32" fmla="*/ 6 w 21"/>
                <a:gd name="T33" fmla="*/ 45 h 93"/>
                <a:gd name="T34" fmla="*/ 6 w 21"/>
                <a:gd name="T35" fmla="*/ 45 h 93"/>
                <a:gd name="T36" fmla="*/ 4 w 21"/>
                <a:gd name="T37" fmla="*/ 44 h 93"/>
                <a:gd name="T38" fmla="*/ 2 w 21"/>
                <a:gd name="T39" fmla="*/ 42 h 93"/>
                <a:gd name="T40" fmla="*/ 0 w 21"/>
                <a:gd name="T41" fmla="*/ 38 h 93"/>
                <a:gd name="T42" fmla="*/ 0 w 21"/>
                <a:gd name="T43" fmla="*/ 35 h 93"/>
                <a:gd name="T44" fmla="*/ 0 w 21"/>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0" y="35"/>
                  </a:moveTo>
                  <a:lnTo>
                    <a:pt x="0" y="0"/>
                  </a:lnTo>
                  <a:lnTo>
                    <a:pt x="21" y="0"/>
                  </a:lnTo>
                  <a:lnTo>
                    <a:pt x="21" y="35"/>
                  </a:lnTo>
                  <a:lnTo>
                    <a:pt x="21" y="35"/>
                  </a:lnTo>
                  <a:lnTo>
                    <a:pt x="21" y="38"/>
                  </a:lnTo>
                  <a:lnTo>
                    <a:pt x="19" y="42"/>
                  </a:lnTo>
                  <a:lnTo>
                    <a:pt x="17" y="44"/>
                  </a:lnTo>
                  <a:lnTo>
                    <a:pt x="15" y="45"/>
                  </a:lnTo>
                  <a:lnTo>
                    <a:pt x="15" y="90"/>
                  </a:lnTo>
                  <a:lnTo>
                    <a:pt x="15" y="90"/>
                  </a:lnTo>
                  <a:lnTo>
                    <a:pt x="13" y="92"/>
                  </a:lnTo>
                  <a:lnTo>
                    <a:pt x="11" y="93"/>
                  </a:lnTo>
                  <a:lnTo>
                    <a:pt x="11" y="93"/>
                  </a:lnTo>
                  <a:lnTo>
                    <a:pt x="8" y="92"/>
                  </a:lnTo>
                  <a:lnTo>
                    <a:pt x="6" y="90"/>
                  </a:lnTo>
                  <a:lnTo>
                    <a:pt x="6" y="45"/>
                  </a:lnTo>
                  <a:lnTo>
                    <a:pt x="6" y="45"/>
                  </a:lnTo>
                  <a:lnTo>
                    <a:pt x="4" y="44"/>
                  </a:lnTo>
                  <a:lnTo>
                    <a:pt x="2" y="42"/>
                  </a:lnTo>
                  <a:lnTo>
                    <a:pt x="0"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7" name="Freeform 224">
              <a:extLst>
                <a:ext uri="{FF2B5EF4-FFF2-40B4-BE49-F238E27FC236}">
                  <a16:creationId xmlns:a16="http://schemas.microsoft.com/office/drawing/2014/main" id="{B4C12122-4997-43FB-B20C-896D0CD7A814}"/>
                </a:ext>
              </a:extLst>
            </p:cNvPr>
            <p:cNvSpPr>
              <a:spLocks/>
            </p:cNvSpPr>
            <p:nvPr userDrawn="1"/>
          </p:nvSpPr>
          <p:spPr bwMode="auto">
            <a:xfrm>
              <a:off x="6469085" y="3563980"/>
              <a:ext cx="17463" cy="74613"/>
            </a:xfrm>
            <a:custGeom>
              <a:avLst/>
              <a:gdLst>
                <a:gd name="T0" fmla="*/ 0 w 21"/>
                <a:gd name="T1" fmla="*/ 35 h 93"/>
                <a:gd name="T2" fmla="*/ 0 w 21"/>
                <a:gd name="T3" fmla="*/ 0 h 93"/>
                <a:gd name="T4" fmla="*/ 21 w 21"/>
                <a:gd name="T5" fmla="*/ 0 h 93"/>
                <a:gd name="T6" fmla="*/ 21 w 21"/>
                <a:gd name="T7" fmla="*/ 35 h 93"/>
                <a:gd name="T8" fmla="*/ 21 w 21"/>
                <a:gd name="T9" fmla="*/ 35 h 93"/>
                <a:gd name="T10" fmla="*/ 21 w 21"/>
                <a:gd name="T11" fmla="*/ 38 h 93"/>
                <a:gd name="T12" fmla="*/ 19 w 21"/>
                <a:gd name="T13" fmla="*/ 42 h 93"/>
                <a:gd name="T14" fmla="*/ 17 w 21"/>
                <a:gd name="T15" fmla="*/ 44 h 93"/>
                <a:gd name="T16" fmla="*/ 15 w 21"/>
                <a:gd name="T17" fmla="*/ 45 h 93"/>
                <a:gd name="T18" fmla="*/ 15 w 21"/>
                <a:gd name="T19" fmla="*/ 90 h 93"/>
                <a:gd name="T20" fmla="*/ 15 w 21"/>
                <a:gd name="T21" fmla="*/ 90 h 93"/>
                <a:gd name="T22" fmla="*/ 13 w 21"/>
                <a:gd name="T23" fmla="*/ 92 h 93"/>
                <a:gd name="T24" fmla="*/ 10 w 21"/>
                <a:gd name="T25" fmla="*/ 93 h 93"/>
                <a:gd name="T26" fmla="*/ 10 w 21"/>
                <a:gd name="T27" fmla="*/ 93 h 93"/>
                <a:gd name="T28" fmla="*/ 8 w 21"/>
                <a:gd name="T29" fmla="*/ 92 h 93"/>
                <a:gd name="T30" fmla="*/ 6 w 21"/>
                <a:gd name="T31" fmla="*/ 90 h 93"/>
                <a:gd name="T32" fmla="*/ 6 w 21"/>
                <a:gd name="T33" fmla="*/ 45 h 93"/>
                <a:gd name="T34" fmla="*/ 6 w 21"/>
                <a:gd name="T35" fmla="*/ 45 h 93"/>
                <a:gd name="T36" fmla="*/ 4 w 21"/>
                <a:gd name="T37" fmla="*/ 44 h 93"/>
                <a:gd name="T38" fmla="*/ 2 w 21"/>
                <a:gd name="T39" fmla="*/ 42 h 93"/>
                <a:gd name="T40" fmla="*/ 0 w 21"/>
                <a:gd name="T41" fmla="*/ 38 h 93"/>
                <a:gd name="T42" fmla="*/ 0 w 21"/>
                <a:gd name="T43" fmla="*/ 35 h 93"/>
                <a:gd name="T44" fmla="*/ 0 w 21"/>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0" y="35"/>
                  </a:moveTo>
                  <a:lnTo>
                    <a:pt x="0" y="0"/>
                  </a:lnTo>
                  <a:lnTo>
                    <a:pt x="21" y="0"/>
                  </a:lnTo>
                  <a:lnTo>
                    <a:pt x="21" y="35"/>
                  </a:lnTo>
                  <a:lnTo>
                    <a:pt x="21" y="35"/>
                  </a:lnTo>
                  <a:lnTo>
                    <a:pt x="21" y="38"/>
                  </a:lnTo>
                  <a:lnTo>
                    <a:pt x="19" y="42"/>
                  </a:lnTo>
                  <a:lnTo>
                    <a:pt x="17" y="44"/>
                  </a:lnTo>
                  <a:lnTo>
                    <a:pt x="15" y="45"/>
                  </a:lnTo>
                  <a:lnTo>
                    <a:pt x="15" y="90"/>
                  </a:lnTo>
                  <a:lnTo>
                    <a:pt x="15" y="90"/>
                  </a:lnTo>
                  <a:lnTo>
                    <a:pt x="13" y="92"/>
                  </a:lnTo>
                  <a:lnTo>
                    <a:pt x="10" y="93"/>
                  </a:lnTo>
                  <a:lnTo>
                    <a:pt x="10" y="93"/>
                  </a:lnTo>
                  <a:lnTo>
                    <a:pt x="8" y="92"/>
                  </a:lnTo>
                  <a:lnTo>
                    <a:pt x="6" y="90"/>
                  </a:lnTo>
                  <a:lnTo>
                    <a:pt x="6" y="45"/>
                  </a:lnTo>
                  <a:lnTo>
                    <a:pt x="6" y="45"/>
                  </a:lnTo>
                  <a:lnTo>
                    <a:pt x="4" y="44"/>
                  </a:lnTo>
                  <a:lnTo>
                    <a:pt x="2" y="42"/>
                  </a:lnTo>
                  <a:lnTo>
                    <a:pt x="0"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8" name="Freeform 225">
              <a:extLst>
                <a:ext uri="{FF2B5EF4-FFF2-40B4-BE49-F238E27FC236}">
                  <a16:creationId xmlns:a16="http://schemas.microsoft.com/office/drawing/2014/main" id="{C3FC627A-31A5-4149-B3B1-3FAE68F76204}"/>
                </a:ext>
              </a:extLst>
            </p:cNvPr>
            <p:cNvSpPr>
              <a:spLocks/>
            </p:cNvSpPr>
            <p:nvPr userDrawn="1"/>
          </p:nvSpPr>
          <p:spPr bwMode="auto">
            <a:xfrm>
              <a:off x="6438922" y="3563980"/>
              <a:ext cx="17463" cy="74613"/>
            </a:xfrm>
            <a:custGeom>
              <a:avLst/>
              <a:gdLst>
                <a:gd name="T0" fmla="*/ 0 w 21"/>
                <a:gd name="T1" fmla="*/ 35 h 93"/>
                <a:gd name="T2" fmla="*/ 0 w 21"/>
                <a:gd name="T3" fmla="*/ 0 h 93"/>
                <a:gd name="T4" fmla="*/ 21 w 21"/>
                <a:gd name="T5" fmla="*/ 0 h 93"/>
                <a:gd name="T6" fmla="*/ 21 w 21"/>
                <a:gd name="T7" fmla="*/ 35 h 93"/>
                <a:gd name="T8" fmla="*/ 21 w 21"/>
                <a:gd name="T9" fmla="*/ 35 h 93"/>
                <a:gd name="T10" fmla="*/ 21 w 21"/>
                <a:gd name="T11" fmla="*/ 38 h 93"/>
                <a:gd name="T12" fmla="*/ 19 w 21"/>
                <a:gd name="T13" fmla="*/ 42 h 93"/>
                <a:gd name="T14" fmla="*/ 17 w 21"/>
                <a:gd name="T15" fmla="*/ 44 h 93"/>
                <a:gd name="T16" fmla="*/ 15 w 21"/>
                <a:gd name="T17" fmla="*/ 45 h 93"/>
                <a:gd name="T18" fmla="*/ 15 w 21"/>
                <a:gd name="T19" fmla="*/ 90 h 93"/>
                <a:gd name="T20" fmla="*/ 15 w 21"/>
                <a:gd name="T21" fmla="*/ 90 h 93"/>
                <a:gd name="T22" fmla="*/ 13 w 21"/>
                <a:gd name="T23" fmla="*/ 92 h 93"/>
                <a:gd name="T24" fmla="*/ 10 w 21"/>
                <a:gd name="T25" fmla="*/ 93 h 93"/>
                <a:gd name="T26" fmla="*/ 10 w 21"/>
                <a:gd name="T27" fmla="*/ 93 h 93"/>
                <a:gd name="T28" fmla="*/ 8 w 21"/>
                <a:gd name="T29" fmla="*/ 92 h 93"/>
                <a:gd name="T30" fmla="*/ 6 w 21"/>
                <a:gd name="T31" fmla="*/ 90 h 93"/>
                <a:gd name="T32" fmla="*/ 6 w 21"/>
                <a:gd name="T33" fmla="*/ 45 h 93"/>
                <a:gd name="T34" fmla="*/ 6 w 21"/>
                <a:gd name="T35" fmla="*/ 45 h 93"/>
                <a:gd name="T36" fmla="*/ 3 w 21"/>
                <a:gd name="T37" fmla="*/ 44 h 93"/>
                <a:gd name="T38" fmla="*/ 1 w 21"/>
                <a:gd name="T39" fmla="*/ 42 h 93"/>
                <a:gd name="T40" fmla="*/ 0 w 21"/>
                <a:gd name="T41" fmla="*/ 38 h 93"/>
                <a:gd name="T42" fmla="*/ 0 w 21"/>
                <a:gd name="T43" fmla="*/ 35 h 93"/>
                <a:gd name="T44" fmla="*/ 0 w 21"/>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0" y="35"/>
                  </a:moveTo>
                  <a:lnTo>
                    <a:pt x="0" y="0"/>
                  </a:lnTo>
                  <a:lnTo>
                    <a:pt x="21" y="0"/>
                  </a:lnTo>
                  <a:lnTo>
                    <a:pt x="21" y="35"/>
                  </a:lnTo>
                  <a:lnTo>
                    <a:pt x="21" y="35"/>
                  </a:lnTo>
                  <a:lnTo>
                    <a:pt x="21" y="38"/>
                  </a:lnTo>
                  <a:lnTo>
                    <a:pt x="19" y="42"/>
                  </a:lnTo>
                  <a:lnTo>
                    <a:pt x="17" y="44"/>
                  </a:lnTo>
                  <a:lnTo>
                    <a:pt x="15" y="45"/>
                  </a:lnTo>
                  <a:lnTo>
                    <a:pt x="15" y="90"/>
                  </a:lnTo>
                  <a:lnTo>
                    <a:pt x="15" y="90"/>
                  </a:lnTo>
                  <a:lnTo>
                    <a:pt x="13" y="92"/>
                  </a:lnTo>
                  <a:lnTo>
                    <a:pt x="10" y="93"/>
                  </a:lnTo>
                  <a:lnTo>
                    <a:pt x="10" y="93"/>
                  </a:lnTo>
                  <a:lnTo>
                    <a:pt x="8" y="92"/>
                  </a:lnTo>
                  <a:lnTo>
                    <a:pt x="6" y="90"/>
                  </a:lnTo>
                  <a:lnTo>
                    <a:pt x="6" y="45"/>
                  </a:lnTo>
                  <a:lnTo>
                    <a:pt x="6" y="45"/>
                  </a:lnTo>
                  <a:lnTo>
                    <a:pt x="3" y="44"/>
                  </a:lnTo>
                  <a:lnTo>
                    <a:pt x="1" y="42"/>
                  </a:lnTo>
                  <a:lnTo>
                    <a:pt x="0"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9" name="Freeform 226">
              <a:extLst>
                <a:ext uri="{FF2B5EF4-FFF2-40B4-BE49-F238E27FC236}">
                  <a16:creationId xmlns:a16="http://schemas.microsoft.com/office/drawing/2014/main" id="{8F4A4E8B-D9D9-4578-8122-67D1F22316BB}"/>
                </a:ext>
              </a:extLst>
            </p:cNvPr>
            <p:cNvSpPr>
              <a:spLocks/>
            </p:cNvSpPr>
            <p:nvPr userDrawn="1"/>
          </p:nvSpPr>
          <p:spPr bwMode="auto">
            <a:xfrm>
              <a:off x="6408759" y="3563980"/>
              <a:ext cx="17463" cy="74613"/>
            </a:xfrm>
            <a:custGeom>
              <a:avLst/>
              <a:gdLst>
                <a:gd name="T0" fmla="*/ 0 w 21"/>
                <a:gd name="T1" fmla="*/ 35 h 93"/>
                <a:gd name="T2" fmla="*/ 0 w 21"/>
                <a:gd name="T3" fmla="*/ 0 h 93"/>
                <a:gd name="T4" fmla="*/ 21 w 21"/>
                <a:gd name="T5" fmla="*/ 0 h 93"/>
                <a:gd name="T6" fmla="*/ 21 w 21"/>
                <a:gd name="T7" fmla="*/ 35 h 93"/>
                <a:gd name="T8" fmla="*/ 21 w 21"/>
                <a:gd name="T9" fmla="*/ 35 h 93"/>
                <a:gd name="T10" fmla="*/ 21 w 21"/>
                <a:gd name="T11" fmla="*/ 38 h 93"/>
                <a:gd name="T12" fmla="*/ 19 w 21"/>
                <a:gd name="T13" fmla="*/ 42 h 93"/>
                <a:gd name="T14" fmla="*/ 17 w 21"/>
                <a:gd name="T15" fmla="*/ 44 h 93"/>
                <a:gd name="T16" fmla="*/ 15 w 21"/>
                <a:gd name="T17" fmla="*/ 45 h 93"/>
                <a:gd name="T18" fmla="*/ 15 w 21"/>
                <a:gd name="T19" fmla="*/ 90 h 93"/>
                <a:gd name="T20" fmla="*/ 15 w 21"/>
                <a:gd name="T21" fmla="*/ 90 h 93"/>
                <a:gd name="T22" fmla="*/ 13 w 21"/>
                <a:gd name="T23" fmla="*/ 92 h 93"/>
                <a:gd name="T24" fmla="*/ 10 w 21"/>
                <a:gd name="T25" fmla="*/ 93 h 93"/>
                <a:gd name="T26" fmla="*/ 10 w 21"/>
                <a:gd name="T27" fmla="*/ 93 h 93"/>
                <a:gd name="T28" fmla="*/ 8 w 21"/>
                <a:gd name="T29" fmla="*/ 92 h 93"/>
                <a:gd name="T30" fmla="*/ 6 w 21"/>
                <a:gd name="T31" fmla="*/ 90 h 93"/>
                <a:gd name="T32" fmla="*/ 6 w 21"/>
                <a:gd name="T33" fmla="*/ 45 h 93"/>
                <a:gd name="T34" fmla="*/ 6 w 21"/>
                <a:gd name="T35" fmla="*/ 45 h 93"/>
                <a:gd name="T36" fmla="*/ 3 w 21"/>
                <a:gd name="T37" fmla="*/ 44 h 93"/>
                <a:gd name="T38" fmla="*/ 1 w 21"/>
                <a:gd name="T39" fmla="*/ 42 h 93"/>
                <a:gd name="T40" fmla="*/ 0 w 21"/>
                <a:gd name="T41" fmla="*/ 38 h 93"/>
                <a:gd name="T42" fmla="*/ 0 w 21"/>
                <a:gd name="T43" fmla="*/ 35 h 93"/>
                <a:gd name="T44" fmla="*/ 0 w 21"/>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0" y="35"/>
                  </a:moveTo>
                  <a:lnTo>
                    <a:pt x="0" y="0"/>
                  </a:lnTo>
                  <a:lnTo>
                    <a:pt x="21" y="0"/>
                  </a:lnTo>
                  <a:lnTo>
                    <a:pt x="21" y="35"/>
                  </a:lnTo>
                  <a:lnTo>
                    <a:pt x="21" y="35"/>
                  </a:lnTo>
                  <a:lnTo>
                    <a:pt x="21" y="38"/>
                  </a:lnTo>
                  <a:lnTo>
                    <a:pt x="19" y="42"/>
                  </a:lnTo>
                  <a:lnTo>
                    <a:pt x="17" y="44"/>
                  </a:lnTo>
                  <a:lnTo>
                    <a:pt x="15" y="45"/>
                  </a:lnTo>
                  <a:lnTo>
                    <a:pt x="15" y="90"/>
                  </a:lnTo>
                  <a:lnTo>
                    <a:pt x="15" y="90"/>
                  </a:lnTo>
                  <a:lnTo>
                    <a:pt x="13" y="92"/>
                  </a:lnTo>
                  <a:lnTo>
                    <a:pt x="10" y="93"/>
                  </a:lnTo>
                  <a:lnTo>
                    <a:pt x="10" y="93"/>
                  </a:lnTo>
                  <a:lnTo>
                    <a:pt x="8" y="92"/>
                  </a:lnTo>
                  <a:lnTo>
                    <a:pt x="6" y="90"/>
                  </a:lnTo>
                  <a:lnTo>
                    <a:pt x="6" y="45"/>
                  </a:lnTo>
                  <a:lnTo>
                    <a:pt x="6" y="45"/>
                  </a:lnTo>
                  <a:lnTo>
                    <a:pt x="3" y="44"/>
                  </a:lnTo>
                  <a:lnTo>
                    <a:pt x="1" y="42"/>
                  </a:lnTo>
                  <a:lnTo>
                    <a:pt x="0"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0" name="Freeform 227">
              <a:extLst>
                <a:ext uri="{FF2B5EF4-FFF2-40B4-BE49-F238E27FC236}">
                  <a16:creationId xmlns:a16="http://schemas.microsoft.com/office/drawing/2014/main" id="{F5722369-6715-44E5-8539-7C46F9029EED}"/>
                </a:ext>
              </a:extLst>
            </p:cNvPr>
            <p:cNvSpPr>
              <a:spLocks/>
            </p:cNvSpPr>
            <p:nvPr userDrawn="1"/>
          </p:nvSpPr>
          <p:spPr bwMode="auto">
            <a:xfrm>
              <a:off x="6377009" y="3563980"/>
              <a:ext cx="19050" cy="74613"/>
            </a:xfrm>
            <a:custGeom>
              <a:avLst/>
              <a:gdLst>
                <a:gd name="T0" fmla="*/ 0 w 23"/>
                <a:gd name="T1" fmla="*/ 35 h 93"/>
                <a:gd name="T2" fmla="*/ 0 w 23"/>
                <a:gd name="T3" fmla="*/ 0 h 93"/>
                <a:gd name="T4" fmla="*/ 23 w 23"/>
                <a:gd name="T5" fmla="*/ 0 h 93"/>
                <a:gd name="T6" fmla="*/ 23 w 23"/>
                <a:gd name="T7" fmla="*/ 35 h 93"/>
                <a:gd name="T8" fmla="*/ 23 w 23"/>
                <a:gd name="T9" fmla="*/ 35 h 93"/>
                <a:gd name="T10" fmla="*/ 22 w 23"/>
                <a:gd name="T11" fmla="*/ 38 h 93"/>
                <a:gd name="T12" fmla="*/ 21 w 23"/>
                <a:gd name="T13" fmla="*/ 42 h 93"/>
                <a:gd name="T14" fmla="*/ 19 w 23"/>
                <a:gd name="T15" fmla="*/ 44 h 93"/>
                <a:gd name="T16" fmla="*/ 15 w 23"/>
                <a:gd name="T17" fmla="*/ 45 h 93"/>
                <a:gd name="T18" fmla="*/ 15 w 23"/>
                <a:gd name="T19" fmla="*/ 90 h 93"/>
                <a:gd name="T20" fmla="*/ 15 w 23"/>
                <a:gd name="T21" fmla="*/ 90 h 93"/>
                <a:gd name="T22" fmla="*/ 14 w 23"/>
                <a:gd name="T23" fmla="*/ 92 h 93"/>
                <a:gd name="T24" fmla="*/ 12 w 23"/>
                <a:gd name="T25" fmla="*/ 93 h 93"/>
                <a:gd name="T26" fmla="*/ 12 w 23"/>
                <a:gd name="T27" fmla="*/ 93 h 93"/>
                <a:gd name="T28" fmla="*/ 10 w 23"/>
                <a:gd name="T29" fmla="*/ 92 h 93"/>
                <a:gd name="T30" fmla="*/ 8 w 23"/>
                <a:gd name="T31" fmla="*/ 90 h 93"/>
                <a:gd name="T32" fmla="*/ 8 w 23"/>
                <a:gd name="T33" fmla="*/ 45 h 93"/>
                <a:gd name="T34" fmla="*/ 8 w 23"/>
                <a:gd name="T35" fmla="*/ 45 h 93"/>
                <a:gd name="T36" fmla="*/ 5 w 23"/>
                <a:gd name="T37" fmla="*/ 44 h 93"/>
                <a:gd name="T38" fmla="*/ 3 w 23"/>
                <a:gd name="T39" fmla="*/ 42 h 93"/>
                <a:gd name="T40" fmla="*/ 2 w 23"/>
                <a:gd name="T41" fmla="*/ 38 h 93"/>
                <a:gd name="T42" fmla="*/ 0 w 23"/>
                <a:gd name="T43" fmla="*/ 35 h 93"/>
                <a:gd name="T44" fmla="*/ 0 w 23"/>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0" y="35"/>
                  </a:moveTo>
                  <a:lnTo>
                    <a:pt x="0" y="0"/>
                  </a:lnTo>
                  <a:lnTo>
                    <a:pt x="23" y="0"/>
                  </a:lnTo>
                  <a:lnTo>
                    <a:pt x="23" y="35"/>
                  </a:lnTo>
                  <a:lnTo>
                    <a:pt x="23" y="35"/>
                  </a:lnTo>
                  <a:lnTo>
                    <a:pt x="22" y="38"/>
                  </a:lnTo>
                  <a:lnTo>
                    <a:pt x="21" y="42"/>
                  </a:lnTo>
                  <a:lnTo>
                    <a:pt x="19" y="44"/>
                  </a:lnTo>
                  <a:lnTo>
                    <a:pt x="15" y="45"/>
                  </a:lnTo>
                  <a:lnTo>
                    <a:pt x="15" y="90"/>
                  </a:lnTo>
                  <a:lnTo>
                    <a:pt x="15" y="90"/>
                  </a:lnTo>
                  <a:lnTo>
                    <a:pt x="14" y="92"/>
                  </a:lnTo>
                  <a:lnTo>
                    <a:pt x="12" y="93"/>
                  </a:lnTo>
                  <a:lnTo>
                    <a:pt x="12" y="93"/>
                  </a:lnTo>
                  <a:lnTo>
                    <a:pt x="10" y="92"/>
                  </a:lnTo>
                  <a:lnTo>
                    <a:pt x="8" y="90"/>
                  </a:lnTo>
                  <a:lnTo>
                    <a:pt x="8" y="45"/>
                  </a:lnTo>
                  <a:lnTo>
                    <a:pt x="8" y="45"/>
                  </a:lnTo>
                  <a:lnTo>
                    <a:pt x="5" y="44"/>
                  </a:lnTo>
                  <a:lnTo>
                    <a:pt x="3" y="42"/>
                  </a:lnTo>
                  <a:lnTo>
                    <a:pt x="2"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1" name="Freeform 228">
              <a:extLst>
                <a:ext uri="{FF2B5EF4-FFF2-40B4-BE49-F238E27FC236}">
                  <a16:creationId xmlns:a16="http://schemas.microsoft.com/office/drawing/2014/main" id="{F9F871AE-C94A-4169-B4FD-80D46EB4C590}"/>
                </a:ext>
              </a:extLst>
            </p:cNvPr>
            <p:cNvSpPr>
              <a:spLocks/>
            </p:cNvSpPr>
            <p:nvPr userDrawn="1"/>
          </p:nvSpPr>
          <p:spPr bwMode="auto">
            <a:xfrm>
              <a:off x="6346847" y="3563980"/>
              <a:ext cx="19050" cy="74613"/>
            </a:xfrm>
            <a:custGeom>
              <a:avLst/>
              <a:gdLst>
                <a:gd name="T0" fmla="*/ 0 w 23"/>
                <a:gd name="T1" fmla="*/ 35 h 93"/>
                <a:gd name="T2" fmla="*/ 0 w 23"/>
                <a:gd name="T3" fmla="*/ 0 h 93"/>
                <a:gd name="T4" fmla="*/ 23 w 23"/>
                <a:gd name="T5" fmla="*/ 0 h 93"/>
                <a:gd name="T6" fmla="*/ 23 w 23"/>
                <a:gd name="T7" fmla="*/ 35 h 93"/>
                <a:gd name="T8" fmla="*/ 23 w 23"/>
                <a:gd name="T9" fmla="*/ 35 h 93"/>
                <a:gd name="T10" fmla="*/ 22 w 23"/>
                <a:gd name="T11" fmla="*/ 38 h 93"/>
                <a:gd name="T12" fmla="*/ 21 w 23"/>
                <a:gd name="T13" fmla="*/ 42 h 93"/>
                <a:gd name="T14" fmla="*/ 19 w 23"/>
                <a:gd name="T15" fmla="*/ 44 h 93"/>
                <a:gd name="T16" fmla="*/ 15 w 23"/>
                <a:gd name="T17" fmla="*/ 45 h 93"/>
                <a:gd name="T18" fmla="*/ 15 w 23"/>
                <a:gd name="T19" fmla="*/ 90 h 93"/>
                <a:gd name="T20" fmla="*/ 15 w 23"/>
                <a:gd name="T21" fmla="*/ 90 h 93"/>
                <a:gd name="T22" fmla="*/ 14 w 23"/>
                <a:gd name="T23" fmla="*/ 92 h 93"/>
                <a:gd name="T24" fmla="*/ 12 w 23"/>
                <a:gd name="T25" fmla="*/ 93 h 93"/>
                <a:gd name="T26" fmla="*/ 12 w 23"/>
                <a:gd name="T27" fmla="*/ 93 h 93"/>
                <a:gd name="T28" fmla="*/ 10 w 23"/>
                <a:gd name="T29" fmla="*/ 92 h 93"/>
                <a:gd name="T30" fmla="*/ 8 w 23"/>
                <a:gd name="T31" fmla="*/ 90 h 93"/>
                <a:gd name="T32" fmla="*/ 8 w 23"/>
                <a:gd name="T33" fmla="*/ 45 h 93"/>
                <a:gd name="T34" fmla="*/ 8 w 23"/>
                <a:gd name="T35" fmla="*/ 45 h 93"/>
                <a:gd name="T36" fmla="*/ 5 w 23"/>
                <a:gd name="T37" fmla="*/ 44 h 93"/>
                <a:gd name="T38" fmla="*/ 3 w 23"/>
                <a:gd name="T39" fmla="*/ 42 h 93"/>
                <a:gd name="T40" fmla="*/ 2 w 23"/>
                <a:gd name="T41" fmla="*/ 38 h 93"/>
                <a:gd name="T42" fmla="*/ 0 w 23"/>
                <a:gd name="T43" fmla="*/ 35 h 93"/>
                <a:gd name="T44" fmla="*/ 0 w 23"/>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0" y="35"/>
                  </a:moveTo>
                  <a:lnTo>
                    <a:pt x="0" y="0"/>
                  </a:lnTo>
                  <a:lnTo>
                    <a:pt x="23" y="0"/>
                  </a:lnTo>
                  <a:lnTo>
                    <a:pt x="23" y="35"/>
                  </a:lnTo>
                  <a:lnTo>
                    <a:pt x="23" y="35"/>
                  </a:lnTo>
                  <a:lnTo>
                    <a:pt x="22" y="38"/>
                  </a:lnTo>
                  <a:lnTo>
                    <a:pt x="21" y="42"/>
                  </a:lnTo>
                  <a:lnTo>
                    <a:pt x="19" y="44"/>
                  </a:lnTo>
                  <a:lnTo>
                    <a:pt x="15" y="45"/>
                  </a:lnTo>
                  <a:lnTo>
                    <a:pt x="15" y="90"/>
                  </a:lnTo>
                  <a:lnTo>
                    <a:pt x="15" y="90"/>
                  </a:lnTo>
                  <a:lnTo>
                    <a:pt x="14" y="92"/>
                  </a:lnTo>
                  <a:lnTo>
                    <a:pt x="12" y="93"/>
                  </a:lnTo>
                  <a:lnTo>
                    <a:pt x="12" y="93"/>
                  </a:lnTo>
                  <a:lnTo>
                    <a:pt x="10" y="92"/>
                  </a:lnTo>
                  <a:lnTo>
                    <a:pt x="8" y="90"/>
                  </a:lnTo>
                  <a:lnTo>
                    <a:pt x="8" y="45"/>
                  </a:lnTo>
                  <a:lnTo>
                    <a:pt x="8" y="45"/>
                  </a:lnTo>
                  <a:lnTo>
                    <a:pt x="5" y="44"/>
                  </a:lnTo>
                  <a:lnTo>
                    <a:pt x="3" y="42"/>
                  </a:lnTo>
                  <a:lnTo>
                    <a:pt x="2"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2" name="Freeform 229">
              <a:extLst>
                <a:ext uri="{FF2B5EF4-FFF2-40B4-BE49-F238E27FC236}">
                  <a16:creationId xmlns:a16="http://schemas.microsoft.com/office/drawing/2014/main" id="{A10189DC-D7AE-41EC-A7CB-A01DE58AF571}"/>
                </a:ext>
              </a:extLst>
            </p:cNvPr>
            <p:cNvSpPr>
              <a:spLocks/>
            </p:cNvSpPr>
            <p:nvPr userDrawn="1"/>
          </p:nvSpPr>
          <p:spPr bwMode="auto">
            <a:xfrm>
              <a:off x="6316684" y="3563980"/>
              <a:ext cx="19050" cy="74613"/>
            </a:xfrm>
            <a:custGeom>
              <a:avLst/>
              <a:gdLst>
                <a:gd name="T0" fmla="*/ 0 w 23"/>
                <a:gd name="T1" fmla="*/ 35 h 93"/>
                <a:gd name="T2" fmla="*/ 0 w 23"/>
                <a:gd name="T3" fmla="*/ 0 h 93"/>
                <a:gd name="T4" fmla="*/ 23 w 23"/>
                <a:gd name="T5" fmla="*/ 0 h 93"/>
                <a:gd name="T6" fmla="*/ 23 w 23"/>
                <a:gd name="T7" fmla="*/ 35 h 93"/>
                <a:gd name="T8" fmla="*/ 23 w 23"/>
                <a:gd name="T9" fmla="*/ 35 h 93"/>
                <a:gd name="T10" fmla="*/ 22 w 23"/>
                <a:gd name="T11" fmla="*/ 38 h 93"/>
                <a:gd name="T12" fmla="*/ 21 w 23"/>
                <a:gd name="T13" fmla="*/ 42 h 93"/>
                <a:gd name="T14" fmla="*/ 19 w 23"/>
                <a:gd name="T15" fmla="*/ 44 h 93"/>
                <a:gd name="T16" fmla="*/ 15 w 23"/>
                <a:gd name="T17" fmla="*/ 45 h 93"/>
                <a:gd name="T18" fmla="*/ 15 w 23"/>
                <a:gd name="T19" fmla="*/ 90 h 93"/>
                <a:gd name="T20" fmla="*/ 15 w 23"/>
                <a:gd name="T21" fmla="*/ 90 h 93"/>
                <a:gd name="T22" fmla="*/ 14 w 23"/>
                <a:gd name="T23" fmla="*/ 92 h 93"/>
                <a:gd name="T24" fmla="*/ 12 w 23"/>
                <a:gd name="T25" fmla="*/ 93 h 93"/>
                <a:gd name="T26" fmla="*/ 12 w 23"/>
                <a:gd name="T27" fmla="*/ 93 h 93"/>
                <a:gd name="T28" fmla="*/ 10 w 23"/>
                <a:gd name="T29" fmla="*/ 92 h 93"/>
                <a:gd name="T30" fmla="*/ 8 w 23"/>
                <a:gd name="T31" fmla="*/ 90 h 93"/>
                <a:gd name="T32" fmla="*/ 8 w 23"/>
                <a:gd name="T33" fmla="*/ 45 h 93"/>
                <a:gd name="T34" fmla="*/ 8 w 23"/>
                <a:gd name="T35" fmla="*/ 45 h 93"/>
                <a:gd name="T36" fmla="*/ 5 w 23"/>
                <a:gd name="T37" fmla="*/ 44 h 93"/>
                <a:gd name="T38" fmla="*/ 3 w 23"/>
                <a:gd name="T39" fmla="*/ 42 h 93"/>
                <a:gd name="T40" fmla="*/ 2 w 23"/>
                <a:gd name="T41" fmla="*/ 38 h 93"/>
                <a:gd name="T42" fmla="*/ 0 w 23"/>
                <a:gd name="T43" fmla="*/ 35 h 93"/>
                <a:gd name="T44" fmla="*/ 0 w 23"/>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0" y="35"/>
                  </a:moveTo>
                  <a:lnTo>
                    <a:pt x="0" y="0"/>
                  </a:lnTo>
                  <a:lnTo>
                    <a:pt x="23" y="0"/>
                  </a:lnTo>
                  <a:lnTo>
                    <a:pt x="23" y="35"/>
                  </a:lnTo>
                  <a:lnTo>
                    <a:pt x="23" y="35"/>
                  </a:lnTo>
                  <a:lnTo>
                    <a:pt x="22" y="38"/>
                  </a:lnTo>
                  <a:lnTo>
                    <a:pt x="21" y="42"/>
                  </a:lnTo>
                  <a:lnTo>
                    <a:pt x="19" y="44"/>
                  </a:lnTo>
                  <a:lnTo>
                    <a:pt x="15" y="45"/>
                  </a:lnTo>
                  <a:lnTo>
                    <a:pt x="15" y="90"/>
                  </a:lnTo>
                  <a:lnTo>
                    <a:pt x="15" y="90"/>
                  </a:lnTo>
                  <a:lnTo>
                    <a:pt x="14" y="92"/>
                  </a:lnTo>
                  <a:lnTo>
                    <a:pt x="12" y="93"/>
                  </a:lnTo>
                  <a:lnTo>
                    <a:pt x="12" y="93"/>
                  </a:lnTo>
                  <a:lnTo>
                    <a:pt x="10" y="92"/>
                  </a:lnTo>
                  <a:lnTo>
                    <a:pt x="8" y="90"/>
                  </a:lnTo>
                  <a:lnTo>
                    <a:pt x="8" y="45"/>
                  </a:lnTo>
                  <a:lnTo>
                    <a:pt x="8" y="45"/>
                  </a:lnTo>
                  <a:lnTo>
                    <a:pt x="5" y="44"/>
                  </a:lnTo>
                  <a:lnTo>
                    <a:pt x="3" y="42"/>
                  </a:lnTo>
                  <a:lnTo>
                    <a:pt x="2"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3" name="Freeform 230">
              <a:extLst>
                <a:ext uri="{FF2B5EF4-FFF2-40B4-BE49-F238E27FC236}">
                  <a16:creationId xmlns:a16="http://schemas.microsoft.com/office/drawing/2014/main" id="{2C30EAE7-954D-4821-B120-8AB1410F7489}"/>
                </a:ext>
              </a:extLst>
            </p:cNvPr>
            <p:cNvSpPr>
              <a:spLocks/>
            </p:cNvSpPr>
            <p:nvPr userDrawn="1"/>
          </p:nvSpPr>
          <p:spPr bwMode="auto">
            <a:xfrm>
              <a:off x="6286521" y="3563980"/>
              <a:ext cx="19050" cy="74613"/>
            </a:xfrm>
            <a:custGeom>
              <a:avLst/>
              <a:gdLst>
                <a:gd name="T0" fmla="*/ 0 w 23"/>
                <a:gd name="T1" fmla="*/ 35 h 93"/>
                <a:gd name="T2" fmla="*/ 0 w 23"/>
                <a:gd name="T3" fmla="*/ 0 h 93"/>
                <a:gd name="T4" fmla="*/ 23 w 23"/>
                <a:gd name="T5" fmla="*/ 0 h 93"/>
                <a:gd name="T6" fmla="*/ 23 w 23"/>
                <a:gd name="T7" fmla="*/ 35 h 93"/>
                <a:gd name="T8" fmla="*/ 23 w 23"/>
                <a:gd name="T9" fmla="*/ 35 h 93"/>
                <a:gd name="T10" fmla="*/ 22 w 23"/>
                <a:gd name="T11" fmla="*/ 38 h 93"/>
                <a:gd name="T12" fmla="*/ 21 w 23"/>
                <a:gd name="T13" fmla="*/ 42 h 93"/>
                <a:gd name="T14" fmla="*/ 19 w 23"/>
                <a:gd name="T15" fmla="*/ 44 h 93"/>
                <a:gd name="T16" fmla="*/ 15 w 23"/>
                <a:gd name="T17" fmla="*/ 45 h 93"/>
                <a:gd name="T18" fmla="*/ 15 w 23"/>
                <a:gd name="T19" fmla="*/ 90 h 93"/>
                <a:gd name="T20" fmla="*/ 15 w 23"/>
                <a:gd name="T21" fmla="*/ 90 h 93"/>
                <a:gd name="T22" fmla="*/ 14 w 23"/>
                <a:gd name="T23" fmla="*/ 92 h 93"/>
                <a:gd name="T24" fmla="*/ 12 w 23"/>
                <a:gd name="T25" fmla="*/ 93 h 93"/>
                <a:gd name="T26" fmla="*/ 12 w 23"/>
                <a:gd name="T27" fmla="*/ 93 h 93"/>
                <a:gd name="T28" fmla="*/ 10 w 23"/>
                <a:gd name="T29" fmla="*/ 92 h 93"/>
                <a:gd name="T30" fmla="*/ 8 w 23"/>
                <a:gd name="T31" fmla="*/ 90 h 93"/>
                <a:gd name="T32" fmla="*/ 8 w 23"/>
                <a:gd name="T33" fmla="*/ 45 h 93"/>
                <a:gd name="T34" fmla="*/ 8 w 23"/>
                <a:gd name="T35" fmla="*/ 45 h 93"/>
                <a:gd name="T36" fmla="*/ 5 w 23"/>
                <a:gd name="T37" fmla="*/ 44 h 93"/>
                <a:gd name="T38" fmla="*/ 3 w 23"/>
                <a:gd name="T39" fmla="*/ 42 h 93"/>
                <a:gd name="T40" fmla="*/ 2 w 23"/>
                <a:gd name="T41" fmla="*/ 38 h 93"/>
                <a:gd name="T42" fmla="*/ 0 w 23"/>
                <a:gd name="T43" fmla="*/ 35 h 93"/>
                <a:gd name="T44" fmla="*/ 0 w 23"/>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0" y="35"/>
                  </a:moveTo>
                  <a:lnTo>
                    <a:pt x="0" y="0"/>
                  </a:lnTo>
                  <a:lnTo>
                    <a:pt x="23" y="0"/>
                  </a:lnTo>
                  <a:lnTo>
                    <a:pt x="23" y="35"/>
                  </a:lnTo>
                  <a:lnTo>
                    <a:pt x="23" y="35"/>
                  </a:lnTo>
                  <a:lnTo>
                    <a:pt x="22" y="38"/>
                  </a:lnTo>
                  <a:lnTo>
                    <a:pt x="21" y="42"/>
                  </a:lnTo>
                  <a:lnTo>
                    <a:pt x="19" y="44"/>
                  </a:lnTo>
                  <a:lnTo>
                    <a:pt x="15" y="45"/>
                  </a:lnTo>
                  <a:lnTo>
                    <a:pt x="15" y="90"/>
                  </a:lnTo>
                  <a:lnTo>
                    <a:pt x="15" y="90"/>
                  </a:lnTo>
                  <a:lnTo>
                    <a:pt x="14" y="92"/>
                  </a:lnTo>
                  <a:lnTo>
                    <a:pt x="12" y="93"/>
                  </a:lnTo>
                  <a:lnTo>
                    <a:pt x="12" y="93"/>
                  </a:lnTo>
                  <a:lnTo>
                    <a:pt x="10" y="92"/>
                  </a:lnTo>
                  <a:lnTo>
                    <a:pt x="8" y="90"/>
                  </a:lnTo>
                  <a:lnTo>
                    <a:pt x="8" y="45"/>
                  </a:lnTo>
                  <a:lnTo>
                    <a:pt x="8" y="45"/>
                  </a:lnTo>
                  <a:lnTo>
                    <a:pt x="5" y="44"/>
                  </a:lnTo>
                  <a:lnTo>
                    <a:pt x="3" y="42"/>
                  </a:lnTo>
                  <a:lnTo>
                    <a:pt x="2"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4" name="Freeform 231">
              <a:extLst>
                <a:ext uri="{FF2B5EF4-FFF2-40B4-BE49-F238E27FC236}">
                  <a16:creationId xmlns:a16="http://schemas.microsoft.com/office/drawing/2014/main" id="{78967020-CEC9-44DB-97B5-56393E8B21E2}"/>
                </a:ext>
              </a:extLst>
            </p:cNvPr>
            <p:cNvSpPr>
              <a:spLocks/>
            </p:cNvSpPr>
            <p:nvPr userDrawn="1"/>
          </p:nvSpPr>
          <p:spPr bwMode="auto">
            <a:xfrm>
              <a:off x="6226196" y="3563980"/>
              <a:ext cx="17463" cy="74613"/>
            </a:xfrm>
            <a:custGeom>
              <a:avLst/>
              <a:gdLst>
                <a:gd name="T0" fmla="*/ 0 w 22"/>
                <a:gd name="T1" fmla="*/ 35 h 93"/>
                <a:gd name="T2" fmla="*/ 0 w 22"/>
                <a:gd name="T3" fmla="*/ 0 h 93"/>
                <a:gd name="T4" fmla="*/ 22 w 22"/>
                <a:gd name="T5" fmla="*/ 0 h 93"/>
                <a:gd name="T6" fmla="*/ 22 w 22"/>
                <a:gd name="T7" fmla="*/ 35 h 93"/>
                <a:gd name="T8" fmla="*/ 22 w 22"/>
                <a:gd name="T9" fmla="*/ 35 h 93"/>
                <a:gd name="T10" fmla="*/ 22 w 22"/>
                <a:gd name="T11" fmla="*/ 38 h 93"/>
                <a:gd name="T12" fmla="*/ 21 w 22"/>
                <a:gd name="T13" fmla="*/ 42 h 93"/>
                <a:gd name="T14" fmla="*/ 19 w 22"/>
                <a:gd name="T15" fmla="*/ 44 h 93"/>
                <a:gd name="T16" fmla="*/ 15 w 22"/>
                <a:gd name="T17" fmla="*/ 45 h 93"/>
                <a:gd name="T18" fmla="*/ 15 w 22"/>
                <a:gd name="T19" fmla="*/ 90 h 93"/>
                <a:gd name="T20" fmla="*/ 15 w 22"/>
                <a:gd name="T21" fmla="*/ 90 h 93"/>
                <a:gd name="T22" fmla="*/ 14 w 22"/>
                <a:gd name="T23" fmla="*/ 92 h 93"/>
                <a:gd name="T24" fmla="*/ 12 w 22"/>
                <a:gd name="T25" fmla="*/ 93 h 93"/>
                <a:gd name="T26" fmla="*/ 12 w 22"/>
                <a:gd name="T27" fmla="*/ 93 h 93"/>
                <a:gd name="T28" fmla="*/ 8 w 22"/>
                <a:gd name="T29" fmla="*/ 92 h 93"/>
                <a:gd name="T30" fmla="*/ 8 w 22"/>
                <a:gd name="T31" fmla="*/ 90 h 93"/>
                <a:gd name="T32" fmla="*/ 8 w 22"/>
                <a:gd name="T33" fmla="*/ 45 h 93"/>
                <a:gd name="T34" fmla="*/ 8 w 22"/>
                <a:gd name="T35" fmla="*/ 45 h 93"/>
                <a:gd name="T36" fmla="*/ 5 w 22"/>
                <a:gd name="T37" fmla="*/ 44 h 93"/>
                <a:gd name="T38" fmla="*/ 3 w 22"/>
                <a:gd name="T39" fmla="*/ 42 h 93"/>
                <a:gd name="T40" fmla="*/ 2 w 22"/>
                <a:gd name="T41" fmla="*/ 38 h 93"/>
                <a:gd name="T42" fmla="*/ 0 w 22"/>
                <a:gd name="T43" fmla="*/ 35 h 93"/>
                <a:gd name="T44" fmla="*/ 0 w 22"/>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93">
                  <a:moveTo>
                    <a:pt x="0" y="35"/>
                  </a:moveTo>
                  <a:lnTo>
                    <a:pt x="0" y="0"/>
                  </a:lnTo>
                  <a:lnTo>
                    <a:pt x="22" y="0"/>
                  </a:lnTo>
                  <a:lnTo>
                    <a:pt x="22" y="35"/>
                  </a:lnTo>
                  <a:lnTo>
                    <a:pt x="22" y="35"/>
                  </a:lnTo>
                  <a:lnTo>
                    <a:pt x="22" y="38"/>
                  </a:lnTo>
                  <a:lnTo>
                    <a:pt x="21" y="42"/>
                  </a:lnTo>
                  <a:lnTo>
                    <a:pt x="19" y="44"/>
                  </a:lnTo>
                  <a:lnTo>
                    <a:pt x="15" y="45"/>
                  </a:lnTo>
                  <a:lnTo>
                    <a:pt x="15" y="90"/>
                  </a:lnTo>
                  <a:lnTo>
                    <a:pt x="15" y="90"/>
                  </a:lnTo>
                  <a:lnTo>
                    <a:pt x="14" y="92"/>
                  </a:lnTo>
                  <a:lnTo>
                    <a:pt x="12" y="93"/>
                  </a:lnTo>
                  <a:lnTo>
                    <a:pt x="12" y="93"/>
                  </a:lnTo>
                  <a:lnTo>
                    <a:pt x="8" y="92"/>
                  </a:lnTo>
                  <a:lnTo>
                    <a:pt x="8" y="90"/>
                  </a:lnTo>
                  <a:lnTo>
                    <a:pt x="8" y="45"/>
                  </a:lnTo>
                  <a:lnTo>
                    <a:pt x="8" y="45"/>
                  </a:lnTo>
                  <a:lnTo>
                    <a:pt x="5" y="44"/>
                  </a:lnTo>
                  <a:lnTo>
                    <a:pt x="3" y="42"/>
                  </a:lnTo>
                  <a:lnTo>
                    <a:pt x="2"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5" name="Freeform 232">
              <a:extLst>
                <a:ext uri="{FF2B5EF4-FFF2-40B4-BE49-F238E27FC236}">
                  <a16:creationId xmlns:a16="http://schemas.microsoft.com/office/drawing/2014/main" id="{06AA2F9B-532A-48F4-BE94-A578EF618EDA}"/>
                </a:ext>
              </a:extLst>
            </p:cNvPr>
            <p:cNvSpPr>
              <a:spLocks/>
            </p:cNvSpPr>
            <p:nvPr userDrawn="1"/>
          </p:nvSpPr>
          <p:spPr bwMode="auto">
            <a:xfrm>
              <a:off x="6256359" y="3563980"/>
              <a:ext cx="19050" cy="74613"/>
            </a:xfrm>
            <a:custGeom>
              <a:avLst/>
              <a:gdLst>
                <a:gd name="T0" fmla="*/ 0 w 23"/>
                <a:gd name="T1" fmla="*/ 35 h 93"/>
                <a:gd name="T2" fmla="*/ 0 w 23"/>
                <a:gd name="T3" fmla="*/ 0 h 93"/>
                <a:gd name="T4" fmla="*/ 23 w 23"/>
                <a:gd name="T5" fmla="*/ 0 h 93"/>
                <a:gd name="T6" fmla="*/ 23 w 23"/>
                <a:gd name="T7" fmla="*/ 35 h 93"/>
                <a:gd name="T8" fmla="*/ 23 w 23"/>
                <a:gd name="T9" fmla="*/ 35 h 93"/>
                <a:gd name="T10" fmla="*/ 22 w 23"/>
                <a:gd name="T11" fmla="*/ 38 h 93"/>
                <a:gd name="T12" fmla="*/ 21 w 23"/>
                <a:gd name="T13" fmla="*/ 42 h 93"/>
                <a:gd name="T14" fmla="*/ 19 w 23"/>
                <a:gd name="T15" fmla="*/ 44 h 93"/>
                <a:gd name="T16" fmla="*/ 15 w 23"/>
                <a:gd name="T17" fmla="*/ 45 h 93"/>
                <a:gd name="T18" fmla="*/ 15 w 23"/>
                <a:gd name="T19" fmla="*/ 90 h 93"/>
                <a:gd name="T20" fmla="*/ 15 w 23"/>
                <a:gd name="T21" fmla="*/ 90 h 93"/>
                <a:gd name="T22" fmla="*/ 14 w 23"/>
                <a:gd name="T23" fmla="*/ 92 h 93"/>
                <a:gd name="T24" fmla="*/ 12 w 23"/>
                <a:gd name="T25" fmla="*/ 93 h 93"/>
                <a:gd name="T26" fmla="*/ 12 w 23"/>
                <a:gd name="T27" fmla="*/ 93 h 93"/>
                <a:gd name="T28" fmla="*/ 10 w 23"/>
                <a:gd name="T29" fmla="*/ 92 h 93"/>
                <a:gd name="T30" fmla="*/ 8 w 23"/>
                <a:gd name="T31" fmla="*/ 90 h 93"/>
                <a:gd name="T32" fmla="*/ 8 w 23"/>
                <a:gd name="T33" fmla="*/ 45 h 93"/>
                <a:gd name="T34" fmla="*/ 8 w 23"/>
                <a:gd name="T35" fmla="*/ 45 h 93"/>
                <a:gd name="T36" fmla="*/ 5 w 23"/>
                <a:gd name="T37" fmla="*/ 44 h 93"/>
                <a:gd name="T38" fmla="*/ 3 w 23"/>
                <a:gd name="T39" fmla="*/ 42 h 93"/>
                <a:gd name="T40" fmla="*/ 2 w 23"/>
                <a:gd name="T41" fmla="*/ 38 h 93"/>
                <a:gd name="T42" fmla="*/ 0 w 23"/>
                <a:gd name="T43" fmla="*/ 35 h 93"/>
                <a:gd name="T44" fmla="*/ 0 w 23"/>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0" y="35"/>
                  </a:moveTo>
                  <a:lnTo>
                    <a:pt x="0" y="0"/>
                  </a:lnTo>
                  <a:lnTo>
                    <a:pt x="23" y="0"/>
                  </a:lnTo>
                  <a:lnTo>
                    <a:pt x="23" y="35"/>
                  </a:lnTo>
                  <a:lnTo>
                    <a:pt x="23" y="35"/>
                  </a:lnTo>
                  <a:lnTo>
                    <a:pt x="22" y="38"/>
                  </a:lnTo>
                  <a:lnTo>
                    <a:pt x="21" y="42"/>
                  </a:lnTo>
                  <a:lnTo>
                    <a:pt x="19" y="44"/>
                  </a:lnTo>
                  <a:lnTo>
                    <a:pt x="15" y="45"/>
                  </a:lnTo>
                  <a:lnTo>
                    <a:pt x="15" y="90"/>
                  </a:lnTo>
                  <a:lnTo>
                    <a:pt x="15" y="90"/>
                  </a:lnTo>
                  <a:lnTo>
                    <a:pt x="14" y="92"/>
                  </a:lnTo>
                  <a:lnTo>
                    <a:pt x="12" y="93"/>
                  </a:lnTo>
                  <a:lnTo>
                    <a:pt x="12" y="93"/>
                  </a:lnTo>
                  <a:lnTo>
                    <a:pt x="10" y="92"/>
                  </a:lnTo>
                  <a:lnTo>
                    <a:pt x="8" y="90"/>
                  </a:lnTo>
                  <a:lnTo>
                    <a:pt x="8" y="45"/>
                  </a:lnTo>
                  <a:lnTo>
                    <a:pt x="8" y="45"/>
                  </a:lnTo>
                  <a:lnTo>
                    <a:pt x="5" y="44"/>
                  </a:lnTo>
                  <a:lnTo>
                    <a:pt x="3" y="42"/>
                  </a:lnTo>
                  <a:lnTo>
                    <a:pt x="2"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6" name="Freeform 233">
              <a:extLst>
                <a:ext uri="{FF2B5EF4-FFF2-40B4-BE49-F238E27FC236}">
                  <a16:creationId xmlns:a16="http://schemas.microsoft.com/office/drawing/2014/main" id="{B4BAA03E-7506-44D3-B7BB-8231541E8662}"/>
                </a:ext>
              </a:extLst>
            </p:cNvPr>
            <p:cNvSpPr>
              <a:spLocks/>
            </p:cNvSpPr>
            <p:nvPr userDrawn="1"/>
          </p:nvSpPr>
          <p:spPr bwMode="auto">
            <a:xfrm>
              <a:off x="6103958" y="3498892"/>
              <a:ext cx="74613" cy="17463"/>
            </a:xfrm>
            <a:custGeom>
              <a:avLst/>
              <a:gdLst>
                <a:gd name="T0" fmla="*/ 59 w 95"/>
                <a:gd name="T1" fmla="*/ 0 h 23"/>
                <a:gd name="T2" fmla="*/ 95 w 95"/>
                <a:gd name="T3" fmla="*/ 0 h 23"/>
                <a:gd name="T4" fmla="*/ 95 w 95"/>
                <a:gd name="T5" fmla="*/ 23 h 23"/>
                <a:gd name="T6" fmla="*/ 59 w 95"/>
                <a:gd name="T7" fmla="*/ 23 h 23"/>
                <a:gd name="T8" fmla="*/ 59 w 95"/>
                <a:gd name="T9" fmla="*/ 23 h 23"/>
                <a:gd name="T10" fmla="*/ 55 w 95"/>
                <a:gd name="T11" fmla="*/ 22 h 23"/>
                <a:gd name="T12" fmla="*/ 53 w 95"/>
                <a:gd name="T13" fmla="*/ 21 h 23"/>
                <a:gd name="T14" fmla="*/ 51 w 95"/>
                <a:gd name="T15" fmla="*/ 19 h 23"/>
                <a:gd name="T16" fmla="*/ 48 w 95"/>
                <a:gd name="T17" fmla="*/ 15 h 23"/>
                <a:gd name="T18" fmla="*/ 5 w 95"/>
                <a:gd name="T19" fmla="*/ 15 h 23"/>
                <a:gd name="T20" fmla="*/ 5 w 95"/>
                <a:gd name="T21" fmla="*/ 15 h 23"/>
                <a:gd name="T22" fmla="*/ 1 w 95"/>
                <a:gd name="T23" fmla="*/ 14 h 23"/>
                <a:gd name="T24" fmla="*/ 0 w 95"/>
                <a:gd name="T25" fmla="*/ 12 h 23"/>
                <a:gd name="T26" fmla="*/ 0 w 95"/>
                <a:gd name="T27" fmla="*/ 12 h 23"/>
                <a:gd name="T28" fmla="*/ 1 w 95"/>
                <a:gd name="T29" fmla="*/ 9 h 23"/>
                <a:gd name="T30" fmla="*/ 5 w 95"/>
                <a:gd name="T31" fmla="*/ 8 h 23"/>
                <a:gd name="T32" fmla="*/ 48 w 95"/>
                <a:gd name="T33" fmla="*/ 8 h 23"/>
                <a:gd name="T34" fmla="*/ 48 w 95"/>
                <a:gd name="T35" fmla="*/ 8 h 23"/>
                <a:gd name="T36" fmla="*/ 51 w 95"/>
                <a:gd name="T37" fmla="*/ 5 h 23"/>
                <a:gd name="T38" fmla="*/ 53 w 95"/>
                <a:gd name="T39" fmla="*/ 2 h 23"/>
                <a:gd name="T40" fmla="*/ 55 w 95"/>
                <a:gd name="T41" fmla="*/ 1 h 23"/>
                <a:gd name="T42" fmla="*/ 59 w 95"/>
                <a:gd name="T43" fmla="*/ 0 h 23"/>
                <a:gd name="T44" fmla="*/ 59 w 95"/>
                <a:gd name="T4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3">
                  <a:moveTo>
                    <a:pt x="59" y="0"/>
                  </a:moveTo>
                  <a:lnTo>
                    <a:pt x="95" y="0"/>
                  </a:lnTo>
                  <a:lnTo>
                    <a:pt x="95" y="23"/>
                  </a:lnTo>
                  <a:lnTo>
                    <a:pt x="59" y="23"/>
                  </a:lnTo>
                  <a:lnTo>
                    <a:pt x="59" y="23"/>
                  </a:lnTo>
                  <a:lnTo>
                    <a:pt x="55" y="22"/>
                  </a:lnTo>
                  <a:lnTo>
                    <a:pt x="53" y="21"/>
                  </a:lnTo>
                  <a:lnTo>
                    <a:pt x="51" y="19"/>
                  </a:lnTo>
                  <a:lnTo>
                    <a:pt x="48" y="15"/>
                  </a:lnTo>
                  <a:lnTo>
                    <a:pt x="5" y="15"/>
                  </a:lnTo>
                  <a:lnTo>
                    <a:pt x="5" y="15"/>
                  </a:lnTo>
                  <a:lnTo>
                    <a:pt x="1" y="14"/>
                  </a:lnTo>
                  <a:lnTo>
                    <a:pt x="0" y="12"/>
                  </a:lnTo>
                  <a:lnTo>
                    <a:pt x="0" y="12"/>
                  </a:lnTo>
                  <a:lnTo>
                    <a:pt x="1" y="9"/>
                  </a:lnTo>
                  <a:lnTo>
                    <a:pt x="5" y="8"/>
                  </a:lnTo>
                  <a:lnTo>
                    <a:pt x="48" y="8"/>
                  </a:lnTo>
                  <a:lnTo>
                    <a:pt x="48" y="8"/>
                  </a:lnTo>
                  <a:lnTo>
                    <a:pt x="51" y="5"/>
                  </a:lnTo>
                  <a:lnTo>
                    <a:pt x="53" y="2"/>
                  </a:lnTo>
                  <a:lnTo>
                    <a:pt x="55" y="1"/>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7" name="Freeform 234">
              <a:extLst>
                <a:ext uri="{FF2B5EF4-FFF2-40B4-BE49-F238E27FC236}">
                  <a16:creationId xmlns:a16="http://schemas.microsoft.com/office/drawing/2014/main" id="{4495226A-D4C6-46B2-B779-25CE0DE0BEFC}"/>
                </a:ext>
              </a:extLst>
            </p:cNvPr>
            <p:cNvSpPr>
              <a:spLocks/>
            </p:cNvSpPr>
            <p:nvPr userDrawn="1"/>
          </p:nvSpPr>
          <p:spPr bwMode="auto">
            <a:xfrm>
              <a:off x="6103958" y="3468729"/>
              <a:ext cx="74613" cy="17463"/>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1 h 22"/>
                <a:gd name="T14" fmla="*/ 51 w 95"/>
                <a:gd name="T15" fmla="*/ 19 h 22"/>
                <a:gd name="T16" fmla="*/ 48 w 95"/>
                <a:gd name="T17" fmla="*/ 15 h 22"/>
                <a:gd name="T18" fmla="*/ 5 w 95"/>
                <a:gd name="T19" fmla="*/ 15 h 22"/>
                <a:gd name="T20" fmla="*/ 5 w 95"/>
                <a:gd name="T21" fmla="*/ 15 h 22"/>
                <a:gd name="T22" fmla="*/ 1 w 95"/>
                <a:gd name="T23" fmla="*/ 14 h 22"/>
                <a:gd name="T24" fmla="*/ 0 w 95"/>
                <a:gd name="T25" fmla="*/ 12 h 22"/>
                <a:gd name="T26" fmla="*/ 0 w 95"/>
                <a:gd name="T27" fmla="*/ 12 h 22"/>
                <a:gd name="T28" fmla="*/ 1 w 95"/>
                <a:gd name="T29" fmla="*/ 8 h 22"/>
                <a:gd name="T30" fmla="*/ 5 w 95"/>
                <a:gd name="T31" fmla="*/ 8 h 22"/>
                <a:gd name="T32" fmla="*/ 48 w 95"/>
                <a:gd name="T33" fmla="*/ 8 h 22"/>
                <a:gd name="T34" fmla="*/ 48 w 95"/>
                <a:gd name="T35" fmla="*/ 8 h 22"/>
                <a:gd name="T36" fmla="*/ 51 w 95"/>
                <a:gd name="T37" fmla="*/ 5 h 22"/>
                <a:gd name="T38" fmla="*/ 53 w 95"/>
                <a:gd name="T39" fmla="*/ 2 h 22"/>
                <a:gd name="T40" fmla="*/ 55 w 95"/>
                <a:gd name="T41" fmla="*/ 1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1"/>
                  </a:lnTo>
                  <a:lnTo>
                    <a:pt x="51" y="19"/>
                  </a:lnTo>
                  <a:lnTo>
                    <a:pt x="48" y="15"/>
                  </a:lnTo>
                  <a:lnTo>
                    <a:pt x="5" y="15"/>
                  </a:lnTo>
                  <a:lnTo>
                    <a:pt x="5" y="15"/>
                  </a:lnTo>
                  <a:lnTo>
                    <a:pt x="1" y="14"/>
                  </a:lnTo>
                  <a:lnTo>
                    <a:pt x="0" y="12"/>
                  </a:lnTo>
                  <a:lnTo>
                    <a:pt x="0" y="12"/>
                  </a:lnTo>
                  <a:lnTo>
                    <a:pt x="1" y="8"/>
                  </a:lnTo>
                  <a:lnTo>
                    <a:pt x="5" y="8"/>
                  </a:lnTo>
                  <a:lnTo>
                    <a:pt x="48" y="8"/>
                  </a:lnTo>
                  <a:lnTo>
                    <a:pt x="48" y="8"/>
                  </a:lnTo>
                  <a:lnTo>
                    <a:pt x="51" y="5"/>
                  </a:lnTo>
                  <a:lnTo>
                    <a:pt x="53" y="2"/>
                  </a:lnTo>
                  <a:lnTo>
                    <a:pt x="55" y="1"/>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8" name="Freeform 235">
              <a:extLst>
                <a:ext uri="{FF2B5EF4-FFF2-40B4-BE49-F238E27FC236}">
                  <a16:creationId xmlns:a16="http://schemas.microsoft.com/office/drawing/2014/main" id="{34BAC1E5-2C0F-46BF-BAE4-7C62671DB415}"/>
                </a:ext>
              </a:extLst>
            </p:cNvPr>
            <p:cNvSpPr>
              <a:spLocks/>
            </p:cNvSpPr>
            <p:nvPr userDrawn="1"/>
          </p:nvSpPr>
          <p:spPr bwMode="auto">
            <a:xfrm>
              <a:off x="6103958" y="3438566"/>
              <a:ext cx="74613" cy="17463"/>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1 h 22"/>
                <a:gd name="T14" fmla="*/ 51 w 95"/>
                <a:gd name="T15" fmla="*/ 19 h 22"/>
                <a:gd name="T16" fmla="*/ 48 w 95"/>
                <a:gd name="T17" fmla="*/ 15 h 22"/>
                <a:gd name="T18" fmla="*/ 5 w 95"/>
                <a:gd name="T19" fmla="*/ 15 h 22"/>
                <a:gd name="T20" fmla="*/ 5 w 95"/>
                <a:gd name="T21" fmla="*/ 15 h 22"/>
                <a:gd name="T22" fmla="*/ 1 w 95"/>
                <a:gd name="T23" fmla="*/ 14 h 22"/>
                <a:gd name="T24" fmla="*/ 0 w 95"/>
                <a:gd name="T25" fmla="*/ 12 h 22"/>
                <a:gd name="T26" fmla="*/ 0 w 95"/>
                <a:gd name="T27" fmla="*/ 12 h 22"/>
                <a:gd name="T28" fmla="*/ 1 w 95"/>
                <a:gd name="T29" fmla="*/ 8 h 22"/>
                <a:gd name="T30" fmla="*/ 5 w 95"/>
                <a:gd name="T31" fmla="*/ 7 h 22"/>
                <a:gd name="T32" fmla="*/ 48 w 95"/>
                <a:gd name="T33" fmla="*/ 7 h 22"/>
                <a:gd name="T34" fmla="*/ 48 w 95"/>
                <a:gd name="T35" fmla="*/ 7 h 22"/>
                <a:gd name="T36" fmla="*/ 51 w 95"/>
                <a:gd name="T37" fmla="*/ 5 h 22"/>
                <a:gd name="T38" fmla="*/ 53 w 95"/>
                <a:gd name="T39" fmla="*/ 2 h 22"/>
                <a:gd name="T40" fmla="*/ 55 w 95"/>
                <a:gd name="T41" fmla="*/ 0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1"/>
                  </a:lnTo>
                  <a:lnTo>
                    <a:pt x="51" y="19"/>
                  </a:lnTo>
                  <a:lnTo>
                    <a:pt x="48" y="15"/>
                  </a:lnTo>
                  <a:lnTo>
                    <a:pt x="5" y="15"/>
                  </a:lnTo>
                  <a:lnTo>
                    <a:pt x="5" y="15"/>
                  </a:lnTo>
                  <a:lnTo>
                    <a:pt x="1" y="14"/>
                  </a:lnTo>
                  <a:lnTo>
                    <a:pt x="0" y="12"/>
                  </a:lnTo>
                  <a:lnTo>
                    <a:pt x="0" y="12"/>
                  </a:lnTo>
                  <a:lnTo>
                    <a:pt x="1" y="8"/>
                  </a:lnTo>
                  <a:lnTo>
                    <a:pt x="5" y="7"/>
                  </a:lnTo>
                  <a:lnTo>
                    <a:pt x="48" y="7"/>
                  </a:lnTo>
                  <a:lnTo>
                    <a:pt x="48" y="7"/>
                  </a:lnTo>
                  <a:lnTo>
                    <a:pt x="51" y="5"/>
                  </a:lnTo>
                  <a:lnTo>
                    <a:pt x="53" y="2"/>
                  </a:lnTo>
                  <a:lnTo>
                    <a:pt x="55" y="0"/>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9" name="Freeform 236">
              <a:extLst>
                <a:ext uri="{FF2B5EF4-FFF2-40B4-BE49-F238E27FC236}">
                  <a16:creationId xmlns:a16="http://schemas.microsoft.com/office/drawing/2014/main" id="{BA91F17B-FABA-4DBF-B7E1-BEEE9196A335}"/>
                </a:ext>
              </a:extLst>
            </p:cNvPr>
            <p:cNvSpPr>
              <a:spLocks/>
            </p:cNvSpPr>
            <p:nvPr userDrawn="1"/>
          </p:nvSpPr>
          <p:spPr bwMode="auto">
            <a:xfrm>
              <a:off x="6103958" y="3408403"/>
              <a:ext cx="74613" cy="17463"/>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1 h 22"/>
                <a:gd name="T14" fmla="*/ 51 w 95"/>
                <a:gd name="T15" fmla="*/ 17 h 22"/>
                <a:gd name="T16" fmla="*/ 48 w 95"/>
                <a:gd name="T17" fmla="*/ 15 h 22"/>
                <a:gd name="T18" fmla="*/ 5 w 95"/>
                <a:gd name="T19" fmla="*/ 15 h 22"/>
                <a:gd name="T20" fmla="*/ 5 w 95"/>
                <a:gd name="T21" fmla="*/ 15 h 22"/>
                <a:gd name="T22" fmla="*/ 1 w 95"/>
                <a:gd name="T23" fmla="*/ 14 h 22"/>
                <a:gd name="T24" fmla="*/ 0 w 95"/>
                <a:gd name="T25" fmla="*/ 12 h 22"/>
                <a:gd name="T26" fmla="*/ 0 w 95"/>
                <a:gd name="T27" fmla="*/ 12 h 22"/>
                <a:gd name="T28" fmla="*/ 1 w 95"/>
                <a:gd name="T29" fmla="*/ 8 h 22"/>
                <a:gd name="T30" fmla="*/ 5 w 95"/>
                <a:gd name="T31" fmla="*/ 7 h 22"/>
                <a:gd name="T32" fmla="*/ 48 w 95"/>
                <a:gd name="T33" fmla="*/ 7 h 22"/>
                <a:gd name="T34" fmla="*/ 48 w 95"/>
                <a:gd name="T35" fmla="*/ 7 h 22"/>
                <a:gd name="T36" fmla="*/ 51 w 95"/>
                <a:gd name="T37" fmla="*/ 5 h 22"/>
                <a:gd name="T38" fmla="*/ 53 w 95"/>
                <a:gd name="T39" fmla="*/ 2 h 22"/>
                <a:gd name="T40" fmla="*/ 55 w 95"/>
                <a:gd name="T41" fmla="*/ 0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1"/>
                  </a:lnTo>
                  <a:lnTo>
                    <a:pt x="51" y="17"/>
                  </a:lnTo>
                  <a:lnTo>
                    <a:pt x="48" y="15"/>
                  </a:lnTo>
                  <a:lnTo>
                    <a:pt x="5" y="15"/>
                  </a:lnTo>
                  <a:lnTo>
                    <a:pt x="5" y="15"/>
                  </a:lnTo>
                  <a:lnTo>
                    <a:pt x="1" y="14"/>
                  </a:lnTo>
                  <a:lnTo>
                    <a:pt x="0" y="12"/>
                  </a:lnTo>
                  <a:lnTo>
                    <a:pt x="0" y="12"/>
                  </a:lnTo>
                  <a:lnTo>
                    <a:pt x="1" y="8"/>
                  </a:lnTo>
                  <a:lnTo>
                    <a:pt x="5" y="7"/>
                  </a:lnTo>
                  <a:lnTo>
                    <a:pt x="48" y="7"/>
                  </a:lnTo>
                  <a:lnTo>
                    <a:pt x="48" y="7"/>
                  </a:lnTo>
                  <a:lnTo>
                    <a:pt x="51" y="5"/>
                  </a:lnTo>
                  <a:lnTo>
                    <a:pt x="53" y="2"/>
                  </a:lnTo>
                  <a:lnTo>
                    <a:pt x="55" y="0"/>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0" name="Freeform 237">
              <a:extLst>
                <a:ext uri="{FF2B5EF4-FFF2-40B4-BE49-F238E27FC236}">
                  <a16:creationId xmlns:a16="http://schemas.microsoft.com/office/drawing/2014/main" id="{EDD73D04-31D4-4567-8D6C-24B0501A4E61}"/>
                </a:ext>
              </a:extLst>
            </p:cNvPr>
            <p:cNvSpPr>
              <a:spLocks/>
            </p:cNvSpPr>
            <p:nvPr userDrawn="1"/>
          </p:nvSpPr>
          <p:spPr bwMode="auto">
            <a:xfrm>
              <a:off x="6103958" y="3378241"/>
              <a:ext cx="74613" cy="15875"/>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0 h 22"/>
                <a:gd name="T14" fmla="*/ 51 w 95"/>
                <a:gd name="T15" fmla="*/ 17 h 22"/>
                <a:gd name="T16" fmla="*/ 48 w 95"/>
                <a:gd name="T17" fmla="*/ 15 h 22"/>
                <a:gd name="T18" fmla="*/ 5 w 95"/>
                <a:gd name="T19" fmla="*/ 15 h 22"/>
                <a:gd name="T20" fmla="*/ 5 w 95"/>
                <a:gd name="T21" fmla="*/ 15 h 22"/>
                <a:gd name="T22" fmla="*/ 1 w 95"/>
                <a:gd name="T23" fmla="*/ 14 h 22"/>
                <a:gd name="T24" fmla="*/ 0 w 95"/>
                <a:gd name="T25" fmla="*/ 12 h 22"/>
                <a:gd name="T26" fmla="*/ 0 w 95"/>
                <a:gd name="T27" fmla="*/ 12 h 22"/>
                <a:gd name="T28" fmla="*/ 1 w 95"/>
                <a:gd name="T29" fmla="*/ 8 h 22"/>
                <a:gd name="T30" fmla="*/ 5 w 95"/>
                <a:gd name="T31" fmla="*/ 7 h 22"/>
                <a:gd name="T32" fmla="*/ 48 w 95"/>
                <a:gd name="T33" fmla="*/ 7 h 22"/>
                <a:gd name="T34" fmla="*/ 48 w 95"/>
                <a:gd name="T35" fmla="*/ 7 h 22"/>
                <a:gd name="T36" fmla="*/ 51 w 95"/>
                <a:gd name="T37" fmla="*/ 5 h 22"/>
                <a:gd name="T38" fmla="*/ 53 w 95"/>
                <a:gd name="T39" fmla="*/ 2 h 22"/>
                <a:gd name="T40" fmla="*/ 55 w 95"/>
                <a:gd name="T41" fmla="*/ 0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0"/>
                  </a:lnTo>
                  <a:lnTo>
                    <a:pt x="51" y="17"/>
                  </a:lnTo>
                  <a:lnTo>
                    <a:pt x="48" y="15"/>
                  </a:lnTo>
                  <a:lnTo>
                    <a:pt x="5" y="15"/>
                  </a:lnTo>
                  <a:lnTo>
                    <a:pt x="5" y="15"/>
                  </a:lnTo>
                  <a:lnTo>
                    <a:pt x="1" y="14"/>
                  </a:lnTo>
                  <a:lnTo>
                    <a:pt x="0" y="12"/>
                  </a:lnTo>
                  <a:lnTo>
                    <a:pt x="0" y="12"/>
                  </a:lnTo>
                  <a:lnTo>
                    <a:pt x="1" y="8"/>
                  </a:lnTo>
                  <a:lnTo>
                    <a:pt x="5" y="7"/>
                  </a:lnTo>
                  <a:lnTo>
                    <a:pt x="48" y="7"/>
                  </a:lnTo>
                  <a:lnTo>
                    <a:pt x="48" y="7"/>
                  </a:lnTo>
                  <a:lnTo>
                    <a:pt x="51" y="5"/>
                  </a:lnTo>
                  <a:lnTo>
                    <a:pt x="53" y="2"/>
                  </a:lnTo>
                  <a:lnTo>
                    <a:pt x="55" y="0"/>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1" name="Freeform 238">
              <a:extLst>
                <a:ext uri="{FF2B5EF4-FFF2-40B4-BE49-F238E27FC236}">
                  <a16:creationId xmlns:a16="http://schemas.microsoft.com/office/drawing/2014/main" id="{258D139F-A952-4BFB-A8C8-F8BE5D4F8F33}"/>
                </a:ext>
              </a:extLst>
            </p:cNvPr>
            <p:cNvSpPr>
              <a:spLocks/>
            </p:cNvSpPr>
            <p:nvPr userDrawn="1"/>
          </p:nvSpPr>
          <p:spPr bwMode="auto">
            <a:xfrm>
              <a:off x="6103958" y="3348078"/>
              <a:ext cx="74613" cy="15875"/>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0 h 22"/>
                <a:gd name="T14" fmla="*/ 51 w 95"/>
                <a:gd name="T15" fmla="*/ 17 h 22"/>
                <a:gd name="T16" fmla="*/ 48 w 95"/>
                <a:gd name="T17" fmla="*/ 15 h 22"/>
                <a:gd name="T18" fmla="*/ 5 w 95"/>
                <a:gd name="T19" fmla="*/ 15 h 22"/>
                <a:gd name="T20" fmla="*/ 5 w 95"/>
                <a:gd name="T21" fmla="*/ 15 h 22"/>
                <a:gd name="T22" fmla="*/ 1 w 95"/>
                <a:gd name="T23" fmla="*/ 14 h 22"/>
                <a:gd name="T24" fmla="*/ 0 w 95"/>
                <a:gd name="T25" fmla="*/ 10 h 22"/>
                <a:gd name="T26" fmla="*/ 0 w 95"/>
                <a:gd name="T27" fmla="*/ 10 h 22"/>
                <a:gd name="T28" fmla="*/ 1 w 95"/>
                <a:gd name="T29" fmla="*/ 8 h 22"/>
                <a:gd name="T30" fmla="*/ 5 w 95"/>
                <a:gd name="T31" fmla="*/ 7 h 22"/>
                <a:gd name="T32" fmla="*/ 48 w 95"/>
                <a:gd name="T33" fmla="*/ 7 h 22"/>
                <a:gd name="T34" fmla="*/ 48 w 95"/>
                <a:gd name="T35" fmla="*/ 7 h 22"/>
                <a:gd name="T36" fmla="*/ 51 w 95"/>
                <a:gd name="T37" fmla="*/ 5 h 22"/>
                <a:gd name="T38" fmla="*/ 53 w 95"/>
                <a:gd name="T39" fmla="*/ 2 h 22"/>
                <a:gd name="T40" fmla="*/ 55 w 95"/>
                <a:gd name="T41" fmla="*/ 0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0"/>
                  </a:lnTo>
                  <a:lnTo>
                    <a:pt x="51" y="17"/>
                  </a:lnTo>
                  <a:lnTo>
                    <a:pt x="48" y="15"/>
                  </a:lnTo>
                  <a:lnTo>
                    <a:pt x="5" y="15"/>
                  </a:lnTo>
                  <a:lnTo>
                    <a:pt x="5" y="15"/>
                  </a:lnTo>
                  <a:lnTo>
                    <a:pt x="1" y="14"/>
                  </a:lnTo>
                  <a:lnTo>
                    <a:pt x="0" y="10"/>
                  </a:lnTo>
                  <a:lnTo>
                    <a:pt x="0" y="10"/>
                  </a:lnTo>
                  <a:lnTo>
                    <a:pt x="1" y="8"/>
                  </a:lnTo>
                  <a:lnTo>
                    <a:pt x="5" y="7"/>
                  </a:lnTo>
                  <a:lnTo>
                    <a:pt x="48" y="7"/>
                  </a:lnTo>
                  <a:lnTo>
                    <a:pt x="48" y="7"/>
                  </a:lnTo>
                  <a:lnTo>
                    <a:pt x="51" y="5"/>
                  </a:lnTo>
                  <a:lnTo>
                    <a:pt x="53" y="2"/>
                  </a:lnTo>
                  <a:lnTo>
                    <a:pt x="55" y="0"/>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2" name="Freeform 239">
              <a:extLst>
                <a:ext uri="{FF2B5EF4-FFF2-40B4-BE49-F238E27FC236}">
                  <a16:creationId xmlns:a16="http://schemas.microsoft.com/office/drawing/2014/main" id="{6A29198C-48B2-498E-9AED-E93CD67064DB}"/>
                </a:ext>
              </a:extLst>
            </p:cNvPr>
            <p:cNvSpPr>
              <a:spLocks/>
            </p:cNvSpPr>
            <p:nvPr userDrawn="1"/>
          </p:nvSpPr>
          <p:spPr bwMode="auto">
            <a:xfrm>
              <a:off x="6103958" y="3317915"/>
              <a:ext cx="74613" cy="15875"/>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0 h 22"/>
                <a:gd name="T14" fmla="*/ 51 w 95"/>
                <a:gd name="T15" fmla="*/ 17 h 22"/>
                <a:gd name="T16" fmla="*/ 48 w 95"/>
                <a:gd name="T17" fmla="*/ 15 h 22"/>
                <a:gd name="T18" fmla="*/ 5 w 95"/>
                <a:gd name="T19" fmla="*/ 15 h 22"/>
                <a:gd name="T20" fmla="*/ 5 w 95"/>
                <a:gd name="T21" fmla="*/ 15 h 22"/>
                <a:gd name="T22" fmla="*/ 1 w 95"/>
                <a:gd name="T23" fmla="*/ 14 h 22"/>
                <a:gd name="T24" fmla="*/ 0 w 95"/>
                <a:gd name="T25" fmla="*/ 10 h 22"/>
                <a:gd name="T26" fmla="*/ 0 w 95"/>
                <a:gd name="T27" fmla="*/ 10 h 22"/>
                <a:gd name="T28" fmla="*/ 1 w 95"/>
                <a:gd name="T29" fmla="*/ 8 h 22"/>
                <a:gd name="T30" fmla="*/ 5 w 95"/>
                <a:gd name="T31" fmla="*/ 7 h 22"/>
                <a:gd name="T32" fmla="*/ 48 w 95"/>
                <a:gd name="T33" fmla="*/ 7 h 22"/>
                <a:gd name="T34" fmla="*/ 48 w 95"/>
                <a:gd name="T35" fmla="*/ 7 h 22"/>
                <a:gd name="T36" fmla="*/ 51 w 95"/>
                <a:gd name="T37" fmla="*/ 4 h 22"/>
                <a:gd name="T38" fmla="*/ 53 w 95"/>
                <a:gd name="T39" fmla="*/ 1 h 22"/>
                <a:gd name="T40" fmla="*/ 55 w 95"/>
                <a:gd name="T41" fmla="*/ 0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0"/>
                  </a:lnTo>
                  <a:lnTo>
                    <a:pt x="51" y="17"/>
                  </a:lnTo>
                  <a:lnTo>
                    <a:pt x="48" y="15"/>
                  </a:lnTo>
                  <a:lnTo>
                    <a:pt x="5" y="15"/>
                  </a:lnTo>
                  <a:lnTo>
                    <a:pt x="5" y="15"/>
                  </a:lnTo>
                  <a:lnTo>
                    <a:pt x="1" y="14"/>
                  </a:lnTo>
                  <a:lnTo>
                    <a:pt x="0" y="10"/>
                  </a:lnTo>
                  <a:lnTo>
                    <a:pt x="0" y="10"/>
                  </a:lnTo>
                  <a:lnTo>
                    <a:pt x="1" y="8"/>
                  </a:lnTo>
                  <a:lnTo>
                    <a:pt x="5" y="7"/>
                  </a:lnTo>
                  <a:lnTo>
                    <a:pt x="48" y="7"/>
                  </a:lnTo>
                  <a:lnTo>
                    <a:pt x="48" y="7"/>
                  </a:lnTo>
                  <a:lnTo>
                    <a:pt x="51" y="4"/>
                  </a:lnTo>
                  <a:lnTo>
                    <a:pt x="53" y="1"/>
                  </a:lnTo>
                  <a:lnTo>
                    <a:pt x="55" y="0"/>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3" name="Freeform 240">
              <a:extLst>
                <a:ext uri="{FF2B5EF4-FFF2-40B4-BE49-F238E27FC236}">
                  <a16:creationId xmlns:a16="http://schemas.microsoft.com/office/drawing/2014/main" id="{A1820CF0-26AF-4C4F-A207-CF660A6DA090}"/>
                </a:ext>
              </a:extLst>
            </p:cNvPr>
            <p:cNvSpPr>
              <a:spLocks/>
            </p:cNvSpPr>
            <p:nvPr userDrawn="1"/>
          </p:nvSpPr>
          <p:spPr bwMode="auto">
            <a:xfrm>
              <a:off x="6103958" y="3287752"/>
              <a:ext cx="74613" cy="15875"/>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0 h 22"/>
                <a:gd name="T14" fmla="*/ 51 w 95"/>
                <a:gd name="T15" fmla="*/ 17 h 22"/>
                <a:gd name="T16" fmla="*/ 48 w 95"/>
                <a:gd name="T17" fmla="*/ 14 h 22"/>
                <a:gd name="T18" fmla="*/ 5 w 95"/>
                <a:gd name="T19" fmla="*/ 14 h 22"/>
                <a:gd name="T20" fmla="*/ 5 w 95"/>
                <a:gd name="T21" fmla="*/ 14 h 22"/>
                <a:gd name="T22" fmla="*/ 1 w 95"/>
                <a:gd name="T23" fmla="*/ 14 h 22"/>
                <a:gd name="T24" fmla="*/ 0 w 95"/>
                <a:gd name="T25" fmla="*/ 10 h 22"/>
                <a:gd name="T26" fmla="*/ 0 w 95"/>
                <a:gd name="T27" fmla="*/ 10 h 22"/>
                <a:gd name="T28" fmla="*/ 1 w 95"/>
                <a:gd name="T29" fmla="*/ 8 h 22"/>
                <a:gd name="T30" fmla="*/ 5 w 95"/>
                <a:gd name="T31" fmla="*/ 7 h 22"/>
                <a:gd name="T32" fmla="*/ 48 w 95"/>
                <a:gd name="T33" fmla="*/ 7 h 22"/>
                <a:gd name="T34" fmla="*/ 48 w 95"/>
                <a:gd name="T35" fmla="*/ 7 h 22"/>
                <a:gd name="T36" fmla="*/ 51 w 95"/>
                <a:gd name="T37" fmla="*/ 3 h 22"/>
                <a:gd name="T38" fmla="*/ 53 w 95"/>
                <a:gd name="T39" fmla="*/ 1 h 22"/>
                <a:gd name="T40" fmla="*/ 55 w 95"/>
                <a:gd name="T41" fmla="*/ 0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0"/>
                  </a:lnTo>
                  <a:lnTo>
                    <a:pt x="51" y="17"/>
                  </a:lnTo>
                  <a:lnTo>
                    <a:pt x="48" y="14"/>
                  </a:lnTo>
                  <a:lnTo>
                    <a:pt x="5" y="14"/>
                  </a:lnTo>
                  <a:lnTo>
                    <a:pt x="5" y="14"/>
                  </a:lnTo>
                  <a:lnTo>
                    <a:pt x="1" y="14"/>
                  </a:lnTo>
                  <a:lnTo>
                    <a:pt x="0" y="10"/>
                  </a:lnTo>
                  <a:lnTo>
                    <a:pt x="0" y="10"/>
                  </a:lnTo>
                  <a:lnTo>
                    <a:pt x="1" y="8"/>
                  </a:lnTo>
                  <a:lnTo>
                    <a:pt x="5" y="7"/>
                  </a:lnTo>
                  <a:lnTo>
                    <a:pt x="48" y="7"/>
                  </a:lnTo>
                  <a:lnTo>
                    <a:pt x="48" y="7"/>
                  </a:lnTo>
                  <a:lnTo>
                    <a:pt x="51" y="3"/>
                  </a:lnTo>
                  <a:lnTo>
                    <a:pt x="53" y="1"/>
                  </a:lnTo>
                  <a:lnTo>
                    <a:pt x="55" y="0"/>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4" name="Freeform 241">
              <a:extLst>
                <a:ext uri="{FF2B5EF4-FFF2-40B4-BE49-F238E27FC236}">
                  <a16:creationId xmlns:a16="http://schemas.microsoft.com/office/drawing/2014/main" id="{E0CC82B2-4AAB-4F8C-B7D0-A3035CA11EC9}"/>
                </a:ext>
              </a:extLst>
            </p:cNvPr>
            <p:cNvSpPr>
              <a:spLocks/>
            </p:cNvSpPr>
            <p:nvPr userDrawn="1"/>
          </p:nvSpPr>
          <p:spPr bwMode="auto">
            <a:xfrm>
              <a:off x="6103958" y="3225839"/>
              <a:ext cx="74613" cy="17463"/>
            </a:xfrm>
            <a:custGeom>
              <a:avLst/>
              <a:gdLst>
                <a:gd name="T0" fmla="*/ 59 w 95"/>
                <a:gd name="T1" fmla="*/ 0 h 23"/>
                <a:gd name="T2" fmla="*/ 95 w 95"/>
                <a:gd name="T3" fmla="*/ 0 h 23"/>
                <a:gd name="T4" fmla="*/ 95 w 95"/>
                <a:gd name="T5" fmla="*/ 23 h 23"/>
                <a:gd name="T6" fmla="*/ 59 w 95"/>
                <a:gd name="T7" fmla="*/ 23 h 23"/>
                <a:gd name="T8" fmla="*/ 59 w 95"/>
                <a:gd name="T9" fmla="*/ 23 h 23"/>
                <a:gd name="T10" fmla="*/ 55 w 95"/>
                <a:gd name="T11" fmla="*/ 22 h 23"/>
                <a:gd name="T12" fmla="*/ 53 w 95"/>
                <a:gd name="T13" fmla="*/ 21 h 23"/>
                <a:gd name="T14" fmla="*/ 51 w 95"/>
                <a:gd name="T15" fmla="*/ 18 h 23"/>
                <a:gd name="T16" fmla="*/ 48 w 95"/>
                <a:gd name="T17" fmla="*/ 15 h 23"/>
                <a:gd name="T18" fmla="*/ 5 w 95"/>
                <a:gd name="T19" fmla="*/ 15 h 23"/>
                <a:gd name="T20" fmla="*/ 5 w 95"/>
                <a:gd name="T21" fmla="*/ 15 h 23"/>
                <a:gd name="T22" fmla="*/ 1 w 95"/>
                <a:gd name="T23" fmla="*/ 14 h 23"/>
                <a:gd name="T24" fmla="*/ 0 w 95"/>
                <a:gd name="T25" fmla="*/ 11 h 23"/>
                <a:gd name="T26" fmla="*/ 0 w 95"/>
                <a:gd name="T27" fmla="*/ 11 h 23"/>
                <a:gd name="T28" fmla="*/ 1 w 95"/>
                <a:gd name="T29" fmla="*/ 9 h 23"/>
                <a:gd name="T30" fmla="*/ 5 w 95"/>
                <a:gd name="T31" fmla="*/ 8 h 23"/>
                <a:gd name="T32" fmla="*/ 48 w 95"/>
                <a:gd name="T33" fmla="*/ 8 h 23"/>
                <a:gd name="T34" fmla="*/ 48 w 95"/>
                <a:gd name="T35" fmla="*/ 8 h 23"/>
                <a:gd name="T36" fmla="*/ 51 w 95"/>
                <a:gd name="T37" fmla="*/ 4 h 23"/>
                <a:gd name="T38" fmla="*/ 53 w 95"/>
                <a:gd name="T39" fmla="*/ 2 h 23"/>
                <a:gd name="T40" fmla="*/ 55 w 95"/>
                <a:gd name="T41" fmla="*/ 1 h 23"/>
                <a:gd name="T42" fmla="*/ 59 w 95"/>
                <a:gd name="T43" fmla="*/ 0 h 23"/>
                <a:gd name="T44" fmla="*/ 59 w 95"/>
                <a:gd name="T4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3">
                  <a:moveTo>
                    <a:pt x="59" y="0"/>
                  </a:moveTo>
                  <a:lnTo>
                    <a:pt x="95" y="0"/>
                  </a:lnTo>
                  <a:lnTo>
                    <a:pt x="95" y="23"/>
                  </a:lnTo>
                  <a:lnTo>
                    <a:pt x="59" y="23"/>
                  </a:lnTo>
                  <a:lnTo>
                    <a:pt x="59" y="23"/>
                  </a:lnTo>
                  <a:lnTo>
                    <a:pt x="55" y="22"/>
                  </a:lnTo>
                  <a:lnTo>
                    <a:pt x="53" y="21"/>
                  </a:lnTo>
                  <a:lnTo>
                    <a:pt x="51" y="18"/>
                  </a:lnTo>
                  <a:lnTo>
                    <a:pt x="48" y="15"/>
                  </a:lnTo>
                  <a:lnTo>
                    <a:pt x="5" y="15"/>
                  </a:lnTo>
                  <a:lnTo>
                    <a:pt x="5" y="15"/>
                  </a:lnTo>
                  <a:lnTo>
                    <a:pt x="1" y="14"/>
                  </a:lnTo>
                  <a:lnTo>
                    <a:pt x="0" y="11"/>
                  </a:lnTo>
                  <a:lnTo>
                    <a:pt x="0" y="11"/>
                  </a:lnTo>
                  <a:lnTo>
                    <a:pt x="1" y="9"/>
                  </a:lnTo>
                  <a:lnTo>
                    <a:pt x="5" y="8"/>
                  </a:lnTo>
                  <a:lnTo>
                    <a:pt x="48" y="8"/>
                  </a:lnTo>
                  <a:lnTo>
                    <a:pt x="48" y="8"/>
                  </a:lnTo>
                  <a:lnTo>
                    <a:pt x="51" y="4"/>
                  </a:lnTo>
                  <a:lnTo>
                    <a:pt x="53" y="2"/>
                  </a:lnTo>
                  <a:lnTo>
                    <a:pt x="55" y="1"/>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5" name="Freeform 242">
              <a:extLst>
                <a:ext uri="{FF2B5EF4-FFF2-40B4-BE49-F238E27FC236}">
                  <a16:creationId xmlns:a16="http://schemas.microsoft.com/office/drawing/2014/main" id="{6FCB1B0A-F8FD-4085-AD9C-0981CFB21246}"/>
                </a:ext>
              </a:extLst>
            </p:cNvPr>
            <p:cNvSpPr>
              <a:spLocks/>
            </p:cNvSpPr>
            <p:nvPr userDrawn="1"/>
          </p:nvSpPr>
          <p:spPr bwMode="auto">
            <a:xfrm>
              <a:off x="6103958" y="3256002"/>
              <a:ext cx="74613" cy="17463"/>
            </a:xfrm>
            <a:custGeom>
              <a:avLst/>
              <a:gdLst>
                <a:gd name="T0" fmla="*/ 59 w 95"/>
                <a:gd name="T1" fmla="*/ 0 h 23"/>
                <a:gd name="T2" fmla="*/ 95 w 95"/>
                <a:gd name="T3" fmla="*/ 0 h 23"/>
                <a:gd name="T4" fmla="*/ 95 w 95"/>
                <a:gd name="T5" fmla="*/ 23 h 23"/>
                <a:gd name="T6" fmla="*/ 59 w 95"/>
                <a:gd name="T7" fmla="*/ 23 h 23"/>
                <a:gd name="T8" fmla="*/ 59 w 95"/>
                <a:gd name="T9" fmla="*/ 23 h 23"/>
                <a:gd name="T10" fmla="*/ 55 w 95"/>
                <a:gd name="T11" fmla="*/ 22 h 23"/>
                <a:gd name="T12" fmla="*/ 53 w 95"/>
                <a:gd name="T13" fmla="*/ 21 h 23"/>
                <a:gd name="T14" fmla="*/ 51 w 95"/>
                <a:gd name="T15" fmla="*/ 18 h 23"/>
                <a:gd name="T16" fmla="*/ 48 w 95"/>
                <a:gd name="T17" fmla="*/ 15 h 23"/>
                <a:gd name="T18" fmla="*/ 5 w 95"/>
                <a:gd name="T19" fmla="*/ 15 h 23"/>
                <a:gd name="T20" fmla="*/ 5 w 95"/>
                <a:gd name="T21" fmla="*/ 15 h 23"/>
                <a:gd name="T22" fmla="*/ 1 w 95"/>
                <a:gd name="T23" fmla="*/ 14 h 23"/>
                <a:gd name="T24" fmla="*/ 0 w 95"/>
                <a:gd name="T25" fmla="*/ 11 h 23"/>
                <a:gd name="T26" fmla="*/ 0 w 95"/>
                <a:gd name="T27" fmla="*/ 11 h 23"/>
                <a:gd name="T28" fmla="*/ 1 w 95"/>
                <a:gd name="T29" fmla="*/ 9 h 23"/>
                <a:gd name="T30" fmla="*/ 5 w 95"/>
                <a:gd name="T31" fmla="*/ 8 h 23"/>
                <a:gd name="T32" fmla="*/ 48 w 95"/>
                <a:gd name="T33" fmla="*/ 8 h 23"/>
                <a:gd name="T34" fmla="*/ 48 w 95"/>
                <a:gd name="T35" fmla="*/ 8 h 23"/>
                <a:gd name="T36" fmla="*/ 51 w 95"/>
                <a:gd name="T37" fmla="*/ 4 h 23"/>
                <a:gd name="T38" fmla="*/ 53 w 95"/>
                <a:gd name="T39" fmla="*/ 2 h 23"/>
                <a:gd name="T40" fmla="*/ 55 w 95"/>
                <a:gd name="T41" fmla="*/ 1 h 23"/>
                <a:gd name="T42" fmla="*/ 59 w 95"/>
                <a:gd name="T43" fmla="*/ 0 h 23"/>
                <a:gd name="T44" fmla="*/ 59 w 95"/>
                <a:gd name="T4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3">
                  <a:moveTo>
                    <a:pt x="59" y="0"/>
                  </a:moveTo>
                  <a:lnTo>
                    <a:pt x="95" y="0"/>
                  </a:lnTo>
                  <a:lnTo>
                    <a:pt x="95" y="23"/>
                  </a:lnTo>
                  <a:lnTo>
                    <a:pt x="59" y="23"/>
                  </a:lnTo>
                  <a:lnTo>
                    <a:pt x="59" y="23"/>
                  </a:lnTo>
                  <a:lnTo>
                    <a:pt x="55" y="22"/>
                  </a:lnTo>
                  <a:lnTo>
                    <a:pt x="53" y="21"/>
                  </a:lnTo>
                  <a:lnTo>
                    <a:pt x="51" y="18"/>
                  </a:lnTo>
                  <a:lnTo>
                    <a:pt x="48" y="15"/>
                  </a:lnTo>
                  <a:lnTo>
                    <a:pt x="5" y="15"/>
                  </a:lnTo>
                  <a:lnTo>
                    <a:pt x="5" y="15"/>
                  </a:lnTo>
                  <a:lnTo>
                    <a:pt x="1" y="14"/>
                  </a:lnTo>
                  <a:lnTo>
                    <a:pt x="0" y="11"/>
                  </a:lnTo>
                  <a:lnTo>
                    <a:pt x="0" y="11"/>
                  </a:lnTo>
                  <a:lnTo>
                    <a:pt x="1" y="9"/>
                  </a:lnTo>
                  <a:lnTo>
                    <a:pt x="5" y="8"/>
                  </a:lnTo>
                  <a:lnTo>
                    <a:pt x="48" y="8"/>
                  </a:lnTo>
                  <a:lnTo>
                    <a:pt x="48" y="8"/>
                  </a:lnTo>
                  <a:lnTo>
                    <a:pt x="51" y="4"/>
                  </a:lnTo>
                  <a:lnTo>
                    <a:pt x="53" y="2"/>
                  </a:lnTo>
                  <a:lnTo>
                    <a:pt x="55" y="1"/>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6" name="Freeform 243">
              <a:extLst>
                <a:ext uri="{FF2B5EF4-FFF2-40B4-BE49-F238E27FC236}">
                  <a16:creationId xmlns:a16="http://schemas.microsoft.com/office/drawing/2014/main" id="{7E6FED05-0B15-4BDD-B359-F6B2E29B80D8}"/>
                </a:ext>
              </a:extLst>
            </p:cNvPr>
            <p:cNvSpPr>
              <a:spLocks/>
            </p:cNvSpPr>
            <p:nvPr userDrawn="1"/>
          </p:nvSpPr>
          <p:spPr bwMode="auto">
            <a:xfrm>
              <a:off x="6564335" y="3225839"/>
              <a:ext cx="74613" cy="17463"/>
            </a:xfrm>
            <a:custGeom>
              <a:avLst/>
              <a:gdLst>
                <a:gd name="T0" fmla="*/ 36 w 95"/>
                <a:gd name="T1" fmla="*/ 23 h 23"/>
                <a:gd name="T2" fmla="*/ 0 w 95"/>
                <a:gd name="T3" fmla="*/ 23 h 23"/>
                <a:gd name="T4" fmla="*/ 0 w 95"/>
                <a:gd name="T5" fmla="*/ 0 h 23"/>
                <a:gd name="T6" fmla="*/ 36 w 95"/>
                <a:gd name="T7" fmla="*/ 0 h 23"/>
                <a:gd name="T8" fmla="*/ 36 w 95"/>
                <a:gd name="T9" fmla="*/ 0 h 23"/>
                <a:gd name="T10" fmla="*/ 39 w 95"/>
                <a:gd name="T11" fmla="*/ 1 h 23"/>
                <a:gd name="T12" fmla="*/ 43 w 95"/>
                <a:gd name="T13" fmla="*/ 2 h 23"/>
                <a:gd name="T14" fmla="*/ 45 w 95"/>
                <a:gd name="T15" fmla="*/ 4 h 23"/>
                <a:gd name="T16" fmla="*/ 46 w 95"/>
                <a:gd name="T17" fmla="*/ 8 h 23"/>
                <a:gd name="T18" fmla="*/ 91 w 95"/>
                <a:gd name="T19" fmla="*/ 8 h 23"/>
                <a:gd name="T20" fmla="*/ 91 w 95"/>
                <a:gd name="T21" fmla="*/ 8 h 23"/>
                <a:gd name="T22" fmla="*/ 94 w 95"/>
                <a:gd name="T23" fmla="*/ 9 h 23"/>
                <a:gd name="T24" fmla="*/ 95 w 95"/>
                <a:gd name="T25" fmla="*/ 11 h 23"/>
                <a:gd name="T26" fmla="*/ 95 w 95"/>
                <a:gd name="T27" fmla="*/ 11 h 23"/>
                <a:gd name="T28" fmla="*/ 94 w 95"/>
                <a:gd name="T29" fmla="*/ 14 h 23"/>
                <a:gd name="T30" fmla="*/ 91 w 95"/>
                <a:gd name="T31" fmla="*/ 15 h 23"/>
                <a:gd name="T32" fmla="*/ 46 w 95"/>
                <a:gd name="T33" fmla="*/ 15 h 23"/>
                <a:gd name="T34" fmla="*/ 46 w 95"/>
                <a:gd name="T35" fmla="*/ 15 h 23"/>
                <a:gd name="T36" fmla="*/ 45 w 95"/>
                <a:gd name="T37" fmla="*/ 18 h 23"/>
                <a:gd name="T38" fmla="*/ 43 w 95"/>
                <a:gd name="T39" fmla="*/ 21 h 23"/>
                <a:gd name="T40" fmla="*/ 39 w 95"/>
                <a:gd name="T41" fmla="*/ 22 h 23"/>
                <a:gd name="T42" fmla="*/ 36 w 95"/>
                <a:gd name="T43" fmla="*/ 23 h 23"/>
                <a:gd name="T44" fmla="*/ 36 w 95"/>
                <a:gd name="T45"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3">
                  <a:moveTo>
                    <a:pt x="36" y="23"/>
                  </a:moveTo>
                  <a:lnTo>
                    <a:pt x="0" y="23"/>
                  </a:lnTo>
                  <a:lnTo>
                    <a:pt x="0" y="0"/>
                  </a:lnTo>
                  <a:lnTo>
                    <a:pt x="36" y="0"/>
                  </a:lnTo>
                  <a:lnTo>
                    <a:pt x="36" y="0"/>
                  </a:lnTo>
                  <a:lnTo>
                    <a:pt x="39" y="1"/>
                  </a:lnTo>
                  <a:lnTo>
                    <a:pt x="43" y="2"/>
                  </a:lnTo>
                  <a:lnTo>
                    <a:pt x="45" y="4"/>
                  </a:lnTo>
                  <a:lnTo>
                    <a:pt x="46" y="8"/>
                  </a:lnTo>
                  <a:lnTo>
                    <a:pt x="91" y="8"/>
                  </a:lnTo>
                  <a:lnTo>
                    <a:pt x="91" y="8"/>
                  </a:lnTo>
                  <a:lnTo>
                    <a:pt x="94" y="9"/>
                  </a:lnTo>
                  <a:lnTo>
                    <a:pt x="95" y="11"/>
                  </a:lnTo>
                  <a:lnTo>
                    <a:pt x="95" y="11"/>
                  </a:lnTo>
                  <a:lnTo>
                    <a:pt x="94" y="14"/>
                  </a:lnTo>
                  <a:lnTo>
                    <a:pt x="91" y="15"/>
                  </a:lnTo>
                  <a:lnTo>
                    <a:pt x="46" y="15"/>
                  </a:lnTo>
                  <a:lnTo>
                    <a:pt x="46" y="15"/>
                  </a:lnTo>
                  <a:lnTo>
                    <a:pt x="45" y="18"/>
                  </a:lnTo>
                  <a:lnTo>
                    <a:pt x="43" y="21"/>
                  </a:lnTo>
                  <a:lnTo>
                    <a:pt x="39" y="22"/>
                  </a:lnTo>
                  <a:lnTo>
                    <a:pt x="36" y="23"/>
                  </a:lnTo>
                  <a:lnTo>
                    <a:pt x="36" y="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7" name="Freeform 244">
              <a:extLst>
                <a:ext uri="{FF2B5EF4-FFF2-40B4-BE49-F238E27FC236}">
                  <a16:creationId xmlns:a16="http://schemas.microsoft.com/office/drawing/2014/main" id="{27B7B5A3-3FB0-4BFA-8F52-6847FBB68A47}"/>
                </a:ext>
              </a:extLst>
            </p:cNvPr>
            <p:cNvSpPr>
              <a:spLocks/>
            </p:cNvSpPr>
            <p:nvPr userDrawn="1"/>
          </p:nvSpPr>
          <p:spPr bwMode="auto">
            <a:xfrm>
              <a:off x="6564335" y="3256002"/>
              <a:ext cx="74613" cy="17463"/>
            </a:xfrm>
            <a:custGeom>
              <a:avLst/>
              <a:gdLst>
                <a:gd name="T0" fmla="*/ 36 w 95"/>
                <a:gd name="T1" fmla="*/ 23 h 23"/>
                <a:gd name="T2" fmla="*/ 0 w 95"/>
                <a:gd name="T3" fmla="*/ 23 h 23"/>
                <a:gd name="T4" fmla="*/ 0 w 95"/>
                <a:gd name="T5" fmla="*/ 0 h 23"/>
                <a:gd name="T6" fmla="*/ 36 w 95"/>
                <a:gd name="T7" fmla="*/ 0 h 23"/>
                <a:gd name="T8" fmla="*/ 36 w 95"/>
                <a:gd name="T9" fmla="*/ 0 h 23"/>
                <a:gd name="T10" fmla="*/ 39 w 95"/>
                <a:gd name="T11" fmla="*/ 1 h 23"/>
                <a:gd name="T12" fmla="*/ 43 w 95"/>
                <a:gd name="T13" fmla="*/ 2 h 23"/>
                <a:gd name="T14" fmla="*/ 45 w 95"/>
                <a:gd name="T15" fmla="*/ 4 h 23"/>
                <a:gd name="T16" fmla="*/ 46 w 95"/>
                <a:gd name="T17" fmla="*/ 8 h 23"/>
                <a:gd name="T18" fmla="*/ 91 w 95"/>
                <a:gd name="T19" fmla="*/ 8 h 23"/>
                <a:gd name="T20" fmla="*/ 91 w 95"/>
                <a:gd name="T21" fmla="*/ 8 h 23"/>
                <a:gd name="T22" fmla="*/ 94 w 95"/>
                <a:gd name="T23" fmla="*/ 9 h 23"/>
                <a:gd name="T24" fmla="*/ 95 w 95"/>
                <a:gd name="T25" fmla="*/ 11 h 23"/>
                <a:gd name="T26" fmla="*/ 95 w 95"/>
                <a:gd name="T27" fmla="*/ 11 h 23"/>
                <a:gd name="T28" fmla="*/ 94 w 95"/>
                <a:gd name="T29" fmla="*/ 14 h 23"/>
                <a:gd name="T30" fmla="*/ 91 w 95"/>
                <a:gd name="T31" fmla="*/ 15 h 23"/>
                <a:gd name="T32" fmla="*/ 46 w 95"/>
                <a:gd name="T33" fmla="*/ 15 h 23"/>
                <a:gd name="T34" fmla="*/ 46 w 95"/>
                <a:gd name="T35" fmla="*/ 15 h 23"/>
                <a:gd name="T36" fmla="*/ 45 w 95"/>
                <a:gd name="T37" fmla="*/ 18 h 23"/>
                <a:gd name="T38" fmla="*/ 43 w 95"/>
                <a:gd name="T39" fmla="*/ 21 h 23"/>
                <a:gd name="T40" fmla="*/ 39 w 95"/>
                <a:gd name="T41" fmla="*/ 22 h 23"/>
                <a:gd name="T42" fmla="*/ 36 w 95"/>
                <a:gd name="T43" fmla="*/ 23 h 23"/>
                <a:gd name="T44" fmla="*/ 36 w 95"/>
                <a:gd name="T45"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3">
                  <a:moveTo>
                    <a:pt x="36" y="23"/>
                  </a:moveTo>
                  <a:lnTo>
                    <a:pt x="0" y="23"/>
                  </a:lnTo>
                  <a:lnTo>
                    <a:pt x="0" y="0"/>
                  </a:lnTo>
                  <a:lnTo>
                    <a:pt x="36" y="0"/>
                  </a:lnTo>
                  <a:lnTo>
                    <a:pt x="36" y="0"/>
                  </a:lnTo>
                  <a:lnTo>
                    <a:pt x="39" y="1"/>
                  </a:lnTo>
                  <a:lnTo>
                    <a:pt x="43" y="2"/>
                  </a:lnTo>
                  <a:lnTo>
                    <a:pt x="45" y="4"/>
                  </a:lnTo>
                  <a:lnTo>
                    <a:pt x="46" y="8"/>
                  </a:lnTo>
                  <a:lnTo>
                    <a:pt x="91" y="8"/>
                  </a:lnTo>
                  <a:lnTo>
                    <a:pt x="91" y="8"/>
                  </a:lnTo>
                  <a:lnTo>
                    <a:pt x="94" y="9"/>
                  </a:lnTo>
                  <a:lnTo>
                    <a:pt x="95" y="11"/>
                  </a:lnTo>
                  <a:lnTo>
                    <a:pt x="95" y="11"/>
                  </a:lnTo>
                  <a:lnTo>
                    <a:pt x="94" y="14"/>
                  </a:lnTo>
                  <a:lnTo>
                    <a:pt x="91" y="15"/>
                  </a:lnTo>
                  <a:lnTo>
                    <a:pt x="46" y="15"/>
                  </a:lnTo>
                  <a:lnTo>
                    <a:pt x="46" y="15"/>
                  </a:lnTo>
                  <a:lnTo>
                    <a:pt x="45" y="18"/>
                  </a:lnTo>
                  <a:lnTo>
                    <a:pt x="43" y="21"/>
                  </a:lnTo>
                  <a:lnTo>
                    <a:pt x="39" y="22"/>
                  </a:lnTo>
                  <a:lnTo>
                    <a:pt x="36" y="23"/>
                  </a:lnTo>
                  <a:lnTo>
                    <a:pt x="36" y="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8" name="Freeform 245">
              <a:extLst>
                <a:ext uri="{FF2B5EF4-FFF2-40B4-BE49-F238E27FC236}">
                  <a16:creationId xmlns:a16="http://schemas.microsoft.com/office/drawing/2014/main" id="{35326841-DC53-438F-B032-D29EC4877D43}"/>
                </a:ext>
              </a:extLst>
            </p:cNvPr>
            <p:cNvSpPr>
              <a:spLocks/>
            </p:cNvSpPr>
            <p:nvPr userDrawn="1"/>
          </p:nvSpPr>
          <p:spPr bwMode="auto">
            <a:xfrm>
              <a:off x="6564335" y="3287752"/>
              <a:ext cx="74613" cy="15875"/>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1 h 22"/>
                <a:gd name="T14" fmla="*/ 45 w 95"/>
                <a:gd name="T15" fmla="*/ 3 h 22"/>
                <a:gd name="T16" fmla="*/ 46 w 95"/>
                <a:gd name="T17" fmla="*/ 7 h 22"/>
                <a:gd name="T18" fmla="*/ 91 w 95"/>
                <a:gd name="T19" fmla="*/ 7 h 22"/>
                <a:gd name="T20" fmla="*/ 91 w 95"/>
                <a:gd name="T21" fmla="*/ 7 h 22"/>
                <a:gd name="T22" fmla="*/ 94 w 95"/>
                <a:gd name="T23" fmla="*/ 8 h 22"/>
                <a:gd name="T24" fmla="*/ 95 w 95"/>
                <a:gd name="T25" fmla="*/ 10 h 22"/>
                <a:gd name="T26" fmla="*/ 95 w 95"/>
                <a:gd name="T27" fmla="*/ 10 h 22"/>
                <a:gd name="T28" fmla="*/ 94 w 95"/>
                <a:gd name="T29" fmla="*/ 14 h 22"/>
                <a:gd name="T30" fmla="*/ 91 w 95"/>
                <a:gd name="T31" fmla="*/ 14 h 22"/>
                <a:gd name="T32" fmla="*/ 46 w 95"/>
                <a:gd name="T33" fmla="*/ 14 h 22"/>
                <a:gd name="T34" fmla="*/ 46 w 95"/>
                <a:gd name="T35" fmla="*/ 14 h 22"/>
                <a:gd name="T36" fmla="*/ 45 w 95"/>
                <a:gd name="T37" fmla="*/ 17 h 22"/>
                <a:gd name="T38" fmla="*/ 43 w 95"/>
                <a:gd name="T39" fmla="*/ 20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1"/>
                  </a:lnTo>
                  <a:lnTo>
                    <a:pt x="45" y="3"/>
                  </a:lnTo>
                  <a:lnTo>
                    <a:pt x="46" y="7"/>
                  </a:lnTo>
                  <a:lnTo>
                    <a:pt x="91" y="7"/>
                  </a:lnTo>
                  <a:lnTo>
                    <a:pt x="91" y="7"/>
                  </a:lnTo>
                  <a:lnTo>
                    <a:pt x="94" y="8"/>
                  </a:lnTo>
                  <a:lnTo>
                    <a:pt x="95" y="10"/>
                  </a:lnTo>
                  <a:lnTo>
                    <a:pt x="95" y="10"/>
                  </a:lnTo>
                  <a:lnTo>
                    <a:pt x="94" y="14"/>
                  </a:lnTo>
                  <a:lnTo>
                    <a:pt x="91" y="14"/>
                  </a:lnTo>
                  <a:lnTo>
                    <a:pt x="46" y="14"/>
                  </a:lnTo>
                  <a:lnTo>
                    <a:pt x="46" y="14"/>
                  </a:lnTo>
                  <a:lnTo>
                    <a:pt x="45" y="17"/>
                  </a:lnTo>
                  <a:lnTo>
                    <a:pt x="43" y="20"/>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9" name="Freeform 246">
              <a:extLst>
                <a:ext uri="{FF2B5EF4-FFF2-40B4-BE49-F238E27FC236}">
                  <a16:creationId xmlns:a16="http://schemas.microsoft.com/office/drawing/2014/main" id="{EAB9169E-5402-4689-AB24-02A606114C49}"/>
                </a:ext>
              </a:extLst>
            </p:cNvPr>
            <p:cNvSpPr>
              <a:spLocks/>
            </p:cNvSpPr>
            <p:nvPr userDrawn="1"/>
          </p:nvSpPr>
          <p:spPr bwMode="auto">
            <a:xfrm>
              <a:off x="6564335" y="3317915"/>
              <a:ext cx="74613" cy="15875"/>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1 h 22"/>
                <a:gd name="T14" fmla="*/ 45 w 95"/>
                <a:gd name="T15" fmla="*/ 4 h 22"/>
                <a:gd name="T16" fmla="*/ 46 w 95"/>
                <a:gd name="T17" fmla="*/ 7 h 22"/>
                <a:gd name="T18" fmla="*/ 91 w 95"/>
                <a:gd name="T19" fmla="*/ 7 h 22"/>
                <a:gd name="T20" fmla="*/ 91 w 95"/>
                <a:gd name="T21" fmla="*/ 7 h 22"/>
                <a:gd name="T22" fmla="*/ 94 w 95"/>
                <a:gd name="T23" fmla="*/ 8 h 22"/>
                <a:gd name="T24" fmla="*/ 95 w 95"/>
                <a:gd name="T25" fmla="*/ 10 h 22"/>
                <a:gd name="T26" fmla="*/ 95 w 95"/>
                <a:gd name="T27" fmla="*/ 10 h 22"/>
                <a:gd name="T28" fmla="*/ 94 w 95"/>
                <a:gd name="T29" fmla="*/ 14 h 22"/>
                <a:gd name="T30" fmla="*/ 91 w 95"/>
                <a:gd name="T31" fmla="*/ 15 h 22"/>
                <a:gd name="T32" fmla="*/ 46 w 95"/>
                <a:gd name="T33" fmla="*/ 15 h 22"/>
                <a:gd name="T34" fmla="*/ 46 w 95"/>
                <a:gd name="T35" fmla="*/ 15 h 22"/>
                <a:gd name="T36" fmla="*/ 45 w 95"/>
                <a:gd name="T37" fmla="*/ 17 h 22"/>
                <a:gd name="T38" fmla="*/ 43 w 95"/>
                <a:gd name="T39" fmla="*/ 20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1"/>
                  </a:lnTo>
                  <a:lnTo>
                    <a:pt x="45" y="4"/>
                  </a:lnTo>
                  <a:lnTo>
                    <a:pt x="46" y="7"/>
                  </a:lnTo>
                  <a:lnTo>
                    <a:pt x="91" y="7"/>
                  </a:lnTo>
                  <a:lnTo>
                    <a:pt x="91" y="7"/>
                  </a:lnTo>
                  <a:lnTo>
                    <a:pt x="94" y="8"/>
                  </a:lnTo>
                  <a:lnTo>
                    <a:pt x="95" y="10"/>
                  </a:lnTo>
                  <a:lnTo>
                    <a:pt x="95" y="10"/>
                  </a:lnTo>
                  <a:lnTo>
                    <a:pt x="94" y="14"/>
                  </a:lnTo>
                  <a:lnTo>
                    <a:pt x="91" y="15"/>
                  </a:lnTo>
                  <a:lnTo>
                    <a:pt x="46" y="15"/>
                  </a:lnTo>
                  <a:lnTo>
                    <a:pt x="46" y="15"/>
                  </a:lnTo>
                  <a:lnTo>
                    <a:pt x="45" y="17"/>
                  </a:lnTo>
                  <a:lnTo>
                    <a:pt x="43" y="20"/>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0" name="Freeform 247">
              <a:extLst>
                <a:ext uri="{FF2B5EF4-FFF2-40B4-BE49-F238E27FC236}">
                  <a16:creationId xmlns:a16="http://schemas.microsoft.com/office/drawing/2014/main" id="{B13E59DD-8939-4CE4-A2F3-EC53B2EC3A70}"/>
                </a:ext>
              </a:extLst>
            </p:cNvPr>
            <p:cNvSpPr>
              <a:spLocks/>
            </p:cNvSpPr>
            <p:nvPr userDrawn="1"/>
          </p:nvSpPr>
          <p:spPr bwMode="auto">
            <a:xfrm>
              <a:off x="6564335" y="3348078"/>
              <a:ext cx="74613" cy="15875"/>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1 h 22"/>
                <a:gd name="T14" fmla="*/ 45 w 95"/>
                <a:gd name="T15" fmla="*/ 5 h 22"/>
                <a:gd name="T16" fmla="*/ 46 w 95"/>
                <a:gd name="T17" fmla="*/ 7 h 22"/>
                <a:gd name="T18" fmla="*/ 91 w 95"/>
                <a:gd name="T19" fmla="*/ 7 h 22"/>
                <a:gd name="T20" fmla="*/ 91 w 95"/>
                <a:gd name="T21" fmla="*/ 7 h 22"/>
                <a:gd name="T22" fmla="*/ 94 w 95"/>
                <a:gd name="T23" fmla="*/ 8 h 22"/>
                <a:gd name="T24" fmla="*/ 95 w 95"/>
                <a:gd name="T25" fmla="*/ 10 h 22"/>
                <a:gd name="T26" fmla="*/ 95 w 95"/>
                <a:gd name="T27" fmla="*/ 10 h 22"/>
                <a:gd name="T28" fmla="*/ 94 w 95"/>
                <a:gd name="T29" fmla="*/ 14 h 22"/>
                <a:gd name="T30" fmla="*/ 91 w 95"/>
                <a:gd name="T31" fmla="*/ 15 h 22"/>
                <a:gd name="T32" fmla="*/ 46 w 95"/>
                <a:gd name="T33" fmla="*/ 15 h 22"/>
                <a:gd name="T34" fmla="*/ 46 w 95"/>
                <a:gd name="T35" fmla="*/ 15 h 22"/>
                <a:gd name="T36" fmla="*/ 45 w 95"/>
                <a:gd name="T37" fmla="*/ 17 h 22"/>
                <a:gd name="T38" fmla="*/ 43 w 95"/>
                <a:gd name="T39" fmla="*/ 20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1"/>
                  </a:lnTo>
                  <a:lnTo>
                    <a:pt x="45" y="5"/>
                  </a:lnTo>
                  <a:lnTo>
                    <a:pt x="46" y="7"/>
                  </a:lnTo>
                  <a:lnTo>
                    <a:pt x="91" y="7"/>
                  </a:lnTo>
                  <a:lnTo>
                    <a:pt x="91" y="7"/>
                  </a:lnTo>
                  <a:lnTo>
                    <a:pt x="94" y="8"/>
                  </a:lnTo>
                  <a:lnTo>
                    <a:pt x="95" y="10"/>
                  </a:lnTo>
                  <a:lnTo>
                    <a:pt x="95" y="10"/>
                  </a:lnTo>
                  <a:lnTo>
                    <a:pt x="94" y="14"/>
                  </a:lnTo>
                  <a:lnTo>
                    <a:pt x="91" y="15"/>
                  </a:lnTo>
                  <a:lnTo>
                    <a:pt x="46" y="15"/>
                  </a:lnTo>
                  <a:lnTo>
                    <a:pt x="46" y="15"/>
                  </a:lnTo>
                  <a:lnTo>
                    <a:pt x="45" y="17"/>
                  </a:lnTo>
                  <a:lnTo>
                    <a:pt x="43" y="20"/>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1" name="Freeform 248">
              <a:extLst>
                <a:ext uri="{FF2B5EF4-FFF2-40B4-BE49-F238E27FC236}">
                  <a16:creationId xmlns:a16="http://schemas.microsoft.com/office/drawing/2014/main" id="{B19E6561-2E25-4C3E-AB5C-9F3AAADCF6D4}"/>
                </a:ext>
              </a:extLst>
            </p:cNvPr>
            <p:cNvSpPr>
              <a:spLocks/>
            </p:cNvSpPr>
            <p:nvPr userDrawn="1"/>
          </p:nvSpPr>
          <p:spPr bwMode="auto">
            <a:xfrm>
              <a:off x="6564335" y="3378241"/>
              <a:ext cx="74613" cy="15875"/>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2 h 22"/>
                <a:gd name="T14" fmla="*/ 45 w 95"/>
                <a:gd name="T15" fmla="*/ 5 h 22"/>
                <a:gd name="T16" fmla="*/ 46 w 95"/>
                <a:gd name="T17" fmla="*/ 7 h 22"/>
                <a:gd name="T18" fmla="*/ 91 w 95"/>
                <a:gd name="T19" fmla="*/ 7 h 22"/>
                <a:gd name="T20" fmla="*/ 91 w 95"/>
                <a:gd name="T21" fmla="*/ 7 h 22"/>
                <a:gd name="T22" fmla="*/ 94 w 95"/>
                <a:gd name="T23" fmla="*/ 8 h 22"/>
                <a:gd name="T24" fmla="*/ 95 w 95"/>
                <a:gd name="T25" fmla="*/ 12 h 22"/>
                <a:gd name="T26" fmla="*/ 95 w 95"/>
                <a:gd name="T27" fmla="*/ 12 h 22"/>
                <a:gd name="T28" fmla="*/ 94 w 95"/>
                <a:gd name="T29" fmla="*/ 14 h 22"/>
                <a:gd name="T30" fmla="*/ 91 w 95"/>
                <a:gd name="T31" fmla="*/ 15 h 22"/>
                <a:gd name="T32" fmla="*/ 46 w 95"/>
                <a:gd name="T33" fmla="*/ 15 h 22"/>
                <a:gd name="T34" fmla="*/ 46 w 95"/>
                <a:gd name="T35" fmla="*/ 15 h 22"/>
                <a:gd name="T36" fmla="*/ 45 w 95"/>
                <a:gd name="T37" fmla="*/ 17 h 22"/>
                <a:gd name="T38" fmla="*/ 43 w 95"/>
                <a:gd name="T39" fmla="*/ 20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2"/>
                  </a:lnTo>
                  <a:lnTo>
                    <a:pt x="45" y="5"/>
                  </a:lnTo>
                  <a:lnTo>
                    <a:pt x="46" y="7"/>
                  </a:lnTo>
                  <a:lnTo>
                    <a:pt x="91" y="7"/>
                  </a:lnTo>
                  <a:lnTo>
                    <a:pt x="91" y="7"/>
                  </a:lnTo>
                  <a:lnTo>
                    <a:pt x="94" y="8"/>
                  </a:lnTo>
                  <a:lnTo>
                    <a:pt x="95" y="12"/>
                  </a:lnTo>
                  <a:lnTo>
                    <a:pt x="95" y="12"/>
                  </a:lnTo>
                  <a:lnTo>
                    <a:pt x="94" y="14"/>
                  </a:lnTo>
                  <a:lnTo>
                    <a:pt x="91" y="15"/>
                  </a:lnTo>
                  <a:lnTo>
                    <a:pt x="46" y="15"/>
                  </a:lnTo>
                  <a:lnTo>
                    <a:pt x="46" y="15"/>
                  </a:lnTo>
                  <a:lnTo>
                    <a:pt x="45" y="17"/>
                  </a:lnTo>
                  <a:lnTo>
                    <a:pt x="43" y="20"/>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2" name="Freeform 249">
              <a:extLst>
                <a:ext uri="{FF2B5EF4-FFF2-40B4-BE49-F238E27FC236}">
                  <a16:creationId xmlns:a16="http://schemas.microsoft.com/office/drawing/2014/main" id="{F9DB65A3-380E-442E-BA78-88BA9EAE3C5E}"/>
                </a:ext>
              </a:extLst>
            </p:cNvPr>
            <p:cNvSpPr>
              <a:spLocks/>
            </p:cNvSpPr>
            <p:nvPr userDrawn="1"/>
          </p:nvSpPr>
          <p:spPr bwMode="auto">
            <a:xfrm>
              <a:off x="6564335" y="3408403"/>
              <a:ext cx="74613" cy="17463"/>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2 h 22"/>
                <a:gd name="T14" fmla="*/ 45 w 95"/>
                <a:gd name="T15" fmla="*/ 5 h 22"/>
                <a:gd name="T16" fmla="*/ 46 w 95"/>
                <a:gd name="T17" fmla="*/ 7 h 22"/>
                <a:gd name="T18" fmla="*/ 91 w 95"/>
                <a:gd name="T19" fmla="*/ 7 h 22"/>
                <a:gd name="T20" fmla="*/ 91 w 95"/>
                <a:gd name="T21" fmla="*/ 7 h 22"/>
                <a:gd name="T22" fmla="*/ 94 w 95"/>
                <a:gd name="T23" fmla="*/ 8 h 22"/>
                <a:gd name="T24" fmla="*/ 95 w 95"/>
                <a:gd name="T25" fmla="*/ 12 h 22"/>
                <a:gd name="T26" fmla="*/ 95 w 95"/>
                <a:gd name="T27" fmla="*/ 12 h 22"/>
                <a:gd name="T28" fmla="*/ 94 w 95"/>
                <a:gd name="T29" fmla="*/ 14 h 22"/>
                <a:gd name="T30" fmla="*/ 91 w 95"/>
                <a:gd name="T31" fmla="*/ 15 h 22"/>
                <a:gd name="T32" fmla="*/ 46 w 95"/>
                <a:gd name="T33" fmla="*/ 15 h 22"/>
                <a:gd name="T34" fmla="*/ 46 w 95"/>
                <a:gd name="T35" fmla="*/ 15 h 22"/>
                <a:gd name="T36" fmla="*/ 45 w 95"/>
                <a:gd name="T37" fmla="*/ 17 h 22"/>
                <a:gd name="T38" fmla="*/ 43 w 95"/>
                <a:gd name="T39" fmla="*/ 20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2"/>
                  </a:lnTo>
                  <a:lnTo>
                    <a:pt x="45" y="5"/>
                  </a:lnTo>
                  <a:lnTo>
                    <a:pt x="46" y="7"/>
                  </a:lnTo>
                  <a:lnTo>
                    <a:pt x="91" y="7"/>
                  </a:lnTo>
                  <a:lnTo>
                    <a:pt x="91" y="7"/>
                  </a:lnTo>
                  <a:lnTo>
                    <a:pt x="94" y="8"/>
                  </a:lnTo>
                  <a:lnTo>
                    <a:pt x="95" y="12"/>
                  </a:lnTo>
                  <a:lnTo>
                    <a:pt x="95" y="12"/>
                  </a:lnTo>
                  <a:lnTo>
                    <a:pt x="94" y="14"/>
                  </a:lnTo>
                  <a:lnTo>
                    <a:pt x="91" y="15"/>
                  </a:lnTo>
                  <a:lnTo>
                    <a:pt x="46" y="15"/>
                  </a:lnTo>
                  <a:lnTo>
                    <a:pt x="46" y="15"/>
                  </a:lnTo>
                  <a:lnTo>
                    <a:pt x="45" y="17"/>
                  </a:lnTo>
                  <a:lnTo>
                    <a:pt x="43" y="20"/>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3" name="Freeform 250">
              <a:extLst>
                <a:ext uri="{FF2B5EF4-FFF2-40B4-BE49-F238E27FC236}">
                  <a16:creationId xmlns:a16="http://schemas.microsoft.com/office/drawing/2014/main" id="{5CB7BC7B-EFBA-4B26-B0C4-0D62B1AB9B4D}"/>
                </a:ext>
              </a:extLst>
            </p:cNvPr>
            <p:cNvSpPr>
              <a:spLocks/>
            </p:cNvSpPr>
            <p:nvPr userDrawn="1"/>
          </p:nvSpPr>
          <p:spPr bwMode="auto">
            <a:xfrm>
              <a:off x="6564335" y="3438566"/>
              <a:ext cx="74613" cy="17463"/>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2 h 22"/>
                <a:gd name="T14" fmla="*/ 45 w 95"/>
                <a:gd name="T15" fmla="*/ 5 h 22"/>
                <a:gd name="T16" fmla="*/ 46 w 95"/>
                <a:gd name="T17" fmla="*/ 7 h 22"/>
                <a:gd name="T18" fmla="*/ 91 w 95"/>
                <a:gd name="T19" fmla="*/ 7 h 22"/>
                <a:gd name="T20" fmla="*/ 91 w 95"/>
                <a:gd name="T21" fmla="*/ 7 h 22"/>
                <a:gd name="T22" fmla="*/ 94 w 95"/>
                <a:gd name="T23" fmla="*/ 8 h 22"/>
                <a:gd name="T24" fmla="*/ 95 w 95"/>
                <a:gd name="T25" fmla="*/ 12 h 22"/>
                <a:gd name="T26" fmla="*/ 95 w 95"/>
                <a:gd name="T27" fmla="*/ 12 h 22"/>
                <a:gd name="T28" fmla="*/ 94 w 95"/>
                <a:gd name="T29" fmla="*/ 14 h 22"/>
                <a:gd name="T30" fmla="*/ 91 w 95"/>
                <a:gd name="T31" fmla="*/ 15 h 22"/>
                <a:gd name="T32" fmla="*/ 46 w 95"/>
                <a:gd name="T33" fmla="*/ 15 h 22"/>
                <a:gd name="T34" fmla="*/ 46 w 95"/>
                <a:gd name="T35" fmla="*/ 15 h 22"/>
                <a:gd name="T36" fmla="*/ 45 w 95"/>
                <a:gd name="T37" fmla="*/ 19 h 22"/>
                <a:gd name="T38" fmla="*/ 43 w 95"/>
                <a:gd name="T39" fmla="*/ 21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2"/>
                  </a:lnTo>
                  <a:lnTo>
                    <a:pt x="45" y="5"/>
                  </a:lnTo>
                  <a:lnTo>
                    <a:pt x="46" y="7"/>
                  </a:lnTo>
                  <a:lnTo>
                    <a:pt x="91" y="7"/>
                  </a:lnTo>
                  <a:lnTo>
                    <a:pt x="91" y="7"/>
                  </a:lnTo>
                  <a:lnTo>
                    <a:pt x="94" y="8"/>
                  </a:lnTo>
                  <a:lnTo>
                    <a:pt x="95" y="12"/>
                  </a:lnTo>
                  <a:lnTo>
                    <a:pt x="95" y="12"/>
                  </a:lnTo>
                  <a:lnTo>
                    <a:pt x="94" y="14"/>
                  </a:lnTo>
                  <a:lnTo>
                    <a:pt x="91" y="15"/>
                  </a:lnTo>
                  <a:lnTo>
                    <a:pt x="46" y="15"/>
                  </a:lnTo>
                  <a:lnTo>
                    <a:pt x="46" y="15"/>
                  </a:lnTo>
                  <a:lnTo>
                    <a:pt x="45" y="19"/>
                  </a:lnTo>
                  <a:lnTo>
                    <a:pt x="43" y="21"/>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4" name="Freeform 251">
              <a:extLst>
                <a:ext uri="{FF2B5EF4-FFF2-40B4-BE49-F238E27FC236}">
                  <a16:creationId xmlns:a16="http://schemas.microsoft.com/office/drawing/2014/main" id="{1E9538DD-5BAA-4EF3-8156-92998A355991}"/>
                </a:ext>
              </a:extLst>
            </p:cNvPr>
            <p:cNvSpPr>
              <a:spLocks/>
            </p:cNvSpPr>
            <p:nvPr userDrawn="1"/>
          </p:nvSpPr>
          <p:spPr bwMode="auto">
            <a:xfrm>
              <a:off x="6564335" y="3498892"/>
              <a:ext cx="74613" cy="17463"/>
            </a:xfrm>
            <a:custGeom>
              <a:avLst/>
              <a:gdLst>
                <a:gd name="T0" fmla="*/ 36 w 95"/>
                <a:gd name="T1" fmla="*/ 23 h 23"/>
                <a:gd name="T2" fmla="*/ 0 w 95"/>
                <a:gd name="T3" fmla="*/ 23 h 23"/>
                <a:gd name="T4" fmla="*/ 0 w 95"/>
                <a:gd name="T5" fmla="*/ 0 h 23"/>
                <a:gd name="T6" fmla="*/ 36 w 95"/>
                <a:gd name="T7" fmla="*/ 0 h 23"/>
                <a:gd name="T8" fmla="*/ 36 w 95"/>
                <a:gd name="T9" fmla="*/ 0 h 23"/>
                <a:gd name="T10" fmla="*/ 39 w 95"/>
                <a:gd name="T11" fmla="*/ 1 h 23"/>
                <a:gd name="T12" fmla="*/ 43 w 95"/>
                <a:gd name="T13" fmla="*/ 2 h 23"/>
                <a:gd name="T14" fmla="*/ 45 w 95"/>
                <a:gd name="T15" fmla="*/ 5 h 23"/>
                <a:gd name="T16" fmla="*/ 46 w 95"/>
                <a:gd name="T17" fmla="*/ 8 h 23"/>
                <a:gd name="T18" fmla="*/ 91 w 95"/>
                <a:gd name="T19" fmla="*/ 8 h 23"/>
                <a:gd name="T20" fmla="*/ 91 w 95"/>
                <a:gd name="T21" fmla="*/ 8 h 23"/>
                <a:gd name="T22" fmla="*/ 94 w 95"/>
                <a:gd name="T23" fmla="*/ 9 h 23"/>
                <a:gd name="T24" fmla="*/ 95 w 95"/>
                <a:gd name="T25" fmla="*/ 12 h 23"/>
                <a:gd name="T26" fmla="*/ 95 w 95"/>
                <a:gd name="T27" fmla="*/ 12 h 23"/>
                <a:gd name="T28" fmla="*/ 94 w 95"/>
                <a:gd name="T29" fmla="*/ 14 h 23"/>
                <a:gd name="T30" fmla="*/ 91 w 95"/>
                <a:gd name="T31" fmla="*/ 15 h 23"/>
                <a:gd name="T32" fmla="*/ 46 w 95"/>
                <a:gd name="T33" fmla="*/ 15 h 23"/>
                <a:gd name="T34" fmla="*/ 46 w 95"/>
                <a:gd name="T35" fmla="*/ 15 h 23"/>
                <a:gd name="T36" fmla="*/ 45 w 95"/>
                <a:gd name="T37" fmla="*/ 19 h 23"/>
                <a:gd name="T38" fmla="*/ 43 w 95"/>
                <a:gd name="T39" fmla="*/ 21 h 23"/>
                <a:gd name="T40" fmla="*/ 39 w 95"/>
                <a:gd name="T41" fmla="*/ 22 h 23"/>
                <a:gd name="T42" fmla="*/ 36 w 95"/>
                <a:gd name="T43" fmla="*/ 23 h 23"/>
                <a:gd name="T44" fmla="*/ 36 w 95"/>
                <a:gd name="T45"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3">
                  <a:moveTo>
                    <a:pt x="36" y="23"/>
                  </a:moveTo>
                  <a:lnTo>
                    <a:pt x="0" y="23"/>
                  </a:lnTo>
                  <a:lnTo>
                    <a:pt x="0" y="0"/>
                  </a:lnTo>
                  <a:lnTo>
                    <a:pt x="36" y="0"/>
                  </a:lnTo>
                  <a:lnTo>
                    <a:pt x="36" y="0"/>
                  </a:lnTo>
                  <a:lnTo>
                    <a:pt x="39" y="1"/>
                  </a:lnTo>
                  <a:lnTo>
                    <a:pt x="43" y="2"/>
                  </a:lnTo>
                  <a:lnTo>
                    <a:pt x="45" y="5"/>
                  </a:lnTo>
                  <a:lnTo>
                    <a:pt x="46" y="8"/>
                  </a:lnTo>
                  <a:lnTo>
                    <a:pt x="91" y="8"/>
                  </a:lnTo>
                  <a:lnTo>
                    <a:pt x="91" y="8"/>
                  </a:lnTo>
                  <a:lnTo>
                    <a:pt x="94" y="9"/>
                  </a:lnTo>
                  <a:lnTo>
                    <a:pt x="95" y="12"/>
                  </a:lnTo>
                  <a:lnTo>
                    <a:pt x="95" y="12"/>
                  </a:lnTo>
                  <a:lnTo>
                    <a:pt x="94" y="14"/>
                  </a:lnTo>
                  <a:lnTo>
                    <a:pt x="91" y="15"/>
                  </a:lnTo>
                  <a:lnTo>
                    <a:pt x="46" y="15"/>
                  </a:lnTo>
                  <a:lnTo>
                    <a:pt x="46" y="15"/>
                  </a:lnTo>
                  <a:lnTo>
                    <a:pt x="45" y="19"/>
                  </a:lnTo>
                  <a:lnTo>
                    <a:pt x="43" y="21"/>
                  </a:lnTo>
                  <a:lnTo>
                    <a:pt x="39" y="22"/>
                  </a:lnTo>
                  <a:lnTo>
                    <a:pt x="36" y="23"/>
                  </a:lnTo>
                  <a:lnTo>
                    <a:pt x="36" y="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5" name="Freeform 252">
              <a:extLst>
                <a:ext uri="{FF2B5EF4-FFF2-40B4-BE49-F238E27FC236}">
                  <a16:creationId xmlns:a16="http://schemas.microsoft.com/office/drawing/2014/main" id="{2F6995FC-BE45-4BEC-AE8D-2AFA16E79D23}"/>
                </a:ext>
              </a:extLst>
            </p:cNvPr>
            <p:cNvSpPr>
              <a:spLocks/>
            </p:cNvSpPr>
            <p:nvPr userDrawn="1"/>
          </p:nvSpPr>
          <p:spPr bwMode="auto">
            <a:xfrm>
              <a:off x="6564335" y="3468729"/>
              <a:ext cx="74613" cy="17463"/>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2 h 22"/>
                <a:gd name="T14" fmla="*/ 45 w 95"/>
                <a:gd name="T15" fmla="*/ 5 h 22"/>
                <a:gd name="T16" fmla="*/ 46 w 95"/>
                <a:gd name="T17" fmla="*/ 8 h 22"/>
                <a:gd name="T18" fmla="*/ 91 w 95"/>
                <a:gd name="T19" fmla="*/ 8 h 22"/>
                <a:gd name="T20" fmla="*/ 91 w 95"/>
                <a:gd name="T21" fmla="*/ 8 h 22"/>
                <a:gd name="T22" fmla="*/ 94 w 95"/>
                <a:gd name="T23" fmla="*/ 8 h 22"/>
                <a:gd name="T24" fmla="*/ 95 w 95"/>
                <a:gd name="T25" fmla="*/ 12 h 22"/>
                <a:gd name="T26" fmla="*/ 95 w 95"/>
                <a:gd name="T27" fmla="*/ 12 h 22"/>
                <a:gd name="T28" fmla="*/ 94 w 95"/>
                <a:gd name="T29" fmla="*/ 14 h 22"/>
                <a:gd name="T30" fmla="*/ 91 w 95"/>
                <a:gd name="T31" fmla="*/ 15 h 22"/>
                <a:gd name="T32" fmla="*/ 46 w 95"/>
                <a:gd name="T33" fmla="*/ 15 h 22"/>
                <a:gd name="T34" fmla="*/ 46 w 95"/>
                <a:gd name="T35" fmla="*/ 15 h 22"/>
                <a:gd name="T36" fmla="*/ 45 w 95"/>
                <a:gd name="T37" fmla="*/ 19 h 22"/>
                <a:gd name="T38" fmla="*/ 43 w 95"/>
                <a:gd name="T39" fmla="*/ 21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2"/>
                  </a:lnTo>
                  <a:lnTo>
                    <a:pt x="45" y="5"/>
                  </a:lnTo>
                  <a:lnTo>
                    <a:pt x="46" y="8"/>
                  </a:lnTo>
                  <a:lnTo>
                    <a:pt x="91" y="8"/>
                  </a:lnTo>
                  <a:lnTo>
                    <a:pt x="91" y="8"/>
                  </a:lnTo>
                  <a:lnTo>
                    <a:pt x="94" y="8"/>
                  </a:lnTo>
                  <a:lnTo>
                    <a:pt x="95" y="12"/>
                  </a:lnTo>
                  <a:lnTo>
                    <a:pt x="95" y="12"/>
                  </a:lnTo>
                  <a:lnTo>
                    <a:pt x="94" y="14"/>
                  </a:lnTo>
                  <a:lnTo>
                    <a:pt x="91" y="15"/>
                  </a:lnTo>
                  <a:lnTo>
                    <a:pt x="46" y="15"/>
                  </a:lnTo>
                  <a:lnTo>
                    <a:pt x="46" y="15"/>
                  </a:lnTo>
                  <a:lnTo>
                    <a:pt x="45" y="19"/>
                  </a:lnTo>
                  <a:lnTo>
                    <a:pt x="43" y="21"/>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grpSp>
        <p:nvGrpSpPr>
          <p:cNvPr id="381" name="Group 380">
            <a:extLst>
              <a:ext uri="{FF2B5EF4-FFF2-40B4-BE49-F238E27FC236}">
                <a16:creationId xmlns:a16="http://schemas.microsoft.com/office/drawing/2014/main" id="{1A909330-67FB-4AA2-A1D6-918C768AAFA9}"/>
              </a:ext>
            </a:extLst>
          </p:cNvPr>
          <p:cNvGrpSpPr/>
          <p:nvPr userDrawn="1"/>
        </p:nvGrpSpPr>
        <p:grpSpPr>
          <a:xfrm>
            <a:off x="6637889" y="3956098"/>
            <a:ext cx="1077387" cy="1077396"/>
            <a:chOff x="4978417" y="2967073"/>
            <a:chExt cx="808040" cy="808047"/>
          </a:xfrm>
        </p:grpSpPr>
        <p:sp>
          <p:nvSpPr>
            <p:cNvPr id="314" name="Freeform 211">
              <a:extLst>
                <a:ext uri="{FF2B5EF4-FFF2-40B4-BE49-F238E27FC236}">
                  <a16:creationId xmlns:a16="http://schemas.microsoft.com/office/drawing/2014/main" id="{703FF4DA-DE81-465F-8819-1BA5B7D2A754}"/>
                </a:ext>
              </a:extLst>
            </p:cNvPr>
            <p:cNvSpPr>
              <a:spLocks/>
            </p:cNvSpPr>
            <p:nvPr userDrawn="1"/>
          </p:nvSpPr>
          <p:spPr bwMode="auto">
            <a:xfrm>
              <a:off x="4978417" y="2967073"/>
              <a:ext cx="808040" cy="808047"/>
            </a:xfrm>
            <a:custGeom>
              <a:avLst/>
              <a:gdLst>
                <a:gd name="T0" fmla="*/ 1017 w 1018"/>
                <a:gd name="T1" fmla="*/ 536 h 1018"/>
                <a:gd name="T2" fmla="*/ 1008 w 1018"/>
                <a:gd name="T3" fmla="*/ 612 h 1018"/>
                <a:gd name="T4" fmla="*/ 987 w 1018"/>
                <a:gd name="T5" fmla="*/ 684 h 1018"/>
                <a:gd name="T6" fmla="*/ 956 w 1018"/>
                <a:gd name="T7" fmla="*/ 751 h 1018"/>
                <a:gd name="T8" fmla="*/ 917 w 1018"/>
                <a:gd name="T9" fmla="*/ 813 h 1018"/>
                <a:gd name="T10" fmla="*/ 869 w 1018"/>
                <a:gd name="T11" fmla="*/ 869 h 1018"/>
                <a:gd name="T12" fmla="*/ 813 w 1018"/>
                <a:gd name="T13" fmla="*/ 917 h 1018"/>
                <a:gd name="T14" fmla="*/ 752 w 1018"/>
                <a:gd name="T15" fmla="*/ 956 h 1018"/>
                <a:gd name="T16" fmla="*/ 685 w 1018"/>
                <a:gd name="T17" fmla="*/ 987 h 1018"/>
                <a:gd name="T18" fmla="*/ 612 w 1018"/>
                <a:gd name="T19" fmla="*/ 1008 h 1018"/>
                <a:gd name="T20" fmla="*/ 536 w 1018"/>
                <a:gd name="T21" fmla="*/ 1017 h 1018"/>
                <a:gd name="T22" fmla="*/ 483 w 1018"/>
                <a:gd name="T23" fmla="*/ 1017 h 1018"/>
                <a:gd name="T24" fmla="*/ 407 w 1018"/>
                <a:gd name="T25" fmla="*/ 1008 h 1018"/>
                <a:gd name="T26" fmla="*/ 334 w 1018"/>
                <a:gd name="T27" fmla="*/ 987 h 1018"/>
                <a:gd name="T28" fmla="*/ 268 w 1018"/>
                <a:gd name="T29" fmla="*/ 956 h 1018"/>
                <a:gd name="T30" fmla="*/ 205 w 1018"/>
                <a:gd name="T31" fmla="*/ 917 h 1018"/>
                <a:gd name="T32" fmla="*/ 150 w 1018"/>
                <a:gd name="T33" fmla="*/ 869 h 1018"/>
                <a:gd name="T34" fmla="*/ 102 w 1018"/>
                <a:gd name="T35" fmla="*/ 813 h 1018"/>
                <a:gd name="T36" fmla="*/ 63 w 1018"/>
                <a:gd name="T37" fmla="*/ 751 h 1018"/>
                <a:gd name="T38" fmla="*/ 32 w 1018"/>
                <a:gd name="T39" fmla="*/ 684 h 1018"/>
                <a:gd name="T40" fmla="*/ 11 w 1018"/>
                <a:gd name="T41" fmla="*/ 612 h 1018"/>
                <a:gd name="T42" fmla="*/ 2 w 1018"/>
                <a:gd name="T43" fmla="*/ 536 h 1018"/>
                <a:gd name="T44" fmla="*/ 2 w 1018"/>
                <a:gd name="T45" fmla="*/ 483 h 1018"/>
                <a:gd name="T46" fmla="*/ 11 w 1018"/>
                <a:gd name="T47" fmla="*/ 406 h 1018"/>
                <a:gd name="T48" fmla="*/ 32 w 1018"/>
                <a:gd name="T49" fmla="*/ 334 h 1018"/>
                <a:gd name="T50" fmla="*/ 63 w 1018"/>
                <a:gd name="T51" fmla="*/ 266 h 1018"/>
                <a:gd name="T52" fmla="*/ 102 w 1018"/>
                <a:gd name="T53" fmla="*/ 205 h 1018"/>
                <a:gd name="T54" fmla="*/ 150 w 1018"/>
                <a:gd name="T55" fmla="*/ 150 h 1018"/>
                <a:gd name="T56" fmla="*/ 205 w 1018"/>
                <a:gd name="T57" fmla="*/ 101 h 1018"/>
                <a:gd name="T58" fmla="*/ 268 w 1018"/>
                <a:gd name="T59" fmla="*/ 62 h 1018"/>
                <a:gd name="T60" fmla="*/ 334 w 1018"/>
                <a:gd name="T61" fmla="*/ 31 h 1018"/>
                <a:gd name="T62" fmla="*/ 407 w 1018"/>
                <a:gd name="T63" fmla="*/ 10 h 1018"/>
                <a:gd name="T64" fmla="*/ 483 w 1018"/>
                <a:gd name="T65" fmla="*/ 1 h 1018"/>
                <a:gd name="T66" fmla="*/ 536 w 1018"/>
                <a:gd name="T67" fmla="*/ 1 h 1018"/>
                <a:gd name="T68" fmla="*/ 612 w 1018"/>
                <a:gd name="T69" fmla="*/ 10 h 1018"/>
                <a:gd name="T70" fmla="*/ 685 w 1018"/>
                <a:gd name="T71" fmla="*/ 31 h 1018"/>
                <a:gd name="T72" fmla="*/ 752 w 1018"/>
                <a:gd name="T73" fmla="*/ 62 h 1018"/>
                <a:gd name="T74" fmla="*/ 813 w 1018"/>
                <a:gd name="T75" fmla="*/ 101 h 1018"/>
                <a:gd name="T76" fmla="*/ 869 w 1018"/>
                <a:gd name="T77" fmla="*/ 150 h 1018"/>
                <a:gd name="T78" fmla="*/ 917 w 1018"/>
                <a:gd name="T79" fmla="*/ 205 h 1018"/>
                <a:gd name="T80" fmla="*/ 956 w 1018"/>
                <a:gd name="T81" fmla="*/ 266 h 1018"/>
                <a:gd name="T82" fmla="*/ 987 w 1018"/>
                <a:gd name="T83" fmla="*/ 334 h 1018"/>
                <a:gd name="T84" fmla="*/ 1008 w 1018"/>
                <a:gd name="T85" fmla="*/ 406 h 1018"/>
                <a:gd name="T86" fmla="*/ 1017 w 1018"/>
                <a:gd name="T87" fmla="*/ 483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8" h="1018">
                  <a:moveTo>
                    <a:pt x="1018" y="509"/>
                  </a:moveTo>
                  <a:lnTo>
                    <a:pt x="1018" y="509"/>
                  </a:lnTo>
                  <a:lnTo>
                    <a:pt x="1017" y="536"/>
                  </a:lnTo>
                  <a:lnTo>
                    <a:pt x="1015" y="561"/>
                  </a:lnTo>
                  <a:lnTo>
                    <a:pt x="1013" y="586"/>
                  </a:lnTo>
                  <a:lnTo>
                    <a:pt x="1008" y="612"/>
                  </a:lnTo>
                  <a:lnTo>
                    <a:pt x="1002" y="636"/>
                  </a:lnTo>
                  <a:lnTo>
                    <a:pt x="995" y="660"/>
                  </a:lnTo>
                  <a:lnTo>
                    <a:pt x="987" y="684"/>
                  </a:lnTo>
                  <a:lnTo>
                    <a:pt x="978" y="707"/>
                  </a:lnTo>
                  <a:lnTo>
                    <a:pt x="968" y="729"/>
                  </a:lnTo>
                  <a:lnTo>
                    <a:pt x="956" y="751"/>
                  </a:lnTo>
                  <a:lnTo>
                    <a:pt x="945" y="773"/>
                  </a:lnTo>
                  <a:lnTo>
                    <a:pt x="931" y="794"/>
                  </a:lnTo>
                  <a:lnTo>
                    <a:pt x="917" y="813"/>
                  </a:lnTo>
                  <a:lnTo>
                    <a:pt x="902" y="833"/>
                  </a:lnTo>
                  <a:lnTo>
                    <a:pt x="886" y="851"/>
                  </a:lnTo>
                  <a:lnTo>
                    <a:pt x="869" y="869"/>
                  </a:lnTo>
                  <a:lnTo>
                    <a:pt x="851" y="886"/>
                  </a:lnTo>
                  <a:lnTo>
                    <a:pt x="833" y="902"/>
                  </a:lnTo>
                  <a:lnTo>
                    <a:pt x="813" y="917"/>
                  </a:lnTo>
                  <a:lnTo>
                    <a:pt x="794" y="931"/>
                  </a:lnTo>
                  <a:lnTo>
                    <a:pt x="773" y="945"/>
                  </a:lnTo>
                  <a:lnTo>
                    <a:pt x="752" y="956"/>
                  </a:lnTo>
                  <a:lnTo>
                    <a:pt x="731" y="968"/>
                  </a:lnTo>
                  <a:lnTo>
                    <a:pt x="708" y="978"/>
                  </a:lnTo>
                  <a:lnTo>
                    <a:pt x="685" y="987"/>
                  </a:lnTo>
                  <a:lnTo>
                    <a:pt x="660" y="995"/>
                  </a:lnTo>
                  <a:lnTo>
                    <a:pt x="636" y="1002"/>
                  </a:lnTo>
                  <a:lnTo>
                    <a:pt x="612" y="1008"/>
                  </a:lnTo>
                  <a:lnTo>
                    <a:pt x="587" y="1011"/>
                  </a:lnTo>
                  <a:lnTo>
                    <a:pt x="561" y="1015"/>
                  </a:lnTo>
                  <a:lnTo>
                    <a:pt x="536" y="1017"/>
                  </a:lnTo>
                  <a:lnTo>
                    <a:pt x="509" y="1018"/>
                  </a:lnTo>
                  <a:lnTo>
                    <a:pt x="509" y="1018"/>
                  </a:lnTo>
                  <a:lnTo>
                    <a:pt x="483" y="1017"/>
                  </a:lnTo>
                  <a:lnTo>
                    <a:pt x="458" y="1015"/>
                  </a:lnTo>
                  <a:lnTo>
                    <a:pt x="432" y="1011"/>
                  </a:lnTo>
                  <a:lnTo>
                    <a:pt x="407" y="1008"/>
                  </a:lnTo>
                  <a:lnTo>
                    <a:pt x="383" y="1002"/>
                  </a:lnTo>
                  <a:lnTo>
                    <a:pt x="359" y="995"/>
                  </a:lnTo>
                  <a:lnTo>
                    <a:pt x="334" y="987"/>
                  </a:lnTo>
                  <a:lnTo>
                    <a:pt x="311" y="978"/>
                  </a:lnTo>
                  <a:lnTo>
                    <a:pt x="290" y="968"/>
                  </a:lnTo>
                  <a:lnTo>
                    <a:pt x="268" y="956"/>
                  </a:lnTo>
                  <a:lnTo>
                    <a:pt x="246" y="945"/>
                  </a:lnTo>
                  <a:lnTo>
                    <a:pt x="225" y="931"/>
                  </a:lnTo>
                  <a:lnTo>
                    <a:pt x="205" y="917"/>
                  </a:lnTo>
                  <a:lnTo>
                    <a:pt x="186" y="902"/>
                  </a:lnTo>
                  <a:lnTo>
                    <a:pt x="167" y="886"/>
                  </a:lnTo>
                  <a:lnTo>
                    <a:pt x="150" y="869"/>
                  </a:lnTo>
                  <a:lnTo>
                    <a:pt x="133" y="851"/>
                  </a:lnTo>
                  <a:lnTo>
                    <a:pt x="117" y="833"/>
                  </a:lnTo>
                  <a:lnTo>
                    <a:pt x="102" y="813"/>
                  </a:lnTo>
                  <a:lnTo>
                    <a:pt x="88" y="794"/>
                  </a:lnTo>
                  <a:lnTo>
                    <a:pt x="74" y="773"/>
                  </a:lnTo>
                  <a:lnTo>
                    <a:pt x="63" y="751"/>
                  </a:lnTo>
                  <a:lnTo>
                    <a:pt x="51" y="729"/>
                  </a:lnTo>
                  <a:lnTo>
                    <a:pt x="41" y="707"/>
                  </a:lnTo>
                  <a:lnTo>
                    <a:pt x="32" y="684"/>
                  </a:lnTo>
                  <a:lnTo>
                    <a:pt x="23" y="660"/>
                  </a:lnTo>
                  <a:lnTo>
                    <a:pt x="17" y="636"/>
                  </a:lnTo>
                  <a:lnTo>
                    <a:pt x="11" y="612"/>
                  </a:lnTo>
                  <a:lnTo>
                    <a:pt x="7" y="586"/>
                  </a:lnTo>
                  <a:lnTo>
                    <a:pt x="4" y="561"/>
                  </a:lnTo>
                  <a:lnTo>
                    <a:pt x="2" y="536"/>
                  </a:lnTo>
                  <a:lnTo>
                    <a:pt x="0" y="509"/>
                  </a:lnTo>
                  <a:lnTo>
                    <a:pt x="0" y="509"/>
                  </a:lnTo>
                  <a:lnTo>
                    <a:pt x="2" y="483"/>
                  </a:lnTo>
                  <a:lnTo>
                    <a:pt x="4" y="457"/>
                  </a:lnTo>
                  <a:lnTo>
                    <a:pt x="7" y="432"/>
                  </a:lnTo>
                  <a:lnTo>
                    <a:pt x="11" y="406"/>
                  </a:lnTo>
                  <a:lnTo>
                    <a:pt x="17" y="382"/>
                  </a:lnTo>
                  <a:lnTo>
                    <a:pt x="23" y="358"/>
                  </a:lnTo>
                  <a:lnTo>
                    <a:pt x="32" y="334"/>
                  </a:lnTo>
                  <a:lnTo>
                    <a:pt x="41" y="311"/>
                  </a:lnTo>
                  <a:lnTo>
                    <a:pt x="51" y="289"/>
                  </a:lnTo>
                  <a:lnTo>
                    <a:pt x="63" y="266"/>
                  </a:lnTo>
                  <a:lnTo>
                    <a:pt x="74" y="245"/>
                  </a:lnTo>
                  <a:lnTo>
                    <a:pt x="88" y="224"/>
                  </a:lnTo>
                  <a:lnTo>
                    <a:pt x="102" y="205"/>
                  </a:lnTo>
                  <a:lnTo>
                    <a:pt x="117" y="185"/>
                  </a:lnTo>
                  <a:lnTo>
                    <a:pt x="133" y="167"/>
                  </a:lnTo>
                  <a:lnTo>
                    <a:pt x="150" y="150"/>
                  </a:lnTo>
                  <a:lnTo>
                    <a:pt x="167" y="132"/>
                  </a:lnTo>
                  <a:lnTo>
                    <a:pt x="186" y="116"/>
                  </a:lnTo>
                  <a:lnTo>
                    <a:pt x="205" y="101"/>
                  </a:lnTo>
                  <a:lnTo>
                    <a:pt x="225" y="87"/>
                  </a:lnTo>
                  <a:lnTo>
                    <a:pt x="246" y="73"/>
                  </a:lnTo>
                  <a:lnTo>
                    <a:pt x="268" y="62"/>
                  </a:lnTo>
                  <a:lnTo>
                    <a:pt x="290" y="50"/>
                  </a:lnTo>
                  <a:lnTo>
                    <a:pt x="311" y="40"/>
                  </a:lnTo>
                  <a:lnTo>
                    <a:pt x="334" y="31"/>
                  </a:lnTo>
                  <a:lnTo>
                    <a:pt x="359" y="23"/>
                  </a:lnTo>
                  <a:lnTo>
                    <a:pt x="383" y="16"/>
                  </a:lnTo>
                  <a:lnTo>
                    <a:pt x="407" y="10"/>
                  </a:lnTo>
                  <a:lnTo>
                    <a:pt x="432" y="6"/>
                  </a:lnTo>
                  <a:lnTo>
                    <a:pt x="458" y="3"/>
                  </a:lnTo>
                  <a:lnTo>
                    <a:pt x="483" y="1"/>
                  </a:lnTo>
                  <a:lnTo>
                    <a:pt x="509" y="0"/>
                  </a:lnTo>
                  <a:lnTo>
                    <a:pt x="509" y="0"/>
                  </a:lnTo>
                  <a:lnTo>
                    <a:pt x="536" y="1"/>
                  </a:lnTo>
                  <a:lnTo>
                    <a:pt x="561" y="3"/>
                  </a:lnTo>
                  <a:lnTo>
                    <a:pt x="587" y="6"/>
                  </a:lnTo>
                  <a:lnTo>
                    <a:pt x="612" y="10"/>
                  </a:lnTo>
                  <a:lnTo>
                    <a:pt x="636" y="16"/>
                  </a:lnTo>
                  <a:lnTo>
                    <a:pt x="660" y="23"/>
                  </a:lnTo>
                  <a:lnTo>
                    <a:pt x="685" y="31"/>
                  </a:lnTo>
                  <a:lnTo>
                    <a:pt x="708" y="40"/>
                  </a:lnTo>
                  <a:lnTo>
                    <a:pt x="731" y="50"/>
                  </a:lnTo>
                  <a:lnTo>
                    <a:pt x="752" y="62"/>
                  </a:lnTo>
                  <a:lnTo>
                    <a:pt x="773" y="73"/>
                  </a:lnTo>
                  <a:lnTo>
                    <a:pt x="794" y="87"/>
                  </a:lnTo>
                  <a:lnTo>
                    <a:pt x="813" y="101"/>
                  </a:lnTo>
                  <a:lnTo>
                    <a:pt x="833" y="116"/>
                  </a:lnTo>
                  <a:lnTo>
                    <a:pt x="851" y="132"/>
                  </a:lnTo>
                  <a:lnTo>
                    <a:pt x="869" y="150"/>
                  </a:lnTo>
                  <a:lnTo>
                    <a:pt x="886" y="167"/>
                  </a:lnTo>
                  <a:lnTo>
                    <a:pt x="902" y="185"/>
                  </a:lnTo>
                  <a:lnTo>
                    <a:pt x="917" y="205"/>
                  </a:lnTo>
                  <a:lnTo>
                    <a:pt x="931" y="224"/>
                  </a:lnTo>
                  <a:lnTo>
                    <a:pt x="945" y="245"/>
                  </a:lnTo>
                  <a:lnTo>
                    <a:pt x="956" y="266"/>
                  </a:lnTo>
                  <a:lnTo>
                    <a:pt x="968" y="289"/>
                  </a:lnTo>
                  <a:lnTo>
                    <a:pt x="978" y="311"/>
                  </a:lnTo>
                  <a:lnTo>
                    <a:pt x="987" y="334"/>
                  </a:lnTo>
                  <a:lnTo>
                    <a:pt x="995" y="358"/>
                  </a:lnTo>
                  <a:lnTo>
                    <a:pt x="1002" y="382"/>
                  </a:lnTo>
                  <a:lnTo>
                    <a:pt x="1008" y="406"/>
                  </a:lnTo>
                  <a:lnTo>
                    <a:pt x="1013" y="432"/>
                  </a:lnTo>
                  <a:lnTo>
                    <a:pt x="1015" y="457"/>
                  </a:lnTo>
                  <a:lnTo>
                    <a:pt x="1017" y="483"/>
                  </a:lnTo>
                  <a:lnTo>
                    <a:pt x="1018" y="509"/>
                  </a:lnTo>
                  <a:lnTo>
                    <a:pt x="1018" y="509"/>
                  </a:lnTo>
                  <a:close/>
                </a:path>
              </a:pathLst>
            </a:custGeom>
            <a:solidFill>
              <a:srgbClr val="49CF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6" name="Freeform 253">
              <a:extLst>
                <a:ext uri="{FF2B5EF4-FFF2-40B4-BE49-F238E27FC236}">
                  <a16:creationId xmlns:a16="http://schemas.microsoft.com/office/drawing/2014/main" id="{0DCEB80E-6578-4215-BE93-740814AA6972}"/>
                </a:ext>
              </a:extLst>
            </p:cNvPr>
            <p:cNvSpPr>
              <a:spLocks noEditPoints="1"/>
            </p:cNvSpPr>
            <p:nvPr userDrawn="1"/>
          </p:nvSpPr>
          <p:spPr bwMode="auto">
            <a:xfrm>
              <a:off x="5221305" y="3097250"/>
              <a:ext cx="325439" cy="428630"/>
            </a:xfrm>
            <a:custGeom>
              <a:avLst/>
              <a:gdLst>
                <a:gd name="T0" fmla="*/ 136 w 409"/>
                <a:gd name="T1" fmla="*/ 539 h 539"/>
                <a:gd name="T2" fmla="*/ 120 w 409"/>
                <a:gd name="T3" fmla="*/ 530 h 539"/>
                <a:gd name="T4" fmla="*/ 118 w 409"/>
                <a:gd name="T5" fmla="*/ 482 h 539"/>
                <a:gd name="T6" fmla="*/ 108 w 409"/>
                <a:gd name="T7" fmla="*/ 437 h 539"/>
                <a:gd name="T8" fmla="*/ 80 w 409"/>
                <a:gd name="T9" fmla="*/ 389 h 539"/>
                <a:gd name="T10" fmla="*/ 39 w 409"/>
                <a:gd name="T11" fmla="*/ 324 h 539"/>
                <a:gd name="T12" fmla="*/ 21 w 409"/>
                <a:gd name="T13" fmla="*/ 293 h 539"/>
                <a:gd name="T14" fmla="*/ 18 w 409"/>
                <a:gd name="T15" fmla="*/ 291 h 539"/>
                <a:gd name="T16" fmla="*/ 1 w 409"/>
                <a:gd name="T17" fmla="*/ 227 h 539"/>
                <a:gd name="T18" fmla="*/ 1 w 409"/>
                <a:gd name="T19" fmla="*/ 184 h 539"/>
                <a:gd name="T20" fmla="*/ 16 w 409"/>
                <a:gd name="T21" fmla="*/ 125 h 539"/>
                <a:gd name="T22" fmla="*/ 46 w 409"/>
                <a:gd name="T23" fmla="*/ 74 h 539"/>
                <a:gd name="T24" fmla="*/ 90 w 409"/>
                <a:gd name="T25" fmla="*/ 34 h 539"/>
                <a:gd name="T26" fmla="*/ 144 w 409"/>
                <a:gd name="T27" fmla="*/ 9 h 539"/>
                <a:gd name="T28" fmla="*/ 204 w 409"/>
                <a:gd name="T29" fmla="*/ 0 h 539"/>
                <a:gd name="T30" fmla="*/ 245 w 409"/>
                <a:gd name="T31" fmla="*/ 4 h 539"/>
                <a:gd name="T32" fmla="*/ 302 w 409"/>
                <a:gd name="T33" fmla="*/ 25 h 539"/>
                <a:gd name="T34" fmla="*/ 349 w 409"/>
                <a:gd name="T35" fmla="*/ 59 h 539"/>
                <a:gd name="T36" fmla="*/ 383 w 409"/>
                <a:gd name="T37" fmla="*/ 107 h 539"/>
                <a:gd name="T38" fmla="*/ 404 w 409"/>
                <a:gd name="T39" fmla="*/ 163 h 539"/>
                <a:gd name="T40" fmla="*/ 409 w 409"/>
                <a:gd name="T41" fmla="*/ 205 h 539"/>
                <a:gd name="T42" fmla="*/ 398 w 409"/>
                <a:gd name="T43" fmla="*/ 270 h 539"/>
                <a:gd name="T44" fmla="*/ 388 w 409"/>
                <a:gd name="T45" fmla="*/ 293 h 539"/>
                <a:gd name="T46" fmla="*/ 369 w 409"/>
                <a:gd name="T47" fmla="*/ 324 h 539"/>
                <a:gd name="T48" fmla="*/ 349 w 409"/>
                <a:gd name="T49" fmla="*/ 356 h 539"/>
                <a:gd name="T50" fmla="*/ 308 w 409"/>
                <a:gd name="T51" fmla="*/ 421 h 539"/>
                <a:gd name="T52" fmla="*/ 291 w 409"/>
                <a:gd name="T53" fmla="*/ 468 h 539"/>
                <a:gd name="T54" fmla="*/ 289 w 409"/>
                <a:gd name="T55" fmla="*/ 523 h 539"/>
                <a:gd name="T56" fmla="*/ 280 w 409"/>
                <a:gd name="T57" fmla="*/ 538 h 539"/>
                <a:gd name="T58" fmla="*/ 204 w 409"/>
                <a:gd name="T59" fmla="*/ 11 h 539"/>
                <a:gd name="T60" fmla="*/ 166 w 409"/>
                <a:gd name="T61" fmla="*/ 14 h 539"/>
                <a:gd name="T62" fmla="*/ 111 w 409"/>
                <a:gd name="T63" fmla="*/ 34 h 539"/>
                <a:gd name="T64" fmla="*/ 68 w 409"/>
                <a:gd name="T65" fmla="*/ 67 h 539"/>
                <a:gd name="T66" fmla="*/ 34 w 409"/>
                <a:gd name="T67" fmla="*/ 112 h 539"/>
                <a:gd name="T68" fmla="*/ 15 w 409"/>
                <a:gd name="T69" fmla="*/ 165 h 539"/>
                <a:gd name="T70" fmla="*/ 11 w 409"/>
                <a:gd name="T71" fmla="*/ 205 h 539"/>
                <a:gd name="T72" fmla="*/ 22 w 409"/>
                <a:gd name="T73" fmla="*/ 266 h 539"/>
                <a:gd name="T74" fmla="*/ 30 w 409"/>
                <a:gd name="T75" fmla="*/ 288 h 539"/>
                <a:gd name="T76" fmla="*/ 39 w 409"/>
                <a:gd name="T77" fmla="*/ 304 h 539"/>
                <a:gd name="T78" fmla="*/ 48 w 409"/>
                <a:gd name="T79" fmla="*/ 319 h 539"/>
                <a:gd name="T80" fmla="*/ 92 w 409"/>
                <a:gd name="T81" fmla="*/ 384 h 539"/>
                <a:gd name="T82" fmla="*/ 120 w 409"/>
                <a:gd name="T83" fmla="*/ 435 h 539"/>
                <a:gd name="T84" fmla="*/ 130 w 409"/>
                <a:gd name="T85" fmla="*/ 482 h 539"/>
                <a:gd name="T86" fmla="*/ 131 w 409"/>
                <a:gd name="T87" fmla="*/ 525 h 539"/>
                <a:gd name="T88" fmla="*/ 136 w 409"/>
                <a:gd name="T89" fmla="*/ 527 h 539"/>
                <a:gd name="T90" fmla="*/ 275 w 409"/>
                <a:gd name="T91" fmla="*/ 527 h 539"/>
                <a:gd name="T92" fmla="*/ 277 w 409"/>
                <a:gd name="T93" fmla="*/ 523 h 539"/>
                <a:gd name="T94" fmla="*/ 280 w 409"/>
                <a:gd name="T95" fmla="*/ 467 h 539"/>
                <a:gd name="T96" fmla="*/ 297 w 409"/>
                <a:gd name="T97" fmla="*/ 419 h 539"/>
                <a:gd name="T98" fmla="*/ 340 w 409"/>
                <a:gd name="T99" fmla="*/ 350 h 539"/>
                <a:gd name="T100" fmla="*/ 360 w 409"/>
                <a:gd name="T101" fmla="*/ 318 h 539"/>
                <a:gd name="T102" fmla="*/ 378 w 409"/>
                <a:gd name="T103" fmla="*/ 289 h 539"/>
                <a:gd name="T104" fmla="*/ 379 w 409"/>
                <a:gd name="T105" fmla="*/ 286 h 539"/>
                <a:gd name="T106" fmla="*/ 392 w 409"/>
                <a:gd name="T107" fmla="*/ 246 h 539"/>
                <a:gd name="T108" fmla="*/ 397 w 409"/>
                <a:gd name="T109" fmla="*/ 205 h 539"/>
                <a:gd name="T110" fmla="*/ 389 w 409"/>
                <a:gd name="T111" fmla="*/ 147 h 539"/>
                <a:gd name="T112" fmla="*/ 364 w 409"/>
                <a:gd name="T113" fmla="*/ 96 h 539"/>
                <a:gd name="T114" fmla="*/ 327 w 409"/>
                <a:gd name="T115" fmla="*/ 55 h 539"/>
                <a:gd name="T116" fmla="*/ 280 w 409"/>
                <a:gd name="T117" fmla="*/ 26 h 539"/>
                <a:gd name="T118" fmla="*/ 223 w 409"/>
                <a:gd name="T119" fmla="*/ 12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9" h="539">
                  <a:moveTo>
                    <a:pt x="273" y="539"/>
                  </a:moveTo>
                  <a:lnTo>
                    <a:pt x="136" y="539"/>
                  </a:lnTo>
                  <a:lnTo>
                    <a:pt x="136" y="539"/>
                  </a:lnTo>
                  <a:lnTo>
                    <a:pt x="129" y="538"/>
                  </a:lnTo>
                  <a:lnTo>
                    <a:pt x="124" y="534"/>
                  </a:lnTo>
                  <a:lnTo>
                    <a:pt x="120" y="530"/>
                  </a:lnTo>
                  <a:lnTo>
                    <a:pt x="118" y="523"/>
                  </a:lnTo>
                  <a:lnTo>
                    <a:pt x="118" y="482"/>
                  </a:lnTo>
                  <a:lnTo>
                    <a:pt x="118" y="482"/>
                  </a:lnTo>
                  <a:lnTo>
                    <a:pt x="117" y="468"/>
                  </a:lnTo>
                  <a:lnTo>
                    <a:pt x="114" y="453"/>
                  </a:lnTo>
                  <a:lnTo>
                    <a:pt x="108" y="437"/>
                  </a:lnTo>
                  <a:lnTo>
                    <a:pt x="100" y="421"/>
                  </a:lnTo>
                  <a:lnTo>
                    <a:pt x="91" y="405"/>
                  </a:lnTo>
                  <a:lnTo>
                    <a:pt x="80" y="389"/>
                  </a:lnTo>
                  <a:lnTo>
                    <a:pt x="59" y="356"/>
                  </a:lnTo>
                  <a:lnTo>
                    <a:pt x="59" y="356"/>
                  </a:lnTo>
                  <a:lnTo>
                    <a:pt x="39" y="324"/>
                  </a:lnTo>
                  <a:lnTo>
                    <a:pt x="39" y="324"/>
                  </a:lnTo>
                  <a:lnTo>
                    <a:pt x="29" y="309"/>
                  </a:lnTo>
                  <a:lnTo>
                    <a:pt x="21" y="293"/>
                  </a:lnTo>
                  <a:lnTo>
                    <a:pt x="21" y="293"/>
                  </a:lnTo>
                  <a:lnTo>
                    <a:pt x="18" y="291"/>
                  </a:lnTo>
                  <a:lnTo>
                    <a:pt x="18" y="291"/>
                  </a:lnTo>
                  <a:lnTo>
                    <a:pt x="10" y="270"/>
                  </a:lnTo>
                  <a:lnTo>
                    <a:pt x="4" y="248"/>
                  </a:lnTo>
                  <a:lnTo>
                    <a:pt x="1" y="227"/>
                  </a:lnTo>
                  <a:lnTo>
                    <a:pt x="0" y="205"/>
                  </a:lnTo>
                  <a:lnTo>
                    <a:pt x="0" y="205"/>
                  </a:lnTo>
                  <a:lnTo>
                    <a:pt x="1" y="184"/>
                  </a:lnTo>
                  <a:lnTo>
                    <a:pt x="3" y="163"/>
                  </a:lnTo>
                  <a:lnTo>
                    <a:pt x="9" y="144"/>
                  </a:lnTo>
                  <a:lnTo>
                    <a:pt x="16" y="125"/>
                  </a:lnTo>
                  <a:lnTo>
                    <a:pt x="24" y="107"/>
                  </a:lnTo>
                  <a:lnTo>
                    <a:pt x="34" y="89"/>
                  </a:lnTo>
                  <a:lnTo>
                    <a:pt x="46" y="74"/>
                  </a:lnTo>
                  <a:lnTo>
                    <a:pt x="60" y="59"/>
                  </a:lnTo>
                  <a:lnTo>
                    <a:pt x="73" y="47"/>
                  </a:lnTo>
                  <a:lnTo>
                    <a:pt x="90" y="34"/>
                  </a:lnTo>
                  <a:lnTo>
                    <a:pt x="107" y="25"/>
                  </a:lnTo>
                  <a:lnTo>
                    <a:pt x="124" y="16"/>
                  </a:lnTo>
                  <a:lnTo>
                    <a:pt x="144" y="9"/>
                  </a:lnTo>
                  <a:lnTo>
                    <a:pt x="163" y="4"/>
                  </a:lnTo>
                  <a:lnTo>
                    <a:pt x="183" y="1"/>
                  </a:lnTo>
                  <a:lnTo>
                    <a:pt x="204" y="0"/>
                  </a:lnTo>
                  <a:lnTo>
                    <a:pt x="204" y="0"/>
                  </a:lnTo>
                  <a:lnTo>
                    <a:pt x="224" y="1"/>
                  </a:lnTo>
                  <a:lnTo>
                    <a:pt x="245" y="4"/>
                  </a:lnTo>
                  <a:lnTo>
                    <a:pt x="265" y="9"/>
                  </a:lnTo>
                  <a:lnTo>
                    <a:pt x="283" y="16"/>
                  </a:lnTo>
                  <a:lnTo>
                    <a:pt x="302" y="25"/>
                  </a:lnTo>
                  <a:lnTo>
                    <a:pt x="319" y="34"/>
                  </a:lnTo>
                  <a:lnTo>
                    <a:pt x="334" y="47"/>
                  </a:lnTo>
                  <a:lnTo>
                    <a:pt x="349" y="59"/>
                  </a:lnTo>
                  <a:lnTo>
                    <a:pt x="361" y="74"/>
                  </a:lnTo>
                  <a:lnTo>
                    <a:pt x="374" y="89"/>
                  </a:lnTo>
                  <a:lnTo>
                    <a:pt x="383" y="107"/>
                  </a:lnTo>
                  <a:lnTo>
                    <a:pt x="392" y="125"/>
                  </a:lnTo>
                  <a:lnTo>
                    <a:pt x="399" y="144"/>
                  </a:lnTo>
                  <a:lnTo>
                    <a:pt x="404" y="163"/>
                  </a:lnTo>
                  <a:lnTo>
                    <a:pt x="407" y="184"/>
                  </a:lnTo>
                  <a:lnTo>
                    <a:pt x="409" y="205"/>
                  </a:lnTo>
                  <a:lnTo>
                    <a:pt x="409" y="205"/>
                  </a:lnTo>
                  <a:lnTo>
                    <a:pt x="407" y="227"/>
                  </a:lnTo>
                  <a:lnTo>
                    <a:pt x="404" y="248"/>
                  </a:lnTo>
                  <a:lnTo>
                    <a:pt x="398" y="270"/>
                  </a:lnTo>
                  <a:lnTo>
                    <a:pt x="389" y="291"/>
                  </a:lnTo>
                  <a:lnTo>
                    <a:pt x="389" y="291"/>
                  </a:lnTo>
                  <a:lnTo>
                    <a:pt x="388" y="293"/>
                  </a:lnTo>
                  <a:lnTo>
                    <a:pt x="388" y="293"/>
                  </a:lnTo>
                  <a:lnTo>
                    <a:pt x="379" y="309"/>
                  </a:lnTo>
                  <a:lnTo>
                    <a:pt x="369" y="324"/>
                  </a:lnTo>
                  <a:lnTo>
                    <a:pt x="369" y="324"/>
                  </a:lnTo>
                  <a:lnTo>
                    <a:pt x="349" y="356"/>
                  </a:lnTo>
                  <a:lnTo>
                    <a:pt x="349" y="356"/>
                  </a:lnTo>
                  <a:lnTo>
                    <a:pt x="327" y="389"/>
                  </a:lnTo>
                  <a:lnTo>
                    <a:pt x="318" y="405"/>
                  </a:lnTo>
                  <a:lnTo>
                    <a:pt x="308" y="421"/>
                  </a:lnTo>
                  <a:lnTo>
                    <a:pt x="300" y="437"/>
                  </a:lnTo>
                  <a:lnTo>
                    <a:pt x="295" y="453"/>
                  </a:lnTo>
                  <a:lnTo>
                    <a:pt x="291" y="468"/>
                  </a:lnTo>
                  <a:lnTo>
                    <a:pt x="289" y="482"/>
                  </a:lnTo>
                  <a:lnTo>
                    <a:pt x="289" y="523"/>
                  </a:lnTo>
                  <a:lnTo>
                    <a:pt x="289" y="523"/>
                  </a:lnTo>
                  <a:lnTo>
                    <a:pt x="288" y="530"/>
                  </a:lnTo>
                  <a:lnTo>
                    <a:pt x="284" y="534"/>
                  </a:lnTo>
                  <a:lnTo>
                    <a:pt x="280" y="538"/>
                  </a:lnTo>
                  <a:lnTo>
                    <a:pt x="273" y="539"/>
                  </a:lnTo>
                  <a:lnTo>
                    <a:pt x="273" y="539"/>
                  </a:lnTo>
                  <a:close/>
                  <a:moveTo>
                    <a:pt x="204" y="11"/>
                  </a:moveTo>
                  <a:lnTo>
                    <a:pt x="204" y="11"/>
                  </a:lnTo>
                  <a:lnTo>
                    <a:pt x="184" y="12"/>
                  </a:lnTo>
                  <a:lnTo>
                    <a:pt x="166" y="14"/>
                  </a:lnTo>
                  <a:lnTo>
                    <a:pt x="147" y="19"/>
                  </a:lnTo>
                  <a:lnTo>
                    <a:pt x="129" y="26"/>
                  </a:lnTo>
                  <a:lnTo>
                    <a:pt x="111" y="34"/>
                  </a:lnTo>
                  <a:lnTo>
                    <a:pt x="97" y="44"/>
                  </a:lnTo>
                  <a:lnTo>
                    <a:pt x="82" y="55"/>
                  </a:lnTo>
                  <a:lnTo>
                    <a:pt x="68" y="67"/>
                  </a:lnTo>
                  <a:lnTo>
                    <a:pt x="55" y="81"/>
                  </a:lnTo>
                  <a:lnTo>
                    <a:pt x="44" y="96"/>
                  </a:lnTo>
                  <a:lnTo>
                    <a:pt x="34" y="112"/>
                  </a:lnTo>
                  <a:lnTo>
                    <a:pt x="26" y="129"/>
                  </a:lnTo>
                  <a:lnTo>
                    <a:pt x="19" y="147"/>
                  </a:lnTo>
                  <a:lnTo>
                    <a:pt x="15" y="165"/>
                  </a:lnTo>
                  <a:lnTo>
                    <a:pt x="11" y="185"/>
                  </a:lnTo>
                  <a:lnTo>
                    <a:pt x="11" y="205"/>
                  </a:lnTo>
                  <a:lnTo>
                    <a:pt x="11" y="205"/>
                  </a:lnTo>
                  <a:lnTo>
                    <a:pt x="12" y="225"/>
                  </a:lnTo>
                  <a:lnTo>
                    <a:pt x="16" y="246"/>
                  </a:lnTo>
                  <a:lnTo>
                    <a:pt x="22" y="266"/>
                  </a:lnTo>
                  <a:lnTo>
                    <a:pt x="29" y="285"/>
                  </a:lnTo>
                  <a:lnTo>
                    <a:pt x="29" y="285"/>
                  </a:lnTo>
                  <a:lnTo>
                    <a:pt x="30" y="288"/>
                  </a:lnTo>
                  <a:lnTo>
                    <a:pt x="30" y="289"/>
                  </a:lnTo>
                  <a:lnTo>
                    <a:pt x="30" y="289"/>
                  </a:lnTo>
                  <a:lnTo>
                    <a:pt x="39" y="304"/>
                  </a:lnTo>
                  <a:lnTo>
                    <a:pt x="48" y="318"/>
                  </a:lnTo>
                  <a:lnTo>
                    <a:pt x="48" y="319"/>
                  </a:lnTo>
                  <a:lnTo>
                    <a:pt x="48" y="319"/>
                  </a:lnTo>
                  <a:lnTo>
                    <a:pt x="69" y="349"/>
                  </a:lnTo>
                  <a:lnTo>
                    <a:pt x="69" y="349"/>
                  </a:lnTo>
                  <a:lnTo>
                    <a:pt x="92" y="384"/>
                  </a:lnTo>
                  <a:lnTo>
                    <a:pt x="102" y="402"/>
                  </a:lnTo>
                  <a:lnTo>
                    <a:pt x="111" y="419"/>
                  </a:lnTo>
                  <a:lnTo>
                    <a:pt x="120" y="435"/>
                  </a:lnTo>
                  <a:lnTo>
                    <a:pt x="125" y="451"/>
                  </a:lnTo>
                  <a:lnTo>
                    <a:pt x="129" y="467"/>
                  </a:lnTo>
                  <a:lnTo>
                    <a:pt x="130" y="482"/>
                  </a:lnTo>
                  <a:lnTo>
                    <a:pt x="130" y="523"/>
                  </a:lnTo>
                  <a:lnTo>
                    <a:pt x="130" y="523"/>
                  </a:lnTo>
                  <a:lnTo>
                    <a:pt x="131" y="525"/>
                  </a:lnTo>
                  <a:lnTo>
                    <a:pt x="132" y="526"/>
                  </a:lnTo>
                  <a:lnTo>
                    <a:pt x="133" y="527"/>
                  </a:lnTo>
                  <a:lnTo>
                    <a:pt x="136" y="527"/>
                  </a:lnTo>
                  <a:lnTo>
                    <a:pt x="273" y="527"/>
                  </a:lnTo>
                  <a:lnTo>
                    <a:pt x="273" y="527"/>
                  </a:lnTo>
                  <a:lnTo>
                    <a:pt x="275" y="527"/>
                  </a:lnTo>
                  <a:lnTo>
                    <a:pt x="276" y="526"/>
                  </a:lnTo>
                  <a:lnTo>
                    <a:pt x="277" y="525"/>
                  </a:lnTo>
                  <a:lnTo>
                    <a:pt x="277" y="523"/>
                  </a:lnTo>
                  <a:lnTo>
                    <a:pt x="277" y="482"/>
                  </a:lnTo>
                  <a:lnTo>
                    <a:pt x="277" y="482"/>
                  </a:lnTo>
                  <a:lnTo>
                    <a:pt x="280" y="467"/>
                  </a:lnTo>
                  <a:lnTo>
                    <a:pt x="283" y="451"/>
                  </a:lnTo>
                  <a:lnTo>
                    <a:pt x="289" y="435"/>
                  </a:lnTo>
                  <a:lnTo>
                    <a:pt x="297" y="419"/>
                  </a:lnTo>
                  <a:lnTo>
                    <a:pt x="306" y="402"/>
                  </a:lnTo>
                  <a:lnTo>
                    <a:pt x="316" y="384"/>
                  </a:lnTo>
                  <a:lnTo>
                    <a:pt x="340" y="350"/>
                  </a:lnTo>
                  <a:lnTo>
                    <a:pt x="340" y="350"/>
                  </a:lnTo>
                  <a:lnTo>
                    <a:pt x="359" y="319"/>
                  </a:lnTo>
                  <a:lnTo>
                    <a:pt x="360" y="318"/>
                  </a:lnTo>
                  <a:lnTo>
                    <a:pt x="360" y="318"/>
                  </a:lnTo>
                  <a:lnTo>
                    <a:pt x="369" y="304"/>
                  </a:lnTo>
                  <a:lnTo>
                    <a:pt x="378" y="289"/>
                  </a:lnTo>
                  <a:lnTo>
                    <a:pt x="378" y="288"/>
                  </a:lnTo>
                  <a:lnTo>
                    <a:pt x="378" y="288"/>
                  </a:lnTo>
                  <a:lnTo>
                    <a:pt x="379" y="286"/>
                  </a:lnTo>
                  <a:lnTo>
                    <a:pt x="379" y="286"/>
                  </a:lnTo>
                  <a:lnTo>
                    <a:pt x="387" y="266"/>
                  </a:lnTo>
                  <a:lnTo>
                    <a:pt x="392" y="246"/>
                  </a:lnTo>
                  <a:lnTo>
                    <a:pt x="396" y="225"/>
                  </a:lnTo>
                  <a:lnTo>
                    <a:pt x="397" y="205"/>
                  </a:lnTo>
                  <a:lnTo>
                    <a:pt x="397" y="205"/>
                  </a:lnTo>
                  <a:lnTo>
                    <a:pt x="396" y="185"/>
                  </a:lnTo>
                  <a:lnTo>
                    <a:pt x="394" y="165"/>
                  </a:lnTo>
                  <a:lnTo>
                    <a:pt x="389" y="147"/>
                  </a:lnTo>
                  <a:lnTo>
                    <a:pt x="382" y="129"/>
                  </a:lnTo>
                  <a:lnTo>
                    <a:pt x="374" y="112"/>
                  </a:lnTo>
                  <a:lnTo>
                    <a:pt x="364" y="96"/>
                  </a:lnTo>
                  <a:lnTo>
                    <a:pt x="353" y="81"/>
                  </a:lnTo>
                  <a:lnTo>
                    <a:pt x="341" y="67"/>
                  </a:lnTo>
                  <a:lnTo>
                    <a:pt x="327" y="55"/>
                  </a:lnTo>
                  <a:lnTo>
                    <a:pt x="312" y="44"/>
                  </a:lnTo>
                  <a:lnTo>
                    <a:pt x="296" y="34"/>
                  </a:lnTo>
                  <a:lnTo>
                    <a:pt x="280" y="26"/>
                  </a:lnTo>
                  <a:lnTo>
                    <a:pt x="261" y="19"/>
                  </a:lnTo>
                  <a:lnTo>
                    <a:pt x="243" y="14"/>
                  </a:lnTo>
                  <a:lnTo>
                    <a:pt x="223" y="12"/>
                  </a:lnTo>
                  <a:lnTo>
                    <a:pt x="204" y="11"/>
                  </a:lnTo>
                  <a:lnTo>
                    <a:pt x="20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7" name="Freeform 254">
              <a:extLst>
                <a:ext uri="{FF2B5EF4-FFF2-40B4-BE49-F238E27FC236}">
                  <a16:creationId xmlns:a16="http://schemas.microsoft.com/office/drawing/2014/main" id="{0D85F58C-72F1-42DA-B2CB-2A60BE257FE0}"/>
                </a:ext>
              </a:extLst>
            </p:cNvPr>
            <p:cNvSpPr>
              <a:spLocks noEditPoints="1"/>
            </p:cNvSpPr>
            <p:nvPr userDrawn="1"/>
          </p:nvSpPr>
          <p:spPr bwMode="auto">
            <a:xfrm>
              <a:off x="5316556" y="3541755"/>
              <a:ext cx="134938" cy="28575"/>
            </a:xfrm>
            <a:custGeom>
              <a:avLst/>
              <a:gdLst>
                <a:gd name="T0" fmla="*/ 158 w 171"/>
                <a:gd name="T1" fmla="*/ 36 h 36"/>
                <a:gd name="T2" fmla="*/ 14 w 171"/>
                <a:gd name="T3" fmla="*/ 36 h 36"/>
                <a:gd name="T4" fmla="*/ 14 w 171"/>
                <a:gd name="T5" fmla="*/ 36 h 36"/>
                <a:gd name="T6" fmla="*/ 10 w 171"/>
                <a:gd name="T7" fmla="*/ 35 h 36"/>
                <a:gd name="T8" fmla="*/ 5 w 171"/>
                <a:gd name="T9" fmla="*/ 33 h 36"/>
                <a:gd name="T10" fmla="*/ 2 w 171"/>
                <a:gd name="T11" fmla="*/ 28 h 36"/>
                <a:gd name="T12" fmla="*/ 0 w 171"/>
                <a:gd name="T13" fmla="*/ 23 h 36"/>
                <a:gd name="T14" fmla="*/ 0 w 171"/>
                <a:gd name="T15" fmla="*/ 14 h 36"/>
                <a:gd name="T16" fmla="*/ 0 w 171"/>
                <a:gd name="T17" fmla="*/ 14 h 36"/>
                <a:gd name="T18" fmla="*/ 2 w 171"/>
                <a:gd name="T19" fmla="*/ 8 h 36"/>
                <a:gd name="T20" fmla="*/ 5 w 171"/>
                <a:gd name="T21" fmla="*/ 4 h 36"/>
                <a:gd name="T22" fmla="*/ 10 w 171"/>
                <a:gd name="T23" fmla="*/ 1 h 36"/>
                <a:gd name="T24" fmla="*/ 14 w 171"/>
                <a:gd name="T25" fmla="*/ 0 h 36"/>
                <a:gd name="T26" fmla="*/ 158 w 171"/>
                <a:gd name="T27" fmla="*/ 0 h 36"/>
                <a:gd name="T28" fmla="*/ 158 w 171"/>
                <a:gd name="T29" fmla="*/ 0 h 36"/>
                <a:gd name="T30" fmla="*/ 163 w 171"/>
                <a:gd name="T31" fmla="*/ 1 h 36"/>
                <a:gd name="T32" fmla="*/ 167 w 171"/>
                <a:gd name="T33" fmla="*/ 4 h 36"/>
                <a:gd name="T34" fmla="*/ 170 w 171"/>
                <a:gd name="T35" fmla="*/ 8 h 36"/>
                <a:gd name="T36" fmla="*/ 171 w 171"/>
                <a:gd name="T37" fmla="*/ 14 h 36"/>
                <a:gd name="T38" fmla="*/ 171 w 171"/>
                <a:gd name="T39" fmla="*/ 23 h 36"/>
                <a:gd name="T40" fmla="*/ 171 w 171"/>
                <a:gd name="T41" fmla="*/ 23 h 36"/>
                <a:gd name="T42" fmla="*/ 170 w 171"/>
                <a:gd name="T43" fmla="*/ 28 h 36"/>
                <a:gd name="T44" fmla="*/ 167 w 171"/>
                <a:gd name="T45" fmla="*/ 33 h 36"/>
                <a:gd name="T46" fmla="*/ 163 w 171"/>
                <a:gd name="T47" fmla="*/ 35 h 36"/>
                <a:gd name="T48" fmla="*/ 158 w 171"/>
                <a:gd name="T49" fmla="*/ 36 h 36"/>
                <a:gd name="T50" fmla="*/ 158 w 171"/>
                <a:gd name="T51" fmla="*/ 36 h 36"/>
                <a:gd name="T52" fmla="*/ 14 w 171"/>
                <a:gd name="T53" fmla="*/ 12 h 36"/>
                <a:gd name="T54" fmla="*/ 14 w 171"/>
                <a:gd name="T55" fmla="*/ 12 h 36"/>
                <a:gd name="T56" fmla="*/ 13 w 171"/>
                <a:gd name="T57" fmla="*/ 12 h 36"/>
                <a:gd name="T58" fmla="*/ 12 w 171"/>
                <a:gd name="T59" fmla="*/ 14 h 36"/>
                <a:gd name="T60" fmla="*/ 12 w 171"/>
                <a:gd name="T61" fmla="*/ 23 h 36"/>
                <a:gd name="T62" fmla="*/ 12 w 171"/>
                <a:gd name="T63" fmla="*/ 23 h 36"/>
                <a:gd name="T64" fmla="*/ 13 w 171"/>
                <a:gd name="T65" fmla="*/ 25 h 36"/>
                <a:gd name="T66" fmla="*/ 14 w 171"/>
                <a:gd name="T67" fmla="*/ 25 h 36"/>
                <a:gd name="T68" fmla="*/ 158 w 171"/>
                <a:gd name="T69" fmla="*/ 25 h 36"/>
                <a:gd name="T70" fmla="*/ 158 w 171"/>
                <a:gd name="T71" fmla="*/ 25 h 36"/>
                <a:gd name="T72" fmla="*/ 159 w 171"/>
                <a:gd name="T73" fmla="*/ 25 h 36"/>
                <a:gd name="T74" fmla="*/ 159 w 171"/>
                <a:gd name="T75" fmla="*/ 23 h 36"/>
                <a:gd name="T76" fmla="*/ 159 w 171"/>
                <a:gd name="T77" fmla="*/ 14 h 36"/>
                <a:gd name="T78" fmla="*/ 159 w 171"/>
                <a:gd name="T79" fmla="*/ 14 h 36"/>
                <a:gd name="T80" fmla="*/ 159 w 171"/>
                <a:gd name="T81" fmla="*/ 12 h 36"/>
                <a:gd name="T82" fmla="*/ 158 w 171"/>
                <a:gd name="T83" fmla="*/ 12 h 36"/>
                <a:gd name="T84" fmla="*/ 14 w 171"/>
                <a:gd name="T85"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1" h="36">
                  <a:moveTo>
                    <a:pt x="158" y="36"/>
                  </a:moveTo>
                  <a:lnTo>
                    <a:pt x="14" y="36"/>
                  </a:lnTo>
                  <a:lnTo>
                    <a:pt x="14" y="36"/>
                  </a:lnTo>
                  <a:lnTo>
                    <a:pt x="10" y="35"/>
                  </a:lnTo>
                  <a:lnTo>
                    <a:pt x="5" y="33"/>
                  </a:lnTo>
                  <a:lnTo>
                    <a:pt x="2" y="28"/>
                  </a:lnTo>
                  <a:lnTo>
                    <a:pt x="0" y="23"/>
                  </a:lnTo>
                  <a:lnTo>
                    <a:pt x="0" y="14"/>
                  </a:lnTo>
                  <a:lnTo>
                    <a:pt x="0" y="14"/>
                  </a:lnTo>
                  <a:lnTo>
                    <a:pt x="2" y="8"/>
                  </a:lnTo>
                  <a:lnTo>
                    <a:pt x="5" y="4"/>
                  </a:lnTo>
                  <a:lnTo>
                    <a:pt x="10" y="1"/>
                  </a:lnTo>
                  <a:lnTo>
                    <a:pt x="14" y="0"/>
                  </a:lnTo>
                  <a:lnTo>
                    <a:pt x="158" y="0"/>
                  </a:lnTo>
                  <a:lnTo>
                    <a:pt x="158" y="0"/>
                  </a:lnTo>
                  <a:lnTo>
                    <a:pt x="163" y="1"/>
                  </a:lnTo>
                  <a:lnTo>
                    <a:pt x="167" y="4"/>
                  </a:lnTo>
                  <a:lnTo>
                    <a:pt x="170" y="8"/>
                  </a:lnTo>
                  <a:lnTo>
                    <a:pt x="171" y="14"/>
                  </a:lnTo>
                  <a:lnTo>
                    <a:pt x="171" y="23"/>
                  </a:lnTo>
                  <a:lnTo>
                    <a:pt x="171" y="23"/>
                  </a:lnTo>
                  <a:lnTo>
                    <a:pt x="170" y="28"/>
                  </a:lnTo>
                  <a:lnTo>
                    <a:pt x="167" y="33"/>
                  </a:lnTo>
                  <a:lnTo>
                    <a:pt x="163" y="35"/>
                  </a:lnTo>
                  <a:lnTo>
                    <a:pt x="158" y="36"/>
                  </a:lnTo>
                  <a:lnTo>
                    <a:pt x="158" y="36"/>
                  </a:lnTo>
                  <a:close/>
                  <a:moveTo>
                    <a:pt x="14" y="12"/>
                  </a:moveTo>
                  <a:lnTo>
                    <a:pt x="14" y="12"/>
                  </a:lnTo>
                  <a:lnTo>
                    <a:pt x="13" y="12"/>
                  </a:lnTo>
                  <a:lnTo>
                    <a:pt x="12" y="14"/>
                  </a:lnTo>
                  <a:lnTo>
                    <a:pt x="12" y="23"/>
                  </a:lnTo>
                  <a:lnTo>
                    <a:pt x="12" y="23"/>
                  </a:lnTo>
                  <a:lnTo>
                    <a:pt x="13" y="25"/>
                  </a:lnTo>
                  <a:lnTo>
                    <a:pt x="14" y="25"/>
                  </a:lnTo>
                  <a:lnTo>
                    <a:pt x="158" y="25"/>
                  </a:lnTo>
                  <a:lnTo>
                    <a:pt x="158" y="25"/>
                  </a:lnTo>
                  <a:lnTo>
                    <a:pt x="159" y="25"/>
                  </a:lnTo>
                  <a:lnTo>
                    <a:pt x="159" y="23"/>
                  </a:lnTo>
                  <a:lnTo>
                    <a:pt x="159" y="14"/>
                  </a:lnTo>
                  <a:lnTo>
                    <a:pt x="159" y="14"/>
                  </a:lnTo>
                  <a:lnTo>
                    <a:pt x="159" y="12"/>
                  </a:lnTo>
                  <a:lnTo>
                    <a:pt x="158" y="12"/>
                  </a:lnTo>
                  <a:lnTo>
                    <a:pt x="14"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8" name="Freeform 255">
              <a:extLst>
                <a:ext uri="{FF2B5EF4-FFF2-40B4-BE49-F238E27FC236}">
                  <a16:creationId xmlns:a16="http://schemas.microsoft.com/office/drawing/2014/main" id="{042AFE8B-CDA2-4E2B-A24D-7BDDDA5ED13B}"/>
                </a:ext>
              </a:extLst>
            </p:cNvPr>
            <p:cNvSpPr>
              <a:spLocks noEditPoints="1"/>
            </p:cNvSpPr>
            <p:nvPr userDrawn="1"/>
          </p:nvSpPr>
          <p:spPr bwMode="auto">
            <a:xfrm>
              <a:off x="5329256" y="3579856"/>
              <a:ext cx="107950" cy="28575"/>
            </a:xfrm>
            <a:custGeom>
              <a:avLst/>
              <a:gdLst>
                <a:gd name="T0" fmla="*/ 123 w 136"/>
                <a:gd name="T1" fmla="*/ 35 h 35"/>
                <a:gd name="T2" fmla="*/ 13 w 136"/>
                <a:gd name="T3" fmla="*/ 35 h 35"/>
                <a:gd name="T4" fmla="*/ 13 w 136"/>
                <a:gd name="T5" fmla="*/ 35 h 35"/>
                <a:gd name="T6" fmla="*/ 8 w 136"/>
                <a:gd name="T7" fmla="*/ 34 h 35"/>
                <a:gd name="T8" fmla="*/ 4 w 136"/>
                <a:gd name="T9" fmla="*/ 32 h 35"/>
                <a:gd name="T10" fmla="*/ 1 w 136"/>
                <a:gd name="T11" fmla="*/ 27 h 35"/>
                <a:gd name="T12" fmla="*/ 0 w 136"/>
                <a:gd name="T13" fmla="*/ 23 h 35"/>
                <a:gd name="T14" fmla="*/ 0 w 136"/>
                <a:gd name="T15" fmla="*/ 14 h 35"/>
                <a:gd name="T16" fmla="*/ 0 w 136"/>
                <a:gd name="T17" fmla="*/ 14 h 35"/>
                <a:gd name="T18" fmla="*/ 1 w 136"/>
                <a:gd name="T19" fmla="*/ 8 h 35"/>
                <a:gd name="T20" fmla="*/ 4 w 136"/>
                <a:gd name="T21" fmla="*/ 3 h 35"/>
                <a:gd name="T22" fmla="*/ 8 w 136"/>
                <a:gd name="T23" fmla="*/ 1 h 35"/>
                <a:gd name="T24" fmla="*/ 13 w 136"/>
                <a:gd name="T25" fmla="*/ 0 h 35"/>
                <a:gd name="T26" fmla="*/ 123 w 136"/>
                <a:gd name="T27" fmla="*/ 0 h 35"/>
                <a:gd name="T28" fmla="*/ 123 w 136"/>
                <a:gd name="T29" fmla="*/ 0 h 35"/>
                <a:gd name="T30" fmla="*/ 128 w 136"/>
                <a:gd name="T31" fmla="*/ 1 h 35"/>
                <a:gd name="T32" fmla="*/ 132 w 136"/>
                <a:gd name="T33" fmla="*/ 3 h 35"/>
                <a:gd name="T34" fmla="*/ 136 w 136"/>
                <a:gd name="T35" fmla="*/ 8 h 35"/>
                <a:gd name="T36" fmla="*/ 136 w 136"/>
                <a:gd name="T37" fmla="*/ 14 h 35"/>
                <a:gd name="T38" fmla="*/ 136 w 136"/>
                <a:gd name="T39" fmla="*/ 23 h 35"/>
                <a:gd name="T40" fmla="*/ 136 w 136"/>
                <a:gd name="T41" fmla="*/ 23 h 35"/>
                <a:gd name="T42" fmla="*/ 136 w 136"/>
                <a:gd name="T43" fmla="*/ 27 h 35"/>
                <a:gd name="T44" fmla="*/ 132 w 136"/>
                <a:gd name="T45" fmla="*/ 32 h 35"/>
                <a:gd name="T46" fmla="*/ 128 w 136"/>
                <a:gd name="T47" fmla="*/ 34 h 35"/>
                <a:gd name="T48" fmla="*/ 123 w 136"/>
                <a:gd name="T49" fmla="*/ 35 h 35"/>
                <a:gd name="T50" fmla="*/ 123 w 136"/>
                <a:gd name="T51" fmla="*/ 35 h 35"/>
                <a:gd name="T52" fmla="*/ 13 w 136"/>
                <a:gd name="T53" fmla="*/ 11 h 35"/>
                <a:gd name="T54" fmla="*/ 13 w 136"/>
                <a:gd name="T55" fmla="*/ 11 h 35"/>
                <a:gd name="T56" fmla="*/ 12 w 136"/>
                <a:gd name="T57" fmla="*/ 11 h 35"/>
                <a:gd name="T58" fmla="*/ 11 w 136"/>
                <a:gd name="T59" fmla="*/ 14 h 35"/>
                <a:gd name="T60" fmla="*/ 11 w 136"/>
                <a:gd name="T61" fmla="*/ 23 h 35"/>
                <a:gd name="T62" fmla="*/ 11 w 136"/>
                <a:gd name="T63" fmla="*/ 23 h 35"/>
                <a:gd name="T64" fmla="*/ 12 w 136"/>
                <a:gd name="T65" fmla="*/ 24 h 35"/>
                <a:gd name="T66" fmla="*/ 13 w 136"/>
                <a:gd name="T67" fmla="*/ 24 h 35"/>
                <a:gd name="T68" fmla="*/ 123 w 136"/>
                <a:gd name="T69" fmla="*/ 24 h 35"/>
                <a:gd name="T70" fmla="*/ 123 w 136"/>
                <a:gd name="T71" fmla="*/ 24 h 35"/>
                <a:gd name="T72" fmla="*/ 124 w 136"/>
                <a:gd name="T73" fmla="*/ 24 h 35"/>
                <a:gd name="T74" fmla="*/ 125 w 136"/>
                <a:gd name="T75" fmla="*/ 23 h 35"/>
                <a:gd name="T76" fmla="*/ 125 w 136"/>
                <a:gd name="T77" fmla="*/ 14 h 35"/>
                <a:gd name="T78" fmla="*/ 125 w 136"/>
                <a:gd name="T79" fmla="*/ 14 h 35"/>
                <a:gd name="T80" fmla="*/ 124 w 136"/>
                <a:gd name="T81" fmla="*/ 11 h 35"/>
                <a:gd name="T82" fmla="*/ 123 w 136"/>
                <a:gd name="T83" fmla="*/ 11 h 35"/>
                <a:gd name="T84" fmla="*/ 13 w 136"/>
                <a:gd name="T85"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6" h="35">
                  <a:moveTo>
                    <a:pt x="123" y="35"/>
                  </a:moveTo>
                  <a:lnTo>
                    <a:pt x="13" y="35"/>
                  </a:lnTo>
                  <a:lnTo>
                    <a:pt x="13" y="35"/>
                  </a:lnTo>
                  <a:lnTo>
                    <a:pt x="8" y="34"/>
                  </a:lnTo>
                  <a:lnTo>
                    <a:pt x="4" y="32"/>
                  </a:lnTo>
                  <a:lnTo>
                    <a:pt x="1" y="27"/>
                  </a:lnTo>
                  <a:lnTo>
                    <a:pt x="0" y="23"/>
                  </a:lnTo>
                  <a:lnTo>
                    <a:pt x="0" y="14"/>
                  </a:lnTo>
                  <a:lnTo>
                    <a:pt x="0" y="14"/>
                  </a:lnTo>
                  <a:lnTo>
                    <a:pt x="1" y="8"/>
                  </a:lnTo>
                  <a:lnTo>
                    <a:pt x="4" y="3"/>
                  </a:lnTo>
                  <a:lnTo>
                    <a:pt x="8" y="1"/>
                  </a:lnTo>
                  <a:lnTo>
                    <a:pt x="13" y="0"/>
                  </a:lnTo>
                  <a:lnTo>
                    <a:pt x="123" y="0"/>
                  </a:lnTo>
                  <a:lnTo>
                    <a:pt x="123" y="0"/>
                  </a:lnTo>
                  <a:lnTo>
                    <a:pt x="128" y="1"/>
                  </a:lnTo>
                  <a:lnTo>
                    <a:pt x="132" y="3"/>
                  </a:lnTo>
                  <a:lnTo>
                    <a:pt x="136" y="8"/>
                  </a:lnTo>
                  <a:lnTo>
                    <a:pt x="136" y="14"/>
                  </a:lnTo>
                  <a:lnTo>
                    <a:pt x="136" y="23"/>
                  </a:lnTo>
                  <a:lnTo>
                    <a:pt x="136" y="23"/>
                  </a:lnTo>
                  <a:lnTo>
                    <a:pt x="136" y="27"/>
                  </a:lnTo>
                  <a:lnTo>
                    <a:pt x="132" y="32"/>
                  </a:lnTo>
                  <a:lnTo>
                    <a:pt x="128" y="34"/>
                  </a:lnTo>
                  <a:lnTo>
                    <a:pt x="123" y="35"/>
                  </a:lnTo>
                  <a:lnTo>
                    <a:pt x="123" y="35"/>
                  </a:lnTo>
                  <a:close/>
                  <a:moveTo>
                    <a:pt x="13" y="11"/>
                  </a:moveTo>
                  <a:lnTo>
                    <a:pt x="13" y="11"/>
                  </a:lnTo>
                  <a:lnTo>
                    <a:pt x="12" y="11"/>
                  </a:lnTo>
                  <a:lnTo>
                    <a:pt x="11" y="14"/>
                  </a:lnTo>
                  <a:lnTo>
                    <a:pt x="11" y="23"/>
                  </a:lnTo>
                  <a:lnTo>
                    <a:pt x="11" y="23"/>
                  </a:lnTo>
                  <a:lnTo>
                    <a:pt x="12" y="24"/>
                  </a:lnTo>
                  <a:lnTo>
                    <a:pt x="13" y="24"/>
                  </a:lnTo>
                  <a:lnTo>
                    <a:pt x="123" y="24"/>
                  </a:lnTo>
                  <a:lnTo>
                    <a:pt x="123" y="24"/>
                  </a:lnTo>
                  <a:lnTo>
                    <a:pt x="124" y="24"/>
                  </a:lnTo>
                  <a:lnTo>
                    <a:pt x="125" y="23"/>
                  </a:lnTo>
                  <a:lnTo>
                    <a:pt x="125" y="14"/>
                  </a:lnTo>
                  <a:lnTo>
                    <a:pt x="125" y="14"/>
                  </a:lnTo>
                  <a:lnTo>
                    <a:pt x="124" y="11"/>
                  </a:lnTo>
                  <a:lnTo>
                    <a:pt x="123" y="11"/>
                  </a:lnTo>
                  <a:lnTo>
                    <a:pt x="13"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9" name="Freeform 256">
              <a:extLst>
                <a:ext uri="{FF2B5EF4-FFF2-40B4-BE49-F238E27FC236}">
                  <a16:creationId xmlns:a16="http://schemas.microsoft.com/office/drawing/2014/main" id="{BF9276E7-0431-4086-869C-940EFA28F010}"/>
                </a:ext>
              </a:extLst>
            </p:cNvPr>
            <p:cNvSpPr>
              <a:spLocks noEditPoints="1"/>
            </p:cNvSpPr>
            <p:nvPr userDrawn="1"/>
          </p:nvSpPr>
          <p:spPr bwMode="auto">
            <a:xfrm>
              <a:off x="5343543" y="3617956"/>
              <a:ext cx="80963" cy="28575"/>
            </a:xfrm>
            <a:custGeom>
              <a:avLst/>
              <a:gdLst>
                <a:gd name="T0" fmla="*/ 89 w 102"/>
                <a:gd name="T1" fmla="*/ 36 h 36"/>
                <a:gd name="T2" fmla="*/ 14 w 102"/>
                <a:gd name="T3" fmla="*/ 36 h 36"/>
                <a:gd name="T4" fmla="*/ 14 w 102"/>
                <a:gd name="T5" fmla="*/ 36 h 36"/>
                <a:gd name="T6" fmla="*/ 8 w 102"/>
                <a:gd name="T7" fmla="*/ 35 h 36"/>
                <a:gd name="T8" fmla="*/ 3 w 102"/>
                <a:gd name="T9" fmla="*/ 32 h 36"/>
                <a:gd name="T10" fmla="*/ 1 w 102"/>
                <a:gd name="T11" fmla="*/ 28 h 36"/>
                <a:gd name="T12" fmla="*/ 0 w 102"/>
                <a:gd name="T13" fmla="*/ 22 h 36"/>
                <a:gd name="T14" fmla="*/ 0 w 102"/>
                <a:gd name="T15" fmla="*/ 14 h 36"/>
                <a:gd name="T16" fmla="*/ 0 w 102"/>
                <a:gd name="T17" fmla="*/ 14 h 36"/>
                <a:gd name="T18" fmla="*/ 1 w 102"/>
                <a:gd name="T19" fmla="*/ 8 h 36"/>
                <a:gd name="T20" fmla="*/ 3 w 102"/>
                <a:gd name="T21" fmla="*/ 4 h 36"/>
                <a:gd name="T22" fmla="*/ 8 w 102"/>
                <a:gd name="T23" fmla="*/ 1 h 36"/>
                <a:gd name="T24" fmla="*/ 14 w 102"/>
                <a:gd name="T25" fmla="*/ 0 h 36"/>
                <a:gd name="T26" fmla="*/ 89 w 102"/>
                <a:gd name="T27" fmla="*/ 0 h 36"/>
                <a:gd name="T28" fmla="*/ 89 w 102"/>
                <a:gd name="T29" fmla="*/ 0 h 36"/>
                <a:gd name="T30" fmla="*/ 93 w 102"/>
                <a:gd name="T31" fmla="*/ 1 h 36"/>
                <a:gd name="T32" fmla="*/ 98 w 102"/>
                <a:gd name="T33" fmla="*/ 4 h 36"/>
                <a:gd name="T34" fmla="*/ 101 w 102"/>
                <a:gd name="T35" fmla="*/ 8 h 36"/>
                <a:gd name="T36" fmla="*/ 102 w 102"/>
                <a:gd name="T37" fmla="*/ 14 h 36"/>
                <a:gd name="T38" fmla="*/ 102 w 102"/>
                <a:gd name="T39" fmla="*/ 22 h 36"/>
                <a:gd name="T40" fmla="*/ 102 w 102"/>
                <a:gd name="T41" fmla="*/ 22 h 36"/>
                <a:gd name="T42" fmla="*/ 101 w 102"/>
                <a:gd name="T43" fmla="*/ 28 h 36"/>
                <a:gd name="T44" fmla="*/ 98 w 102"/>
                <a:gd name="T45" fmla="*/ 32 h 36"/>
                <a:gd name="T46" fmla="*/ 93 w 102"/>
                <a:gd name="T47" fmla="*/ 35 h 36"/>
                <a:gd name="T48" fmla="*/ 89 w 102"/>
                <a:gd name="T49" fmla="*/ 36 h 36"/>
                <a:gd name="T50" fmla="*/ 89 w 102"/>
                <a:gd name="T51" fmla="*/ 36 h 36"/>
                <a:gd name="T52" fmla="*/ 14 w 102"/>
                <a:gd name="T53" fmla="*/ 12 h 36"/>
                <a:gd name="T54" fmla="*/ 14 w 102"/>
                <a:gd name="T55" fmla="*/ 12 h 36"/>
                <a:gd name="T56" fmla="*/ 11 w 102"/>
                <a:gd name="T57" fmla="*/ 12 h 36"/>
                <a:gd name="T58" fmla="*/ 11 w 102"/>
                <a:gd name="T59" fmla="*/ 14 h 36"/>
                <a:gd name="T60" fmla="*/ 11 w 102"/>
                <a:gd name="T61" fmla="*/ 22 h 36"/>
                <a:gd name="T62" fmla="*/ 11 w 102"/>
                <a:gd name="T63" fmla="*/ 22 h 36"/>
                <a:gd name="T64" fmla="*/ 11 w 102"/>
                <a:gd name="T65" fmla="*/ 24 h 36"/>
                <a:gd name="T66" fmla="*/ 14 w 102"/>
                <a:gd name="T67" fmla="*/ 24 h 36"/>
                <a:gd name="T68" fmla="*/ 89 w 102"/>
                <a:gd name="T69" fmla="*/ 24 h 36"/>
                <a:gd name="T70" fmla="*/ 89 w 102"/>
                <a:gd name="T71" fmla="*/ 24 h 36"/>
                <a:gd name="T72" fmla="*/ 90 w 102"/>
                <a:gd name="T73" fmla="*/ 24 h 36"/>
                <a:gd name="T74" fmla="*/ 91 w 102"/>
                <a:gd name="T75" fmla="*/ 22 h 36"/>
                <a:gd name="T76" fmla="*/ 91 w 102"/>
                <a:gd name="T77" fmla="*/ 14 h 36"/>
                <a:gd name="T78" fmla="*/ 91 w 102"/>
                <a:gd name="T79" fmla="*/ 14 h 36"/>
                <a:gd name="T80" fmla="*/ 90 w 102"/>
                <a:gd name="T81" fmla="*/ 12 h 36"/>
                <a:gd name="T82" fmla="*/ 89 w 102"/>
                <a:gd name="T83" fmla="*/ 12 h 36"/>
                <a:gd name="T84" fmla="*/ 14 w 102"/>
                <a:gd name="T85"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2" h="36">
                  <a:moveTo>
                    <a:pt x="89" y="36"/>
                  </a:moveTo>
                  <a:lnTo>
                    <a:pt x="14" y="36"/>
                  </a:lnTo>
                  <a:lnTo>
                    <a:pt x="14" y="36"/>
                  </a:lnTo>
                  <a:lnTo>
                    <a:pt x="8" y="35"/>
                  </a:lnTo>
                  <a:lnTo>
                    <a:pt x="3" y="32"/>
                  </a:lnTo>
                  <a:lnTo>
                    <a:pt x="1" y="28"/>
                  </a:lnTo>
                  <a:lnTo>
                    <a:pt x="0" y="22"/>
                  </a:lnTo>
                  <a:lnTo>
                    <a:pt x="0" y="14"/>
                  </a:lnTo>
                  <a:lnTo>
                    <a:pt x="0" y="14"/>
                  </a:lnTo>
                  <a:lnTo>
                    <a:pt x="1" y="8"/>
                  </a:lnTo>
                  <a:lnTo>
                    <a:pt x="3" y="4"/>
                  </a:lnTo>
                  <a:lnTo>
                    <a:pt x="8" y="1"/>
                  </a:lnTo>
                  <a:lnTo>
                    <a:pt x="14" y="0"/>
                  </a:lnTo>
                  <a:lnTo>
                    <a:pt x="89" y="0"/>
                  </a:lnTo>
                  <a:lnTo>
                    <a:pt x="89" y="0"/>
                  </a:lnTo>
                  <a:lnTo>
                    <a:pt x="93" y="1"/>
                  </a:lnTo>
                  <a:lnTo>
                    <a:pt x="98" y="4"/>
                  </a:lnTo>
                  <a:lnTo>
                    <a:pt x="101" y="8"/>
                  </a:lnTo>
                  <a:lnTo>
                    <a:pt x="102" y="14"/>
                  </a:lnTo>
                  <a:lnTo>
                    <a:pt x="102" y="22"/>
                  </a:lnTo>
                  <a:lnTo>
                    <a:pt x="102" y="22"/>
                  </a:lnTo>
                  <a:lnTo>
                    <a:pt x="101" y="28"/>
                  </a:lnTo>
                  <a:lnTo>
                    <a:pt x="98" y="32"/>
                  </a:lnTo>
                  <a:lnTo>
                    <a:pt x="93" y="35"/>
                  </a:lnTo>
                  <a:lnTo>
                    <a:pt x="89" y="36"/>
                  </a:lnTo>
                  <a:lnTo>
                    <a:pt x="89" y="36"/>
                  </a:lnTo>
                  <a:close/>
                  <a:moveTo>
                    <a:pt x="14" y="12"/>
                  </a:moveTo>
                  <a:lnTo>
                    <a:pt x="14" y="12"/>
                  </a:lnTo>
                  <a:lnTo>
                    <a:pt x="11" y="12"/>
                  </a:lnTo>
                  <a:lnTo>
                    <a:pt x="11" y="14"/>
                  </a:lnTo>
                  <a:lnTo>
                    <a:pt x="11" y="22"/>
                  </a:lnTo>
                  <a:lnTo>
                    <a:pt x="11" y="22"/>
                  </a:lnTo>
                  <a:lnTo>
                    <a:pt x="11" y="24"/>
                  </a:lnTo>
                  <a:lnTo>
                    <a:pt x="14" y="24"/>
                  </a:lnTo>
                  <a:lnTo>
                    <a:pt x="89" y="24"/>
                  </a:lnTo>
                  <a:lnTo>
                    <a:pt x="89" y="24"/>
                  </a:lnTo>
                  <a:lnTo>
                    <a:pt x="90" y="24"/>
                  </a:lnTo>
                  <a:lnTo>
                    <a:pt x="91" y="22"/>
                  </a:lnTo>
                  <a:lnTo>
                    <a:pt x="91" y="14"/>
                  </a:lnTo>
                  <a:lnTo>
                    <a:pt x="91" y="14"/>
                  </a:lnTo>
                  <a:lnTo>
                    <a:pt x="90" y="12"/>
                  </a:lnTo>
                  <a:lnTo>
                    <a:pt x="89" y="12"/>
                  </a:lnTo>
                  <a:lnTo>
                    <a:pt x="14"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60" name="Freeform 257">
              <a:extLst>
                <a:ext uri="{FF2B5EF4-FFF2-40B4-BE49-F238E27FC236}">
                  <a16:creationId xmlns:a16="http://schemas.microsoft.com/office/drawing/2014/main" id="{51A4F7EB-B16D-4352-BFAB-53EEE0392697}"/>
                </a:ext>
              </a:extLst>
            </p:cNvPr>
            <p:cNvSpPr>
              <a:spLocks/>
            </p:cNvSpPr>
            <p:nvPr userDrawn="1"/>
          </p:nvSpPr>
          <p:spPr bwMode="auto">
            <a:xfrm>
              <a:off x="5260993" y="3143288"/>
              <a:ext cx="100013" cy="133352"/>
            </a:xfrm>
            <a:custGeom>
              <a:avLst/>
              <a:gdLst>
                <a:gd name="T0" fmla="*/ 6 w 126"/>
                <a:gd name="T1" fmla="*/ 167 h 167"/>
                <a:gd name="T2" fmla="*/ 6 w 126"/>
                <a:gd name="T3" fmla="*/ 167 h 167"/>
                <a:gd name="T4" fmla="*/ 4 w 126"/>
                <a:gd name="T5" fmla="*/ 166 h 167"/>
                <a:gd name="T6" fmla="*/ 3 w 126"/>
                <a:gd name="T7" fmla="*/ 165 h 167"/>
                <a:gd name="T8" fmla="*/ 1 w 126"/>
                <a:gd name="T9" fmla="*/ 164 h 167"/>
                <a:gd name="T10" fmla="*/ 0 w 126"/>
                <a:gd name="T11" fmla="*/ 161 h 167"/>
                <a:gd name="T12" fmla="*/ 0 w 126"/>
                <a:gd name="T13" fmla="*/ 161 h 167"/>
                <a:gd name="T14" fmla="*/ 1 w 126"/>
                <a:gd name="T15" fmla="*/ 142 h 167"/>
                <a:gd name="T16" fmla="*/ 4 w 126"/>
                <a:gd name="T17" fmla="*/ 125 h 167"/>
                <a:gd name="T18" fmla="*/ 8 w 126"/>
                <a:gd name="T19" fmla="*/ 107 h 167"/>
                <a:gd name="T20" fmla="*/ 14 w 126"/>
                <a:gd name="T21" fmla="*/ 92 h 167"/>
                <a:gd name="T22" fmla="*/ 21 w 126"/>
                <a:gd name="T23" fmla="*/ 77 h 167"/>
                <a:gd name="T24" fmla="*/ 29 w 126"/>
                <a:gd name="T25" fmla="*/ 65 h 167"/>
                <a:gd name="T26" fmla="*/ 38 w 126"/>
                <a:gd name="T27" fmla="*/ 52 h 167"/>
                <a:gd name="T28" fmla="*/ 48 w 126"/>
                <a:gd name="T29" fmla="*/ 42 h 167"/>
                <a:gd name="T30" fmla="*/ 57 w 126"/>
                <a:gd name="T31" fmla="*/ 31 h 167"/>
                <a:gd name="T32" fmla="*/ 67 w 126"/>
                <a:gd name="T33" fmla="*/ 23 h 167"/>
                <a:gd name="T34" fmla="*/ 77 w 126"/>
                <a:gd name="T35" fmla="*/ 16 h 167"/>
                <a:gd name="T36" fmla="*/ 87 w 126"/>
                <a:gd name="T37" fmla="*/ 10 h 167"/>
                <a:gd name="T38" fmla="*/ 97 w 126"/>
                <a:gd name="T39" fmla="*/ 6 h 167"/>
                <a:gd name="T40" fmla="*/ 105 w 126"/>
                <a:gd name="T41" fmla="*/ 2 h 167"/>
                <a:gd name="T42" fmla="*/ 113 w 126"/>
                <a:gd name="T43" fmla="*/ 1 h 167"/>
                <a:gd name="T44" fmla="*/ 121 w 126"/>
                <a:gd name="T45" fmla="*/ 0 h 167"/>
                <a:gd name="T46" fmla="*/ 121 w 126"/>
                <a:gd name="T47" fmla="*/ 0 h 167"/>
                <a:gd name="T48" fmla="*/ 122 w 126"/>
                <a:gd name="T49" fmla="*/ 0 h 167"/>
                <a:gd name="T50" fmla="*/ 125 w 126"/>
                <a:gd name="T51" fmla="*/ 1 h 167"/>
                <a:gd name="T52" fmla="*/ 126 w 126"/>
                <a:gd name="T53" fmla="*/ 4 h 167"/>
                <a:gd name="T54" fmla="*/ 126 w 126"/>
                <a:gd name="T55" fmla="*/ 6 h 167"/>
                <a:gd name="T56" fmla="*/ 126 w 126"/>
                <a:gd name="T57" fmla="*/ 6 h 167"/>
                <a:gd name="T58" fmla="*/ 126 w 126"/>
                <a:gd name="T59" fmla="*/ 8 h 167"/>
                <a:gd name="T60" fmla="*/ 125 w 126"/>
                <a:gd name="T61" fmla="*/ 9 h 167"/>
                <a:gd name="T62" fmla="*/ 122 w 126"/>
                <a:gd name="T63" fmla="*/ 10 h 167"/>
                <a:gd name="T64" fmla="*/ 121 w 126"/>
                <a:gd name="T65" fmla="*/ 12 h 167"/>
                <a:gd name="T66" fmla="*/ 121 w 126"/>
                <a:gd name="T67" fmla="*/ 12 h 167"/>
                <a:gd name="T68" fmla="*/ 114 w 126"/>
                <a:gd name="T69" fmla="*/ 12 h 167"/>
                <a:gd name="T70" fmla="*/ 107 w 126"/>
                <a:gd name="T71" fmla="*/ 14 h 167"/>
                <a:gd name="T72" fmla="*/ 100 w 126"/>
                <a:gd name="T73" fmla="*/ 17 h 167"/>
                <a:gd name="T74" fmla="*/ 92 w 126"/>
                <a:gd name="T75" fmla="*/ 21 h 167"/>
                <a:gd name="T76" fmla="*/ 83 w 126"/>
                <a:gd name="T77" fmla="*/ 27 h 167"/>
                <a:gd name="T78" fmla="*/ 74 w 126"/>
                <a:gd name="T79" fmla="*/ 32 h 167"/>
                <a:gd name="T80" fmla="*/ 65 w 126"/>
                <a:gd name="T81" fmla="*/ 40 h 167"/>
                <a:gd name="T82" fmla="*/ 56 w 126"/>
                <a:gd name="T83" fmla="*/ 50 h 167"/>
                <a:gd name="T84" fmla="*/ 48 w 126"/>
                <a:gd name="T85" fmla="*/ 60 h 167"/>
                <a:gd name="T86" fmla="*/ 39 w 126"/>
                <a:gd name="T87" fmla="*/ 70 h 167"/>
                <a:gd name="T88" fmla="*/ 31 w 126"/>
                <a:gd name="T89" fmla="*/ 83 h 167"/>
                <a:gd name="T90" fmla="*/ 24 w 126"/>
                <a:gd name="T91" fmla="*/ 97 h 167"/>
                <a:gd name="T92" fmla="*/ 20 w 126"/>
                <a:gd name="T93" fmla="*/ 111 h 167"/>
                <a:gd name="T94" fmla="*/ 15 w 126"/>
                <a:gd name="T95" fmla="*/ 127 h 167"/>
                <a:gd name="T96" fmla="*/ 13 w 126"/>
                <a:gd name="T97" fmla="*/ 143 h 167"/>
                <a:gd name="T98" fmla="*/ 12 w 126"/>
                <a:gd name="T99" fmla="*/ 161 h 167"/>
                <a:gd name="T100" fmla="*/ 12 w 126"/>
                <a:gd name="T101" fmla="*/ 161 h 167"/>
                <a:gd name="T102" fmla="*/ 12 w 126"/>
                <a:gd name="T103" fmla="*/ 164 h 167"/>
                <a:gd name="T104" fmla="*/ 11 w 126"/>
                <a:gd name="T105" fmla="*/ 165 h 167"/>
                <a:gd name="T106" fmla="*/ 8 w 126"/>
                <a:gd name="T107" fmla="*/ 166 h 167"/>
                <a:gd name="T108" fmla="*/ 6 w 126"/>
                <a:gd name="T109" fmla="*/ 167 h 167"/>
                <a:gd name="T110" fmla="*/ 6 w 126"/>
                <a:gd name="T111"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6" h="167">
                  <a:moveTo>
                    <a:pt x="6" y="167"/>
                  </a:moveTo>
                  <a:lnTo>
                    <a:pt x="6" y="167"/>
                  </a:lnTo>
                  <a:lnTo>
                    <a:pt x="4" y="166"/>
                  </a:lnTo>
                  <a:lnTo>
                    <a:pt x="3" y="165"/>
                  </a:lnTo>
                  <a:lnTo>
                    <a:pt x="1" y="164"/>
                  </a:lnTo>
                  <a:lnTo>
                    <a:pt x="0" y="161"/>
                  </a:lnTo>
                  <a:lnTo>
                    <a:pt x="0" y="161"/>
                  </a:lnTo>
                  <a:lnTo>
                    <a:pt x="1" y="142"/>
                  </a:lnTo>
                  <a:lnTo>
                    <a:pt x="4" y="125"/>
                  </a:lnTo>
                  <a:lnTo>
                    <a:pt x="8" y="107"/>
                  </a:lnTo>
                  <a:lnTo>
                    <a:pt x="14" y="92"/>
                  </a:lnTo>
                  <a:lnTo>
                    <a:pt x="21" y="77"/>
                  </a:lnTo>
                  <a:lnTo>
                    <a:pt x="29" y="65"/>
                  </a:lnTo>
                  <a:lnTo>
                    <a:pt x="38" y="52"/>
                  </a:lnTo>
                  <a:lnTo>
                    <a:pt x="48" y="42"/>
                  </a:lnTo>
                  <a:lnTo>
                    <a:pt x="57" y="31"/>
                  </a:lnTo>
                  <a:lnTo>
                    <a:pt x="67" y="23"/>
                  </a:lnTo>
                  <a:lnTo>
                    <a:pt x="77" y="16"/>
                  </a:lnTo>
                  <a:lnTo>
                    <a:pt x="87" y="10"/>
                  </a:lnTo>
                  <a:lnTo>
                    <a:pt x="97" y="6"/>
                  </a:lnTo>
                  <a:lnTo>
                    <a:pt x="105" y="2"/>
                  </a:lnTo>
                  <a:lnTo>
                    <a:pt x="113" y="1"/>
                  </a:lnTo>
                  <a:lnTo>
                    <a:pt x="121" y="0"/>
                  </a:lnTo>
                  <a:lnTo>
                    <a:pt x="121" y="0"/>
                  </a:lnTo>
                  <a:lnTo>
                    <a:pt x="122" y="0"/>
                  </a:lnTo>
                  <a:lnTo>
                    <a:pt x="125" y="1"/>
                  </a:lnTo>
                  <a:lnTo>
                    <a:pt x="126" y="4"/>
                  </a:lnTo>
                  <a:lnTo>
                    <a:pt x="126" y="6"/>
                  </a:lnTo>
                  <a:lnTo>
                    <a:pt x="126" y="6"/>
                  </a:lnTo>
                  <a:lnTo>
                    <a:pt x="126" y="8"/>
                  </a:lnTo>
                  <a:lnTo>
                    <a:pt x="125" y="9"/>
                  </a:lnTo>
                  <a:lnTo>
                    <a:pt x="122" y="10"/>
                  </a:lnTo>
                  <a:lnTo>
                    <a:pt x="121" y="12"/>
                  </a:lnTo>
                  <a:lnTo>
                    <a:pt x="121" y="12"/>
                  </a:lnTo>
                  <a:lnTo>
                    <a:pt x="114" y="12"/>
                  </a:lnTo>
                  <a:lnTo>
                    <a:pt x="107" y="14"/>
                  </a:lnTo>
                  <a:lnTo>
                    <a:pt x="100" y="17"/>
                  </a:lnTo>
                  <a:lnTo>
                    <a:pt x="92" y="21"/>
                  </a:lnTo>
                  <a:lnTo>
                    <a:pt x="83" y="27"/>
                  </a:lnTo>
                  <a:lnTo>
                    <a:pt x="74" y="32"/>
                  </a:lnTo>
                  <a:lnTo>
                    <a:pt x="65" y="40"/>
                  </a:lnTo>
                  <a:lnTo>
                    <a:pt x="56" y="50"/>
                  </a:lnTo>
                  <a:lnTo>
                    <a:pt x="48" y="60"/>
                  </a:lnTo>
                  <a:lnTo>
                    <a:pt x="39" y="70"/>
                  </a:lnTo>
                  <a:lnTo>
                    <a:pt x="31" y="83"/>
                  </a:lnTo>
                  <a:lnTo>
                    <a:pt x="24" y="97"/>
                  </a:lnTo>
                  <a:lnTo>
                    <a:pt x="20" y="111"/>
                  </a:lnTo>
                  <a:lnTo>
                    <a:pt x="15" y="127"/>
                  </a:lnTo>
                  <a:lnTo>
                    <a:pt x="13" y="143"/>
                  </a:lnTo>
                  <a:lnTo>
                    <a:pt x="12" y="161"/>
                  </a:lnTo>
                  <a:lnTo>
                    <a:pt x="12" y="161"/>
                  </a:lnTo>
                  <a:lnTo>
                    <a:pt x="12" y="164"/>
                  </a:lnTo>
                  <a:lnTo>
                    <a:pt x="11" y="165"/>
                  </a:lnTo>
                  <a:lnTo>
                    <a:pt x="8" y="166"/>
                  </a:lnTo>
                  <a:lnTo>
                    <a:pt x="6" y="167"/>
                  </a:lnTo>
                  <a:lnTo>
                    <a:pt x="6" y="1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884440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50CFA4-D7F4-CD32-1A47-09FB02D3BC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1E5478-1188-21C9-F7CB-EB20C31377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74BB6-69C1-E72F-D44D-674667A5C2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4AE3E1-97D3-4938-9FFE-672E2BD57442}" type="datetimeFigureOut">
              <a:rPr lang="en-IN" smtClean="0"/>
              <a:t>27-09-2025</a:t>
            </a:fld>
            <a:endParaRPr lang="en-IN"/>
          </a:p>
        </p:txBody>
      </p:sp>
      <p:sp>
        <p:nvSpPr>
          <p:cNvPr id="5" name="Footer Placeholder 4">
            <a:extLst>
              <a:ext uri="{FF2B5EF4-FFF2-40B4-BE49-F238E27FC236}">
                <a16:creationId xmlns:a16="http://schemas.microsoft.com/office/drawing/2014/main" id="{E62A61F5-7645-4CF9-67C0-E31AFA7A70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941864E-39B7-57A3-24C7-B8EF028179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2AEFE3-65FD-4B54-B4C0-AF8EECB67971}" type="slidenum">
              <a:rPr lang="en-IN" smtClean="0"/>
              <a:t>‹#›</a:t>
            </a:fld>
            <a:endParaRPr lang="en-IN"/>
          </a:p>
        </p:txBody>
      </p:sp>
    </p:spTree>
    <p:extLst>
      <p:ext uri="{BB962C8B-B14F-4D97-AF65-F5344CB8AC3E}">
        <p14:creationId xmlns:p14="http://schemas.microsoft.com/office/powerpoint/2010/main" val="1064617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E7C5B-A9BA-45D4-AB6C-21E22D7C32DC}"/>
              </a:ext>
            </a:extLst>
          </p:cNvPr>
          <p:cNvSpPr>
            <a:spLocks noGrp="1"/>
          </p:cNvSpPr>
          <p:nvPr>
            <p:ph type="title"/>
          </p:nvPr>
        </p:nvSpPr>
        <p:spPr/>
        <p:txBody>
          <a:bodyPr>
            <a:normAutofit fontScale="90000"/>
          </a:bodyPr>
          <a:lstStyle/>
          <a:p>
            <a:pPr algn="ctr"/>
            <a:r>
              <a:rPr lang="en-US" b="1" i="0" dirty="0">
                <a:effectLst/>
                <a:latin typeface="YouTube Sans"/>
              </a:rPr>
              <a:t>Unsupervised Machine Learning</a:t>
            </a:r>
            <a:endParaRPr lang="en-US" dirty="0"/>
          </a:p>
        </p:txBody>
      </p:sp>
      <p:sp>
        <p:nvSpPr>
          <p:cNvPr id="4" name="TextBox 3">
            <a:extLst>
              <a:ext uri="{FF2B5EF4-FFF2-40B4-BE49-F238E27FC236}">
                <a16:creationId xmlns:a16="http://schemas.microsoft.com/office/drawing/2014/main" id="{42285606-1260-4D13-8AAA-80226E1F6554}"/>
              </a:ext>
            </a:extLst>
          </p:cNvPr>
          <p:cNvSpPr txBox="1"/>
          <p:nvPr/>
        </p:nvSpPr>
        <p:spPr>
          <a:xfrm>
            <a:off x="4622821" y="-410369"/>
            <a:ext cx="2340321" cy="379656"/>
          </a:xfrm>
          <a:prstGeom prst="rect">
            <a:avLst/>
          </a:prstGeom>
          <a:noFill/>
        </p:spPr>
        <p:txBody>
          <a:bodyPr wrap="none" rtlCol="0">
            <a:spAutoFit/>
          </a:bodyPr>
          <a:lstStyle/>
          <a:p>
            <a:r>
              <a:rPr lang="en-US" sz="1867" dirty="0">
                <a:solidFill>
                  <a:schemeClr val="tx1">
                    <a:lumMod val="65000"/>
                    <a:lumOff val="35000"/>
                  </a:schemeClr>
                </a:solidFill>
              </a:rPr>
              <a:t>© Templateswise.com</a:t>
            </a:r>
          </a:p>
        </p:txBody>
      </p:sp>
      <p:sp>
        <p:nvSpPr>
          <p:cNvPr id="10" name="Rectangle 9">
            <a:extLst>
              <a:ext uri="{FF2B5EF4-FFF2-40B4-BE49-F238E27FC236}">
                <a16:creationId xmlns:a16="http://schemas.microsoft.com/office/drawing/2014/main" id="{0CA7A650-5ABB-0404-5FA6-F91454B65A9A}"/>
              </a:ext>
            </a:extLst>
          </p:cNvPr>
          <p:cNvSpPr/>
          <p:nvPr/>
        </p:nvSpPr>
        <p:spPr>
          <a:xfrm>
            <a:off x="10161142" y="6462446"/>
            <a:ext cx="1979488" cy="3544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ANKIT MIRAJKAR</a:t>
            </a:r>
          </a:p>
        </p:txBody>
      </p:sp>
    </p:spTree>
    <p:extLst>
      <p:ext uri="{BB962C8B-B14F-4D97-AF65-F5344CB8AC3E}">
        <p14:creationId xmlns:p14="http://schemas.microsoft.com/office/powerpoint/2010/main" val="3446047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D33C2BC-C9DE-1276-0B41-65DEF15354D5}"/>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AGENDA</a:t>
            </a:r>
          </a:p>
        </p:txBody>
      </p:sp>
      <p:sp>
        <p:nvSpPr>
          <p:cNvPr id="5" name="TextBox 4">
            <a:extLst>
              <a:ext uri="{FF2B5EF4-FFF2-40B4-BE49-F238E27FC236}">
                <a16:creationId xmlns:a16="http://schemas.microsoft.com/office/drawing/2014/main" id="{E9558329-633E-0E64-E07E-FF2D424D276C}"/>
              </a:ext>
            </a:extLst>
          </p:cNvPr>
          <p:cNvSpPr txBox="1"/>
          <p:nvPr/>
        </p:nvSpPr>
        <p:spPr>
          <a:xfrm>
            <a:off x="657547" y="1121413"/>
            <a:ext cx="10602930" cy="2554545"/>
          </a:xfrm>
          <a:prstGeom prst="rect">
            <a:avLst/>
          </a:prstGeom>
          <a:noFill/>
        </p:spPr>
        <p:txBody>
          <a:bodyPr wrap="square" rtlCol="0">
            <a:spAutoFit/>
          </a:bodyPr>
          <a:lstStyle/>
          <a:p>
            <a:endParaRPr lang="en-US" sz="2000" dirty="0"/>
          </a:p>
          <a:p>
            <a:pPr marL="285750" indent="-285750">
              <a:buFont typeface="Arial" panose="020B0604020202020204" pitchFamily="34" charset="0"/>
              <a:buChar char="•"/>
            </a:pPr>
            <a:r>
              <a:rPr lang="en-US" sz="2000" dirty="0"/>
              <a:t>Unsupervised Machine Learning</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K means clustering</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PCA</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1512231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5A8D2-7548-2B0F-2DF9-C614E7320245}"/>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Unsupervised machine learning</a:t>
            </a:r>
          </a:p>
        </p:txBody>
      </p:sp>
      <p:sp>
        <p:nvSpPr>
          <p:cNvPr id="3" name="Rectangle: Rounded Corners 2">
            <a:extLst>
              <a:ext uri="{FF2B5EF4-FFF2-40B4-BE49-F238E27FC236}">
                <a16:creationId xmlns:a16="http://schemas.microsoft.com/office/drawing/2014/main" id="{AD7DCB4A-66CE-760D-7343-860BCC52BEA9}"/>
              </a:ext>
            </a:extLst>
          </p:cNvPr>
          <p:cNvSpPr/>
          <p:nvPr/>
        </p:nvSpPr>
        <p:spPr>
          <a:xfrm>
            <a:off x="571500" y="1009650"/>
            <a:ext cx="11049000" cy="925470"/>
          </a:xfrm>
          <a:prstGeom prst="round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333333"/>
                </a:solidFill>
                <a:latin typeface="inter-regular"/>
              </a:rPr>
              <a:t>Unsupervised Machine learning is a type of machine learning algorithm used to draw inferences from datasets consisting of input data without any labelled responses </a:t>
            </a:r>
            <a:endParaRPr lang="en-IN" dirty="0">
              <a:solidFill>
                <a:schemeClr val="tx1"/>
              </a:solidFill>
            </a:endParaRPr>
          </a:p>
        </p:txBody>
      </p:sp>
      <p:pic>
        <p:nvPicPr>
          <p:cNvPr id="5" name="Picture 4">
            <a:extLst>
              <a:ext uri="{FF2B5EF4-FFF2-40B4-BE49-F238E27FC236}">
                <a16:creationId xmlns:a16="http://schemas.microsoft.com/office/drawing/2014/main" id="{C35365D4-A78A-5A80-AA69-E34ECF079FD3}"/>
              </a:ext>
            </a:extLst>
          </p:cNvPr>
          <p:cNvPicPr>
            <a:picLocks noChangeAspect="1"/>
          </p:cNvPicPr>
          <p:nvPr/>
        </p:nvPicPr>
        <p:blipFill>
          <a:blip r:embed="rId2"/>
          <a:stretch>
            <a:fillRect/>
          </a:stretch>
        </p:blipFill>
        <p:spPr>
          <a:xfrm>
            <a:off x="2095500" y="2405062"/>
            <a:ext cx="8001000" cy="3038475"/>
          </a:xfrm>
          <a:prstGeom prst="rect">
            <a:avLst/>
          </a:prstGeom>
        </p:spPr>
      </p:pic>
      <p:sp>
        <p:nvSpPr>
          <p:cNvPr id="6" name="TextBox 5">
            <a:extLst>
              <a:ext uri="{FF2B5EF4-FFF2-40B4-BE49-F238E27FC236}">
                <a16:creationId xmlns:a16="http://schemas.microsoft.com/office/drawing/2014/main" id="{E526E4F2-3D9E-46A2-42A7-F02359E8E788}"/>
              </a:ext>
            </a:extLst>
          </p:cNvPr>
          <p:cNvSpPr txBox="1"/>
          <p:nvPr/>
        </p:nvSpPr>
        <p:spPr>
          <a:xfrm>
            <a:off x="3025527" y="5479018"/>
            <a:ext cx="6438900" cy="369332"/>
          </a:xfrm>
          <a:prstGeom prst="rect">
            <a:avLst/>
          </a:prstGeom>
          <a:noFill/>
        </p:spPr>
        <p:txBody>
          <a:bodyPr wrap="square" rtlCol="0">
            <a:spAutoFit/>
          </a:bodyPr>
          <a:lstStyle/>
          <a:p>
            <a:pPr algn="ctr"/>
            <a:r>
              <a:rPr lang="en-US" dirty="0"/>
              <a:t>Training data here is collection of information without any labels</a:t>
            </a:r>
            <a:endParaRPr lang="en-IN" dirty="0"/>
          </a:p>
        </p:txBody>
      </p:sp>
    </p:spTree>
    <p:extLst>
      <p:ext uri="{BB962C8B-B14F-4D97-AF65-F5344CB8AC3E}">
        <p14:creationId xmlns:p14="http://schemas.microsoft.com/office/powerpoint/2010/main" val="3759301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51E37-4953-9D53-FCD4-341B671B4AAE}"/>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CLUSTERING</a:t>
            </a:r>
          </a:p>
        </p:txBody>
      </p:sp>
      <p:sp>
        <p:nvSpPr>
          <p:cNvPr id="3" name="TextBox 2">
            <a:extLst>
              <a:ext uri="{FF2B5EF4-FFF2-40B4-BE49-F238E27FC236}">
                <a16:creationId xmlns:a16="http://schemas.microsoft.com/office/drawing/2014/main" id="{35EBB1F7-C6F2-1F84-FC28-3C5EB3F0D816}"/>
              </a:ext>
            </a:extLst>
          </p:cNvPr>
          <p:cNvSpPr txBox="1"/>
          <p:nvPr/>
        </p:nvSpPr>
        <p:spPr>
          <a:xfrm>
            <a:off x="590550" y="952500"/>
            <a:ext cx="10974204" cy="3139321"/>
          </a:xfrm>
          <a:prstGeom prst="rect">
            <a:avLst/>
          </a:prstGeom>
          <a:noFill/>
        </p:spPr>
        <p:txBody>
          <a:bodyPr wrap="square" rtlCol="0">
            <a:spAutoFit/>
          </a:bodyPr>
          <a:lstStyle/>
          <a:p>
            <a:pPr marL="285750" indent="-285750">
              <a:buFont typeface="Arial" panose="020B0604020202020204" pitchFamily="34" charset="0"/>
              <a:buChar char="•"/>
            </a:pPr>
            <a:r>
              <a:rPr lang="en-US" b="1" i="1" dirty="0">
                <a:solidFill>
                  <a:srgbClr val="333333"/>
                </a:solidFill>
                <a:effectLst/>
                <a:latin typeface="inter-regular"/>
              </a:rPr>
              <a:t>Clustering</a:t>
            </a:r>
            <a:r>
              <a:rPr lang="en-US" b="0" i="0" dirty="0">
                <a:solidFill>
                  <a:srgbClr val="333333"/>
                </a:solidFill>
                <a:effectLst/>
                <a:latin typeface="inter-regular"/>
              </a:rPr>
              <a:t> or </a:t>
            </a:r>
            <a:r>
              <a:rPr lang="en-US" b="1" i="1" dirty="0">
                <a:solidFill>
                  <a:srgbClr val="333333"/>
                </a:solidFill>
                <a:effectLst/>
                <a:latin typeface="inter-regular"/>
              </a:rPr>
              <a:t>cluster analysis </a:t>
            </a:r>
            <a:r>
              <a:rPr lang="en-US" b="0" i="0" dirty="0">
                <a:solidFill>
                  <a:srgbClr val="333333"/>
                </a:solidFill>
                <a:effectLst/>
                <a:latin typeface="inter-regular"/>
              </a:rPr>
              <a:t>is a machine learning technique, which groups the </a:t>
            </a:r>
            <a:r>
              <a:rPr lang="en-US" b="0" i="0" dirty="0" err="1">
                <a:solidFill>
                  <a:srgbClr val="333333"/>
                </a:solidFill>
                <a:effectLst/>
                <a:latin typeface="inter-regular"/>
              </a:rPr>
              <a:t>unlabelled</a:t>
            </a:r>
            <a:r>
              <a:rPr lang="en-US" b="0" i="0" dirty="0">
                <a:solidFill>
                  <a:srgbClr val="333333"/>
                </a:solidFill>
                <a:effectLst/>
                <a:latin typeface="inter-regular"/>
              </a:rPr>
              <a:t> dataset.</a:t>
            </a:r>
          </a:p>
          <a:p>
            <a:pPr marL="285750" indent="-285750">
              <a:buFont typeface="Arial" panose="020B0604020202020204" pitchFamily="34" charset="0"/>
              <a:buChar char="•"/>
            </a:pPr>
            <a:endParaRPr lang="en-US" dirty="0">
              <a:solidFill>
                <a:srgbClr val="333333"/>
              </a:solidFill>
              <a:latin typeface="inter-regular"/>
            </a:endParaRPr>
          </a:p>
          <a:p>
            <a:pPr marL="285750" indent="-285750">
              <a:buFont typeface="Arial" panose="020B0604020202020204" pitchFamily="34" charset="0"/>
              <a:buChar char="•"/>
            </a:pPr>
            <a:r>
              <a:rPr lang="en-US" dirty="0">
                <a:solidFill>
                  <a:srgbClr val="333333"/>
                </a:solidFill>
                <a:latin typeface="inter-regular"/>
              </a:rPr>
              <a:t>A way of grouping the data points into different clusters, consisting of similar data points. The objects with the possible similarities remain in a group that has less or no similarities with another group.</a:t>
            </a:r>
          </a:p>
          <a:p>
            <a:pPr marL="285750" indent="-285750">
              <a:buFont typeface="Arial" panose="020B0604020202020204" pitchFamily="34" charset="0"/>
              <a:buChar char="•"/>
            </a:pPr>
            <a:endParaRPr lang="en-US" dirty="0">
              <a:solidFill>
                <a:srgbClr val="333333"/>
              </a:solidFill>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The clustering technique can be widely used in various tasks. Some most common uses of this technique are:</a:t>
            </a:r>
          </a:p>
          <a:p>
            <a:pPr marL="1200150" lvl="2" indent="-285750" algn="just">
              <a:buFont typeface="Wingdings" panose="05000000000000000000" pitchFamily="2" charset="2"/>
              <a:buChar char="Ø"/>
            </a:pPr>
            <a:r>
              <a:rPr lang="en-US" b="0" i="0" dirty="0">
                <a:solidFill>
                  <a:srgbClr val="000000"/>
                </a:solidFill>
                <a:effectLst/>
                <a:latin typeface="inter-regular"/>
              </a:rPr>
              <a:t>Market Segmentation</a:t>
            </a:r>
          </a:p>
          <a:p>
            <a:pPr marL="1200150" lvl="2" indent="-285750" algn="just">
              <a:buFont typeface="Wingdings" panose="05000000000000000000" pitchFamily="2" charset="2"/>
              <a:buChar char="Ø"/>
            </a:pPr>
            <a:r>
              <a:rPr lang="en-US" b="0" i="0" dirty="0">
                <a:solidFill>
                  <a:srgbClr val="000000"/>
                </a:solidFill>
                <a:effectLst/>
                <a:latin typeface="inter-regular"/>
              </a:rPr>
              <a:t>Statistical data analysis</a:t>
            </a:r>
          </a:p>
          <a:p>
            <a:pPr marL="1200150" lvl="2" indent="-285750" algn="just">
              <a:buFont typeface="Wingdings" panose="05000000000000000000" pitchFamily="2" charset="2"/>
              <a:buChar char="Ø"/>
            </a:pPr>
            <a:r>
              <a:rPr lang="en-US" b="0" i="0" dirty="0">
                <a:solidFill>
                  <a:srgbClr val="000000"/>
                </a:solidFill>
                <a:effectLst/>
                <a:latin typeface="inter-regular"/>
              </a:rPr>
              <a:t>Social network analysis</a:t>
            </a:r>
          </a:p>
          <a:p>
            <a:pPr marL="1200150" lvl="2" indent="-285750" algn="just">
              <a:buFont typeface="Wingdings" panose="05000000000000000000" pitchFamily="2" charset="2"/>
              <a:buChar char="Ø"/>
            </a:pPr>
            <a:r>
              <a:rPr lang="en-US" b="0" i="0" dirty="0">
                <a:solidFill>
                  <a:srgbClr val="000000"/>
                </a:solidFill>
                <a:effectLst/>
                <a:latin typeface="inter-regular"/>
              </a:rPr>
              <a:t>Image segmentation</a:t>
            </a:r>
          </a:p>
          <a:p>
            <a:pPr marL="1200150" lvl="2" indent="-285750" algn="just">
              <a:buFont typeface="Wingdings" panose="05000000000000000000" pitchFamily="2" charset="2"/>
              <a:buChar char="Ø"/>
            </a:pPr>
            <a:r>
              <a:rPr lang="en-US" b="0" i="0" dirty="0">
                <a:solidFill>
                  <a:srgbClr val="000000"/>
                </a:solidFill>
                <a:effectLst/>
                <a:latin typeface="inter-regular"/>
              </a:rPr>
              <a:t>Anomaly detection, etc.</a:t>
            </a:r>
            <a:endParaRPr lang="en-IN" dirty="0">
              <a:solidFill>
                <a:srgbClr val="333333"/>
              </a:solidFill>
              <a:latin typeface="inter-regular"/>
            </a:endParaRPr>
          </a:p>
        </p:txBody>
      </p:sp>
      <p:pic>
        <p:nvPicPr>
          <p:cNvPr id="3074" name="Picture 2" descr="Spectral Clustering | What, why and how of Spectral Clustering!">
            <a:extLst>
              <a:ext uri="{FF2B5EF4-FFF2-40B4-BE49-F238E27FC236}">
                <a16:creationId xmlns:a16="http://schemas.microsoft.com/office/drawing/2014/main" id="{4D7C59E3-E934-FBE5-C03C-C3C187892D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25" y="3269226"/>
            <a:ext cx="7302954" cy="3392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075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36CB1-F7DD-AFC6-127B-8E961FB1086E}"/>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K-MEANS CLUSTERING</a:t>
            </a:r>
          </a:p>
        </p:txBody>
      </p:sp>
      <p:sp>
        <p:nvSpPr>
          <p:cNvPr id="3" name="Rectangle: Rounded Corners 2">
            <a:extLst>
              <a:ext uri="{FF2B5EF4-FFF2-40B4-BE49-F238E27FC236}">
                <a16:creationId xmlns:a16="http://schemas.microsoft.com/office/drawing/2014/main" id="{CA807883-E19F-DB4C-92F7-AA56AA289A8B}"/>
              </a:ext>
            </a:extLst>
          </p:cNvPr>
          <p:cNvSpPr/>
          <p:nvPr/>
        </p:nvSpPr>
        <p:spPr>
          <a:xfrm>
            <a:off x="571500" y="1009650"/>
            <a:ext cx="11049000" cy="2514600"/>
          </a:xfrm>
          <a:prstGeom prst="roundRect">
            <a:avLst/>
          </a:prstGeom>
          <a:noFill/>
          <a:ln>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0" i="0" dirty="0">
                <a:solidFill>
                  <a:srgbClr val="333333"/>
                </a:solidFill>
                <a:effectLst/>
              </a:rPr>
              <a:t>It is an iterative algorithm that divides the unlabeled dataset into k different clusters in such a way that each dataset belongs only one group that has similar properties.</a:t>
            </a:r>
          </a:p>
          <a:p>
            <a:pPr marL="285750" indent="-285750">
              <a:buFont typeface="Arial" panose="020B0604020202020204" pitchFamily="34" charset="0"/>
              <a:buChar char="•"/>
            </a:pPr>
            <a:endParaRPr lang="en-US" dirty="0">
              <a:solidFill>
                <a:srgbClr val="333333"/>
              </a:solidFill>
            </a:endParaRPr>
          </a:p>
          <a:p>
            <a:pPr marL="285750" indent="-285750">
              <a:buFont typeface="Arial" panose="020B0604020202020204" pitchFamily="34" charset="0"/>
              <a:buChar char="•"/>
            </a:pPr>
            <a:r>
              <a:rPr lang="en-US" dirty="0">
                <a:solidFill>
                  <a:srgbClr val="333333"/>
                </a:solidFill>
              </a:rPr>
              <a:t>Here K defines the number of pre-defined clusters that need to be created in the process, as if K=2, there will be two clusters, and for K=3, there will be three clusters, and so on.</a:t>
            </a:r>
          </a:p>
          <a:p>
            <a:pPr marL="285750" indent="-285750">
              <a:buFont typeface="Arial" panose="020B0604020202020204" pitchFamily="34" charset="0"/>
              <a:buChar char="•"/>
            </a:pPr>
            <a:endParaRPr lang="en-US" dirty="0">
              <a:solidFill>
                <a:srgbClr val="333333"/>
              </a:solidFill>
            </a:endParaRPr>
          </a:p>
          <a:p>
            <a:pPr marL="285750" indent="-285750">
              <a:buFont typeface="Arial" panose="020B0604020202020204" pitchFamily="34" charset="0"/>
              <a:buChar char="•"/>
            </a:pPr>
            <a:r>
              <a:rPr lang="en-US" b="0" i="0" dirty="0">
                <a:solidFill>
                  <a:srgbClr val="333333"/>
                </a:solidFill>
                <a:effectLst/>
                <a:latin typeface="inter-regular"/>
              </a:rPr>
              <a:t>It is a centroid-based algorithm, where each cluster is associated with a centroid. The main aim of this algorithm is to minimize the sum of distances between the data point and their corresponding clusters.</a:t>
            </a:r>
            <a:endParaRPr lang="en-IN" dirty="0">
              <a:solidFill>
                <a:srgbClr val="333333"/>
              </a:solidFill>
            </a:endParaRPr>
          </a:p>
        </p:txBody>
      </p:sp>
      <p:pic>
        <p:nvPicPr>
          <p:cNvPr id="5" name="Picture 4">
            <a:extLst>
              <a:ext uri="{FF2B5EF4-FFF2-40B4-BE49-F238E27FC236}">
                <a16:creationId xmlns:a16="http://schemas.microsoft.com/office/drawing/2014/main" id="{C64BF897-C022-8AB9-230D-0626F4356243}"/>
              </a:ext>
            </a:extLst>
          </p:cNvPr>
          <p:cNvPicPr>
            <a:picLocks noChangeAspect="1"/>
          </p:cNvPicPr>
          <p:nvPr/>
        </p:nvPicPr>
        <p:blipFill rotWithShape="1">
          <a:blip r:embed="rId2"/>
          <a:srcRect l="5569" r="6753" b="5357"/>
          <a:stretch/>
        </p:blipFill>
        <p:spPr>
          <a:xfrm>
            <a:off x="2981325" y="3749080"/>
            <a:ext cx="5810250" cy="2912977"/>
          </a:xfrm>
          <a:prstGeom prst="rect">
            <a:avLst/>
          </a:prstGeom>
        </p:spPr>
      </p:pic>
    </p:spTree>
    <p:extLst>
      <p:ext uri="{BB962C8B-B14F-4D97-AF65-F5344CB8AC3E}">
        <p14:creationId xmlns:p14="http://schemas.microsoft.com/office/powerpoint/2010/main" val="3930054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5E31428-8674-3103-15CA-5AC2025AB36A}"/>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How does the K-Means Algorithm Work?</a:t>
            </a:r>
          </a:p>
          <a:p>
            <a:endParaRPr lang="en-US" sz="1800" b="1" cap="all" dirty="0">
              <a:solidFill>
                <a:srgbClr val="27509B"/>
              </a:solidFill>
              <a:latin typeface="Michelin SemiBold" panose="02000000000000000000" pitchFamily="50" charset="0"/>
            </a:endParaRPr>
          </a:p>
        </p:txBody>
      </p:sp>
      <p:sp>
        <p:nvSpPr>
          <p:cNvPr id="6" name="TextBox 5">
            <a:extLst>
              <a:ext uri="{FF2B5EF4-FFF2-40B4-BE49-F238E27FC236}">
                <a16:creationId xmlns:a16="http://schemas.microsoft.com/office/drawing/2014/main" id="{99C329EC-40A4-E39E-C0CE-1B94AD09DB9C}"/>
              </a:ext>
            </a:extLst>
          </p:cNvPr>
          <p:cNvSpPr txBox="1"/>
          <p:nvPr/>
        </p:nvSpPr>
        <p:spPr>
          <a:xfrm>
            <a:off x="600074" y="1121413"/>
            <a:ext cx="10974204" cy="3892732"/>
          </a:xfrm>
          <a:prstGeom prst="rect">
            <a:avLst/>
          </a:prstGeom>
          <a:noFill/>
        </p:spPr>
        <p:txBody>
          <a:bodyPr wrap="square">
            <a:spAutoFit/>
          </a:bodyPr>
          <a:lstStyle/>
          <a:p>
            <a:pPr algn="just">
              <a:lnSpc>
                <a:spcPct val="200000"/>
              </a:lnSpc>
            </a:pPr>
            <a:r>
              <a:rPr lang="en-US" b="1" i="0" dirty="0">
                <a:solidFill>
                  <a:srgbClr val="333333"/>
                </a:solidFill>
                <a:effectLst/>
                <a:latin typeface="inter-bold"/>
              </a:rPr>
              <a:t>Step-1:</a:t>
            </a:r>
            <a:r>
              <a:rPr lang="en-US" b="0" i="0" dirty="0">
                <a:solidFill>
                  <a:srgbClr val="333333"/>
                </a:solidFill>
                <a:effectLst/>
                <a:latin typeface="inter-regular"/>
              </a:rPr>
              <a:t> Select the number K to decide the number of clusters.</a:t>
            </a:r>
          </a:p>
          <a:p>
            <a:pPr algn="just">
              <a:lnSpc>
                <a:spcPct val="200000"/>
              </a:lnSpc>
            </a:pPr>
            <a:r>
              <a:rPr lang="en-US" b="1" i="0" dirty="0">
                <a:solidFill>
                  <a:srgbClr val="333333"/>
                </a:solidFill>
                <a:effectLst/>
                <a:latin typeface="inter-bold"/>
              </a:rPr>
              <a:t>Step-2:</a:t>
            </a:r>
            <a:r>
              <a:rPr lang="en-US" b="0" i="0" dirty="0">
                <a:solidFill>
                  <a:srgbClr val="333333"/>
                </a:solidFill>
                <a:effectLst/>
                <a:latin typeface="inter-regular"/>
              </a:rPr>
              <a:t> Select random K points or centroids. (It can be other from the input dataset).</a:t>
            </a:r>
          </a:p>
          <a:p>
            <a:pPr algn="just">
              <a:lnSpc>
                <a:spcPct val="200000"/>
              </a:lnSpc>
            </a:pPr>
            <a:r>
              <a:rPr lang="en-US" b="1" i="0" dirty="0">
                <a:solidFill>
                  <a:srgbClr val="333333"/>
                </a:solidFill>
                <a:effectLst/>
                <a:latin typeface="inter-bold"/>
              </a:rPr>
              <a:t>Step-3:</a:t>
            </a:r>
            <a:r>
              <a:rPr lang="en-US" b="0" i="0" dirty="0">
                <a:solidFill>
                  <a:srgbClr val="333333"/>
                </a:solidFill>
                <a:effectLst/>
                <a:latin typeface="inter-regular"/>
              </a:rPr>
              <a:t> Assign each data point to their closest centroid, which will form the predefined K clusters.</a:t>
            </a:r>
          </a:p>
          <a:p>
            <a:pPr algn="just">
              <a:lnSpc>
                <a:spcPct val="200000"/>
              </a:lnSpc>
            </a:pPr>
            <a:r>
              <a:rPr lang="en-US" b="1" i="0" dirty="0">
                <a:solidFill>
                  <a:srgbClr val="333333"/>
                </a:solidFill>
                <a:effectLst/>
                <a:latin typeface="inter-bold"/>
              </a:rPr>
              <a:t>Step-4:</a:t>
            </a:r>
            <a:r>
              <a:rPr lang="en-US" b="0" i="0" dirty="0">
                <a:solidFill>
                  <a:srgbClr val="333333"/>
                </a:solidFill>
                <a:effectLst/>
                <a:latin typeface="inter-regular"/>
              </a:rPr>
              <a:t> Calculate the variance and place a new centroid of each cluster.</a:t>
            </a:r>
          </a:p>
          <a:p>
            <a:pPr algn="just">
              <a:lnSpc>
                <a:spcPct val="200000"/>
              </a:lnSpc>
            </a:pPr>
            <a:r>
              <a:rPr lang="en-US" b="1" i="0" dirty="0">
                <a:solidFill>
                  <a:srgbClr val="333333"/>
                </a:solidFill>
                <a:effectLst/>
                <a:latin typeface="inter-bold"/>
              </a:rPr>
              <a:t>Step-5:</a:t>
            </a:r>
            <a:r>
              <a:rPr lang="en-US" b="0" i="0" dirty="0">
                <a:solidFill>
                  <a:srgbClr val="333333"/>
                </a:solidFill>
                <a:effectLst/>
                <a:latin typeface="inter-regular"/>
              </a:rPr>
              <a:t> Repeat the third steps, which means reassign each datapoint to the new closest centroid of each cluster.</a:t>
            </a:r>
          </a:p>
          <a:p>
            <a:pPr algn="just">
              <a:lnSpc>
                <a:spcPct val="200000"/>
              </a:lnSpc>
            </a:pPr>
            <a:r>
              <a:rPr lang="en-US" b="1" i="0" dirty="0">
                <a:solidFill>
                  <a:srgbClr val="333333"/>
                </a:solidFill>
                <a:effectLst/>
                <a:latin typeface="inter-bold"/>
              </a:rPr>
              <a:t>Step-6:</a:t>
            </a:r>
            <a:r>
              <a:rPr lang="en-US" b="0" i="0" dirty="0">
                <a:solidFill>
                  <a:srgbClr val="333333"/>
                </a:solidFill>
                <a:effectLst/>
                <a:latin typeface="inter-regular"/>
              </a:rPr>
              <a:t> If any reassignment occurs, then go to step-4 else go to FINISH.</a:t>
            </a:r>
          </a:p>
          <a:p>
            <a:pPr algn="just">
              <a:lnSpc>
                <a:spcPct val="200000"/>
              </a:lnSpc>
            </a:pPr>
            <a:r>
              <a:rPr lang="en-US" b="1" i="0" dirty="0">
                <a:solidFill>
                  <a:srgbClr val="333333"/>
                </a:solidFill>
                <a:effectLst/>
                <a:latin typeface="inter-bold"/>
              </a:rPr>
              <a:t>Step-7</a:t>
            </a:r>
            <a:r>
              <a:rPr lang="en-US" b="0" i="0" dirty="0">
                <a:solidFill>
                  <a:srgbClr val="333333"/>
                </a:solidFill>
                <a:effectLst/>
                <a:latin typeface="inter-regular"/>
              </a:rPr>
              <a:t>: The model I	s ready.</a:t>
            </a:r>
          </a:p>
        </p:txBody>
      </p:sp>
    </p:spTree>
    <p:extLst>
      <p:ext uri="{BB962C8B-B14F-4D97-AF65-F5344CB8AC3E}">
        <p14:creationId xmlns:p14="http://schemas.microsoft.com/office/powerpoint/2010/main" val="1431779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A1E87-66AB-7824-2108-1BA8937E53DA}"/>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DECIDING THE NUMBER OF CLUSTERS</a:t>
            </a:r>
          </a:p>
          <a:p>
            <a:endParaRPr lang="en-US" sz="1800" b="1" cap="all" dirty="0">
              <a:solidFill>
                <a:srgbClr val="27509B"/>
              </a:solidFill>
              <a:latin typeface="Michelin SemiBold" panose="02000000000000000000" pitchFamily="50" charset="0"/>
            </a:endParaRPr>
          </a:p>
        </p:txBody>
      </p:sp>
      <p:sp>
        <p:nvSpPr>
          <p:cNvPr id="4" name="TextBox 3">
            <a:extLst>
              <a:ext uri="{FF2B5EF4-FFF2-40B4-BE49-F238E27FC236}">
                <a16:creationId xmlns:a16="http://schemas.microsoft.com/office/drawing/2014/main" id="{61BD83F5-8F0F-E181-B969-930BAA2D4BED}"/>
              </a:ext>
            </a:extLst>
          </p:cNvPr>
          <p:cNvSpPr txBox="1"/>
          <p:nvPr/>
        </p:nvSpPr>
        <p:spPr>
          <a:xfrm>
            <a:off x="828675" y="1121413"/>
            <a:ext cx="10605450" cy="923330"/>
          </a:xfrm>
          <a:prstGeom prst="rect">
            <a:avLst/>
          </a:prstGeom>
          <a:noFill/>
        </p:spPr>
        <p:txBody>
          <a:bodyPr wrap="square">
            <a:spAutoFit/>
          </a:bodyPr>
          <a:lstStyle/>
          <a:p>
            <a:pPr algn="just"/>
            <a:r>
              <a:rPr lang="en-US" b="1" i="1" dirty="0">
                <a:solidFill>
                  <a:srgbClr val="610B4B"/>
                </a:solidFill>
                <a:effectLst/>
                <a:latin typeface="erdana"/>
              </a:rPr>
              <a:t>Elbow Method </a:t>
            </a:r>
            <a:r>
              <a:rPr lang="en-US" b="0" i="0" dirty="0">
                <a:solidFill>
                  <a:srgbClr val="333333"/>
                </a:solidFill>
                <a:effectLst/>
                <a:latin typeface="inter-regular"/>
              </a:rPr>
              <a:t>is one of the most popular ways to find the optimal number of clusters. This method uses the concept of WCSS </a:t>
            </a:r>
            <a:r>
              <a:rPr lang="en-US" dirty="0">
                <a:solidFill>
                  <a:srgbClr val="333333"/>
                </a:solidFill>
                <a:latin typeface="inter-regular"/>
              </a:rPr>
              <a:t>(</a:t>
            </a:r>
            <a:r>
              <a:rPr lang="en-US" b="1" i="0" dirty="0">
                <a:solidFill>
                  <a:srgbClr val="333333"/>
                </a:solidFill>
                <a:effectLst/>
                <a:latin typeface="inter-bold"/>
              </a:rPr>
              <a:t>Within Cluster Sum of Squares) value</a:t>
            </a:r>
            <a:r>
              <a:rPr lang="en-US" b="0" i="0" dirty="0">
                <a:solidFill>
                  <a:srgbClr val="333333"/>
                </a:solidFill>
                <a:effectLst/>
                <a:latin typeface="inter-regular"/>
              </a:rPr>
              <a:t>, which defines the total variations within a cluster. The formula to calculate the value of WCSS (for 3 clusters) is given below:</a:t>
            </a:r>
          </a:p>
        </p:txBody>
      </p:sp>
      <p:pic>
        <p:nvPicPr>
          <p:cNvPr id="6146" name="Picture 2" descr="Data Mining K-means Algorithm - ppt download">
            <a:extLst>
              <a:ext uri="{FF2B5EF4-FFF2-40B4-BE49-F238E27FC236}">
                <a16:creationId xmlns:a16="http://schemas.microsoft.com/office/drawing/2014/main" id="{279C8221-5CF7-AD03-D943-734B66103E2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854" t="33611" b="9444"/>
          <a:stretch/>
        </p:blipFill>
        <p:spPr bwMode="auto">
          <a:xfrm>
            <a:off x="438149" y="2571750"/>
            <a:ext cx="8334375" cy="39052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4FA7725-F0EF-931E-3E0B-01A10200770E}"/>
              </a:ext>
            </a:extLst>
          </p:cNvPr>
          <p:cNvPicPr>
            <a:picLocks noChangeAspect="1"/>
          </p:cNvPicPr>
          <p:nvPr/>
        </p:nvPicPr>
        <p:blipFill rotWithShape="1">
          <a:blip r:embed="rId3"/>
          <a:srcRect l="4453"/>
          <a:stretch/>
        </p:blipFill>
        <p:spPr>
          <a:xfrm>
            <a:off x="8103421" y="3860821"/>
            <a:ext cx="3955229" cy="2320904"/>
          </a:xfrm>
          <a:prstGeom prst="rect">
            <a:avLst/>
          </a:prstGeom>
        </p:spPr>
      </p:pic>
    </p:spTree>
    <p:extLst>
      <p:ext uri="{BB962C8B-B14F-4D97-AF65-F5344CB8AC3E}">
        <p14:creationId xmlns:p14="http://schemas.microsoft.com/office/powerpoint/2010/main" val="498657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8C906-4DB4-2999-1289-94669B370535}"/>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1800" b="1" cap="all" dirty="0">
              <a:solidFill>
                <a:srgbClr val="27509B"/>
              </a:solidFill>
              <a:latin typeface="Michelin SemiBold" panose="02000000000000000000" pitchFamily="50" charset="0"/>
            </a:endParaRPr>
          </a:p>
          <a:p>
            <a:r>
              <a:rPr lang="en-US" sz="1800" b="1" cap="all" dirty="0">
                <a:solidFill>
                  <a:srgbClr val="27509B"/>
                </a:solidFill>
                <a:latin typeface="Michelin SemiBold" panose="02000000000000000000" pitchFamily="50" charset="0"/>
              </a:rPr>
              <a:t>PRINCIPLE COMPONENT ANALYSIS</a:t>
            </a:r>
          </a:p>
          <a:p>
            <a:endParaRPr lang="en-US" sz="1800" b="1" cap="all" dirty="0">
              <a:solidFill>
                <a:srgbClr val="27509B"/>
              </a:solidFill>
              <a:latin typeface="Michelin SemiBold" panose="02000000000000000000" pitchFamily="50" charset="0"/>
            </a:endParaRPr>
          </a:p>
        </p:txBody>
      </p:sp>
      <p:sp>
        <p:nvSpPr>
          <p:cNvPr id="4" name="TextBox 3">
            <a:extLst>
              <a:ext uri="{FF2B5EF4-FFF2-40B4-BE49-F238E27FC236}">
                <a16:creationId xmlns:a16="http://schemas.microsoft.com/office/drawing/2014/main" id="{E6806BF9-998B-49AD-EA0B-6F7C7E49D6AC}"/>
              </a:ext>
            </a:extLst>
          </p:cNvPr>
          <p:cNvSpPr txBox="1"/>
          <p:nvPr/>
        </p:nvSpPr>
        <p:spPr>
          <a:xfrm>
            <a:off x="552450" y="1024235"/>
            <a:ext cx="11049000" cy="4801314"/>
          </a:xfrm>
          <a:prstGeom prst="rect">
            <a:avLst/>
          </a:prstGeom>
          <a:noFill/>
        </p:spPr>
        <p:txBody>
          <a:bodyPr wrap="square">
            <a:spAutoFit/>
          </a:bodyPr>
          <a:lstStyle/>
          <a:p>
            <a:r>
              <a:rPr lang="en-US" dirty="0">
                <a:solidFill>
                  <a:srgbClr val="333333"/>
                </a:solidFill>
              </a:rPr>
              <a:t>Principal Component Analysis is an unsupervised learning algorithm that is used for the dimensionality reduction in machine learning.</a:t>
            </a:r>
          </a:p>
          <a:p>
            <a:endParaRPr lang="en-US" dirty="0">
              <a:solidFill>
                <a:srgbClr val="333333"/>
              </a:solidFill>
            </a:endParaRPr>
          </a:p>
          <a:p>
            <a:r>
              <a:rPr lang="en-US" b="1" i="1" u="sng" dirty="0">
                <a:solidFill>
                  <a:srgbClr val="333333"/>
                </a:solidFill>
              </a:rPr>
              <a:t>Features:</a:t>
            </a:r>
          </a:p>
          <a:p>
            <a:endParaRPr lang="en-US" dirty="0">
              <a:solidFill>
                <a:srgbClr val="333333"/>
              </a:solidFill>
            </a:endParaRPr>
          </a:p>
          <a:p>
            <a:pPr marL="285750" indent="-285750">
              <a:buFont typeface="Arial" panose="020B0604020202020204" pitchFamily="34" charset="0"/>
              <a:buChar char="•"/>
            </a:pPr>
            <a:r>
              <a:rPr lang="en-US" dirty="0">
                <a:solidFill>
                  <a:srgbClr val="333333"/>
                </a:solidFill>
              </a:rPr>
              <a:t>Principal Component Analysis helps you find out the most common dimensions of your project and makes result analysis easier.</a:t>
            </a:r>
          </a:p>
          <a:p>
            <a:pPr marL="285750" indent="-285750">
              <a:buFont typeface="Arial" panose="020B0604020202020204" pitchFamily="34" charset="0"/>
              <a:buChar char="•"/>
            </a:pPr>
            <a:endParaRPr lang="en-US" dirty="0">
              <a:solidFill>
                <a:srgbClr val="333333"/>
              </a:solidFill>
            </a:endParaRPr>
          </a:p>
          <a:p>
            <a:pPr marL="285750" indent="-285750">
              <a:buFont typeface="Arial" panose="020B0604020202020204" pitchFamily="34" charset="0"/>
              <a:buChar char="•"/>
            </a:pPr>
            <a:r>
              <a:rPr lang="en-US" dirty="0">
                <a:solidFill>
                  <a:srgbClr val="333333"/>
                </a:solidFill>
                <a:latin typeface="inter-regular"/>
              </a:rPr>
              <a:t>It</a:t>
            </a:r>
            <a:r>
              <a:rPr lang="en-US" b="0" i="0" dirty="0">
                <a:solidFill>
                  <a:srgbClr val="333333"/>
                </a:solidFill>
                <a:effectLst/>
                <a:latin typeface="inter-regular"/>
              </a:rPr>
              <a:t> converts the observations of correlated features into a set of linearly uncorrelated features with the help of orthogonal transformation. These new transformed features are called the </a:t>
            </a:r>
            <a:r>
              <a:rPr lang="en-US" b="1" i="0" dirty="0">
                <a:solidFill>
                  <a:srgbClr val="333333"/>
                </a:solidFill>
                <a:effectLst/>
                <a:latin typeface="inter-bold"/>
              </a:rPr>
              <a:t>Principal Components</a:t>
            </a:r>
            <a:r>
              <a:rPr lang="en-US" b="0" i="0" dirty="0">
                <a:solidFill>
                  <a:srgbClr val="333333"/>
                </a:solidFill>
                <a:effectLst/>
                <a:latin typeface="inter-regular"/>
              </a:rPr>
              <a:t>.</a:t>
            </a:r>
          </a:p>
          <a:p>
            <a:pPr marL="285750" indent="-285750">
              <a:buFont typeface="Arial" panose="020B0604020202020204" pitchFamily="34" charset="0"/>
              <a:buChar char="•"/>
            </a:pPr>
            <a:endParaRPr lang="en-US" dirty="0">
              <a:solidFill>
                <a:srgbClr val="333333"/>
              </a:solidFill>
              <a:latin typeface="inter-regular"/>
            </a:endParaRPr>
          </a:p>
          <a:p>
            <a:pPr marL="285750" indent="-285750">
              <a:buFont typeface="Arial" panose="020B0604020202020204" pitchFamily="34" charset="0"/>
              <a:buChar char="•"/>
            </a:pPr>
            <a:r>
              <a:rPr lang="en-US" b="0" i="0" dirty="0">
                <a:solidFill>
                  <a:srgbClr val="333333"/>
                </a:solidFill>
                <a:effectLst/>
                <a:latin typeface="inter-regular"/>
              </a:rPr>
              <a:t>PCA works by considering the variance of each attribute because the high attribute shows the good split between the classes, and hence it reduces the dimensionality. </a:t>
            </a:r>
          </a:p>
          <a:p>
            <a:pPr marL="285750" indent="-285750">
              <a:buFont typeface="Arial" panose="020B0604020202020204" pitchFamily="34" charset="0"/>
              <a:buChar char="•"/>
            </a:pPr>
            <a:endParaRPr lang="en-US" dirty="0">
              <a:solidFill>
                <a:srgbClr val="333333"/>
              </a:solidFill>
              <a:latin typeface="inter-regular"/>
            </a:endParaRPr>
          </a:p>
          <a:p>
            <a:pPr marL="285750" indent="-285750">
              <a:buFont typeface="Arial" panose="020B0604020202020204" pitchFamily="34" charset="0"/>
              <a:buChar char="•"/>
            </a:pPr>
            <a:r>
              <a:rPr lang="en-US" b="0" i="0" dirty="0">
                <a:solidFill>
                  <a:srgbClr val="333333"/>
                </a:solidFill>
                <a:effectLst/>
                <a:latin typeface="inter-regular"/>
              </a:rPr>
              <a:t>Some real-world applications of PCA are </a:t>
            </a:r>
            <a:r>
              <a:rPr lang="en-US" b="1" i="1" dirty="0">
                <a:solidFill>
                  <a:srgbClr val="333333"/>
                </a:solidFill>
                <a:effectLst/>
                <a:latin typeface="inter-bold"/>
              </a:rPr>
              <a:t>image processing, movie recommendation system, optimizing the power allocation in various communication channels.</a:t>
            </a:r>
            <a:endParaRPr lang="en-IN" dirty="0"/>
          </a:p>
          <a:p>
            <a:endParaRPr lang="en-IN" dirty="0">
              <a:solidFill>
                <a:srgbClr val="333333"/>
              </a:solidFill>
            </a:endParaRPr>
          </a:p>
        </p:txBody>
      </p:sp>
    </p:spTree>
    <p:extLst>
      <p:ext uri="{BB962C8B-B14F-4D97-AF65-F5344CB8AC3E}">
        <p14:creationId xmlns:p14="http://schemas.microsoft.com/office/powerpoint/2010/main" val="1062869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74029-1F70-400E-9B41-FA3BC449E7EC}"/>
              </a:ext>
            </a:extLst>
          </p:cNvPr>
          <p:cNvSpPr>
            <a:spLocks noGrp="1"/>
          </p:cNvSpPr>
          <p:nvPr>
            <p:ph type="title"/>
          </p:nvPr>
        </p:nvSpPr>
        <p:spPr/>
        <p:txBody>
          <a:bodyPr/>
          <a:lstStyle/>
          <a:p>
            <a:r>
              <a:rPr lang="en-US" dirty="0"/>
              <a:t>Why PCA is done?</a:t>
            </a:r>
          </a:p>
        </p:txBody>
      </p:sp>
      <p:sp>
        <p:nvSpPr>
          <p:cNvPr id="4" name="TextBox 3">
            <a:extLst>
              <a:ext uri="{FF2B5EF4-FFF2-40B4-BE49-F238E27FC236}">
                <a16:creationId xmlns:a16="http://schemas.microsoft.com/office/drawing/2014/main" id="{23E7B0B6-1DB9-4FD5-AF4D-EB5C6990BC2D}"/>
              </a:ext>
            </a:extLst>
          </p:cNvPr>
          <p:cNvSpPr txBox="1"/>
          <p:nvPr/>
        </p:nvSpPr>
        <p:spPr>
          <a:xfrm>
            <a:off x="735724" y="1603618"/>
            <a:ext cx="10618076" cy="2246769"/>
          </a:xfrm>
          <a:prstGeom prst="rect">
            <a:avLst/>
          </a:prstGeom>
          <a:noFill/>
        </p:spPr>
        <p:txBody>
          <a:bodyPr wrap="square">
            <a:spAutoFit/>
          </a:bodyPr>
          <a:lstStyle/>
          <a:p>
            <a:r>
              <a:rPr lang="en-US" sz="2000" dirty="0"/>
              <a:t>PCA (Principal Component Analysis) is performed mainly for </a:t>
            </a:r>
            <a:r>
              <a:rPr lang="en-US" sz="2000" b="1" dirty="0"/>
              <a:t>dimensionality reduction</a:t>
            </a:r>
            <a:r>
              <a:rPr lang="en-US" sz="2000" dirty="0"/>
              <a:t> while retaining most of the important information. The reasons are:</a:t>
            </a:r>
          </a:p>
          <a:p>
            <a:endParaRPr lang="en-US" sz="2000" dirty="0"/>
          </a:p>
          <a:p>
            <a:pPr marL="342900" indent="-342900">
              <a:buAutoNum type="alphaLcParenR"/>
            </a:pPr>
            <a:r>
              <a:rPr lang="en-US" sz="2000" dirty="0"/>
              <a:t>Reduce Complexity</a:t>
            </a:r>
          </a:p>
          <a:p>
            <a:pPr marL="342900" indent="-342900">
              <a:buAutoNum type="alphaLcParenR"/>
            </a:pPr>
            <a:r>
              <a:rPr lang="en-US" sz="2000" dirty="0"/>
              <a:t>Remove Redundancy</a:t>
            </a:r>
          </a:p>
          <a:p>
            <a:pPr marL="342900" indent="-342900">
              <a:buAutoNum type="alphaLcParenR"/>
            </a:pPr>
            <a:r>
              <a:rPr lang="en-US" sz="2000" dirty="0"/>
              <a:t>Noise Reduction</a:t>
            </a:r>
          </a:p>
          <a:p>
            <a:pPr marL="342900" indent="-342900">
              <a:buAutoNum type="alphaLcParenR"/>
            </a:pPr>
            <a:r>
              <a:rPr lang="en-US" sz="2000" dirty="0"/>
              <a:t>Visualization</a:t>
            </a:r>
          </a:p>
        </p:txBody>
      </p:sp>
    </p:spTree>
    <p:extLst>
      <p:ext uri="{BB962C8B-B14F-4D97-AF65-F5344CB8AC3E}">
        <p14:creationId xmlns:p14="http://schemas.microsoft.com/office/powerpoint/2010/main" val="3993488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1A44C5-AB65-6BCF-A196-952AE8133285}"/>
              </a:ext>
            </a:extLst>
          </p:cNvPr>
          <p:cNvSpPr txBox="1"/>
          <p:nvPr/>
        </p:nvSpPr>
        <p:spPr>
          <a:xfrm>
            <a:off x="531686" y="419801"/>
            <a:ext cx="11119207" cy="4093428"/>
          </a:xfrm>
          <a:prstGeom prst="rect">
            <a:avLst/>
          </a:prstGeom>
          <a:noFill/>
        </p:spPr>
        <p:txBody>
          <a:bodyPr wrap="square">
            <a:spAutoFit/>
          </a:bodyPr>
          <a:lstStyle/>
          <a:p>
            <a:pPr algn="just"/>
            <a:r>
              <a:rPr lang="en-US" sz="2000" b="0" i="0" dirty="0">
                <a:solidFill>
                  <a:srgbClr val="333333"/>
                </a:solidFill>
                <a:effectLst/>
              </a:rPr>
              <a:t>Some common terms used in PCA algorithm:</a:t>
            </a:r>
          </a:p>
          <a:p>
            <a:pPr algn="just"/>
            <a:endParaRPr lang="en-US" sz="2000" b="0" i="0" dirty="0">
              <a:solidFill>
                <a:srgbClr val="333333"/>
              </a:solidFill>
              <a:effectLst/>
            </a:endParaRPr>
          </a:p>
          <a:p>
            <a:pPr marL="285750" indent="-285750" algn="just">
              <a:buFont typeface="Arial" panose="020B0604020202020204" pitchFamily="34" charset="0"/>
              <a:buChar char="•"/>
            </a:pPr>
            <a:r>
              <a:rPr lang="en-US" sz="2000" b="1" i="0" dirty="0">
                <a:solidFill>
                  <a:srgbClr val="000000"/>
                </a:solidFill>
                <a:effectLst/>
              </a:rPr>
              <a:t>Dimensionality:</a:t>
            </a:r>
            <a:r>
              <a:rPr lang="en-US" sz="2000" b="0" i="0" dirty="0">
                <a:solidFill>
                  <a:srgbClr val="000000"/>
                </a:solidFill>
                <a:effectLst/>
              </a:rPr>
              <a:t> It is the number of features or variables present in the given dataset. More easily, it is the number of columns present in the dataset.</a:t>
            </a:r>
          </a:p>
          <a:p>
            <a:pPr marL="285750" indent="-285750" algn="just">
              <a:buFont typeface="Arial" panose="020B0604020202020204" pitchFamily="34" charset="0"/>
              <a:buChar char="•"/>
            </a:pPr>
            <a:endParaRPr lang="en-US" sz="2000" b="0" i="0" dirty="0">
              <a:solidFill>
                <a:srgbClr val="000000"/>
              </a:solidFill>
              <a:effectLst/>
            </a:endParaRPr>
          </a:p>
          <a:p>
            <a:pPr marL="285750" indent="-285750" algn="just">
              <a:buFont typeface="Arial" panose="020B0604020202020204" pitchFamily="34" charset="0"/>
              <a:buChar char="•"/>
            </a:pPr>
            <a:r>
              <a:rPr lang="en-US" sz="2000" b="1" i="0" dirty="0">
                <a:solidFill>
                  <a:srgbClr val="000000"/>
                </a:solidFill>
                <a:effectLst/>
              </a:rPr>
              <a:t>Correlation:</a:t>
            </a:r>
            <a:r>
              <a:rPr lang="en-US" sz="2000" b="0" i="0" dirty="0">
                <a:solidFill>
                  <a:srgbClr val="000000"/>
                </a:solidFill>
                <a:effectLst/>
              </a:rPr>
              <a:t> It signifies that how strongly two variables are related to each other. Such as if one changes, the other variable also gets changed. The correlation value ranges from -1 to +1. Here, -1 occurs if variables are inversely proportional to each other, and +1 indicates that variables are directly proportional to each other.</a:t>
            </a:r>
          </a:p>
          <a:p>
            <a:pPr marL="285750" indent="-285750" algn="just">
              <a:buFont typeface="Arial" panose="020B0604020202020204" pitchFamily="34" charset="0"/>
              <a:buChar char="•"/>
            </a:pPr>
            <a:endParaRPr lang="en-US" sz="2000" b="0" i="0" dirty="0">
              <a:solidFill>
                <a:srgbClr val="000000"/>
              </a:solidFill>
              <a:effectLst/>
            </a:endParaRPr>
          </a:p>
          <a:p>
            <a:pPr marL="285750" indent="-285750" algn="just">
              <a:buFont typeface="Arial" panose="020B0604020202020204" pitchFamily="34" charset="0"/>
              <a:buChar char="•"/>
            </a:pPr>
            <a:r>
              <a:rPr lang="en-US" sz="2000" b="1" i="0" dirty="0">
                <a:solidFill>
                  <a:srgbClr val="000000"/>
                </a:solidFill>
                <a:effectLst/>
              </a:rPr>
              <a:t>Orthogonal:</a:t>
            </a:r>
            <a:r>
              <a:rPr lang="en-US" sz="2000" b="0" i="0" dirty="0">
                <a:solidFill>
                  <a:srgbClr val="000000"/>
                </a:solidFill>
                <a:effectLst/>
              </a:rPr>
              <a:t> It defines that variables are not correlated to each other, and hence the correlation between the pair of variables is zero.</a:t>
            </a:r>
          </a:p>
          <a:p>
            <a:pPr marL="285750" indent="-285750" algn="just">
              <a:buFont typeface="Arial" panose="020B0604020202020204" pitchFamily="34" charset="0"/>
              <a:buChar char="•"/>
            </a:pPr>
            <a:endParaRPr lang="en-US" sz="2000" b="0" i="0" dirty="0">
              <a:solidFill>
                <a:srgbClr val="000000"/>
              </a:solidFill>
              <a:effectLst/>
            </a:endParaRPr>
          </a:p>
        </p:txBody>
      </p:sp>
    </p:spTree>
    <p:extLst>
      <p:ext uri="{BB962C8B-B14F-4D97-AF65-F5344CB8AC3E}">
        <p14:creationId xmlns:p14="http://schemas.microsoft.com/office/powerpoint/2010/main" val="10631945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702</TotalTime>
  <Words>798</Words>
  <Application>Microsoft Office PowerPoint</Application>
  <PresentationFormat>Widescreen</PresentationFormat>
  <Paragraphs>75</Paragraphs>
  <Slides>10</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Arial</vt:lpstr>
      <vt:lpstr>Calibri</vt:lpstr>
      <vt:lpstr>Calibri Light</vt:lpstr>
      <vt:lpstr>erdana</vt:lpstr>
      <vt:lpstr>Gordita</vt:lpstr>
      <vt:lpstr>inter-bold</vt:lpstr>
      <vt:lpstr>inter-regular</vt:lpstr>
      <vt:lpstr>Michelin SemiBold</vt:lpstr>
      <vt:lpstr>Wingdings</vt:lpstr>
      <vt:lpstr>YouTube Sans</vt:lpstr>
      <vt:lpstr>Office Theme</vt:lpstr>
      <vt:lpstr>Unsupervised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PCA is done?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Machine Learning</dc:title>
  <dc:creator>Ankit Mirajkar</dc:creator>
  <cp:lastModifiedBy>Ankit Mirajkar</cp:lastModifiedBy>
  <cp:revision>14</cp:revision>
  <dcterms:created xsi:type="dcterms:W3CDTF">2023-03-05T12:35:46Z</dcterms:created>
  <dcterms:modified xsi:type="dcterms:W3CDTF">2025-09-27T04:58:52Z</dcterms:modified>
</cp:coreProperties>
</file>