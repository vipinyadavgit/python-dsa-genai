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73" r:id="rId2"/>
    <p:sldId id="256" r:id="rId3"/>
    <p:sldId id="257" r:id="rId4"/>
    <p:sldId id="258" r:id="rId5"/>
    <p:sldId id="259" r:id="rId6"/>
    <p:sldId id="261" r:id="rId7"/>
    <p:sldId id="262" r:id="rId8"/>
    <p:sldId id="263" r:id="rId9"/>
    <p:sldId id="264" r:id="rId10"/>
    <p:sldId id="265" r:id="rId11"/>
    <p:sldId id="266" r:id="rId12"/>
    <p:sldId id="267" r:id="rId13"/>
    <p:sldId id="271" r:id="rId14"/>
    <p:sldId id="268" r:id="rId15"/>
    <p:sldId id="269" r:id="rId16"/>
    <p:sldId id="274" r:id="rId17"/>
    <p:sldId id="275" r:id="rId18"/>
    <p:sldId id="276" r:id="rId19"/>
    <p:sldId id="277"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2" d="100"/>
          <a:sy n="62" d="100"/>
        </p:scale>
        <p:origin x="828"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D6D0F88-6EC0-4736-8F5A-2CF8E65289C3}" type="doc">
      <dgm:prSet loTypeId="urn:microsoft.com/office/officeart/2005/8/layout/list1" loCatId="list" qsTypeId="urn:microsoft.com/office/officeart/2005/8/quickstyle/simple1" qsCatId="simple" csTypeId="urn:microsoft.com/office/officeart/2005/8/colors/accent1_2" csCatId="accent1"/>
      <dgm:spPr/>
      <dgm:t>
        <a:bodyPr/>
        <a:lstStyle/>
        <a:p>
          <a:endParaRPr lang="en-US"/>
        </a:p>
      </dgm:t>
    </dgm:pt>
    <dgm:pt modelId="{0D037B33-FC83-4C5F-B388-09CFD8FE4D80}">
      <dgm:prSet/>
      <dgm:spPr/>
      <dgm:t>
        <a:bodyPr/>
        <a:lstStyle/>
        <a:p>
          <a:r>
            <a:rPr lang="en-US" b="1"/>
            <a:t>Sigmoid Function</a:t>
          </a:r>
          <a:endParaRPr lang="en-US"/>
        </a:p>
      </dgm:t>
    </dgm:pt>
    <dgm:pt modelId="{63F035B3-592C-4B7B-9DA0-93E7412F2347}" type="parTrans" cxnId="{DB73CAA7-4D12-4526-A2E3-D35130E3C928}">
      <dgm:prSet/>
      <dgm:spPr/>
      <dgm:t>
        <a:bodyPr/>
        <a:lstStyle/>
        <a:p>
          <a:endParaRPr lang="en-US"/>
        </a:p>
      </dgm:t>
    </dgm:pt>
    <dgm:pt modelId="{11C2AFE7-EA2C-4571-8128-BFCC7124F121}" type="sibTrans" cxnId="{DB73CAA7-4D12-4526-A2E3-D35130E3C928}">
      <dgm:prSet/>
      <dgm:spPr/>
      <dgm:t>
        <a:bodyPr/>
        <a:lstStyle/>
        <a:p>
          <a:endParaRPr lang="en-US"/>
        </a:p>
      </dgm:t>
    </dgm:pt>
    <dgm:pt modelId="{891C2092-4B91-4210-82A2-21E83BF3E235}">
      <dgm:prSet/>
      <dgm:spPr/>
      <dgm:t>
        <a:bodyPr/>
        <a:lstStyle/>
        <a:p>
          <a:r>
            <a:rPr lang="en-US" b="1"/>
            <a:t>Tanh Activation Function </a:t>
          </a:r>
          <a:endParaRPr lang="en-US"/>
        </a:p>
      </dgm:t>
    </dgm:pt>
    <dgm:pt modelId="{92739BCF-A9B0-4FF1-9E73-65CFE373524A}" type="parTrans" cxnId="{C6F9786E-0DFA-404D-BDD3-EC36FAF98D3C}">
      <dgm:prSet/>
      <dgm:spPr/>
      <dgm:t>
        <a:bodyPr/>
        <a:lstStyle/>
        <a:p>
          <a:endParaRPr lang="en-US"/>
        </a:p>
      </dgm:t>
    </dgm:pt>
    <dgm:pt modelId="{8E9EAFA9-149C-408D-A618-BD248BB94939}" type="sibTrans" cxnId="{C6F9786E-0DFA-404D-BDD3-EC36FAF98D3C}">
      <dgm:prSet/>
      <dgm:spPr/>
      <dgm:t>
        <a:bodyPr/>
        <a:lstStyle/>
        <a:p>
          <a:endParaRPr lang="en-US"/>
        </a:p>
      </dgm:t>
    </dgm:pt>
    <dgm:pt modelId="{6F36E746-0AC0-4E65-8889-B2456F82AB52}">
      <dgm:prSet/>
      <dgm:spPr/>
      <dgm:t>
        <a:bodyPr/>
        <a:lstStyle/>
        <a:p>
          <a:r>
            <a:rPr lang="en-US" b="1"/>
            <a:t>ReLU</a:t>
          </a:r>
          <a:r>
            <a:rPr lang="en-US"/>
            <a:t> (Rectified Linear Unit) </a:t>
          </a:r>
          <a:r>
            <a:rPr lang="en-US" b="1"/>
            <a:t>Function </a:t>
          </a:r>
          <a:endParaRPr lang="en-US"/>
        </a:p>
      </dgm:t>
    </dgm:pt>
    <dgm:pt modelId="{74A88CBB-A62F-4E12-AA84-22D994B25DEC}" type="parTrans" cxnId="{79AC7E1F-1D16-4F51-BC59-8A8116356A39}">
      <dgm:prSet/>
      <dgm:spPr/>
      <dgm:t>
        <a:bodyPr/>
        <a:lstStyle/>
        <a:p>
          <a:endParaRPr lang="en-US"/>
        </a:p>
      </dgm:t>
    </dgm:pt>
    <dgm:pt modelId="{38B7F575-1727-44C1-88C6-E4AF645FB249}" type="sibTrans" cxnId="{79AC7E1F-1D16-4F51-BC59-8A8116356A39}">
      <dgm:prSet/>
      <dgm:spPr/>
      <dgm:t>
        <a:bodyPr/>
        <a:lstStyle/>
        <a:p>
          <a:endParaRPr lang="en-US"/>
        </a:p>
      </dgm:t>
    </dgm:pt>
    <dgm:pt modelId="{7D5128D8-21AB-42F8-B608-CA544576B924}">
      <dgm:prSet/>
      <dgm:spPr/>
      <dgm:t>
        <a:bodyPr/>
        <a:lstStyle/>
        <a:p>
          <a:r>
            <a:rPr lang="en-US" b="1"/>
            <a:t>Leaky ReLU</a:t>
          </a:r>
          <a:endParaRPr lang="en-US"/>
        </a:p>
      </dgm:t>
    </dgm:pt>
    <dgm:pt modelId="{00677694-0DF1-44E3-9E57-A84C56B66A41}" type="parTrans" cxnId="{14C3C636-F324-435D-BB65-05959FAE7E39}">
      <dgm:prSet/>
      <dgm:spPr/>
      <dgm:t>
        <a:bodyPr/>
        <a:lstStyle/>
        <a:p>
          <a:endParaRPr lang="en-US"/>
        </a:p>
      </dgm:t>
    </dgm:pt>
    <dgm:pt modelId="{CFCB2B54-27FB-491A-90D7-C3577BD75C0B}" type="sibTrans" cxnId="{14C3C636-F324-435D-BB65-05959FAE7E39}">
      <dgm:prSet/>
      <dgm:spPr/>
      <dgm:t>
        <a:bodyPr/>
        <a:lstStyle/>
        <a:p>
          <a:endParaRPr lang="en-US"/>
        </a:p>
      </dgm:t>
    </dgm:pt>
    <dgm:pt modelId="{381BFC6E-2934-44C6-972C-51E5AF86070D}">
      <dgm:prSet/>
      <dgm:spPr/>
      <dgm:t>
        <a:bodyPr/>
        <a:lstStyle/>
        <a:p>
          <a:r>
            <a:rPr lang="en-US" b="1"/>
            <a:t>Softmax Function</a:t>
          </a:r>
          <a:endParaRPr lang="en-US"/>
        </a:p>
      </dgm:t>
    </dgm:pt>
    <dgm:pt modelId="{3EFAE0E4-28F3-4D15-9876-6A0C8F4EAE88}" type="parTrans" cxnId="{403EB4CA-6D32-4F0B-A476-27DCFED7CB60}">
      <dgm:prSet/>
      <dgm:spPr/>
      <dgm:t>
        <a:bodyPr/>
        <a:lstStyle/>
        <a:p>
          <a:endParaRPr lang="en-US"/>
        </a:p>
      </dgm:t>
    </dgm:pt>
    <dgm:pt modelId="{759D71F6-9087-4525-BF39-16BB591911B4}" type="sibTrans" cxnId="{403EB4CA-6D32-4F0B-A476-27DCFED7CB60}">
      <dgm:prSet/>
      <dgm:spPr/>
      <dgm:t>
        <a:bodyPr/>
        <a:lstStyle/>
        <a:p>
          <a:endParaRPr lang="en-US"/>
        </a:p>
      </dgm:t>
    </dgm:pt>
    <dgm:pt modelId="{BBA52302-62D2-4FF5-99D4-CCE4E40E54C0}">
      <dgm:prSet/>
      <dgm:spPr/>
      <dgm:t>
        <a:bodyPr/>
        <a:lstStyle/>
        <a:p>
          <a:r>
            <a:rPr lang="en-US" b="1"/>
            <a:t>SoftPlus Function</a:t>
          </a:r>
          <a:endParaRPr lang="en-US"/>
        </a:p>
      </dgm:t>
    </dgm:pt>
    <dgm:pt modelId="{DEA02FD0-BCD3-4313-AE5C-6C75971BC3A7}" type="parTrans" cxnId="{A7D9EC4A-5A3F-4B6E-8058-D1A4D43DD26A}">
      <dgm:prSet/>
      <dgm:spPr/>
      <dgm:t>
        <a:bodyPr/>
        <a:lstStyle/>
        <a:p>
          <a:endParaRPr lang="en-US"/>
        </a:p>
      </dgm:t>
    </dgm:pt>
    <dgm:pt modelId="{4590A25B-A838-4739-BAA9-747AF597371E}" type="sibTrans" cxnId="{A7D9EC4A-5A3F-4B6E-8058-D1A4D43DD26A}">
      <dgm:prSet/>
      <dgm:spPr/>
      <dgm:t>
        <a:bodyPr/>
        <a:lstStyle/>
        <a:p>
          <a:endParaRPr lang="en-US"/>
        </a:p>
      </dgm:t>
    </dgm:pt>
    <dgm:pt modelId="{BB339374-EA64-43A3-BF63-3658C41D4C80}" type="pres">
      <dgm:prSet presAssocID="{AD6D0F88-6EC0-4736-8F5A-2CF8E65289C3}" presName="linear" presStyleCnt="0">
        <dgm:presLayoutVars>
          <dgm:dir/>
          <dgm:animLvl val="lvl"/>
          <dgm:resizeHandles val="exact"/>
        </dgm:presLayoutVars>
      </dgm:prSet>
      <dgm:spPr/>
    </dgm:pt>
    <dgm:pt modelId="{AFF3156C-316A-404A-9CB9-89B9387407F2}" type="pres">
      <dgm:prSet presAssocID="{0D037B33-FC83-4C5F-B388-09CFD8FE4D80}" presName="parentLin" presStyleCnt="0"/>
      <dgm:spPr/>
    </dgm:pt>
    <dgm:pt modelId="{34418591-1BE2-4144-9DC5-5A7F7CC715A3}" type="pres">
      <dgm:prSet presAssocID="{0D037B33-FC83-4C5F-B388-09CFD8FE4D80}" presName="parentLeftMargin" presStyleLbl="node1" presStyleIdx="0" presStyleCnt="6"/>
      <dgm:spPr/>
    </dgm:pt>
    <dgm:pt modelId="{28AD1945-F9F4-49B2-9B1A-85A1A6ED22A8}" type="pres">
      <dgm:prSet presAssocID="{0D037B33-FC83-4C5F-B388-09CFD8FE4D80}" presName="parentText" presStyleLbl="node1" presStyleIdx="0" presStyleCnt="6">
        <dgm:presLayoutVars>
          <dgm:chMax val="0"/>
          <dgm:bulletEnabled val="1"/>
        </dgm:presLayoutVars>
      </dgm:prSet>
      <dgm:spPr/>
    </dgm:pt>
    <dgm:pt modelId="{7607DE58-9498-4035-9E05-A3A285A41653}" type="pres">
      <dgm:prSet presAssocID="{0D037B33-FC83-4C5F-B388-09CFD8FE4D80}" presName="negativeSpace" presStyleCnt="0"/>
      <dgm:spPr/>
    </dgm:pt>
    <dgm:pt modelId="{6067D634-CDA7-4F86-A283-D792FAC658A4}" type="pres">
      <dgm:prSet presAssocID="{0D037B33-FC83-4C5F-B388-09CFD8FE4D80}" presName="childText" presStyleLbl="conFgAcc1" presStyleIdx="0" presStyleCnt="6">
        <dgm:presLayoutVars>
          <dgm:bulletEnabled val="1"/>
        </dgm:presLayoutVars>
      </dgm:prSet>
      <dgm:spPr/>
    </dgm:pt>
    <dgm:pt modelId="{A6A5E23C-D2D2-47DF-A23A-E0957E3444A8}" type="pres">
      <dgm:prSet presAssocID="{11C2AFE7-EA2C-4571-8128-BFCC7124F121}" presName="spaceBetweenRectangles" presStyleCnt="0"/>
      <dgm:spPr/>
    </dgm:pt>
    <dgm:pt modelId="{13CB5D39-C249-4F02-A662-6C71DB5321F0}" type="pres">
      <dgm:prSet presAssocID="{891C2092-4B91-4210-82A2-21E83BF3E235}" presName="parentLin" presStyleCnt="0"/>
      <dgm:spPr/>
    </dgm:pt>
    <dgm:pt modelId="{5C700EBB-2812-4404-87EC-2A50CE942CCC}" type="pres">
      <dgm:prSet presAssocID="{891C2092-4B91-4210-82A2-21E83BF3E235}" presName="parentLeftMargin" presStyleLbl="node1" presStyleIdx="0" presStyleCnt="6"/>
      <dgm:spPr/>
    </dgm:pt>
    <dgm:pt modelId="{C58EAC15-635A-47BA-A584-007E68DEA1EA}" type="pres">
      <dgm:prSet presAssocID="{891C2092-4B91-4210-82A2-21E83BF3E235}" presName="parentText" presStyleLbl="node1" presStyleIdx="1" presStyleCnt="6">
        <dgm:presLayoutVars>
          <dgm:chMax val="0"/>
          <dgm:bulletEnabled val="1"/>
        </dgm:presLayoutVars>
      </dgm:prSet>
      <dgm:spPr/>
    </dgm:pt>
    <dgm:pt modelId="{EFDE4638-9067-49CC-AC49-AB7EA2AD962C}" type="pres">
      <dgm:prSet presAssocID="{891C2092-4B91-4210-82A2-21E83BF3E235}" presName="negativeSpace" presStyleCnt="0"/>
      <dgm:spPr/>
    </dgm:pt>
    <dgm:pt modelId="{8995EFF8-55EA-4362-8385-A179072C3B9A}" type="pres">
      <dgm:prSet presAssocID="{891C2092-4B91-4210-82A2-21E83BF3E235}" presName="childText" presStyleLbl="conFgAcc1" presStyleIdx="1" presStyleCnt="6">
        <dgm:presLayoutVars>
          <dgm:bulletEnabled val="1"/>
        </dgm:presLayoutVars>
      </dgm:prSet>
      <dgm:spPr/>
    </dgm:pt>
    <dgm:pt modelId="{804FFF64-209D-4E1F-93C5-824483EF0FDB}" type="pres">
      <dgm:prSet presAssocID="{8E9EAFA9-149C-408D-A618-BD248BB94939}" presName="spaceBetweenRectangles" presStyleCnt="0"/>
      <dgm:spPr/>
    </dgm:pt>
    <dgm:pt modelId="{A774AD3B-2660-43FB-8521-97F34A6D911B}" type="pres">
      <dgm:prSet presAssocID="{6F36E746-0AC0-4E65-8889-B2456F82AB52}" presName="parentLin" presStyleCnt="0"/>
      <dgm:spPr/>
    </dgm:pt>
    <dgm:pt modelId="{A8D14579-E0E8-4385-889F-68A51DA50FEA}" type="pres">
      <dgm:prSet presAssocID="{6F36E746-0AC0-4E65-8889-B2456F82AB52}" presName="parentLeftMargin" presStyleLbl="node1" presStyleIdx="1" presStyleCnt="6"/>
      <dgm:spPr/>
    </dgm:pt>
    <dgm:pt modelId="{FB5AD4E2-05C1-462D-9044-775A0775D67E}" type="pres">
      <dgm:prSet presAssocID="{6F36E746-0AC0-4E65-8889-B2456F82AB52}" presName="parentText" presStyleLbl="node1" presStyleIdx="2" presStyleCnt="6">
        <dgm:presLayoutVars>
          <dgm:chMax val="0"/>
          <dgm:bulletEnabled val="1"/>
        </dgm:presLayoutVars>
      </dgm:prSet>
      <dgm:spPr/>
    </dgm:pt>
    <dgm:pt modelId="{89848DEA-7472-45F5-A5FD-32C44FA2A863}" type="pres">
      <dgm:prSet presAssocID="{6F36E746-0AC0-4E65-8889-B2456F82AB52}" presName="negativeSpace" presStyleCnt="0"/>
      <dgm:spPr/>
    </dgm:pt>
    <dgm:pt modelId="{CF592AF3-2131-4E41-ABAF-AFB12789EBDB}" type="pres">
      <dgm:prSet presAssocID="{6F36E746-0AC0-4E65-8889-B2456F82AB52}" presName="childText" presStyleLbl="conFgAcc1" presStyleIdx="2" presStyleCnt="6">
        <dgm:presLayoutVars>
          <dgm:bulletEnabled val="1"/>
        </dgm:presLayoutVars>
      </dgm:prSet>
      <dgm:spPr/>
    </dgm:pt>
    <dgm:pt modelId="{842CC49A-9869-4582-BADE-39889785F5CB}" type="pres">
      <dgm:prSet presAssocID="{38B7F575-1727-44C1-88C6-E4AF645FB249}" presName="spaceBetweenRectangles" presStyleCnt="0"/>
      <dgm:spPr/>
    </dgm:pt>
    <dgm:pt modelId="{0D2D92BA-FED2-4E5F-B85C-3F144D8522CD}" type="pres">
      <dgm:prSet presAssocID="{7D5128D8-21AB-42F8-B608-CA544576B924}" presName="parentLin" presStyleCnt="0"/>
      <dgm:spPr/>
    </dgm:pt>
    <dgm:pt modelId="{3C2A075F-7CDD-4AD3-99D6-270EA2E974D2}" type="pres">
      <dgm:prSet presAssocID="{7D5128D8-21AB-42F8-B608-CA544576B924}" presName="parentLeftMargin" presStyleLbl="node1" presStyleIdx="2" presStyleCnt="6"/>
      <dgm:spPr/>
    </dgm:pt>
    <dgm:pt modelId="{60318E40-8218-4A5D-8436-995911768C8D}" type="pres">
      <dgm:prSet presAssocID="{7D5128D8-21AB-42F8-B608-CA544576B924}" presName="parentText" presStyleLbl="node1" presStyleIdx="3" presStyleCnt="6">
        <dgm:presLayoutVars>
          <dgm:chMax val="0"/>
          <dgm:bulletEnabled val="1"/>
        </dgm:presLayoutVars>
      </dgm:prSet>
      <dgm:spPr/>
    </dgm:pt>
    <dgm:pt modelId="{8933E55E-918E-40C3-859B-35FD046DA7C1}" type="pres">
      <dgm:prSet presAssocID="{7D5128D8-21AB-42F8-B608-CA544576B924}" presName="negativeSpace" presStyleCnt="0"/>
      <dgm:spPr/>
    </dgm:pt>
    <dgm:pt modelId="{2C841202-9059-4BD0-98AA-8FCBCD5CC940}" type="pres">
      <dgm:prSet presAssocID="{7D5128D8-21AB-42F8-B608-CA544576B924}" presName="childText" presStyleLbl="conFgAcc1" presStyleIdx="3" presStyleCnt="6">
        <dgm:presLayoutVars>
          <dgm:bulletEnabled val="1"/>
        </dgm:presLayoutVars>
      </dgm:prSet>
      <dgm:spPr/>
    </dgm:pt>
    <dgm:pt modelId="{1E587DFC-8BBA-4275-B396-C3118230E92C}" type="pres">
      <dgm:prSet presAssocID="{CFCB2B54-27FB-491A-90D7-C3577BD75C0B}" presName="spaceBetweenRectangles" presStyleCnt="0"/>
      <dgm:spPr/>
    </dgm:pt>
    <dgm:pt modelId="{700FD9F3-00EF-4A50-B4C0-98207BC05B7C}" type="pres">
      <dgm:prSet presAssocID="{381BFC6E-2934-44C6-972C-51E5AF86070D}" presName="parentLin" presStyleCnt="0"/>
      <dgm:spPr/>
    </dgm:pt>
    <dgm:pt modelId="{A5877EB4-C2EB-4820-84FA-A518D9661D24}" type="pres">
      <dgm:prSet presAssocID="{381BFC6E-2934-44C6-972C-51E5AF86070D}" presName="parentLeftMargin" presStyleLbl="node1" presStyleIdx="3" presStyleCnt="6"/>
      <dgm:spPr/>
    </dgm:pt>
    <dgm:pt modelId="{5A49309C-1CDF-4817-B35D-121C60E842F4}" type="pres">
      <dgm:prSet presAssocID="{381BFC6E-2934-44C6-972C-51E5AF86070D}" presName="parentText" presStyleLbl="node1" presStyleIdx="4" presStyleCnt="6">
        <dgm:presLayoutVars>
          <dgm:chMax val="0"/>
          <dgm:bulletEnabled val="1"/>
        </dgm:presLayoutVars>
      </dgm:prSet>
      <dgm:spPr/>
    </dgm:pt>
    <dgm:pt modelId="{C912E883-D9B8-4FF4-BAEA-07DDC9379046}" type="pres">
      <dgm:prSet presAssocID="{381BFC6E-2934-44C6-972C-51E5AF86070D}" presName="negativeSpace" presStyleCnt="0"/>
      <dgm:spPr/>
    </dgm:pt>
    <dgm:pt modelId="{3D9C677B-B405-42B0-9142-843C403FF800}" type="pres">
      <dgm:prSet presAssocID="{381BFC6E-2934-44C6-972C-51E5AF86070D}" presName="childText" presStyleLbl="conFgAcc1" presStyleIdx="4" presStyleCnt="6">
        <dgm:presLayoutVars>
          <dgm:bulletEnabled val="1"/>
        </dgm:presLayoutVars>
      </dgm:prSet>
      <dgm:spPr/>
    </dgm:pt>
    <dgm:pt modelId="{B27B751B-60E7-4B64-8B2E-7B19353C7866}" type="pres">
      <dgm:prSet presAssocID="{759D71F6-9087-4525-BF39-16BB591911B4}" presName="spaceBetweenRectangles" presStyleCnt="0"/>
      <dgm:spPr/>
    </dgm:pt>
    <dgm:pt modelId="{B962CA8F-E59B-4FA4-89DE-5DBDCFDEF554}" type="pres">
      <dgm:prSet presAssocID="{BBA52302-62D2-4FF5-99D4-CCE4E40E54C0}" presName="parentLin" presStyleCnt="0"/>
      <dgm:spPr/>
    </dgm:pt>
    <dgm:pt modelId="{549A1059-7BE4-4D6F-963F-D0CA95672C5F}" type="pres">
      <dgm:prSet presAssocID="{BBA52302-62D2-4FF5-99D4-CCE4E40E54C0}" presName="parentLeftMargin" presStyleLbl="node1" presStyleIdx="4" presStyleCnt="6"/>
      <dgm:spPr/>
    </dgm:pt>
    <dgm:pt modelId="{26B617A3-4657-48D5-9B37-7CB93C482CAC}" type="pres">
      <dgm:prSet presAssocID="{BBA52302-62D2-4FF5-99D4-CCE4E40E54C0}" presName="parentText" presStyleLbl="node1" presStyleIdx="5" presStyleCnt="6">
        <dgm:presLayoutVars>
          <dgm:chMax val="0"/>
          <dgm:bulletEnabled val="1"/>
        </dgm:presLayoutVars>
      </dgm:prSet>
      <dgm:spPr/>
    </dgm:pt>
    <dgm:pt modelId="{56B69A8C-DE6D-4E46-A23F-92356FB05562}" type="pres">
      <dgm:prSet presAssocID="{BBA52302-62D2-4FF5-99D4-CCE4E40E54C0}" presName="negativeSpace" presStyleCnt="0"/>
      <dgm:spPr/>
    </dgm:pt>
    <dgm:pt modelId="{83B23002-9067-4306-8FED-380728941F23}" type="pres">
      <dgm:prSet presAssocID="{BBA52302-62D2-4FF5-99D4-CCE4E40E54C0}" presName="childText" presStyleLbl="conFgAcc1" presStyleIdx="5" presStyleCnt="6">
        <dgm:presLayoutVars>
          <dgm:bulletEnabled val="1"/>
        </dgm:presLayoutVars>
      </dgm:prSet>
      <dgm:spPr/>
    </dgm:pt>
  </dgm:ptLst>
  <dgm:cxnLst>
    <dgm:cxn modelId="{F7E8971E-DCFC-4A96-9243-39931CB6CA23}" type="presOf" srcId="{AD6D0F88-6EC0-4736-8F5A-2CF8E65289C3}" destId="{BB339374-EA64-43A3-BF63-3658C41D4C80}" srcOrd="0" destOrd="0" presId="urn:microsoft.com/office/officeart/2005/8/layout/list1"/>
    <dgm:cxn modelId="{79AC7E1F-1D16-4F51-BC59-8A8116356A39}" srcId="{AD6D0F88-6EC0-4736-8F5A-2CF8E65289C3}" destId="{6F36E746-0AC0-4E65-8889-B2456F82AB52}" srcOrd="2" destOrd="0" parTransId="{74A88CBB-A62F-4E12-AA84-22D994B25DEC}" sibTransId="{38B7F575-1727-44C1-88C6-E4AF645FB249}"/>
    <dgm:cxn modelId="{2C90C32F-D422-4774-9CA4-E78B7EC0F037}" type="presOf" srcId="{7D5128D8-21AB-42F8-B608-CA544576B924}" destId="{60318E40-8218-4A5D-8436-995911768C8D}" srcOrd="1" destOrd="0" presId="urn:microsoft.com/office/officeart/2005/8/layout/list1"/>
    <dgm:cxn modelId="{F1321130-80EB-4B74-AB5F-3703DF2500D3}" type="presOf" srcId="{7D5128D8-21AB-42F8-B608-CA544576B924}" destId="{3C2A075F-7CDD-4AD3-99D6-270EA2E974D2}" srcOrd="0" destOrd="0" presId="urn:microsoft.com/office/officeart/2005/8/layout/list1"/>
    <dgm:cxn modelId="{14C3C636-F324-435D-BB65-05959FAE7E39}" srcId="{AD6D0F88-6EC0-4736-8F5A-2CF8E65289C3}" destId="{7D5128D8-21AB-42F8-B608-CA544576B924}" srcOrd="3" destOrd="0" parTransId="{00677694-0DF1-44E3-9E57-A84C56B66A41}" sibTransId="{CFCB2B54-27FB-491A-90D7-C3577BD75C0B}"/>
    <dgm:cxn modelId="{A7D9EC4A-5A3F-4B6E-8058-D1A4D43DD26A}" srcId="{AD6D0F88-6EC0-4736-8F5A-2CF8E65289C3}" destId="{BBA52302-62D2-4FF5-99D4-CCE4E40E54C0}" srcOrd="5" destOrd="0" parTransId="{DEA02FD0-BCD3-4313-AE5C-6C75971BC3A7}" sibTransId="{4590A25B-A838-4739-BAA9-747AF597371E}"/>
    <dgm:cxn modelId="{C6F9786E-0DFA-404D-BDD3-EC36FAF98D3C}" srcId="{AD6D0F88-6EC0-4736-8F5A-2CF8E65289C3}" destId="{891C2092-4B91-4210-82A2-21E83BF3E235}" srcOrd="1" destOrd="0" parTransId="{92739BCF-A9B0-4FF1-9E73-65CFE373524A}" sibTransId="{8E9EAFA9-149C-408D-A618-BD248BB94939}"/>
    <dgm:cxn modelId="{19788B59-1642-4E88-BFB7-A027F0505C16}" type="presOf" srcId="{381BFC6E-2934-44C6-972C-51E5AF86070D}" destId="{A5877EB4-C2EB-4820-84FA-A518D9661D24}" srcOrd="0" destOrd="0" presId="urn:microsoft.com/office/officeart/2005/8/layout/list1"/>
    <dgm:cxn modelId="{22839A59-E41A-4DCA-AB46-EA6243E45ACC}" type="presOf" srcId="{BBA52302-62D2-4FF5-99D4-CCE4E40E54C0}" destId="{26B617A3-4657-48D5-9B37-7CB93C482CAC}" srcOrd="1" destOrd="0" presId="urn:microsoft.com/office/officeart/2005/8/layout/list1"/>
    <dgm:cxn modelId="{43175385-A522-4648-AA98-76AE9BB756BD}" type="presOf" srcId="{6F36E746-0AC0-4E65-8889-B2456F82AB52}" destId="{A8D14579-E0E8-4385-889F-68A51DA50FEA}" srcOrd="0" destOrd="0" presId="urn:microsoft.com/office/officeart/2005/8/layout/list1"/>
    <dgm:cxn modelId="{DE6A0A88-06F0-4250-9141-81DE5E5CEA3B}" type="presOf" srcId="{891C2092-4B91-4210-82A2-21E83BF3E235}" destId="{5C700EBB-2812-4404-87EC-2A50CE942CCC}" srcOrd="0" destOrd="0" presId="urn:microsoft.com/office/officeart/2005/8/layout/list1"/>
    <dgm:cxn modelId="{54722A88-0799-47E7-AD32-68EEAB5114F9}" type="presOf" srcId="{6F36E746-0AC0-4E65-8889-B2456F82AB52}" destId="{FB5AD4E2-05C1-462D-9044-775A0775D67E}" srcOrd="1" destOrd="0" presId="urn:microsoft.com/office/officeart/2005/8/layout/list1"/>
    <dgm:cxn modelId="{D608D09E-E72F-492C-AE43-D7502DE08DFF}" type="presOf" srcId="{381BFC6E-2934-44C6-972C-51E5AF86070D}" destId="{5A49309C-1CDF-4817-B35D-121C60E842F4}" srcOrd="1" destOrd="0" presId="urn:microsoft.com/office/officeart/2005/8/layout/list1"/>
    <dgm:cxn modelId="{DB73CAA7-4D12-4526-A2E3-D35130E3C928}" srcId="{AD6D0F88-6EC0-4736-8F5A-2CF8E65289C3}" destId="{0D037B33-FC83-4C5F-B388-09CFD8FE4D80}" srcOrd="0" destOrd="0" parTransId="{63F035B3-592C-4B7B-9DA0-93E7412F2347}" sibTransId="{11C2AFE7-EA2C-4571-8128-BFCC7124F121}"/>
    <dgm:cxn modelId="{403EB4CA-6D32-4F0B-A476-27DCFED7CB60}" srcId="{AD6D0F88-6EC0-4736-8F5A-2CF8E65289C3}" destId="{381BFC6E-2934-44C6-972C-51E5AF86070D}" srcOrd="4" destOrd="0" parTransId="{3EFAE0E4-28F3-4D15-9876-6A0C8F4EAE88}" sibTransId="{759D71F6-9087-4525-BF39-16BB591911B4}"/>
    <dgm:cxn modelId="{E2D679D6-5CB5-405B-9744-EB0525FCE695}" type="presOf" srcId="{BBA52302-62D2-4FF5-99D4-CCE4E40E54C0}" destId="{549A1059-7BE4-4D6F-963F-D0CA95672C5F}" srcOrd="0" destOrd="0" presId="urn:microsoft.com/office/officeart/2005/8/layout/list1"/>
    <dgm:cxn modelId="{67A23AD7-318A-4FCC-992E-C84321B36E7E}" type="presOf" srcId="{891C2092-4B91-4210-82A2-21E83BF3E235}" destId="{C58EAC15-635A-47BA-A584-007E68DEA1EA}" srcOrd="1" destOrd="0" presId="urn:microsoft.com/office/officeart/2005/8/layout/list1"/>
    <dgm:cxn modelId="{096F82E6-D3B5-4280-ADF8-BF437E2BDB54}" type="presOf" srcId="{0D037B33-FC83-4C5F-B388-09CFD8FE4D80}" destId="{34418591-1BE2-4144-9DC5-5A7F7CC715A3}" srcOrd="0" destOrd="0" presId="urn:microsoft.com/office/officeart/2005/8/layout/list1"/>
    <dgm:cxn modelId="{216E42F3-31CF-40C8-BD1D-66A238A733B8}" type="presOf" srcId="{0D037B33-FC83-4C5F-B388-09CFD8FE4D80}" destId="{28AD1945-F9F4-49B2-9B1A-85A1A6ED22A8}" srcOrd="1" destOrd="0" presId="urn:microsoft.com/office/officeart/2005/8/layout/list1"/>
    <dgm:cxn modelId="{369245D6-40C4-437F-9866-353DBC937497}" type="presParOf" srcId="{BB339374-EA64-43A3-BF63-3658C41D4C80}" destId="{AFF3156C-316A-404A-9CB9-89B9387407F2}" srcOrd="0" destOrd="0" presId="urn:microsoft.com/office/officeart/2005/8/layout/list1"/>
    <dgm:cxn modelId="{55B86D82-0875-4FF7-BA49-E0E7CA3A9421}" type="presParOf" srcId="{AFF3156C-316A-404A-9CB9-89B9387407F2}" destId="{34418591-1BE2-4144-9DC5-5A7F7CC715A3}" srcOrd="0" destOrd="0" presId="urn:microsoft.com/office/officeart/2005/8/layout/list1"/>
    <dgm:cxn modelId="{EAC74646-6D97-40F3-BF5E-303A381C78C4}" type="presParOf" srcId="{AFF3156C-316A-404A-9CB9-89B9387407F2}" destId="{28AD1945-F9F4-49B2-9B1A-85A1A6ED22A8}" srcOrd="1" destOrd="0" presId="urn:microsoft.com/office/officeart/2005/8/layout/list1"/>
    <dgm:cxn modelId="{955822D4-F1B0-422F-B2DF-8E228E2E9BDB}" type="presParOf" srcId="{BB339374-EA64-43A3-BF63-3658C41D4C80}" destId="{7607DE58-9498-4035-9E05-A3A285A41653}" srcOrd="1" destOrd="0" presId="urn:microsoft.com/office/officeart/2005/8/layout/list1"/>
    <dgm:cxn modelId="{F625FE88-1462-4A41-918C-ABF3744A95CF}" type="presParOf" srcId="{BB339374-EA64-43A3-BF63-3658C41D4C80}" destId="{6067D634-CDA7-4F86-A283-D792FAC658A4}" srcOrd="2" destOrd="0" presId="urn:microsoft.com/office/officeart/2005/8/layout/list1"/>
    <dgm:cxn modelId="{0E33E8B1-6871-48D3-ACBC-DB8568CD9E33}" type="presParOf" srcId="{BB339374-EA64-43A3-BF63-3658C41D4C80}" destId="{A6A5E23C-D2D2-47DF-A23A-E0957E3444A8}" srcOrd="3" destOrd="0" presId="urn:microsoft.com/office/officeart/2005/8/layout/list1"/>
    <dgm:cxn modelId="{09F45E36-40E4-49C6-99C8-BE0A4432726C}" type="presParOf" srcId="{BB339374-EA64-43A3-BF63-3658C41D4C80}" destId="{13CB5D39-C249-4F02-A662-6C71DB5321F0}" srcOrd="4" destOrd="0" presId="urn:microsoft.com/office/officeart/2005/8/layout/list1"/>
    <dgm:cxn modelId="{F5CADE8D-A0CC-4D21-A261-059CA1E7D8E8}" type="presParOf" srcId="{13CB5D39-C249-4F02-A662-6C71DB5321F0}" destId="{5C700EBB-2812-4404-87EC-2A50CE942CCC}" srcOrd="0" destOrd="0" presId="urn:microsoft.com/office/officeart/2005/8/layout/list1"/>
    <dgm:cxn modelId="{BA756DE1-F483-4C42-942E-A9DED05E36B1}" type="presParOf" srcId="{13CB5D39-C249-4F02-A662-6C71DB5321F0}" destId="{C58EAC15-635A-47BA-A584-007E68DEA1EA}" srcOrd="1" destOrd="0" presId="urn:microsoft.com/office/officeart/2005/8/layout/list1"/>
    <dgm:cxn modelId="{9E99C28A-CFBE-4E62-A6BF-3B3871D66F12}" type="presParOf" srcId="{BB339374-EA64-43A3-BF63-3658C41D4C80}" destId="{EFDE4638-9067-49CC-AC49-AB7EA2AD962C}" srcOrd="5" destOrd="0" presId="urn:microsoft.com/office/officeart/2005/8/layout/list1"/>
    <dgm:cxn modelId="{C4B554F5-89E4-4DDD-B2A2-222999CACD24}" type="presParOf" srcId="{BB339374-EA64-43A3-BF63-3658C41D4C80}" destId="{8995EFF8-55EA-4362-8385-A179072C3B9A}" srcOrd="6" destOrd="0" presId="urn:microsoft.com/office/officeart/2005/8/layout/list1"/>
    <dgm:cxn modelId="{A45157D3-4AEE-45D0-8034-B534A62B6DB4}" type="presParOf" srcId="{BB339374-EA64-43A3-BF63-3658C41D4C80}" destId="{804FFF64-209D-4E1F-93C5-824483EF0FDB}" srcOrd="7" destOrd="0" presId="urn:microsoft.com/office/officeart/2005/8/layout/list1"/>
    <dgm:cxn modelId="{440F7422-3622-4AA7-86B7-9467602F244A}" type="presParOf" srcId="{BB339374-EA64-43A3-BF63-3658C41D4C80}" destId="{A774AD3B-2660-43FB-8521-97F34A6D911B}" srcOrd="8" destOrd="0" presId="urn:microsoft.com/office/officeart/2005/8/layout/list1"/>
    <dgm:cxn modelId="{4EF7816D-6996-4CD3-8D0A-51DFD9A0C336}" type="presParOf" srcId="{A774AD3B-2660-43FB-8521-97F34A6D911B}" destId="{A8D14579-E0E8-4385-889F-68A51DA50FEA}" srcOrd="0" destOrd="0" presId="urn:microsoft.com/office/officeart/2005/8/layout/list1"/>
    <dgm:cxn modelId="{49E532FD-CE5D-4324-AEFC-AE52CDF1F1B9}" type="presParOf" srcId="{A774AD3B-2660-43FB-8521-97F34A6D911B}" destId="{FB5AD4E2-05C1-462D-9044-775A0775D67E}" srcOrd="1" destOrd="0" presId="urn:microsoft.com/office/officeart/2005/8/layout/list1"/>
    <dgm:cxn modelId="{A571A22C-06FA-4502-B23B-C03E92A64FDF}" type="presParOf" srcId="{BB339374-EA64-43A3-BF63-3658C41D4C80}" destId="{89848DEA-7472-45F5-A5FD-32C44FA2A863}" srcOrd="9" destOrd="0" presId="urn:microsoft.com/office/officeart/2005/8/layout/list1"/>
    <dgm:cxn modelId="{19B98030-5D71-4939-BCCC-66664DF23A12}" type="presParOf" srcId="{BB339374-EA64-43A3-BF63-3658C41D4C80}" destId="{CF592AF3-2131-4E41-ABAF-AFB12789EBDB}" srcOrd="10" destOrd="0" presId="urn:microsoft.com/office/officeart/2005/8/layout/list1"/>
    <dgm:cxn modelId="{B42F82D6-914F-4E46-AD75-9E5540B63542}" type="presParOf" srcId="{BB339374-EA64-43A3-BF63-3658C41D4C80}" destId="{842CC49A-9869-4582-BADE-39889785F5CB}" srcOrd="11" destOrd="0" presId="urn:microsoft.com/office/officeart/2005/8/layout/list1"/>
    <dgm:cxn modelId="{9BFF2F70-30B7-4F79-B258-489CF729EFC2}" type="presParOf" srcId="{BB339374-EA64-43A3-BF63-3658C41D4C80}" destId="{0D2D92BA-FED2-4E5F-B85C-3F144D8522CD}" srcOrd="12" destOrd="0" presId="urn:microsoft.com/office/officeart/2005/8/layout/list1"/>
    <dgm:cxn modelId="{F1E61304-FB75-4090-BD93-2129E924851F}" type="presParOf" srcId="{0D2D92BA-FED2-4E5F-B85C-3F144D8522CD}" destId="{3C2A075F-7CDD-4AD3-99D6-270EA2E974D2}" srcOrd="0" destOrd="0" presId="urn:microsoft.com/office/officeart/2005/8/layout/list1"/>
    <dgm:cxn modelId="{639269BF-B4B2-4563-8DFC-3CE53EBCEF59}" type="presParOf" srcId="{0D2D92BA-FED2-4E5F-B85C-3F144D8522CD}" destId="{60318E40-8218-4A5D-8436-995911768C8D}" srcOrd="1" destOrd="0" presId="urn:microsoft.com/office/officeart/2005/8/layout/list1"/>
    <dgm:cxn modelId="{97DD5812-017A-4B54-8FEA-0B4AB1DB7E57}" type="presParOf" srcId="{BB339374-EA64-43A3-BF63-3658C41D4C80}" destId="{8933E55E-918E-40C3-859B-35FD046DA7C1}" srcOrd="13" destOrd="0" presId="urn:microsoft.com/office/officeart/2005/8/layout/list1"/>
    <dgm:cxn modelId="{31A74254-8A4D-4211-AF68-C933DFE9BE25}" type="presParOf" srcId="{BB339374-EA64-43A3-BF63-3658C41D4C80}" destId="{2C841202-9059-4BD0-98AA-8FCBCD5CC940}" srcOrd="14" destOrd="0" presId="urn:microsoft.com/office/officeart/2005/8/layout/list1"/>
    <dgm:cxn modelId="{F4D5C6F8-1C8C-48B0-883D-3DE4AB5E4D70}" type="presParOf" srcId="{BB339374-EA64-43A3-BF63-3658C41D4C80}" destId="{1E587DFC-8BBA-4275-B396-C3118230E92C}" srcOrd="15" destOrd="0" presId="urn:microsoft.com/office/officeart/2005/8/layout/list1"/>
    <dgm:cxn modelId="{11B4D28F-A8A5-4F06-82C5-621BD4065639}" type="presParOf" srcId="{BB339374-EA64-43A3-BF63-3658C41D4C80}" destId="{700FD9F3-00EF-4A50-B4C0-98207BC05B7C}" srcOrd="16" destOrd="0" presId="urn:microsoft.com/office/officeart/2005/8/layout/list1"/>
    <dgm:cxn modelId="{1C8D1B7F-C16D-476B-B40F-DC97EE7C07B0}" type="presParOf" srcId="{700FD9F3-00EF-4A50-B4C0-98207BC05B7C}" destId="{A5877EB4-C2EB-4820-84FA-A518D9661D24}" srcOrd="0" destOrd="0" presId="urn:microsoft.com/office/officeart/2005/8/layout/list1"/>
    <dgm:cxn modelId="{4316B127-1B93-4295-B8F0-50310C8B0941}" type="presParOf" srcId="{700FD9F3-00EF-4A50-B4C0-98207BC05B7C}" destId="{5A49309C-1CDF-4817-B35D-121C60E842F4}" srcOrd="1" destOrd="0" presId="urn:microsoft.com/office/officeart/2005/8/layout/list1"/>
    <dgm:cxn modelId="{60545610-70CD-476E-9AF5-9C8FB5291F04}" type="presParOf" srcId="{BB339374-EA64-43A3-BF63-3658C41D4C80}" destId="{C912E883-D9B8-4FF4-BAEA-07DDC9379046}" srcOrd="17" destOrd="0" presId="urn:microsoft.com/office/officeart/2005/8/layout/list1"/>
    <dgm:cxn modelId="{3BE7A501-9939-49E5-B568-0EDD704E30C0}" type="presParOf" srcId="{BB339374-EA64-43A3-BF63-3658C41D4C80}" destId="{3D9C677B-B405-42B0-9142-843C403FF800}" srcOrd="18" destOrd="0" presId="urn:microsoft.com/office/officeart/2005/8/layout/list1"/>
    <dgm:cxn modelId="{FFA01869-E2BC-479F-BC0E-97B458EFE7C0}" type="presParOf" srcId="{BB339374-EA64-43A3-BF63-3658C41D4C80}" destId="{B27B751B-60E7-4B64-8B2E-7B19353C7866}" srcOrd="19" destOrd="0" presId="urn:microsoft.com/office/officeart/2005/8/layout/list1"/>
    <dgm:cxn modelId="{740495DA-E45E-455D-AAE5-710467D6B820}" type="presParOf" srcId="{BB339374-EA64-43A3-BF63-3658C41D4C80}" destId="{B962CA8F-E59B-4FA4-89DE-5DBDCFDEF554}" srcOrd="20" destOrd="0" presId="urn:microsoft.com/office/officeart/2005/8/layout/list1"/>
    <dgm:cxn modelId="{25491EC5-49EE-4B67-9FB3-DBBBD1CE8F59}" type="presParOf" srcId="{B962CA8F-E59B-4FA4-89DE-5DBDCFDEF554}" destId="{549A1059-7BE4-4D6F-963F-D0CA95672C5F}" srcOrd="0" destOrd="0" presId="urn:microsoft.com/office/officeart/2005/8/layout/list1"/>
    <dgm:cxn modelId="{7F90C8F6-1FF9-4491-B553-1BB2C88470A3}" type="presParOf" srcId="{B962CA8F-E59B-4FA4-89DE-5DBDCFDEF554}" destId="{26B617A3-4657-48D5-9B37-7CB93C482CAC}" srcOrd="1" destOrd="0" presId="urn:microsoft.com/office/officeart/2005/8/layout/list1"/>
    <dgm:cxn modelId="{B6068067-0CFB-4A73-8479-5215FF407057}" type="presParOf" srcId="{BB339374-EA64-43A3-BF63-3658C41D4C80}" destId="{56B69A8C-DE6D-4E46-A23F-92356FB05562}" srcOrd="21" destOrd="0" presId="urn:microsoft.com/office/officeart/2005/8/layout/list1"/>
    <dgm:cxn modelId="{C7E4FABD-D3B5-4B95-BD82-6781CED7DC0D}" type="presParOf" srcId="{BB339374-EA64-43A3-BF63-3658C41D4C80}" destId="{83B23002-9067-4306-8FED-380728941F23}" srcOrd="2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5E2A6CB-F1BD-4CE6-AFDF-B3C2D9129687}"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73FCA770-83FE-4C73-B839-B4B78A99C57D}">
      <dgm:prSet/>
      <dgm:spPr/>
      <dgm:t>
        <a:bodyPr/>
        <a:lstStyle/>
        <a:p>
          <a:r>
            <a:rPr lang="en-US" b="1" i="0" dirty="0"/>
            <a:t>Convergence Speed:</a:t>
          </a:r>
          <a:r>
            <a:rPr lang="en-US" b="0" i="0" dirty="0"/>
            <a:t> Functions like </a:t>
          </a:r>
          <a:r>
            <a:rPr lang="en-US" b="0" i="0" dirty="0" err="1"/>
            <a:t>ReLU</a:t>
          </a:r>
          <a:r>
            <a:rPr lang="en-US" b="0" i="0" dirty="0"/>
            <a:t> allow faster training by avoiding the vanishing gradient problem while Sigmoid and Tanh can slow down convergence in deep networks.</a:t>
          </a:r>
          <a:endParaRPr lang="en-US" dirty="0"/>
        </a:p>
      </dgm:t>
    </dgm:pt>
    <dgm:pt modelId="{4B333A92-5091-48F5-BA40-D7D6ECBAC3D5}" type="parTrans" cxnId="{515E223E-229F-42BC-A52B-7D85B4DEB0C8}">
      <dgm:prSet/>
      <dgm:spPr/>
      <dgm:t>
        <a:bodyPr/>
        <a:lstStyle/>
        <a:p>
          <a:endParaRPr lang="en-US"/>
        </a:p>
      </dgm:t>
    </dgm:pt>
    <dgm:pt modelId="{A8CC6768-7906-42F7-82E6-07E886C8EFFB}" type="sibTrans" cxnId="{515E223E-229F-42BC-A52B-7D85B4DEB0C8}">
      <dgm:prSet/>
      <dgm:spPr/>
      <dgm:t>
        <a:bodyPr/>
        <a:lstStyle/>
        <a:p>
          <a:endParaRPr lang="en-US"/>
        </a:p>
      </dgm:t>
    </dgm:pt>
    <dgm:pt modelId="{DDD476AF-66AB-441E-B486-7077D1AE5C77}">
      <dgm:prSet/>
      <dgm:spPr/>
      <dgm:t>
        <a:bodyPr/>
        <a:lstStyle/>
        <a:p>
          <a:r>
            <a:rPr lang="en-US" b="1" i="0"/>
            <a:t>Gradient Flow:</a:t>
          </a:r>
          <a:r>
            <a:rPr lang="en-US" b="0" i="0"/>
            <a:t> Activation functions like ReLU ensure better gradient flow, helping deeper layers learn effectively. In contrast Sigmoid can lead to small gradients, hindering learning in deep layers.</a:t>
          </a:r>
          <a:endParaRPr lang="en-US"/>
        </a:p>
      </dgm:t>
    </dgm:pt>
    <dgm:pt modelId="{C43338BC-BEC7-46CD-9A57-AA717DA5FC02}" type="parTrans" cxnId="{3D395C27-DB7D-4D80-BE49-C7B6AC0BB9A9}">
      <dgm:prSet/>
      <dgm:spPr/>
      <dgm:t>
        <a:bodyPr/>
        <a:lstStyle/>
        <a:p>
          <a:endParaRPr lang="en-US"/>
        </a:p>
      </dgm:t>
    </dgm:pt>
    <dgm:pt modelId="{160E1569-141B-41D4-B303-6418138F804C}" type="sibTrans" cxnId="{3D395C27-DB7D-4D80-BE49-C7B6AC0BB9A9}">
      <dgm:prSet/>
      <dgm:spPr/>
      <dgm:t>
        <a:bodyPr/>
        <a:lstStyle/>
        <a:p>
          <a:endParaRPr lang="en-US"/>
        </a:p>
      </dgm:t>
    </dgm:pt>
    <dgm:pt modelId="{257C219A-8C31-4ADE-B145-6F0D8216062D}">
      <dgm:prSet/>
      <dgm:spPr/>
      <dgm:t>
        <a:bodyPr/>
        <a:lstStyle/>
        <a:p>
          <a:r>
            <a:rPr lang="en-US" b="1" i="0"/>
            <a:t>Model Complexity:</a:t>
          </a:r>
          <a:r>
            <a:rPr lang="en-US" b="0" i="0"/>
            <a:t> Activation functions like Softmax allow the model to handle complex multi-class problems, whereas simpler functions like ReLU or Leaky ReLU are used for basic layers.</a:t>
          </a:r>
          <a:endParaRPr lang="en-US"/>
        </a:p>
      </dgm:t>
    </dgm:pt>
    <dgm:pt modelId="{BD2EDE5B-E1D4-4F00-9D9D-3C8A188C9D62}" type="parTrans" cxnId="{53D2C286-1106-4B42-8006-2E1DFC869A59}">
      <dgm:prSet/>
      <dgm:spPr/>
      <dgm:t>
        <a:bodyPr/>
        <a:lstStyle/>
        <a:p>
          <a:endParaRPr lang="en-US"/>
        </a:p>
      </dgm:t>
    </dgm:pt>
    <dgm:pt modelId="{22FCFB28-DD6B-42C7-922C-2D944E726249}" type="sibTrans" cxnId="{53D2C286-1106-4B42-8006-2E1DFC869A59}">
      <dgm:prSet/>
      <dgm:spPr/>
      <dgm:t>
        <a:bodyPr/>
        <a:lstStyle/>
        <a:p>
          <a:endParaRPr lang="en-US"/>
        </a:p>
      </dgm:t>
    </dgm:pt>
    <dgm:pt modelId="{CDCB4F5E-8A48-4EFD-921A-0A287AFC677F}" type="pres">
      <dgm:prSet presAssocID="{75E2A6CB-F1BD-4CE6-AFDF-B3C2D9129687}" presName="linear" presStyleCnt="0">
        <dgm:presLayoutVars>
          <dgm:animLvl val="lvl"/>
          <dgm:resizeHandles val="exact"/>
        </dgm:presLayoutVars>
      </dgm:prSet>
      <dgm:spPr/>
    </dgm:pt>
    <dgm:pt modelId="{714442FF-2A18-401F-A3D3-55F483DAAF0D}" type="pres">
      <dgm:prSet presAssocID="{73FCA770-83FE-4C73-B839-B4B78A99C57D}" presName="parentText" presStyleLbl="node1" presStyleIdx="0" presStyleCnt="3">
        <dgm:presLayoutVars>
          <dgm:chMax val="0"/>
          <dgm:bulletEnabled val="1"/>
        </dgm:presLayoutVars>
      </dgm:prSet>
      <dgm:spPr/>
    </dgm:pt>
    <dgm:pt modelId="{014FB3E7-1326-49B0-8050-871FED9A8A66}" type="pres">
      <dgm:prSet presAssocID="{A8CC6768-7906-42F7-82E6-07E886C8EFFB}" presName="spacer" presStyleCnt="0"/>
      <dgm:spPr/>
    </dgm:pt>
    <dgm:pt modelId="{58ADC23C-FF8B-4B81-9C05-E97429AC2964}" type="pres">
      <dgm:prSet presAssocID="{DDD476AF-66AB-441E-B486-7077D1AE5C77}" presName="parentText" presStyleLbl="node1" presStyleIdx="1" presStyleCnt="3">
        <dgm:presLayoutVars>
          <dgm:chMax val="0"/>
          <dgm:bulletEnabled val="1"/>
        </dgm:presLayoutVars>
      </dgm:prSet>
      <dgm:spPr/>
    </dgm:pt>
    <dgm:pt modelId="{22C27FD9-5C5D-4A3E-A728-3A6D60F3F917}" type="pres">
      <dgm:prSet presAssocID="{160E1569-141B-41D4-B303-6418138F804C}" presName="spacer" presStyleCnt="0"/>
      <dgm:spPr/>
    </dgm:pt>
    <dgm:pt modelId="{B5DDFDEE-F99C-4214-B59B-D4D67DEF2FFB}" type="pres">
      <dgm:prSet presAssocID="{257C219A-8C31-4ADE-B145-6F0D8216062D}" presName="parentText" presStyleLbl="node1" presStyleIdx="2" presStyleCnt="3">
        <dgm:presLayoutVars>
          <dgm:chMax val="0"/>
          <dgm:bulletEnabled val="1"/>
        </dgm:presLayoutVars>
      </dgm:prSet>
      <dgm:spPr/>
    </dgm:pt>
  </dgm:ptLst>
  <dgm:cxnLst>
    <dgm:cxn modelId="{3D395C27-DB7D-4D80-BE49-C7B6AC0BB9A9}" srcId="{75E2A6CB-F1BD-4CE6-AFDF-B3C2D9129687}" destId="{DDD476AF-66AB-441E-B486-7077D1AE5C77}" srcOrd="1" destOrd="0" parTransId="{C43338BC-BEC7-46CD-9A57-AA717DA5FC02}" sibTransId="{160E1569-141B-41D4-B303-6418138F804C}"/>
    <dgm:cxn modelId="{515E223E-229F-42BC-A52B-7D85B4DEB0C8}" srcId="{75E2A6CB-F1BD-4CE6-AFDF-B3C2D9129687}" destId="{73FCA770-83FE-4C73-B839-B4B78A99C57D}" srcOrd="0" destOrd="0" parTransId="{4B333A92-5091-48F5-BA40-D7D6ECBAC3D5}" sibTransId="{A8CC6768-7906-42F7-82E6-07E886C8EFFB}"/>
    <dgm:cxn modelId="{53D2C286-1106-4B42-8006-2E1DFC869A59}" srcId="{75E2A6CB-F1BD-4CE6-AFDF-B3C2D9129687}" destId="{257C219A-8C31-4ADE-B145-6F0D8216062D}" srcOrd="2" destOrd="0" parTransId="{BD2EDE5B-E1D4-4F00-9D9D-3C8A188C9D62}" sibTransId="{22FCFB28-DD6B-42C7-922C-2D944E726249}"/>
    <dgm:cxn modelId="{D642EDAC-86D5-475A-9BCD-DF4285C7BA79}" type="presOf" srcId="{75E2A6CB-F1BD-4CE6-AFDF-B3C2D9129687}" destId="{CDCB4F5E-8A48-4EFD-921A-0A287AFC677F}" srcOrd="0" destOrd="0" presId="urn:microsoft.com/office/officeart/2005/8/layout/vList2"/>
    <dgm:cxn modelId="{588AC8C5-928D-4C04-83D3-8470CD5A8800}" type="presOf" srcId="{DDD476AF-66AB-441E-B486-7077D1AE5C77}" destId="{58ADC23C-FF8B-4B81-9C05-E97429AC2964}" srcOrd="0" destOrd="0" presId="urn:microsoft.com/office/officeart/2005/8/layout/vList2"/>
    <dgm:cxn modelId="{9CF852CE-F3D6-4EC3-AE70-660D0686991A}" type="presOf" srcId="{257C219A-8C31-4ADE-B145-6F0D8216062D}" destId="{B5DDFDEE-F99C-4214-B59B-D4D67DEF2FFB}" srcOrd="0" destOrd="0" presId="urn:microsoft.com/office/officeart/2005/8/layout/vList2"/>
    <dgm:cxn modelId="{E21191E0-1DBD-4F91-8DF5-573AF28817F9}" type="presOf" srcId="{73FCA770-83FE-4C73-B839-B4B78A99C57D}" destId="{714442FF-2A18-401F-A3D3-55F483DAAF0D}" srcOrd="0" destOrd="0" presId="urn:microsoft.com/office/officeart/2005/8/layout/vList2"/>
    <dgm:cxn modelId="{E86BF989-57FF-4B64-8412-7D8276DE4F41}" type="presParOf" srcId="{CDCB4F5E-8A48-4EFD-921A-0A287AFC677F}" destId="{714442FF-2A18-401F-A3D3-55F483DAAF0D}" srcOrd="0" destOrd="0" presId="urn:microsoft.com/office/officeart/2005/8/layout/vList2"/>
    <dgm:cxn modelId="{C1A0E7FF-9FB1-4F9A-A262-7631255A3CD8}" type="presParOf" srcId="{CDCB4F5E-8A48-4EFD-921A-0A287AFC677F}" destId="{014FB3E7-1326-49B0-8050-871FED9A8A66}" srcOrd="1" destOrd="0" presId="urn:microsoft.com/office/officeart/2005/8/layout/vList2"/>
    <dgm:cxn modelId="{81CA4140-7DF7-47E6-B6B2-E511DFE802AC}" type="presParOf" srcId="{CDCB4F5E-8A48-4EFD-921A-0A287AFC677F}" destId="{58ADC23C-FF8B-4B81-9C05-E97429AC2964}" srcOrd="2" destOrd="0" presId="urn:microsoft.com/office/officeart/2005/8/layout/vList2"/>
    <dgm:cxn modelId="{B20C38A5-80C4-4EF6-9929-81A26F24A5B4}" type="presParOf" srcId="{CDCB4F5E-8A48-4EFD-921A-0A287AFC677F}" destId="{22C27FD9-5C5D-4A3E-A728-3A6D60F3F917}" srcOrd="3" destOrd="0" presId="urn:microsoft.com/office/officeart/2005/8/layout/vList2"/>
    <dgm:cxn modelId="{014BA232-6BAA-4BA4-8EE4-BE54E3E16A27}" type="presParOf" srcId="{CDCB4F5E-8A48-4EFD-921A-0A287AFC677F}" destId="{B5DDFDEE-F99C-4214-B59B-D4D67DEF2FFB}"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7670562-C433-431C-A1C5-C49D987E3F95}" type="doc">
      <dgm:prSet loTypeId="urn:microsoft.com/office/officeart/2005/8/layout/vList5" loCatId="list" qsTypeId="urn:microsoft.com/office/officeart/2005/8/quickstyle/simple4" qsCatId="simple" csTypeId="urn:microsoft.com/office/officeart/2005/8/colors/colorful5" csCatId="colorful" phldr="1"/>
      <dgm:spPr/>
      <dgm:t>
        <a:bodyPr/>
        <a:lstStyle/>
        <a:p>
          <a:endParaRPr lang="en-US"/>
        </a:p>
      </dgm:t>
    </dgm:pt>
    <dgm:pt modelId="{DBCAF566-585F-4178-93AE-A2A8CEBC1619}">
      <dgm:prSet/>
      <dgm:spPr/>
      <dgm:t>
        <a:bodyPr/>
        <a:lstStyle/>
        <a:p>
          <a:r>
            <a:rPr lang="en-US" b="0" i="0" dirty="0"/>
            <a:t>In deep learning, </a:t>
          </a:r>
          <a:r>
            <a:rPr lang="en-US" b="1" i="0" dirty="0"/>
            <a:t>optimizers</a:t>
          </a:r>
          <a:r>
            <a:rPr lang="en-US" b="0" i="0" dirty="0"/>
            <a:t> and </a:t>
          </a:r>
          <a:r>
            <a:rPr lang="en-US" b="1" i="0" dirty="0"/>
            <a:t>loss functions </a:t>
          </a:r>
          <a:r>
            <a:rPr lang="en-US" b="0" i="0" dirty="0"/>
            <a:t>are two fundamental components that help improve a model’s performance.</a:t>
          </a:r>
          <a:endParaRPr lang="en-US" dirty="0"/>
        </a:p>
      </dgm:t>
    </dgm:pt>
    <dgm:pt modelId="{E9C442CD-6BA6-4A97-85FE-D48F757AA8CE}" type="parTrans" cxnId="{90C712D8-89E9-4D09-8F18-13FA9542CF5E}">
      <dgm:prSet/>
      <dgm:spPr/>
      <dgm:t>
        <a:bodyPr/>
        <a:lstStyle/>
        <a:p>
          <a:endParaRPr lang="en-US"/>
        </a:p>
      </dgm:t>
    </dgm:pt>
    <dgm:pt modelId="{2178A910-1E22-4788-986D-D4F6127C6AFB}" type="sibTrans" cxnId="{90C712D8-89E9-4D09-8F18-13FA9542CF5E}">
      <dgm:prSet/>
      <dgm:spPr/>
      <dgm:t>
        <a:bodyPr/>
        <a:lstStyle/>
        <a:p>
          <a:endParaRPr lang="en-US"/>
        </a:p>
      </dgm:t>
    </dgm:pt>
    <dgm:pt modelId="{7707842B-8E3E-4D75-9279-EE51A650CBB6}">
      <dgm:prSet/>
      <dgm:spPr/>
      <dgm:t>
        <a:bodyPr/>
        <a:lstStyle/>
        <a:p>
          <a:r>
            <a:rPr lang="en-US" b="0" i="0" dirty="0"/>
            <a:t>A loss function evaluates a model's effectiveness by computing the difference between expected and actual outputs. </a:t>
          </a:r>
          <a:endParaRPr lang="en-US" dirty="0"/>
        </a:p>
      </dgm:t>
    </dgm:pt>
    <dgm:pt modelId="{37D68815-375F-490D-AADE-6A926FECE2B6}" type="parTrans" cxnId="{618FD66D-1D53-4A6D-85BF-476A1C921C69}">
      <dgm:prSet/>
      <dgm:spPr/>
      <dgm:t>
        <a:bodyPr/>
        <a:lstStyle/>
        <a:p>
          <a:endParaRPr lang="en-US"/>
        </a:p>
      </dgm:t>
    </dgm:pt>
    <dgm:pt modelId="{C7DC5CEB-5D1F-47B1-9D17-213D900B1626}" type="sibTrans" cxnId="{618FD66D-1D53-4A6D-85BF-476A1C921C69}">
      <dgm:prSet/>
      <dgm:spPr/>
      <dgm:t>
        <a:bodyPr/>
        <a:lstStyle/>
        <a:p>
          <a:endParaRPr lang="en-US"/>
        </a:p>
      </dgm:t>
    </dgm:pt>
    <dgm:pt modelId="{94E81B77-4A86-4EB2-B081-F76CF168BA0B}">
      <dgm:prSet/>
      <dgm:spPr/>
      <dgm:t>
        <a:bodyPr/>
        <a:lstStyle/>
        <a:p>
          <a:r>
            <a:rPr lang="en-US" b="0" i="0"/>
            <a:t>An optimizer improves the model by adjusting its parameters (weights and biases) to minimize the loss function value.</a:t>
          </a:r>
          <a:endParaRPr lang="en-US"/>
        </a:p>
      </dgm:t>
    </dgm:pt>
    <dgm:pt modelId="{F8282A2C-725E-43FC-B5B2-7AE129F354DA}" type="parTrans" cxnId="{74C9EFDD-2759-4EBB-A041-F394A8CA0086}">
      <dgm:prSet/>
      <dgm:spPr/>
      <dgm:t>
        <a:bodyPr/>
        <a:lstStyle/>
        <a:p>
          <a:endParaRPr lang="en-US"/>
        </a:p>
      </dgm:t>
    </dgm:pt>
    <dgm:pt modelId="{387B05AD-4E9D-4B7D-8041-F752AE399222}" type="sibTrans" cxnId="{74C9EFDD-2759-4EBB-A041-F394A8CA0086}">
      <dgm:prSet/>
      <dgm:spPr/>
      <dgm:t>
        <a:bodyPr/>
        <a:lstStyle/>
        <a:p>
          <a:endParaRPr lang="en-US"/>
        </a:p>
      </dgm:t>
    </dgm:pt>
    <dgm:pt modelId="{F224D302-C735-4620-BAA0-ACDABDE61A94}" type="pres">
      <dgm:prSet presAssocID="{57670562-C433-431C-A1C5-C49D987E3F95}" presName="Name0" presStyleCnt="0">
        <dgm:presLayoutVars>
          <dgm:dir/>
          <dgm:animLvl val="lvl"/>
          <dgm:resizeHandles val="exact"/>
        </dgm:presLayoutVars>
      </dgm:prSet>
      <dgm:spPr/>
    </dgm:pt>
    <dgm:pt modelId="{C05B50BC-D592-462E-9688-743BE956939B}" type="pres">
      <dgm:prSet presAssocID="{DBCAF566-585F-4178-93AE-A2A8CEBC1619}" presName="linNode" presStyleCnt="0"/>
      <dgm:spPr/>
    </dgm:pt>
    <dgm:pt modelId="{014511C6-6A41-41FB-AD04-4DCE0EFA9110}" type="pres">
      <dgm:prSet presAssocID="{DBCAF566-585F-4178-93AE-A2A8CEBC1619}" presName="parentText" presStyleLbl="node1" presStyleIdx="0" presStyleCnt="3" custScaleX="191031">
        <dgm:presLayoutVars>
          <dgm:chMax val="1"/>
          <dgm:bulletEnabled val="1"/>
        </dgm:presLayoutVars>
      </dgm:prSet>
      <dgm:spPr/>
    </dgm:pt>
    <dgm:pt modelId="{014856AA-4931-42E5-812F-73210354BB78}" type="pres">
      <dgm:prSet presAssocID="{2178A910-1E22-4788-986D-D4F6127C6AFB}" presName="sp" presStyleCnt="0"/>
      <dgm:spPr/>
    </dgm:pt>
    <dgm:pt modelId="{DA737846-C4F4-46FE-93B2-82A5F8B62781}" type="pres">
      <dgm:prSet presAssocID="{7707842B-8E3E-4D75-9279-EE51A650CBB6}" presName="linNode" presStyleCnt="0"/>
      <dgm:spPr/>
    </dgm:pt>
    <dgm:pt modelId="{A1CC4EA9-8997-4FBE-BE48-EB5A13770EF0}" type="pres">
      <dgm:prSet presAssocID="{7707842B-8E3E-4D75-9279-EE51A650CBB6}" presName="parentText" presStyleLbl="node1" presStyleIdx="1" presStyleCnt="3" custScaleX="191031">
        <dgm:presLayoutVars>
          <dgm:chMax val="1"/>
          <dgm:bulletEnabled val="1"/>
        </dgm:presLayoutVars>
      </dgm:prSet>
      <dgm:spPr/>
    </dgm:pt>
    <dgm:pt modelId="{AA3DBBE3-1ABC-4497-B857-9F22CFEA0F48}" type="pres">
      <dgm:prSet presAssocID="{C7DC5CEB-5D1F-47B1-9D17-213D900B1626}" presName="sp" presStyleCnt="0"/>
      <dgm:spPr/>
    </dgm:pt>
    <dgm:pt modelId="{17120237-2DDA-4783-BF97-29966E29D3DD}" type="pres">
      <dgm:prSet presAssocID="{94E81B77-4A86-4EB2-B081-F76CF168BA0B}" presName="linNode" presStyleCnt="0"/>
      <dgm:spPr/>
    </dgm:pt>
    <dgm:pt modelId="{110678E6-30DC-4398-AD2E-FB241684E141}" type="pres">
      <dgm:prSet presAssocID="{94E81B77-4A86-4EB2-B081-F76CF168BA0B}" presName="parentText" presStyleLbl="node1" presStyleIdx="2" presStyleCnt="3" custScaleX="191031">
        <dgm:presLayoutVars>
          <dgm:chMax val="1"/>
          <dgm:bulletEnabled val="1"/>
        </dgm:presLayoutVars>
      </dgm:prSet>
      <dgm:spPr/>
    </dgm:pt>
  </dgm:ptLst>
  <dgm:cxnLst>
    <dgm:cxn modelId="{FD30F920-9AFF-49D2-AADF-097E33663219}" type="presOf" srcId="{7707842B-8E3E-4D75-9279-EE51A650CBB6}" destId="{A1CC4EA9-8997-4FBE-BE48-EB5A13770EF0}" srcOrd="0" destOrd="0" presId="urn:microsoft.com/office/officeart/2005/8/layout/vList5"/>
    <dgm:cxn modelId="{9D2CD34D-8CB8-455E-A575-0B3839BEE511}" type="presOf" srcId="{57670562-C433-431C-A1C5-C49D987E3F95}" destId="{F224D302-C735-4620-BAA0-ACDABDE61A94}" srcOrd="0" destOrd="0" presId="urn:microsoft.com/office/officeart/2005/8/layout/vList5"/>
    <dgm:cxn modelId="{618FD66D-1D53-4A6D-85BF-476A1C921C69}" srcId="{57670562-C433-431C-A1C5-C49D987E3F95}" destId="{7707842B-8E3E-4D75-9279-EE51A650CBB6}" srcOrd="1" destOrd="0" parTransId="{37D68815-375F-490D-AADE-6A926FECE2B6}" sibTransId="{C7DC5CEB-5D1F-47B1-9D17-213D900B1626}"/>
    <dgm:cxn modelId="{1E66368B-9941-4F2F-88FD-88194C1FD07C}" type="presOf" srcId="{DBCAF566-585F-4178-93AE-A2A8CEBC1619}" destId="{014511C6-6A41-41FB-AD04-4DCE0EFA9110}" srcOrd="0" destOrd="0" presId="urn:microsoft.com/office/officeart/2005/8/layout/vList5"/>
    <dgm:cxn modelId="{B68AF4B1-076E-4C9F-B32D-6BDE1F7C5B64}" type="presOf" srcId="{94E81B77-4A86-4EB2-B081-F76CF168BA0B}" destId="{110678E6-30DC-4398-AD2E-FB241684E141}" srcOrd="0" destOrd="0" presId="urn:microsoft.com/office/officeart/2005/8/layout/vList5"/>
    <dgm:cxn modelId="{90C712D8-89E9-4D09-8F18-13FA9542CF5E}" srcId="{57670562-C433-431C-A1C5-C49D987E3F95}" destId="{DBCAF566-585F-4178-93AE-A2A8CEBC1619}" srcOrd="0" destOrd="0" parTransId="{E9C442CD-6BA6-4A97-85FE-D48F757AA8CE}" sibTransId="{2178A910-1E22-4788-986D-D4F6127C6AFB}"/>
    <dgm:cxn modelId="{74C9EFDD-2759-4EBB-A041-F394A8CA0086}" srcId="{57670562-C433-431C-A1C5-C49D987E3F95}" destId="{94E81B77-4A86-4EB2-B081-F76CF168BA0B}" srcOrd="2" destOrd="0" parTransId="{F8282A2C-725E-43FC-B5B2-7AE129F354DA}" sibTransId="{387B05AD-4E9D-4B7D-8041-F752AE399222}"/>
    <dgm:cxn modelId="{349F4EC3-6117-46FC-8384-677BF09DCE97}" type="presParOf" srcId="{F224D302-C735-4620-BAA0-ACDABDE61A94}" destId="{C05B50BC-D592-462E-9688-743BE956939B}" srcOrd="0" destOrd="0" presId="urn:microsoft.com/office/officeart/2005/8/layout/vList5"/>
    <dgm:cxn modelId="{7858B644-828C-4D3D-8215-4248DAD5A50F}" type="presParOf" srcId="{C05B50BC-D592-462E-9688-743BE956939B}" destId="{014511C6-6A41-41FB-AD04-4DCE0EFA9110}" srcOrd="0" destOrd="0" presId="urn:microsoft.com/office/officeart/2005/8/layout/vList5"/>
    <dgm:cxn modelId="{B6B6059A-BEC6-4E89-ADBF-5AE3AE42CD21}" type="presParOf" srcId="{F224D302-C735-4620-BAA0-ACDABDE61A94}" destId="{014856AA-4931-42E5-812F-73210354BB78}" srcOrd="1" destOrd="0" presId="urn:microsoft.com/office/officeart/2005/8/layout/vList5"/>
    <dgm:cxn modelId="{37019AB9-B124-4460-8630-537DC5E8E629}" type="presParOf" srcId="{F224D302-C735-4620-BAA0-ACDABDE61A94}" destId="{DA737846-C4F4-46FE-93B2-82A5F8B62781}" srcOrd="2" destOrd="0" presId="urn:microsoft.com/office/officeart/2005/8/layout/vList5"/>
    <dgm:cxn modelId="{72562A2E-62CF-4E68-BAC4-0DBE36BFAF53}" type="presParOf" srcId="{DA737846-C4F4-46FE-93B2-82A5F8B62781}" destId="{A1CC4EA9-8997-4FBE-BE48-EB5A13770EF0}" srcOrd="0" destOrd="0" presId="urn:microsoft.com/office/officeart/2005/8/layout/vList5"/>
    <dgm:cxn modelId="{DAE58D70-97A9-4462-922E-4B45379E1B57}" type="presParOf" srcId="{F224D302-C735-4620-BAA0-ACDABDE61A94}" destId="{AA3DBBE3-1ABC-4497-B857-9F22CFEA0F48}" srcOrd="3" destOrd="0" presId="urn:microsoft.com/office/officeart/2005/8/layout/vList5"/>
    <dgm:cxn modelId="{7BD4840C-AB65-40C9-BF8F-6B77B891387E}" type="presParOf" srcId="{F224D302-C735-4620-BAA0-ACDABDE61A94}" destId="{17120237-2DDA-4783-BF97-29966E29D3DD}" srcOrd="4" destOrd="0" presId="urn:microsoft.com/office/officeart/2005/8/layout/vList5"/>
    <dgm:cxn modelId="{554C16C3-26AD-4ACF-B5F5-979080D4563D}" type="presParOf" srcId="{17120237-2DDA-4783-BF97-29966E29D3DD}" destId="{110678E6-30DC-4398-AD2E-FB241684E141}" srcOrd="0"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67D634-CDA7-4F86-A283-D792FAC658A4}">
      <dsp:nvSpPr>
        <dsp:cNvPr id="0" name=""/>
        <dsp:cNvSpPr/>
      </dsp:nvSpPr>
      <dsp:spPr>
        <a:xfrm>
          <a:off x="0" y="422273"/>
          <a:ext cx="6245265" cy="5040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8AD1945-F9F4-49B2-9B1A-85A1A6ED22A8}">
      <dsp:nvSpPr>
        <dsp:cNvPr id="0" name=""/>
        <dsp:cNvSpPr/>
      </dsp:nvSpPr>
      <dsp:spPr>
        <a:xfrm>
          <a:off x="312263" y="127073"/>
          <a:ext cx="4371685" cy="5904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239" tIns="0" rIns="165239" bIns="0" numCol="1" spcCol="1270" anchor="ctr" anchorCtr="0">
          <a:noAutofit/>
        </a:bodyPr>
        <a:lstStyle/>
        <a:p>
          <a:pPr marL="0" lvl="0" indent="0" algn="l" defTabSz="889000">
            <a:lnSpc>
              <a:spcPct val="90000"/>
            </a:lnSpc>
            <a:spcBef>
              <a:spcPct val="0"/>
            </a:spcBef>
            <a:spcAft>
              <a:spcPct val="35000"/>
            </a:spcAft>
            <a:buNone/>
          </a:pPr>
          <a:r>
            <a:rPr lang="en-US" sz="2000" b="1" kern="1200"/>
            <a:t>Sigmoid Function</a:t>
          </a:r>
          <a:endParaRPr lang="en-US" sz="2000" kern="1200"/>
        </a:p>
      </dsp:txBody>
      <dsp:txXfrm>
        <a:off x="341084" y="155894"/>
        <a:ext cx="4314043" cy="532758"/>
      </dsp:txXfrm>
    </dsp:sp>
    <dsp:sp modelId="{8995EFF8-55EA-4362-8385-A179072C3B9A}">
      <dsp:nvSpPr>
        <dsp:cNvPr id="0" name=""/>
        <dsp:cNvSpPr/>
      </dsp:nvSpPr>
      <dsp:spPr>
        <a:xfrm>
          <a:off x="0" y="1329473"/>
          <a:ext cx="6245265" cy="5040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58EAC15-635A-47BA-A584-007E68DEA1EA}">
      <dsp:nvSpPr>
        <dsp:cNvPr id="0" name=""/>
        <dsp:cNvSpPr/>
      </dsp:nvSpPr>
      <dsp:spPr>
        <a:xfrm>
          <a:off x="312263" y="1034273"/>
          <a:ext cx="4371685" cy="5904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239" tIns="0" rIns="165239" bIns="0" numCol="1" spcCol="1270" anchor="ctr" anchorCtr="0">
          <a:noAutofit/>
        </a:bodyPr>
        <a:lstStyle/>
        <a:p>
          <a:pPr marL="0" lvl="0" indent="0" algn="l" defTabSz="889000">
            <a:lnSpc>
              <a:spcPct val="90000"/>
            </a:lnSpc>
            <a:spcBef>
              <a:spcPct val="0"/>
            </a:spcBef>
            <a:spcAft>
              <a:spcPct val="35000"/>
            </a:spcAft>
            <a:buNone/>
          </a:pPr>
          <a:r>
            <a:rPr lang="en-US" sz="2000" b="1" kern="1200"/>
            <a:t>Tanh Activation Function </a:t>
          </a:r>
          <a:endParaRPr lang="en-US" sz="2000" kern="1200"/>
        </a:p>
      </dsp:txBody>
      <dsp:txXfrm>
        <a:off x="341084" y="1063094"/>
        <a:ext cx="4314043" cy="532758"/>
      </dsp:txXfrm>
    </dsp:sp>
    <dsp:sp modelId="{CF592AF3-2131-4E41-ABAF-AFB12789EBDB}">
      <dsp:nvSpPr>
        <dsp:cNvPr id="0" name=""/>
        <dsp:cNvSpPr/>
      </dsp:nvSpPr>
      <dsp:spPr>
        <a:xfrm>
          <a:off x="0" y="2236673"/>
          <a:ext cx="6245265" cy="5040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B5AD4E2-05C1-462D-9044-775A0775D67E}">
      <dsp:nvSpPr>
        <dsp:cNvPr id="0" name=""/>
        <dsp:cNvSpPr/>
      </dsp:nvSpPr>
      <dsp:spPr>
        <a:xfrm>
          <a:off x="312263" y="1941473"/>
          <a:ext cx="4371685" cy="5904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239" tIns="0" rIns="165239" bIns="0" numCol="1" spcCol="1270" anchor="ctr" anchorCtr="0">
          <a:noAutofit/>
        </a:bodyPr>
        <a:lstStyle/>
        <a:p>
          <a:pPr marL="0" lvl="0" indent="0" algn="l" defTabSz="889000">
            <a:lnSpc>
              <a:spcPct val="90000"/>
            </a:lnSpc>
            <a:spcBef>
              <a:spcPct val="0"/>
            </a:spcBef>
            <a:spcAft>
              <a:spcPct val="35000"/>
            </a:spcAft>
            <a:buNone/>
          </a:pPr>
          <a:r>
            <a:rPr lang="en-US" sz="2000" b="1" kern="1200"/>
            <a:t>ReLU</a:t>
          </a:r>
          <a:r>
            <a:rPr lang="en-US" sz="2000" kern="1200"/>
            <a:t> (Rectified Linear Unit) </a:t>
          </a:r>
          <a:r>
            <a:rPr lang="en-US" sz="2000" b="1" kern="1200"/>
            <a:t>Function </a:t>
          </a:r>
          <a:endParaRPr lang="en-US" sz="2000" kern="1200"/>
        </a:p>
      </dsp:txBody>
      <dsp:txXfrm>
        <a:off x="341084" y="1970294"/>
        <a:ext cx="4314043" cy="532758"/>
      </dsp:txXfrm>
    </dsp:sp>
    <dsp:sp modelId="{2C841202-9059-4BD0-98AA-8FCBCD5CC940}">
      <dsp:nvSpPr>
        <dsp:cNvPr id="0" name=""/>
        <dsp:cNvSpPr/>
      </dsp:nvSpPr>
      <dsp:spPr>
        <a:xfrm>
          <a:off x="0" y="3143873"/>
          <a:ext cx="6245265" cy="5040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0318E40-8218-4A5D-8436-995911768C8D}">
      <dsp:nvSpPr>
        <dsp:cNvPr id="0" name=""/>
        <dsp:cNvSpPr/>
      </dsp:nvSpPr>
      <dsp:spPr>
        <a:xfrm>
          <a:off x="312263" y="2848673"/>
          <a:ext cx="4371685" cy="5904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239" tIns="0" rIns="165239" bIns="0" numCol="1" spcCol="1270" anchor="ctr" anchorCtr="0">
          <a:noAutofit/>
        </a:bodyPr>
        <a:lstStyle/>
        <a:p>
          <a:pPr marL="0" lvl="0" indent="0" algn="l" defTabSz="889000">
            <a:lnSpc>
              <a:spcPct val="90000"/>
            </a:lnSpc>
            <a:spcBef>
              <a:spcPct val="0"/>
            </a:spcBef>
            <a:spcAft>
              <a:spcPct val="35000"/>
            </a:spcAft>
            <a:buNone/>
          </a:pPr>
          <a:r>
            <a:rPr lang="en-US" sz="2000" b="1" kern="1200"/>
            <a:t>Leaky ReLU</a:t>
          </a:r>
          <a:endParaRPr lang="en-US" sz="2000" kern="1200"/>
        </a:p>
      </dsp:txBody>
      <dsp:txXfrm>
        <a:off x="341084" y="2877494"/>
        <a:ext cx="4314043" cy="532758"/>
      </dsp:txXfrm>
    </dsp:sp>
    <dsp:sp modelId="{3D9C677B-B405-42B0-9142-843C403FF800}">
      <dsp:nvSpPr>
        <dsp:cNvPr id="0" name=""/>
        <dsp:cNvSpPr/>
      </dsp:nvSpPr>
      <dsp:spPr>
        <a:xfrm>
          <a:off x="0" y="4051073"/>
          <a:ext cx="6245265" cy="5040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A49309C-1CDF-4817-B35D-121C60E842F4}">
      <dsp:nvSpPr>
        <dsp:cNvPr id="0" name=""/>
        <dsp:cNvSpPr/>
      </dsp:nvSpPr>
      <dsp:spPr>
        <a:xfrm>
          <a:off x="312263" y="3755873"/>
          <a:ext cx="4371685" cy="5904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239" tIns="0" rIns="165239" bIns="0" numCol="1" spcCol="1270" anchor="ctr" anchorCtr="0">
          <a:noAutofit/>
        </a:bodyPr>
        <a:lstStyle/>
        <a:p>
          <a:pPr marL="0" lvl="0" indent="0" algn="l" defTabSz="889000">
            <a:lnSpc>
              <a:spcPct val="90000"/>
            </a:lnSpc>
            <a:spcBef>
              <a:spcPct val="0"/>
            </a:spcBef>
            <a:spcAft>
              <a:spcPct val="35000"/>
            </a:spcAft>
            <a:buNone/>
          </a:pPr>
          <a:r>
            <a:rPr lang="en-US" sz="2000" b="1" kern="1200"/>
            <a:t>Softmax Function</a:t>
          </a:r>
          <a:endParaRPr lang="en-US" sz="2000" kern="1200"/>
        </a:p>
      </dsp:txBody>
      <dsp:txXfrm>
        <a:off x="341084" y="3784694"/>
        <a:ext cx="4314043" cy="532758"/>
      </dsp:txXfrm>
    </dsp:sp>
    <dsp:sp modelId="{83B23002-9067-4306-8FED-380728941F23}">
      <dsp:nvSpPr>
        <dsp:cNvPr id="0" name=""/>
        <dsp:cNvSpPr/>
      </dsp:nvSpPr>
      <dsp:spPr>
        <a:xfrm>
          <a:off x="0" y="4958273"/>
          <a:ext cx="6245265" cy="5040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6B617A3-4657-48D5-9B37-7CB93C482CAC}">
      <dsp:nvSpPr>
        <dsp:cNvPr id="0" name=""/>
        <dsp:cNvSpPr/>
      </dsp:nvSpPr>
      <dsp:spPr>
        <a:xfrm>
          <a:off x="312263" y="4663073"/>
          <a:ext cx="4371685" cy="5904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239" tIns="0" rIns="165239" bIns="0" numCol="1" spcCol="1270" anchor="ctr" anchorCtr="0">
          <a:noAutofit/>
        </a:bodyPr>
        <a:lstStyle/>
        <a:p>
          <a:pPr marL="0" lvl="0" indent="0" algn="l" defTabSz="889000">
            <a:lnSpc>
              <a:spcPct val="90000"/>
            </a:lnSpc>
            <a:spcBef>
              <a:spcPct val="0"/>
            </a:spcBef>
            <a:spcAft>
              <a:spcPct val="35000"/>
            </a:spcAft>
            <a:buNone/>
          </a:pPr>
          <a:r>
            <a:rPr lang="en-US" sz="2000" b="1" kern="1200"/>
            <a:t>SoftPlus Function</a:t>
          </a:r>
          <a:endParaRPr lang="en-US" sz="2000" kern="1200"/>
        </a:p>
      </dsp:txBody>
      <dsp:txXfrm>
        <a:off x="341084" y="4691894"/>
        <a:ext cx="4314043" cy="53275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4442FF-2A18-401F-A3D3-55F483DAAF0D}">
      <dsp:nvSpPr>
        <dsp:cNvPr id="0" name=""/>
        <dsp:cNvSpPr/>
      </dsp:nvSpPr>
      <dsp:spPr>
        <a:xfrm>
          <a:off x="0" y="2568"/>
          <a:ext cx="6900512" cy="1641509"/>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i="0" kern="1200" dirty="0"/>
            <a:t>Convergence Speed:</a:t>
          </a:r>
          <a:r>
            <a:rPr lang="en-US" sz="2300" b="0" i="0" kern="1200" dirty="0"/>
            <a:t> Functions like </a:t>
          </a:r>
          <a:r>
            <a:rPr lang="en-US" sz="2300" b="0" i="0" kern="1200" dirty="0" err="1"/>
            <a:t>ReLU</a:t>
          </a:r>
          <a:r>
            <a:rPr lang="en-US" sz="2300" b="0" i="0" kern="1200" dirty="0"/>
            <a:t> allow faster training by avoiding the vanishing gradient problem while Sigmoid and Tanh can slow down convergence in deep networks.</a:t>
          </a:r>
          <a:endParaRPr lang="en-US" sz="2300" kern="1200" dirty="0"/>
        </a:p>
      </dsp:txBody>
      <dsp:txXfrm>
        <a:off x="80132" y="82700"/>
        <a:ext cx="6740248" cy="1481245"/>
      </dsp:txXfrm>
    </dsp:sp>
    <dsp:sp modelId="{58ADC23C-FF8B-4B81-9C05-E97429AC2964}">
      <dsp:nvSpPr>
        <dsp:cNvPr id="0" name=""/>
        <dsp:cNvSpPr/>
      </dsp:nvSpPr>
      <dsp:spPr>
        <a:xfrm>
          <a:off x="0" y="1710318"/>
          <a:ext cx="6900512" cy="1641509"/>
        </a:xfrm>
        <a:prstGeom prst="roundRect">
          <a:avLst/>
        </a:prstGeom>
        <a:solidFill>
          <a:schemeClr val="accent2">
            <a:hueOff val="3221807"/>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i="0" kern="1200"/>
            <a:t>Gradient Flow:</a:t>
          </a:r>
          <a:r>
            <a:rPr lang="en-US" sz="2300" b="0" i="0" kern="1200"/>
            <a:t> Activation functions like ReLU ensure better gradient flow, helping deeper layers learn effectively. In contrast Sigmoid can lead to small gradients, hindering learning in deep layers.</a:t>
          </a:r>
          <a:endParaRPr lang="en-US" sz="2300" kern="1200"/>
        </a:p>
      </dsp:txBody>
      <dsp:txXfrm>
        <a:off x="80132" y="1790450"/>
        <a:ext cx="6740248" cy="1481245"/>
      </dsp:txXfrm>
    </dsp:sp>
    <dsp:sp modelId="{B5DDFDEE-F99C-4214-B59B-D4D67DEF2FFB}">
      <dsp:nvSpPr>
        <dsp:cNvPr id="0" name=""/>
        <dsp:cNvSpPr/>
      </dsp:nvSpPr>
      <dsp:spPr>
        <a:xfrm>
          <a:off x="0" y="3418068"/>
          <a:ext cx="6900512" cy="1641509"/>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i="0" kern="1200"/>
            <a:t>Model Complexity:</a:t>
          </a:r>
          <a:r>
            <a:rPr lang="en-US" sz="2300" b="0" i="0" kern="1200"/>
            <a:t> Activation functions like Softmax allow the model to handle complex multi-class problems, whereas simpler functions like ReLU or Leaky ReLU are used for basic layers.</a:t>
          </a:r>
          <a:endParaRPr lang="en-US" sz="2300" kern="1200"/>
        </a:p>
      </dsp:txBody>
      <dsp:txXfrm>
        <a:off x="80132" y="3498200"/>
        <a:ext cx="6740248" cy="148124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4511C6-6A41-41FB-AD04-4DCE0EFA9110}">
      <dsp:nvSpPr>
        <dsp:cNvPr id="0" name=""/>
        <dsp:cNvSpPr/>
      </dsp:nvSpPr>
      <dsp:spPr>
        <a:xfrm>
          <a:off x="1641949" y="2124"/>
          <a:ext cx="7231700" cy="1402286"/>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0" tIns="47625" rIns="95250" bIns="47625" numCol="1" spcCol="1270" anchor="ctr" anchorCtr="0">
          <a:noAutofit/>
        </a:bodyPr>
        <a:lstStyle/>
        <a:p>
          <a:pPr marL="0" lvl="0" indent="0" algn="ctr" defTabSz="1111250">
            <a:lnSpc>
              <a:spcPct val="90000"/>
            </a:lnSpc>
            <a:spcBef>
              <a:spcPct val="0"/>
            </a:spcBef>
            <a:spcAft>
              <a:spcPct val="35000"/>
            </a:spcAft>
            <a:buNone/>
          </a:pPr>
          <a:r>
            <a:rPr lang="en-US" sz="2500" b="0" i="0" kern="1200" dirty="0"/>
            <a:t>In deep learning, </a:t>
          </a:r>
          <a:r>
            <a:rPr lang="en-US" sz="2500" b="1" i="0" kern="1200" dirty="0"/>
            <a:t>optimizers</a:t>
          </a:r>
          <a:r>
            <a:rPr lang="en-US" sz="2500" b="0" i="0" kern="1200" dirty="0"/>
            <a:t> and </a:t>
          </a:r>
          <a:r>
            <a:rPr lang="en-US" sz="2500" b="1" i="0" kern="1200" dirty="0"/>
            <a:t>loss functions </a:t>
          </a:r>
          <a:r>
            <a:rPr lang="en-US" sz="2500" b="0" i="0" kern="1200" dirty="0"/>
            <a:t>are two fundamental components that help improve a model’s performance.</a:t>
          </a:r>
          <a:endParaRPr lang="en-US" sz="2500" kern="1200" dirty="0"/>
        </a:p>
      </dsp:txBody>
      <dsp:txXfrm>
        <a:off x="1710403" y="70578"/>
        <a:ext cx="7094792" cy="1265378"/>
      </dsp:txXfrm>
    </dsp:sp>
    <dsp:sp modelId="{A1CC4EA9-8997-4FBE-BE48-EB5A13770EF0}">
      <dsp:nvSpPr>
        <dsp:cNvPr id="0" name=""/>
        <dsp:cNvSpPr/>
      </dsp:nvSpPr>
      <dsp:spPr>
        <a:xfrm>
          <a:off x="1641949" y="1474525"/>
          <a:ext cx="7231700" cy="1402286"/>
        </a:xfrm>
        <a:prstGeom prst="roundRect">
          <a:avLst/>
        </a:prstGeom>
        <a:gradFill rotWithShape="0">
          <a:gsLst>
            <a:gs pos="0">
              <a:schemeClr val="accent5">
                <a:hueOff val="-6076075"/>
                <a:satOff val="-413"/>
                <a:lumOff val="981"/>
                <a:alphaOff val="0"/>
                <a:satMod val="103000"/>
                <a:lumMod val="102000"/>
                <a:tint val="94000"/>
              </a:schemeClr>
            </a:gs>
            <a:gs pos="50000">
              <a:schemeClr val="accent5">
                <a:hueOff val="-6076075"/>
                <a:satOff val="-413"/>
                <a:lumOff val="981"/>
                <a:alphaOff val="0"/>
                <a:satMod val="110000"/>
                <a:lumMod val="100000"/>
                <a:shade val="100000"/>
              </a:schemeClr>
            </a:gs>
            <a:gs pos="100000">
              <a:schemeClr val="accent5">
                <a:hueOff val="-6076075"/>
                <a:satOff val="-413"/>
                <a:lumOff val="98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0" tIns="47625" rIns="95250" bIns="47625" numCol="1" spcCol="1270" anchor="ctr" anchorCtr="0">
          <a:noAutofit/>
        </a:bodyPr>
        <a:lstStyle/>
        <a:p>
          <a:pPr marL="0" lvl="0" indent="0" algn="ctr" defTabSz="1111250">
            <a:lnSpc>
              <a:spcPct val="90000"/>
            </a:lnSpc>
            <a:spcBef>
              <a:spcPct val="0"/>
            </a:spcBef>
            <a:spcAft>
              <a:spcPct val="35000"/>
            </a:spcAft>
            <a:buNone/>
          </a:pPr>
          <a:r>
            <a:rPr lang="en-US" sz="2500" b="0" i="0" kern="1200" dirty="0"/>
            <a:t>A loss function evaluates a model's effectiveness by computing the difference between expected and actual outputs. </a:t>
          </a:r>
          <a:endParaRPr lang="en-US" sz="2500" kern="1200" dirty="0"/>
        </a:p>
      </dsp:txBody>
      <dsp:txXfrm>
        <a:off x="1710403" y="1542979"/>
        <a:ext cx="7094792" cy="1265378"/>
      </dsp:txXfrm>
    </dsp:sp>
    <dsp:sp modelId="{110678E6-30DC-4398-AD2E-FB241684E141}">
      <dsp:nvSpPr>
        <dsp:cNvPr id="0" name=""/>
        <dsp:cNvSpPr/>
      </dsp:nvSpPr>
      <dsp:spPr>
        <a:xfrm>
          <a:off x="1641949" y="2946926"/>
          <a:ext cx="7231700" cy="1402286"/>
        </a:xfrm>
        <a:prstGeom prst="round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b="0" i="0" kern="1200"/>
            <a:t>An optimizer improves the model by adjusting its parameters (weights and biases) to minimize the loss function value.</a:t>
          </a:r>
          <a:endParaRPr lang="en-US" sz="2400" kern="1200"/>
        </a:p>
      </dsp:txBody>
      <dsp:txXfrm>
        <a:off x="1710403" y="3015380"/>
        <a:ext cx="7094792" cy="1265378"/>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B96AF9-5F76-4FDE-B196-7D1F54B86353}" type="datetimeFigureOut">
              <a:rPr lang="en-US" smtClean="0"/>
              <a:t>10/26/2025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A85A26-A1A5-4D58-9F50-EC1923FDC08F}" type="slidenum">
              <a:rPr lang="en-US" smtClean="0"/>
              <a:t>‹#›</a:t>
            </a:fld>
            <a:endParaRPr lang="en-US"/>
          </a:p>
        </p:txBody>
      </p:sp>
    </p:spTree>
    <p:extLst>
      <p:ext uri="{BB962C8B-B14F-4D97-AF65-F5344CB8AC3E}">
        <p14:creationId xmlns:p14="http://schemas.microsoft.com/office/powerpoint/2010/main" val="1623217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Example of Gradient Descent Algorithm</a:t>
            </a:r>
          </a:p>
          <a:p>
            <a:r>
              <a:rPr lang="en-US" sz="1200" b="0" i="0" kern="1200" dirty="0">
                <a:solidFill>
                  <a:schemeClr val="tx1"/>
                </a:solidFill>
                <a:effectLst/>
                <a:latin typeface="+mn-lt"/>
                <a:ea typeface="+mn-ea"/>
                <a:cs typeface="+mn-cs"/>
              </a:rPr>
              <a:t>Let’s say you are playing a game in which the players are at the top of a mountain and asked to reach the lowest point of the mountain. Additionally, they are blindfolded. So, what approach do you think would make you reach the lake?</a:t>
            </a:r>
          </a:p>
          <a:p>
            <a:r>
              <a:rPr lang="en-US" sz="1200" b="0" i="0" kern="1200" dirty="0">
                <a:solidFill>
                  <a:schemeClr val="tx1"/>
                </a:solidFill>
                <a:effectLst/>
                <a:latin typeface="+mn-lt"/>
                <a:ea typeface="+mn-ea"/>
                <a:cs typeface="+mn-cs"/>
              </a:rPr>
              <a:t>Take a moment to think about this before you read on.</a:t>
            </a:r>
          </a:p>
          <a:p>
            <a:r>
              <a:rPr lang="en-US" sz="1200" b="0" i="0" kern="1200" dirty="0">
                <a:solidFill>
                  <a:schemeClr val="tx1"/>
                </a:solidFill>
                <a:effectLst/>
                <a:latin typeface="+mn-lt"/>
                <a:ea typeface="+mn-ea"/>
                <a:cs typeface="+mn-cs"/>
              </a:rPr>
              <a:t>The best way is to observe the ground and find where the land descends. From that position, step in the descending direction and iterate this process until we reach the lowest point.</a:t>
            </a:r>
          </a:p>
          <a:p>
            <a:r>
              <a:rPr lang="en-US" sz="1200" b="0" i="0" kern="1200" dirty="0">
                <a:solidFill>
                  <a:schemeClr val="tx1"/>
                </a:solidFill>
                <a:effectLst/>
                <a:latin typeface="+mn-lt"/>
                <a:ea typeface="+mn-ea"/>
                <a:cs typeface="+mn-cs"/>
              </a:rPr>
              <a:t>Finding the lowest point in a hilly landscape.</a:t>
            </a:r>
          </a:p>
          <a:p>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Gradient descent is an iterative optimization algorithm for finding the local minimum of a function.</a:t>
            </a:r>
          </a:p>
          <a:p>
            <a:r>
              <a:rPr lang="en-US" sz="1200" b="0" i="0" kern="1200" dirty="0">
                <a:solidFill>
                  <a:schemeClr val="tx1"/>
                </a:solidFill>
                <a:effectLst/>
                <a:latin typeface="+mn-lt"/>
                <a:ea typeface="+mn-ea"/>
                <a:cs typeface="+mn-cs"/>
              </a:rPr>
              <a:t>To find the local minimum of a function using gradient descent, we must take steps proportional to the negative of the gradient (move away from the gradient) of the function at the current point. If we take steps proportional to the positive of the gradient (moving towards the gradient), we will approach a local maximum of the function, and the procedure is called</a:t>
            </a:r>
            <a:r>
              <a:rPr lang="en-US" sz="1200" b="1" i="0" kern="1200" dirty="0">
                <a:solidFill>
                  <a:schemeClr val="tx1"/>
                </a:solidFill>
                <a:effectLst/>
                <a:latin typeface="+mn-lt"/>
                <a:ea typeface="+mn-ea"/>
                <a:cs typeface="+mn-cs"/>
              </a:rPr>
              <a:t> Gradient Ascent.</a:t>
            </a:r>
            <a:endParaRPr lang="en-US" sz="1200" b="0" i="0" kern="1200" dirty="0">
              <a:solidFill>
                <a:schemeClr val="tx1"/>
              </a:solidFill>
              <a:effectLst/>
              <a:latin typeface="+mn-lt"/>
              <a:ea typeface="+mn-ea"/>
              <a:cs typeface="+mn-cs"/>
            </a:endParaRPr>
          </a:p>
          <a:p>
            <a:endParaRPr lang="en-US" dirty="0"/>
          </a:p>
          <a:p>
            <a:r>
              <a:rPr lang="en-US" sz="1200" b="0" i="0" kern="1200" dirty="0">
                <a:solidFill>
                  <a:schemeClr val="tx1"/>
                </a:solidFill>
                <a:effectLst/>
                <a:latin typeface="+mn-lt"/>
                <a:ea typeface="+mn-ea"/>
                <a:cs typeface="+mn-cs"/>
              </a:rPr>
              <a:t>The goal of the gradient descent algorithm is to minimize the given function (say, cost function). To achieve this goal, it performs two steps iteratively:</a:t>
            </a:r>
          </a:p>
          <a:p>
            <a:r>
              <a:rPr lang="en-US" sz="1200" b="1" i="0" kern="1200" dirty="0">
                <a:solidFill>
                  <a:schemeClr val="tx1"/>
                </a:solidFill>
                <a:effectLst/>
                <a:latin typeface="+mn-lt"/>
                <a:ea typeface="+mn-ea"/>
                <a:cs typeface="+mn-cs"/>
              </a:rPr>
              <a:t>Compute the gradient </a:t>
            </a:r>
            <a:r>
              <a:rPr lang="en-US" sz="1200" b="0" i="0" kern="1200" dirty="0">
                <a:solidFill>
                  <a:schemeClr val="tx1"/>
                </a:solidFill>
                <a:effectLst/>
                <a:latin typeface="+mn-lt"/>
                <a:ea typeface="+mn-ea"/>
                <a:cs typeface="+mn-cs"/>
              </a:rPr>
              <a:t>(slope), the first-order derivative of the function at that point</a:t>
            </a:r>
          </a:p>
          <a:p>
            <a:r>
              <a:rPr lang="en-US" sz="1200" b="1" i="0" kern="1200" dirty="0">
                <a:solidFill>
                  <a:schemeClr val="tx1"/>
                </a:solidFill>
                <a:effectLst/>
                <a:latin typeface="+mn-lt"/>
                <a:ea typeface="+mn-ea"/>
                <a:cs typeface="+mn-cs"/>
              </a:rPr>
              <a:t>Make a step (move) in the direction opposite to the gradient</a:t>
            </a:r>
            <a:r>
              <a:rPr lang="en-US" sz="1200" b="0" i="0" kern="1200" dirty="0">
                <a:solidFill>
                  <a:schemeClr val="tx1"/>
                </a:solidFill>
                <a:effectLst/>
                <a:latin typeface="+mn-lt"/>
                <a:ea typeface="+mn-ea"/>
                <a:cs typeface="+mn-cs"/>
              </a:rPr>
              <a:t>. The opposite direction of the slope increases from the current point by alpha times the gradient at that point</a:t>
            </a:r>
          </a:p>
          <a:p>
            <a:endParaRPr lang="en-US" dirty="0"/>
          </a:p>
        </p:txBody>
      </p:sp>
      <p:sp>
        <p:nvSpPr>
          <p:cNvPr id="4" name="Slide Number Placeholder 3"/>
          <p:cNvSpPr>
            <a:spLocks noGrp="1"/>
          </p:cNvSpPr>
          <p:nvPr>
            <p:ph type="sldNum" sz="quarter" idx="5"/>
          </p:nvPr>
        </p:nvSpPr>
        <p:spPr/>
        <p:txBody>
          <a:bodyPr/>
          <a:lstStyle/>
          <a:p>
            <a:fld id="{D9A85A26-A1A5-4D58-9F50-EC1923FDC08F}" type="slidenum">
              <a:rPr lang="en-US" smtClean="0"/>
              <a:t>15</a:t>
            </a:fld>
            <a:endParaRPr lang="en-US"/>
          </a:p>
        </p:txBody>
      </p:sp>
    </p:spTree>
    <p:extLst>
      <p:ext uri="{BB962C8B-B14F-4D97-AF65-F5344CB8AC3E}">
        <p14:creationId xmlns:p14="http://schemas.microsoft.com/office/powerpoint/2010/main" val="5311687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919C3-342D-2FC2-4FD1-1CF29A3233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691EBB-D018-C2C2-2C43-7D58AE0ACA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966BC1-F31C-CC5B-13A6-855771C31377}"/>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Example of Gradient Descent Algorithm</a:t>
            </a:r>
          </a:p>
          <a:p>
            <a:r>
              <a:rPr lang="en-US" sz="1200" b="0" i="0" kern="1200" dirty="0">
                <a:solidFill>
                  <a:schemeClr val="tx1"/>
                </a:solidFill>
                <a:effectLst/>
                <a:latin typeface="+mn-lt"/>
                <a:ea typeface="+mn-ea"/>
                <a:cs typeface="+mn-cs"/>
              </a:rPr>
              <a:t>Let’s say you are playing a game in which the players are at the top of a mountain and asked to reach the lowest point of the mountain. Additionally, they are blindfolded. So, what approach do you think would make you reach the lake?</a:t>
            </a:r>
          </a:p>
          <a:p>
            <a:r>
              <a:rPr lang="en-US" sz="1200" b="0" i="0" kern="1200" dirty="0">
                <a:solidFill>
                  <a:schemeClr val="tx1"/>
                </a:solidFill>
                <a:effectLst/>
                <a:latin typeface="+mn-lt"/>
                <a:ea typeface="+mn-ea"/>
                <a:cs typeface="+mn-cs"/>
              </a:rPr>
              <a:t>Take a moment to think about this before you read on.</a:t>
            </a:r>
          </a:p>
          <a:p>
            <a:r>
              <a:rPr lang="en-US" sz="1200" b="0" i="0" kern="1200" dirty="0">
                <a:solidFill>
                  <a:schemeClr val="tx1"/>
                </a:solidFill>
                <a:effectLst/>
                <a:latin typeface="+mn-lt"/>
                <a:ea typeface="+mn-ea"/>
                <a:cs typeface="+mn-cs"/>
              </a:rPr>
              <a:t>The best way is to observe the ground and find where the land descends. From that position, step in the descending direction and iterate this process until we reach the lowest point.</a:t>
            </a:r>
          </a:p>
          <a:p>
            <a:r>
              <a:rPr lang="en-US" sz="1200" b="0" i="0" kern="1200" dirty="0">
                <a:solidFill>
                  <a:schemeClr val="tx1"/>
                </a:solidFill>
                <a:effectLst/>
                <a:latin typeface="+mn-lt"/>
                <a:ea typeface="+mn-ea"/>
                <a:cs typeface="+mn-cs"/>
              </a:rPr>
              <a:t>Finding the lowest point in a hilly landscape.</a:t>
            </a:r>
          </a:p>
          <a:p>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Gradient descent is an iterative optimization algorithm for finding the local minimum of a function.</a:t>
            </a:r>
          </a:p>
          <a:p>
            <a:r>
              <a:rPr lang="en-US" sz="1200" b="0" i="0" kern="1200" dirty="0">
                <a:solidFill>
                  <a:schemeClr val="tx1"/>
                </a:solidFill>
                <a:effectLst/>
                <a:latin typeface="+mn-lt"/>
                <a:ea typeface="+mn-ea"/>
                <a:cs typeface="+mn-cs"/>
              </a:rPr>
              <a:t>To find the local minimum of a function using gradient descent, we must take steps proportional to the negative of the gradient (move away from the gradient) of the function at the current point. If we take steps proportional to the positive of the gradient (moving towards the gradient), we will approach a local maximum of the function, and the procedure is called</a:t>
            </a:r>
            <a:r>
              <a:rPr lang="en-US" sz="1200" b="1" i="0" kern="1200" dirty="0">
                <a:solidFill>
                  <a:schemeClr val="tx1"/>
                </a:solidFill>
                <a:effectLst/>
                <a:latin typeface="+mn-lt"/>
                <a:ea typeface="+mn-ea"/>
                <a:cs typeface="+mn-cs"/>
              </a:rPr>
              <a:t> Gradient Ascent.</a:t>
            </a:r>
            <a:endParaRPr lang="en-US" sz="1200" b="0" i="0" kern="1200" dirty="0">
              <a:solidFill>
                <a:schemeClr val="tx1"/>
              </a:solidFill>
              <a:effectLst/>
              <a:latin typeface="+mn-lt"/>
              <a:ea typeface="+mn-ea"/>
              <a:cs typeface="+mn-cs"/>
            </a:endParaRPr>
          </a:p>
          <a:p>
            <a:endParaRPr lang="en-US" dirty="0"/>
          </a:p>
          <a:p>
            <a:r>
              <a:rPr lang="en-US" sz="1200" b="0" i="0" kern="1200" dirty="0">
                <a:solidFill>
                  <a:schemeClr val="tx1"/>
                </a:solidFill>
                <a:effectLst/>
                <a:latin typeface="+mn-lt"/>
                <a:ea typeface="+mn-ea"/>
                <a:cs typeface="+mn-cs"/>
              </a:rPr>
              <a:t>The goal of the gradient descent algorithm is to minimize the given function (say, cost function). To achieve this goal, it performs two steps iteratively:</a:t>
            </a:r>
          </a:p>
          <a:p>
            <a:r>
              <a:rPr lang="en-US" sz="1200" b="1" i="0" kern="1200" dirty="0">
                <a:solidFill>
                  <a:schemeClr val="tx1"/>
                </a:solidFill>
                <a:effectLst/>
                <a:latin typeface="+mn-lt"/>
                <a:ea typeface="+mn-ea"/>
                <a:cs typeface="+mn-cs"/>
              </a:rPr>
              <a:t>Compute the gradient </a:t>
            </a:r>
            <a:r>
              <a:rPr lang="en-US" sz="1200" b="0" i="0" kern="1200" dirty="0">
                <a:solidFill>
                  <a:schemeClr val="tx1"/>
                </a:solidFill>
                <a:effectLst/>
                <a:latin typeface="+mn-lt"/>
                <a:ea typeface="+mn-ea"/>
                <a:cs typeface="+mn-cs"/>
              </a:rPr>
              <a:t>(slope), the first-order derivative of the function at that point</a:t>
            </a:r>
          </a:p>
          <a:p>
            <a:r>
              <a:rPr lang="en-US" sz="1200" b="1" i="0" kern="1200" dirty="0">
                <a:solidFill>
                  <a:schemeClr val="tx1"/>
                </a:solidFill>
                <a:effectLst/>
                <a:latin typeface="+mn-lt"/>
                <a:ea typeface="+mn-ea"/>
                <a:cs typeface="+mn-cs"/>
              </a:rPr>
              <a:t>Make a step (move) in the direction opposite to the gradient</a:t>
            </a:r>
            <a:r>
              <a:rPr lang="en-US" sz="1200" b="0" i="0" kern="1200" dirty="0">
                <a:solidFill>
                  <a:schemeClr val="tx1"/>
                </a:solidFill>
                <a:effectLst/>
                <a:latin typeface="+mn-lt"/>
                <a:ea typeface="+mn-ea"/>
                <a:cs typeface="+mn-cs"/>
              </a:rPr>
              <a:t>. The opposite direction of the slope increases from the current point by alpha times the gradient at that point</a:t>
            </a:r>
          </a:p>
          <a:p>
            <a:endParaRPr lang="en-US" dirty="0"/>
          </a:p>
        </p:txBody>
      </p:sp>
      <p:sp>
        <p:nvSpPr>
          <p:cNvPr id="4" name="Slide Number Placeholder 3">
            <a:extLst>
              <a:ext uri="{FF2B5EF4-FFF2-40B4-BE49-F238E27FC236}">
                <a16:creationId xmlns:a16="http://schemas.microsoft.com/office/drawing/2014/main" id="{CD302BB7-35C8-7208-F12F-DA00BE9A9903}"/>
              </a:ext>
            </a:extLst>
          </p:cNvPr>
          <p:cNvSpPr>
            <a:spLocks noGrp="1"/>
          </p:cNvSpPr>
          <p:nvPr>
            <p:ph type="sldNum" sz="quarter" idx="5"/>
          </p:nvPr>
        </p:nvSpPr>
        <p:spPr/>
        <p:txBody>
          <a:bodyPr/>
          <a:lstStyle/>
          <a:p>
            <a:fld id="{D9A85A26-A1A5-4D58-9F50-EC1923FDC08F}" type="slidenum">
              <a:rPr lang="en-US" smtClean="0"/>
              <a:t>16</a:t>
            </a:fld>
            <a:endParaRPr lang="en-US"/>
          </a:p>
        </p:txBody>
      </p:sp>
    </p:spTree>
    <p:extLst>
      <p:ext uri="{BB962C8B-B14F-4D97-AF65-F5344CB8AC3E}">
        <p14:creationId xmlns:p14="http://schemas.microsoft.com/office/powerpoint/2010/main" val="26676887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99585-C2C8-7C8C-347E-1CFF569D360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0A00CFA-EB28-BFEA-437D-A7080161648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1008ECA-F24C-DED3-6BAC-65C7B5698451}"/>
              </a:ext>
            </a:extLst>
          </p:cNvPr>
          <p:cNvSpPr>
            <a:spLocks noGrp="1"/>
          </p:cNvSpPr>
          <p:nvPr>
            <p:ph type="dt" sz="half" idx="10"/>
          </p:nvPr>
        </p:nvSpPr>
        <p:spPr/>
        <p:txBody>
          <a:bodyPr/>
          <a:lstStyle/>
          <a:p>
            <a:fld id="{381818DE-49DE-4F2C-9F28-B9AE02BA406D}" type="datetimeFigureOut">
              <a:rPr lang="en-US" smtClean="0"/>
              <a:t>10/26/2025</a:t>
            </a:fld>
            <a:endParaRPr lang="en-US"/>
          </a:p>
        </p:txBody>
      </p:sp>
      <p:sp>
        <p:nvSpPr>
          <p:cNvPr id="5" name="Footer Placeholder 4">
            <a:extLst>
              <a:ext uri="{FF2B5EF4-FFF2-40B4-BE49-F238E27FC236}">
                <a16:creationId xmlns:a16="http://schemas.microsoft.com/office/drawing/2014/main" id="{57C47246-A904-369A-FCDC-ADA9EAF3F2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1F17BA-8547-505D-A437-DAC8EFEE6061}"/>
              </a:ext>
            </a:extLst>
          </p:cNvPr>
          <p:cNvSpPr>
            <a:spLocks noGrp="1"/>
          </p:cNvSpPr>
          <p:nvPr>
            <p:ph type="sldNum" sz="quarter" idx="12"/>
          </p:nvPr>
        </p:nvSpPr>
        <p:spPr/>
        <p:txBody>
          <a:bodyPr/>
          <a:lstStyle/>
          <a:p>
            <a:fld id="{7D03E86C-66AA-48F6-ABB2-3409F08191EC}" type="slidenum">
              <a:rPr lang="en-US" smtClean="0"/>
              <a:t>‹#›</a:t>
            </a:fld>
            <a:endParaRPr lang="en-US"/>
          </a:p>
        </p:txBody>
      </p:sp>
    </p:spTree>
    <p:extLst>
      <p:ext uri="{BB962C8B-B14F-4D97-AF65-F5344CB8AC3E}">
        <p14:creationId xmlns:p14="http://schemas.microsoft.com/office/powerpoint/2010/main" val="12243231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D2360-2B5A-FD74-3574-52E937F7B85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93078B-0ECF-22F4-BD09-9DBF34A0B48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A4A853-3D2F-DF43-118D-F12B78331B36}"/>
              </a:ext>
            </a:extLst>
          </p:cNvPr>
          <p:cNvSpPr>
            <a:spLocks noGrp="1"/>
          </p:cNvSpPr>
          <p:nvPr>
            <p:ph type="dt" sz="half" idx="10"/>
          </p:nvPr>
        </p:nvSpPr>
        <p:spPr/>
        <p:txBody>
          <a:bodyPr/>
          <a:lstStyle/>
          <a:p>
            <a:fld id="{381818DE-49DE-4F2C-9F28-B9AE02BA406D}" type="datetimeFigureOut">
              <a:rPr lang="en-US" smtClean="0"/>
              <a:t>10/26/2025</a:t>
            </a:fld>
            <a:endParaRPr lang="en-US"/>
          </a:p>
        </p:txBody>
      </p:sp>
      <p:sp>
        <p:nvSpPr>
          <p:cNvPr id="5" name="Footer Placeholder 4">
            <a:extLst>
              <a:ext uri="{FF2B5EF4-FFF2-40B4-BE49-F238E27FC236}">
                <a16:creationId xmlns:a16="http://schemas.microsoft.com/office/drawing/2014/main" id="{D5675CEF-CE5E-C101-0DE2-9D4096900B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DFE1A5-7795-93EB-ACB7-D6866DBBF619}"/>
              </a:ext>
            </a:extLst>
          </p:cNvPr>
          <p:cNvSpPr>
            <a:spLocks noGrp="1"/>
          </p:cNvSpPr>
          <p:nvPr>
            <p:ph type="sldNum" sz="quarter" idx="12"/>
          </p:nvPr>
        </p:nvSpPr>
        <p:spPr/>
        <p:txBody>
          <a:bodyPr/>
          <a:lstStyle/>
          <a:p>
            <a:fld id="{7D03E86C-66AA-48F6-ABB2-3409F08191EC}" type="slidenum">
              <a:rPr lang="en-US" smtClean="0"/>
              <a:t>‹#›</a:t>
            </a:fld>
            <a:endParaRPr lang="en-US"/>
          </a:p>
        </p:txBody>
      </p:sp>
    </p:spTree>
    <p:extLst>
      <p:ext uri="{BB962C8B-B14F-4D97-AF65-F5344CB8AC3E}">
        <p14:creationId xmlns:p14="http://schemas.microsoft.com/office/powerpoint/2010/main" val="1910324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F3C80-A79B-9C57-245A-CD8901C90FB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C16C516-34F3-9A3D-84B8-F381701961C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F49DC68-A122-FEE7-76F7-9E7CB6C6BF19}"/>
              </a:ext>
            </a:extLst>
          </p:cNvPr>
          <p:cNvSpPr>
            <a:spLocks noGrp="1"/>
          </p:cNvSpPr>
          <p:nvPr>
            <p:ph type="dt" sz="half" idx="10"/>
          </p:nvPr>
        </p:nvSpPr>
        <p:spPr/>
        <p:txBody>
          <a:bodyPr/>
          <a:lstStyle/>
          <a:p>
            <a:fld id="{381818DE-49DE-4F2C-9F28-B9AE02BA406D}" type="datetimeFigureOut">
              <a:rPr lang="en-US" smtClean="0"/>
              <a:t>10/26/2025</a:t>
            </a:fld>
            <a:endParaRPr lang="en-US"/>
          </a:p>
        </p:txBody>
      </p:sp>
      <p:sp>
        <p:nvSpPr>
          <p:cNvPr id="5" name="Footer Placeholder 4">
            <a:extLst>
              <a:ext uri="{FF2B5EF4-FFF2-40B4-BE49-F238E27FC236}">
                <a16:creationId xmlns:a16="http://schemas.microsoft.com/office/drawing/2014/main" id="{C69591F1-703C-EBEB-0DC3-AF8123597A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DAA876-8FDC-AE98-BF0F-1F3686AB1BB6}"/>
              </a:ext>
            </a:extLst>
          </p:cNvPr>
          <p:cNvSpPr>
            <a:spLocks noGrp="1"/>
          </p:cNvSpPr>
          <p:nvPr>
            <p:ph type="sldNum" sz="quarter" idx="12"/>
          </p:nvPr>
        </p:nvSpPr>
        <p:spPr/>
        <p:txBody>
          <a:bodyPr/>
          <a:lstStyle/>
          <a:p>
            <a:fld id="{7D03E86C-66AA-48F6-ABB2-3409F08191EC}" type="slidenum">
              <a:rPr lang="en-US" smtClean="0"/>
              <a:t>‹#›</a:t>
            </a:fld>
            <a:endParaRPr lang="en-US"/>
          </a:p>
        </p:txBody>
      </p:sp>
    </p:spTree>
    <p:extLst>
      <p:ext uri="{BB962C8B-B14F-4D97-AF65-F5344CB8AC3E}">
        <p14:creationId xmlns:p14="http://schemas.microsoft.com/office/powerpoint/2010/main" val="10924079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D00F6-0AA2-5166-B161-9529F102F81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E952F45-886C-B845-2601-B6C4907EBE0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ED120EC-427F-6806-7E65-A4D475E6639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3CD112B-D800-FA9F-65B0-1B5EF9B6A562}"/>
              </a:ext>
            </a:extLst>
          </p:cNvPr>
          <p:cNvSpPr>
            <a:spLocks noGrp="1"/>
          </p:cNvSpPr>
          <p:nvPr>
            <p:ph type="dt" sz="half" idx="10"/>
          </p:nvPr>
        </p:nvSpPr>
        <p:spPr/>
        <p:txBody>
          <a:bodyPr/>
          <a:lstStyle/>
          <a:p>
            <a:fld id="{381818DE-49DE-4F2C-9F28-B9AE02BA406D}" type="datetimeFigureOut">
              <a:rPr lang="en-US" smtClean="0"/>
              <a:t>10/26/2025</a:t>
            </a:fld>
            <a:endParaRPr lang="en-US"/>
          </a:p>
        </p:txBody>
      </p:sp>
      <p:sp>
        <p:nvSpPr>
          <p:cNvPr id="6" name="Footer Placeholder 5">
            <a:extLst>
              <a:ext uri="{FF2B5EF4-FFF2-40B4-BE49-F238E27FC236}">
                <a16:creationId xmlns:a16="http://schemas.microsoft.com/office/drawing/2014/main" id="{16E9C12D-56BD-7AD9-1192-91130D2E21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DFEA66-F803-62A3-42E1-5E32EE980188}"/>
              </a:ext>
            </a:extLst>
          </p:cNvPr>
          <p:cNvSpPr>
            <a:spLocks noGrp="1"/>
          </p:cNvSpPr>
          <p:nvPr>
            <p:ph type="sldNum" sz="quarter" idx="12"/>
          </p:nvPr>
        </p:nvSpPr>
        <p:spPr/>
        <p:txBody>
          <a:bodyPr/>
          <a:lstStyle/>
          <a:p>
            <a:fld id="{7D03E86C-66AA-48F6-ABB2-3409F08191EC}" type="slidenum">
              <a:rPr lang="en-US" smtClean="0"/>
              <a:t>‹#›</a:t>
            </a:fld>
            <a:endParaRPr lang="en-US"/>
          </a:p>
        </p:txBody>
      </p:sp>
    </p:spTree>
    <p:extLst>
      <p:ext uri="{BB962C8B-B14F-4D97-AF65-F5344CB8AC3E}">
        <p14:creationId xmlns:p14="http://schemas.microsoft.com/office/powerpoint/2010/main" val="25414107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501B6-C58C-0B49-DF06-8C8A804E2E0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3BEF331-06B2-1EEE-9BE3-B9DA8174C6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4859436-BDF3-DF48-AA42-2F902A40A84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981321F-9222-3DA4-0309-FFF41915BFF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9660115-B56B-3B9D-E82F-B229B92B172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DAF77A-743C-E77C-97D3-E6255604C198}"/>
              </a:ext>
            </a:extLst>
          </p:cNvPr>
          <p:cNvSpPr>
            <a:spLocks noGrp="1"/>
          </p:cNvSpPr>
          <p:nvPr>
            <p:ph type="dt" sz="half" idx="10"/>
          </p:nvPr>
        </p:nvSpPr>
        <p:spPr/>
        <p:txBody>
          <a:bodyPr/>
          <a:lstStyle/>
          <a:p>
            <a:fld id="{381818DE-49DE-4F2C-9F28-B9AE02BA406D}" type="datetimeFigureOut">
              <a:rPr lang="en-US" smtClean="0"/>
              <a:t>10/26/2025</a:t>
            </a:fld>
            <a:endParaRPr lang="en-US"/>
          </a:p>
        </p:txBody>
      </p:sp>
      <p:sp>
        <p:nvSpPr>
          <p:cNvPr id="8" name="Footer Placeholder 7">
            <a:extLst>
              <a:ext uri="{FF2B5EF4-FFF2-40B4-BE49-F238E27FC236}">
                <a16:creationId xmlns:a16="http://schemas.microsoft.com/office/drawing/2014/main" id="{0E59721E-7BFD-55C5-42C2-B535C641CC1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DACEF55-3FA9-78F0-6ED5-30DF929B43A6}"/>
              </a:ext>
            </a:extLst>
          </p:cNvPr>
          <p:cNvSpPr>
            <a:spLocks noGrp="1"/>
          </p:cNvSpPr>
          <p:nvPr>
            <p:ph type="sldNum" sz="quarter" idx="12"/>
          </p:nvPr>
        </p:nvSpPr>
        <p:spPr/>
        <p:txBody>
          <a:bodyPr/>
          <a:lstStyle/>
          <a:p>
            <a:fld id="{7D03E86C-66AA-48F6-ABB2-3409F08191EC}" type="slidenum">
              <a:rPr lang="en-US" smtClean="0"/>
              <a:t>‹#›</a:t>
            </a:fld>
            <a:endParaRPr lang="en-US"/>
          </a:p>
        </p:txBody>
      </p:sp>
    </p:spTree>
    <p:extLst>
      <p:ext uri="{BB962C8B-B14F-4D97-AF65-F5344CB8AC3E}">
        <p14:creationId xmlns:p14="http://schemas.microsoft.com/office/powerpoint/2010/main" val="21575404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18865-BC2D-8C16-6553-ED1711B9262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CAB8E2D-55F3-D4F1-DA05-AFDF49244DEA}"/>
              </a:ext>
            </a:extLst>
          </p:cNvPr>
          <p:cNvSpPr>
            <a:spLocks noGrp="1"/>
          </p:cNvSpPr>
          <p:nvPr>
            <p:ph type="dt" sz="half" idx="10"/>
          </p:nvPr>
        </p:nvSpPr>
        <p:spPr/>
        <p:txBody>
          <a:bodyPr/>
          <a:lstStyle/>
          <a:p>
            <a:fld id="{381818DE-49DE-4F2C-9F28-B9AE02BA406D}" type="datetimeFigureOut">
              <a:rPr lang="en-US" smtClean="0"/>
              <a:t>10/26/2025</a:t>
            </a:fld>
            <a:endParaRPr lang="en-US"/>
          </a:p>
        </p:txBody>
      </p:sp>
      <p:sp>
        <p:nvSpPr>
          <p:cNvPr id="4" name="Footer Placeholder 3">
            <a:extLst>
              <a:ext uri="{FF2B5EF4-FFF2-40B4-BE49-F238E27FC236}">
                <a16:creationId xmlns:a16="http://schemas.microsoft.com/office/drawing/2014/main" id="{8A8C6E51-6856-2494-4C81-3CCE1C31150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D071F48-F308-5247-4EFA-9BC9567C7BD5}"/>
              </a:ext>
            </a:extLst>
          </p:cNvPr>
          <p:cNvSpPr>
            <a:spLocks noGrp="1"/>
          </p:cNvSpPr>
          <p:nvPr>
            <p:ph type="sldNum" sz="quarter" idx="12"/>
          </p:nvPr>
        </p:nvSpPr>
        <p:spPr/>
        <p:txBody>
          <a:bodyPr/>
          <a:lstStyle/>
          <a:p>
            <a:fld id="{7D03E86C-66AA-48F6-ABB2-3409F08191EC}" type="slidenum">
              <a:rPr lang="en-US" smtClean="0"/>
              <a:t>‹#›</a:t>
            </a:fld>
            <a:endParaRPr lang="en-US"/>
          </a:p>
        </p:txBody>
      </p:sp>
    </p:spTree>
    <p:extLst>
      <p:ext uri="{BB962C8B-B14F-4D97-AF65-F5344CB8AC3E}">
        <p14:creationId xmlns:p14="http://schemas.microsoft.com/office/powerpoint/2010/main" val="3077883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CC5307-E4D9-AAEC-0175-3433DD8D842D}"/>
              </a:ext>
            </a:extLst>
          </p:cNvPr>
          <p:cNvSpPr>
            <a:spLocks noGrp="1"/>
          </p:cNvSpPr>
          <p:nvPr>
            <p:ph type="dt" sz="half" idx="10"/>
          </p:nvPr>
        </p:nvSpPr>
        <p:spPr/>
        <p:txBody>
          <a:bodyPr/>
          <a:lstStyle/>
          <a:p>
            <a:fld id="{381818DE-49DE-4F2C-9F28-B9AE02BA406D}" type="datetimeFigureOut">
              <a:rPr lang="en-US" smtClean="0"/>
              <a:t>10/26/2025</a:t>
            </a:fld>
            <a:endParaRPr lang="en-US"/>
          </a:p>
        </p:txBody>
      </p:sp>
      <p:sp>
        <p:nvSpPr>
          <p:cNvPr id="3" name="Footer Placeholder 2">
            <a:extLst>
              <a:ext uri="{FF2B5EF4-FFF2-40B4-BE49-F238E27FC236}">
                <a16:creationId xmlns:a16="http://schemas.microsoft.com/office/drawing/2014/main" id="{351C0BE9-3B94-41D0-5026-388BFA9B54B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A7EE9D3-6E8E-450F-DE75-7F04F167C88E}"/>
              </a:ext>
            </a:extLst>
          </p:cNvPr>
          <p:cNvSpPr>
            <a:spLocks noGrp="1"/>
          </p:cNvSpPr>
          <p:nvPr>
            <p:ph type="sldNum" sz="quarter" idx="12"/>
          </p:nvPr>
        </p:nvSpPr>
        <p:spPr/>
        <p:txBody>
          <a:bodyPr/>
          <a:lstStyle/>
          <a:p>
            <a:fld id="{7D03E86C-66AA-48F6-ABB2-3409F08191EC}" type="slidenum">
              <a:rPr lang="en-US" smtClean="0"/>
              <a:t>‹#›</a:t>
            </a:fld>
            <a:endParaRPr lang="en-US"/>
          </a:p>
        </p:txBody>
      </p:sp>
    </p:spTree>
    <p:extLst>
      <p:ext uri="{BB962C8B-B14F-4D97-AF65-F5344CB8AC3E}">
        <p14:creationId xmlns:p14="http://schemas.microsoft.com/office/powerpoint/2010/main" val="25080163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FFC96-C0DB-7482-AB0F-994D8280E4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FF0D842-DC84-23CD-A73A-5DED143F59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9BC255F-DBEF-65A7-EAF4-B7F56058AA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A7DCAC-FE84-E62F-50A7-A81919BEC3B6}"/>
              </a:ext>
            </a:extLst>
          </p:cNvPr>
          <p:cNvSpPr>
            <a:spLocks noGrp="1"/>
          </p:cNvSpPr>
          <p:nvPr>
            <p:ph type="dt" sz="half" idx="10"/>
          </p:nvPr>
        </p:nvSpPr>
        <p:spPr/>
        <p:txBody>
          <a:bodyPr/>
          <a:lstStyle/>
          <a:p>
            <a:fld id="{381818DE-49DE-4F2C-9F28-B9AE02BA406D}" type="datetimeFigureOut">
              <a:rPr lang="en-US" smtClean="0"/>
              <a:t>10/26/2025</a:t>
            </a:fld>
            <a:endParaRPr lang="en-US"/>
          </a:p>
        </p:txBody>
      </p:sp>
      <p:sp>
        <p:nvSpPr>
          <p:cNvPr id="6" name="Footer Placeholder 5">
            <a:extLst>
              <a:ext uri="{FF2B5EF4-FFF2-40B4-BE49-F238E27FC236}">
                <a16:creationId xmlns:a16="http://schemas.microsoft.com/office/drawing/2014/main" id="{B25C9EFE-0A8D-763B-00B5-13F24A4BAB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C85913E-D833-9985-E82A-E39ACC67C98B}"/>
              </a:ext>
            </a:extLst>
          </p:cNvPr>
          <p:cNvSpPr>
            <a:spLocks noGrp="1"/>
          </p:cNvSpPr>
          <p:nvPr>
            <p:ph type="sldNum" sz="quarter" idx="12"/>
          </p:nvPr>
        </p:nvSpPr>
        <p:spPr/>
        <p:txBody>
          <a:bodyPr/>
          <a:lstStyle/>
          <a:p>
            <a:fld id="{7D03E86C-66AA-48F6-ABB2-3409F08191EC}" type="slidenum">
              <a:rPr lang="en-US" smtClean="0"/>
              <a:t>‹#›</a:t>
            </a:fld>
            <a:endParaRPr lang="en-US"/>
          </a:p>
        </p:txBody>
      </p:sp>
    </p:spTree>
    <p:extLst>
      <p:ext uri="{BB962C8B-B14F-4D97-AF65-F5344CB8AC3E}">
        <p14:creationId xmlns:p14="http://schemas.microsoft.com/office/powerpoint/2010/main" val="21762131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31617-545F-6941-0A36-5418144160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120B464-42BD-5C20-82B2-5AC87778E6D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651703D-59C0-126C-6A58-B8BFC0C32E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C6B5B1A-EEF8-9213-70AC-C07D502EA46B}"/>
              </a:ext>
            </a:extLst>
          </p:cNvPr>
          <p:cNvSpPr>
            <a:spLocks noGrp="1"/>
          </p:cNvSpPr>
          <p:nvPr>
            <p:ph type="dt" sz="half" idx="10"/>
          </p:nvPr>
        </p:nvSpPr>
        <p:spPr/>
        <p:txBody>
          <a:bodyPr/>
          <a:lstStyle/>
          <a:p>
            <a:fld id="{381818DE-49DE-4F2C-9F28-B9AE02BA406D}" type="datetimeFigureOut">
              <a:rPr lang="en-US" smtClean="0"/>
              <a:t>10/26/2025</a:t>
            </a:fld>
            <a:endParaRPr lang="en-US"/>
          </a:p>
        </p:txBody>
      </p:sp>
      <p:sp>
        <p:nvSpPr>
          <p:cNvPr id="6" name="Footer Placeholder 5">
            <a:extLst>
              <a:ext uri="{FF2B5EF4-FFF2-40B4-BE49-F238E27FC236}">
                <a16:creationId xmlns:a16="http://schemas.microsoft.com/office/drawing/2014/main" id="{968065F4-DCA1-6FA4-A9EA-E8CAB240B8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80AB59-82FE-D258-4535-3A9DBA1CB8C8}"/>
              </a:ext>
            </a:extLst>
          </p:cNvPr>
          <p:cNvSpPr>
            <a:spLocks noGrp="1"/>
          </p:cNvSpPr>
          <p:nvPr>
            <p:ph type="sldNum" sz="quarter" idx="12"/>
          </p:nvPr>
        </p:nvSpPr>
        <p:spPr/>
        <p:txBody>
          <a:bodyPr/>
          <a:lstStyle/>
          <a:p>
            <a:fld id="{7D03E86C-66AA-48F6-ABB2-3409F08191EC}" type="slidenum">
              <a:rPr lang="en-US" smtClean="0"/>
              <a:t>‹#›</a:t>
            </a:fld>
            <a:endParaRPr lang="en-US"/>
          </a:p>
        </p:txBody>
      </p:sp>
    </p:spTree>
    <p:extLst>
      <p:ext uri="{BB962C8B-B14F-4D97-AF65-F5344CB8AC3E}">
        <p14:creationId xmlns:p14="http://schemas.microsoft.com/office/powerpoint/2010/main" val="16035953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90AAD-2C90-6549-12D7-D59A146E3CF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8C31E94-F1C3-FD68-77B5-2CEA2E3C90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23F5D3-52E3-370F-47A4-53CED2F7B95E}"/>
              </a:ext>
            </a:extLst>
          </p:cNvPr>
          <p:cNvSpPr>
            <a:spLocks noGrp="1"/>
          </p:cNvSpPr>
          <p:nvPr>
            <p:ph type="dt" sz="half" idx="10"/>
          </p:nvPr>
        </p:nvSpPr>
        <p:spPr/>
        <p:txBody>
          <a:bodyPr/>
          <a:lstStyle/>
          <a:p>
            <a:fld id="{381818DE-49DE-4F2C-9F28-B9AE02BA406D}" type="datetimeFigureOut">
              <a:rPr lang="en-US" smtClean="0"/>
              <a:t>10/26/2025</a:t>
            </a:fld>
            <a:endParaRPr lang="en-US"/>
          </a:p>
        </p:txBody>
      </p:sp>
      <p:sp>
        <p:nvSpPr>
          <p:cNvPr id="5" name="Footer Placeholder 4">
            <a:extLst>
              <a:ext uri="{FF2B5EF4-FFF2-40B4-BE49-F238E27FC236}">
                <a16:creationId xmlns:a16="http://schemas.microsoft.com/office/drawing/2014/main" id="{EC1B5B6B-F116-7279-9098-40FFC9046A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BE0137-A231-705D-7D90-49AF923AF5EE}"/>
              </a:ext>
            </a:extLst>
          </p:cNvPr>
          <p:cNvSpPr>
            <a:spLocks noGrp="1"/>
          </p:cNvSpPr>
          <p:nvPr>
            <p:ph type="sldNum" sz="quarter" idx="12"/>
          </p:nvPr>
        </p:nvSpPr>
        <p:spPr/>
        <p:txBody>
          <a:bodyPr/>
          <a:lstStyle/>
          <a:p>
            <a:fld id="{7D03E86C-66AA-48F6-ABB2-3409F08191EC}" type="slidenum">
              <a:rPr lang="en-US" smtClean="0"/>
              <a:t>‹#›</a:t>
            </a:fld>
            <a:endParaRPr lang="en-US"/>
          </a:p>
        </p:txBody>
      </p:sp>
    </p:spTree>
    <p:extLst>
      <p:ext uri="{BB962C8B-B14F-4D97-AF65-F5344CB8AC3E}">
        <p14:creationId xmlns:p14="http://schemas.microsoft.com/office/powerpoint/2010/main" val="37828437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9698546-F05A-7488-7BA0-50CB43D0567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8A26FA0-58CC-CE02-F6A0-E7268013113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8832D1-A34E-6A2F-DA2F-640A00105F61}"/>
              </a:ext>
            </a:extLst>
          </p:cNvPr>
          <p:cNvSpPr>
            <a:spLocks noGrp="1"/>
          </p:cNvSpPr>
          <p:nvPr>
            <p:ph type="dt" sz="half" idx="10"/>
          </p:nvPr>
        </p:nvSpPr>
        <p:spPr/>
        <p:txBody>
          <a:bodyPr/>
          <a:lstStyle/>
          <a:p>
            <a:fld id="{381818DE-49DE-4F2C-9F28-B9AE02BA406D}" type="datetimeFigureOut">
              <a:rPr lang="en-US" smtClean="0"/>
              <a:t>10/26/2025</a:t>
            </a:fld>
            <a:endParaRPr lang="en-US"/>
          </a:p>
        </p:txBody>
      </p:sp>
      <p:sp>
        <p:nvSpPr>
          <p:cNvPr id="5" name="Footer Placeholder 4">
            <a:extLst>
              <a:ext uri="{FF2B5EF4-FFF2-40B4-BE49-F238E27FC236}">
                <a16:creationId xmlns:a16="http://schemas.microsoft.com/office/drawing/2014/main" id="{B3AEBDA6-6D57-233E-98C9-1CFB3A5577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6B3481-8E12-7196-B4C8-76C5812B4028}"/>
              </a:ext>
            </a:extLst>
          </p:cNvPr>
          <p:cNvSpPr>
            <a:spLocks noGrp="1"/>
          </p:cNvSpPr>
          <p:nvPr>
            <p:ph type="sldNum" sz="quarter" idx="12"/>
          </p:nvPr>
        </p:nvSpPr>
        <p:spPr/>
        <p:txBody>
          <a:bodyPr/>
          <a:lstStyle/>
          <a:p>
            <a:fld id="{7D03E86C-66AA-48F6-ABB2-3409F08191EC}" type="slidenum">
              <a:rPr lang="en-US" smtClean="0"/>
              <a:t>‹#›</a:t>
            </a:fld>
            <a:endParaRPr lang="en-US"/>
          </a:p>
        </p:txBody>
      </p:sp>
    </p:spTree>
    <p:extLst>
      <p:ext uri="{BB962C8B-B14F-4D97-AF65-F5344CB8AC3E}">
        <p14:creationId xmlns:p14="http://schemas.microsoft.com/office/powerpoint/2010/main" val="933909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ED546A8-A107-00B1-5473-B39E80CF9A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1B2BA14-07D0-5C72-85D2-A1F6153B6A0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C0E802-0490-F326-6FE2-1217A9436F8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81818DE-49DE-4F2C-9F28-B9AE02BA406D}" type="datetimeFigureOut">
              <a:rPr lang="en-US" smtClean="0"/>
              <a:t>10/26/2025</a:t>
            </a:fld>
            <a:endParaRPr lang="en-US"/>
          </a:p>
        </p:txBody>
      </p:sp>
      <p:sp>
        <p:nvSpPr>
          <p:cNvPr id="5" name="Footer Placeholder 4">
            <a:extLst>
              <a:ext uri="{FF2B5EF4-FFF2-40B4-BE49-F238E27FC236}">
                <a16:creationId xmlns:a16="http://schemas.microsoft.com/office/drawing/2014/main" id="{5D1F65DF-2FA1-C7A1-78F6-58D460C32B3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87BCEF0-68CF-674E-030A-7610654E37E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D03E86C-66AA-48F6-ABB2-3409F08191EC}" type="slidenum">
              <a:rPr lang="en-US" smtClean="0"/>
              <a:t>‹#›</a:t>
            </a:fld>
            <a:endParaRPr lang="en-US"/>
          </a:p>
        </p:txBody>
      </p:sp>
    </p:spTree>
    <p:extLst>
      <p:ext uri="{BB962C8B-B14F-4D97-AF65-F5344CB8AC3E}">
        <p14:creationId xmlns:p14="http://schemas.microsoft.com/office/powerpoint/2010/main" val="35844435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6.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1.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4B64E9-FDC8-054A-A98F-E16ABB588FC5}"/>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5400" kern="1200">
                <a:solidFill>
                  <a:schemeClr val="tx1"/>
                </a:solidFill>
                <a:latin typeface="+mj-lt"/>
                <a:ea typeface="+mj-ea"/>
                <a:cs typeface="+mj-cs"/>
              </a:rPr>
              <a:t>Important Deep Learning Terms</a:t>
            </a:r>
          </a:p>
        </p:txBody>
      </p:sp>
      <p:sp>
        <p:nvSpPr>
          <p:cNvPr id="1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0D2C529D-743C-822D-7DCF-B4D59F8F5213}"/>
              </a:ext>
            </a:extLst>
          </p:cNvPr>
          <p:cNvSpPr txBox="1"/>
          <p:nvPr/>
        </p:nvSpPr>
        <p:spPr>
          <a:xfrm>
            <a:off x="838200" y="1954060"/>
            <a:ext cx="10853928" cy="4678221"/>
          </a:xfrm>
          <a:prstGeom prst="rect">
            <a:avLst/>
          </a:prstGeom>
        </p:spPr>
        <p:txBody>
          <a:bodyPr vert="horz" lIns="91440" tIns="45720" rIns="91440" bIns="45720" rtlCol="0">
            <a:normAutofit/>
          </a:bodyPr>
          <a:lstStyle/>
          <a:p>
            <a:pPr>
              <a:lnSpc>
                <a:spcPct val="90000"/>
              </a:lnSpc>
            </a:pPr>
            <a:r>
              <a:rPr lang="en-US" sz="2400" b="0" i="0" dirty="0">
                <a:effectLst/>
              </a:rPr>
              <a:t>Before proceeding, there are a few terms that you should be familiar with.</a:t>
            </a:r>
          </a:p>
          <a:p>
            <a:pPr indent="-228600">
              <a:lnSpc>
                <a:spcPct val="90000"/>
              </a:lnSpc>
              <a:spcAft>
                <a:spcPts val="750"/>
              </a:spcAft>
              <a:buFont typeface="Arial" panose="020B0604020202020204" pitchFamily="34" charset="0"/>
              <a:buChar char="•"/>
            </a:pPr>
            <a:r>
              <a:rPr lang="en-US" sz="2400" b="1" i="0" dirty="0">
                <a:effectLst/>
              </a:rPr>
              <a:t>Epoch</a:t>
            </a:r>
            <a:r>
              <a:rPr lang="en-US" sz="2400" b="0" i="0" dirty="0">
                <a:effectLst/>
              </a:rPr>
              <a:t> – The number of times the algorithm runs on the whole training dataset.</a:t>
            </a:r>
          </a:p>
          <a:p>
            <a:pPr indent="-228600">
              <a:lnSpc>
                <a:spcPct val="90000"/>
              </a:lnSpc>
              <a:spcAft>
                <a:spcPts val="750"/>
              </a:spcAft>
              <a:buFont typeface="Arial" panose="020B0604020202020204" pitchFamily="34" charset="0"/>
              <a:buChar char="•"/>
            </a:pPr>
            <a:r>
              <a:rPr lang="en-US" sz="2400" b="1" i="0" dirty="0">
                <a:effectLst/>
              </a:rPr>
              <a:t>Sample</a:t>
            </a:r>
            <a:r>
              <a:rPr lang="en-US" sz="2400" b="0" i="0" dirty="0">
                <a:effectLst/>
              </a:rPr>
              <a:t> – A single row of a dataset.</a:t>
            </a:r>
          </a:p>
          <a:p>
            <a:pPr indent="-228600">
              <a:lnSpc>
                <a:spcPct val="90000"/>
              </a:lnSpc>
              <a:spcAft>
                <a:spcPts val="750"/>
              </a:spcAft>
              <a:buFont typeface="Arial" panose="020B0604020202020204" pitchFamily="34" charset="0"/>
              <a:buChar char="•"/>
            </a:pPr>
            <a:r>
              <a:rPr lang="en-US" sz="2400" b="1" i="0" dirty="0">
                <a:effectLst/>
              </a:rPr>
              <a:t>Batch</a:t>
            </a:r>
            <a:r>
              <a:rPr lang="en-US" sz="2400" b="0" i="0" dirty="0">
                <a:effectLst/>
              </a:rPr>
              <a:t> – It denotes the number of samples to be taken to for updating the model parameters.</a:t>
            </a:r>
          </a:p>
          <a:p>
            <a:pPr indent="-228600">
              <a:lnSpc>
                <a:spcPct val="90000"/>
              </a:lnSpc>
              <a:spcAft>
                <a:spcPts val="750"/>
              </a:spcAft>
              <a:buFont typeface="Arial" panose="020B0604020202020204" pitchFamily="34" charset="0"/>
              <a:buChar char="•"/>
            </a:pPr>
            <a:r>
              <a:rPr lang="en-US" sz="2400" b="1" i="0" dirty="0">
                <a:effectLst/>
              </a:rPr>
              <a:t>Learning rate</a:t>
            </a:r>
            <a:r>
              <a:rPr lang="en-US" sz="2400" b="0" i="0" dirty="0">
                <a:effectLst/>
              </a:rPr>
              <a:t> – It is a parameter that provides the model a scale of how much model weights should be updated.</a:t>
            </a:r>
          </a:p>
          <a:p>
            <a:pPr indent="-228600">
              <a:lnSpc>
                <a:spcPct val="90000"/>
              </a:lnSpc>
              <a:spcAft>
                <a:spcPts val="750"/>
              </a:spcAft>
              <a:buFont typeface="Arial" panose="020B0604020202020204" pitchFamily="34" charset="0"/>
              <a:buChar char="•"/>
            </a:pPr>
            <a:r>
              <a:rPr lang="en-US" sz="2400" b="1" i="0" dirty="0">
                <a:effectLst/>
              </a:rPr>
              <a:t>Cost Function/Loss Function</a:t>
            </a:r>
            <a:r>
              <a:rPr lang="en-US" sz="2400" b="0" i="0" dirty="0">
                <a:effectLst/>
              </a:rPr>
              <a:t> – A cost function is used to calculate the cost, which is the difference between the predicted value and the actual value.</a:t>
            </a:r>
          </a:p>
          <a:p>
            <a:pPr indent="-228600">
              <a:lnSpc>
                <a:spcPct val="90000"/>
              </a:lnSpc>
              <a:spcAft>
                <a:spcPts val="750"/>
              </a:spcAft>
              <a:buFont typeface="Arial" panose="020B0604020202020204" pitchFamily="34" charset="0"/>
              <a:buChar char="•"/>
            </a:pPr>
            <a:r>
              <a:rPr lang="en-US" sz="2400" b="1" i="0" dirty="0">
                <a:effectLst/>
              </a:rPr>
              <a:t>Weights/ Bias</a:t>
            </a:r>
            <a:r>
              <a:rPr lang="en-US" sz="2400" b="0" i="0" dirty="0">
                <a:effectLst/>
              </a:rPr>
              <a:t> – The learnable parameters in a model that controls the signal between two neurons.</a:t>
            </a:r>
          </a:p>
        </p:txBody>
      </p:sp>
    </p:spTree>
    <p:extLst>
      <p:ext uri="{BB962C8B-B14F-4D97-AF65-F5344CB8AC3E}">
        <p14:creationId xmlns:p14="http://schemas.microsoft.com/office/powerpoint/2010/main" val="32789178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1F849-B321-BCB7-2439-A92F8C4E577C}"/>
              </a:ext>
            </a:extLst>
          </p:cNvPr>
          <p:cNvSpPr>
            <a:spLocks noGrp="1"/>
          </p:cNvSpPr>
          <p:nvPr>
            <p:ph type="ctrTitle"/>
          </p:nvPr>
        </p:nvSpPr>
        <p:spPr/>
        <p:txBody>
          <a:bodyPr/>
          <a:lstStyle/>
          <a:p>
            <a:pPr fontAlgn="base"/>
            <a:r>
              <a:rPr lang="en-US" b="1" dirty="0"/>
              <a:t>Activation functions in Neural Networks</a:t>
            </a:r>
          </a:p>
        </p:txBody>
      </p:sp>
      <p:sp>
        <p:nvSpPr>
          <p:cNvPr id="3" name="Subtitle 2">
            <a:extLst>
              <a:ext uri="{FF2B5EF4-FFF2-40B4-BE49-F238E27FC236}">
                <a16:creationId xmlns:a16="http://schemas.microsoft.com/office/drawing/2014/main" id="{202604C5-10E5-7E6D-42AE-A7E8B3A1EBB0}"/>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1132580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0B9EE3F3-89B7-43C3-8651-C4C968309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7FD1CD-9FD6-886A-5123-1D20BCDA64B3}"/>
              </a:ext>
            </a:extLst>
          </p:cNvPr>
          <p:cNvSpPr>
            <a:spLocks noGrp="1"/>
          </p:cNvSpPr>
          <p:nvPr>
            <p:ph type="title"/>
          </p:nvPr>
        </p:nvSpPr>
        <p:spPr>
          <a:xfrm>
            <a:off x="411480" y="991443"/>
            <a:ext cx="4443154" cy="1087819"/>
          </a:xfrm>
        </p:spPr>
        <p:txBody>
          <a:bodyPr vert="horz" lIns="91440" tIns="45720" rIns="91440" bIns="45720" rtlCol="0" anchor="b">
            <a:normAutofit/>
          </a:bodyPr>
          <a:lstStyle/>
          <a:p>
            <a:r>
              <a:rPr lang="en-US" sz="3400" kern="1200" dirty="0">
                <a:solidFill>
                  <a:schemeClr val="tx1"/>
                </a:solidFill>
                <a:latin typeface="+mj-lt"/>
                <a:ea typeface="+mj-ea"/>
                <a:cs typeface="+mj-cs"/>
              </a:rPr>
              <a:t>Activation function</a:t>
            </a:r>
          </a:p>
        </p:txBody>
      </p:sp>
      <p:sp>
        <p:nvSpPr>
          <p:cNvPr id="28" name="Rectangle 27">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0" name="Rectangle 29">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TextBox 3">
            <a:extLst>
              <a:ext uri="{FF2B5EF4-FFF2-40B4-BE49-F238E27FC236}">
                <a16:creationId xmlns:a16="http://schemas.microsoft.com/office/drawing/2014/main" id="{9483538B-07AB-1257-B0B5-3DCB60936690}"/>
              </a:ext>
            </a:extLst>
          </p:cNvPr>
          <p:cNvSpPr txBox="1"/>
          <p:nvPr/>
        </p:nvSpPr>
        <p:spPr>
          <a:xfrm>
            <a:off x="411480" y="2684095"/>
            <a:ext cx="4443154" cy="3492868"/>
          </a:xfrm>
          <a:prstGeom prst="rect">
            <a:avLst/>
          </a:prstGeom>
        </p:spPr>
        <p:txBody>
          <a:bodyPr vert="horz" lIns="91440" tIns="45720" rIns="91440" bIns="45720" rtlCol="0">
            <a:normAutofit/>
          </a:bodyPr>
          <a:lstStyle/>
          <a:p>
            <a:pPr indent="-228600" fontAlgn="base">
              <a:lnSpc>
                <a:spcPct val="90000"/>
              </a:lnSpc>
              <a:spcAft>
                <a:spcPts val="750"/>
              </a:spcAft>
              <a:buFont typeface="Arial" panose="020B0604020202020204" pitchFamily="34" charset="0"/>
              <a:buChar char="•"/>
            </a:pPr>
            <a:r>
              <a:rPr lang="en-US" b="0" i="0">
                <a:effectLst/>
              </a:rPr>
              <a:t>An activation function in a neural network is a mathematical function applied to the output of a neuron. It introduces non-linearity, enabling the model to learn and represent complex data patterns. Without it, even a deep neural network would behave like a simple linear regression model.</a:t>
            </a:r>
          </a:p>
          <a:p>
            <a:pPr indent="-228600" fontAlgn="base">
              <a:lnSpc>
                <a:spcPct val="90000"/>
              </a:lnSpc>
              <a:spcAft>
                <a:spcPts val="750"/>
              </a:spcAft>
              <a:buFont typeface="Arial" panose="020B0604020202020204" pitchFamily="34" charset="0"/>
              <a:buChar char="•"/>
            </a:pPr>
            <a:r>
              <a:rPr lang="en-US" b="0" i="0">
                <a:effectLst/>
              </a:rPr>
              <a:t>Activation functions decide whether a neuron should be activated based on the weighted sum of inputs and a bias term. They also make backpropagation possible by providing gradients for weight updates.</a:t>
            </a:r>
          </a:p>
        </p:txBody>
      </p:sp>
      <p:pic>
        <p:nvPicPr>
          <p:cNvPr id="7" name="Picture 6">
            <a:extLst>
              <a:ext uri="{FF2B5EF4-FFF2-40B4-BE49-F238E27FC236}">
                <a16:creationId xmlns:a16="http://schemas.microsoft.com/office/drawing/2014/main" id="{9BFC6A11-2A7D-2874-C3F5-8920F8335009}"/>
              </a:ext>
            </a:extLst>
          </p:cNvPr>
          <p:cNvPicPr>
            <a:picLocks noChangeAspect="1"/>
          </p:cNvPicPr>
          <p:nvPr/>
        </p:nvPicPr>
        <p:blipFill>
          <a:blip r:embed="rId2"/>
          <a:stretch>
            <a:fillRect/>
          </a:stretch>
        </p:blipFill>
        <p:spPr>
          <a:xfrm>
            <a:off x="5385816" y="1050569"/>
            <a:ext cx="6440424" cy="4701507"/>
          </a:xfrm>
          <a:prstGeom prst="rect">
            <a:avLst/>
          </a:prstGeom>
        </p:spPr>
      </p:pic>
    </p:spTree>
    <p:extLst>
      <p:ext uri="{BB962C8B-B14F-4D97-AF65-F5344CB8AC3E}">
        <p14:creationId xmlns:p14="http://schemas.microsoft.com/office/powerpoint/2010/main" val="29743181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5E3015-4B71-13B9-B362-6776930AEF86}"/>
              </a:ext>
            </a:extLst>
          </p:cNvPr>
          <p:cNvSpPr>
            <a:spLocks noGrp="1"/>
          </p:cNvSpPr>
          <p:nvPr>
            <p:ph type="title"/>
          </p:nvPr>
        </p:nvSpPr>
        <p:spPr>
          <a:xfrm>
            <a:off x="841248" y="548640"/>
            <a:ext cx="3600860" cy="5431536"/>
          </a:xfrm>
        </p:spPr>
        <p:txBody>
          <a:bodyPr vert="horz" lIns="91440" tIns="45720" rIns="91440" bIns="45720" rtlCol="0" anchor="ctr">
            <a:normAutofit/>
          </a:bodyPr>
          <a:lstStyle/>
          <a:p>
            <a:r>
              <a:rPr lang="en-US" sz="5400" b="1" kern="1200">
                <a:solidFill>
                  <a:schemeClr val="tx1"/>
                </a:solidFill>
                <a:latin typeface="+mj-lt"/>
                <a:ea typeface="+mj-ea"/>
                <a:cs typeface="+mj-cs"/>
              </a:rPr>
              <a:t>Why Non-Linearity is Important</a:t>
            </a:r>
            <a:endParaRPr lang="en-US" sz="5400" kern="1200">
              <a:solidFill>
                <a:schemeClr val="tx1"/>
              </a:solidFill>
              <a:latin typeface="+mj-lt"/>
              <a:ea typeface="+mj-ea"/>
              <a:cs typeface="+mj-cs"/>
            </a:endParaRPr>
          </a:p>
        </p:txBody>
      </p:sp>
      <p:sp>
        <p:nvSpPr>
          <p:cNvPr id="11"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944003DE-C2D6-4C36-E935-3F055E046C12}"/>
              </a:ext>
            </a:extLst>
          </p:cNvPr>
          <p:cNvSpPr txBox="1"/>
          <p:nvPr/>
        </p:nvSpPr>
        <p:spPr>
          <a:xfrm>
            <a:off x="5126418" y="552091"/>
            <a:ext cx="6224335" cy="5431536"/>
          </a:xfrm>
          <a:prstGeom prst="rect">
            <a:avLst/>
          </a:prstGeom>
        </p:spPr>
        <p:txBody>
          <a:bodyPr vert="horz" lIns="91440" tIns="45720" rIns="91440" bIns="45720" rtlCol="0" anchor="ctr">
            <a:normAutofit/>
          </a:bodyPr>
          <a:lstStyle/>
          <a:p>
            <a:pPr indent="-228600" fontAlgn="base">
              <a:lnSpc>
                <a:spcPct val="90000"/>
              </a:lnSpc>
              <a:spcAft>
                <a:spcPts val="1800"/>
              </a:spcAft>
              <a:buFont typeface="Arial" panose="020B0604020202020204" pitchFamily="34" charset="0"/>
              <a:buChar char="•"/>
            </a:pPr>
            <a:r>
              <a:rPr lang="en-US" sz="2200" b="0" i="0" dirty="0">
                <a:effectLst/>
              </a:rPr>
              <a:t>Real-world data is rarely linearly separable.</a:t>
            </a:r>
          </a:p>
          <a:p>
            <a:pPr indent="-228600" fontAlgn="base">
              <a:lnSpc>
                <a:spcPct val="90000"/>
              </a:lnSpc>
              <a:spcAft>
                <a:spcPts val="1800"/>
              </a:spcAft>
              <a:buFont typeface="Arial" panose="020B0604020202020204" pitchFamily="34" charset="0"/>
              <a:buChar char="•"/>
            </a:pPr>
            <a:r>
              <a:rPr lang="en-US" sz="2200" b="0" i="0" dirty="0">
                <a:effectLst/>
              </a:rPr>
              <a:t>Non-linear functions allow neural networks to form </a:t>
            </a:r>
            <a:r>
              <a:rPr lang="en-US" sz="2200" b="1" i="0" dirty="0">
                <a:effectLst/>
              </a:rPr>
              <a:t>curved decision boundaries</a:t>
            </a:r>
            <a:r>
              <a:rPr lang="en-US" sz="2200" b="0" i="0" dirty="0">
                <a:effectLst/>
              </a:rPr>
              <a:t>, making them capable of handling complex patterns (e.g., classifying apples vs. bananas under varying colors and shapes).</a:t>
            </a:r>
          </a:p>
          <a:p>
            <a:pPr indent="-228600" fontAlgn="base">
              <a:lnSpc>
                <a:spcPct val="90000"/>
              </a:lnSpc>
              <a:spcAft>
                <a:spcPts val="1800"/>
              </a:spcAft>
              <a:buFont typeface="Arial" panose="020B0604020202020204" pitchFamily="34" charset="0"/>
              <a:buChar char="•"/>
            </a:pPr>
            <a:r>
              <a:rPr lang="en-US" sz="2200" b="0" i="0" dirty="0">
                <a:effectLst/>
              </a:rPr>
              <a:t>They ensure networks can model advanced problems like image recognition, NLP and speech processing.</a:t>
            </a:r>
          </a:p>
          <a:p>
            <a:pPr indent="-228600">
              <a:lnSpc>
                <a:spcPct val="90000"/>
              </a:lnSpc>
              <a:buFont typeface="Arial" panose="020B0604020202020204" pitchFamily="34" charset="0"/>
              <a:buChar char="•"/>
            </a:pPr>
            <a:br>
              <a:rPr lang="en-US" sz="2200" dirty="0"/>
            </a:br>
            <a:endParaRPr lang="en-US" sz="2200" dirty="0"/>
          </a:p>
        </p:txBody>
      </p:sp>
    </p:spTree>
    <p:extLst>
      <p:ext uri="{BB962C8B-B14F-4D97-AF65-F5344CB8AC3E}">
        <p14:creationId xmlns:p14="http://schemas.microsoft.com/office/powerpoint/2010/main" val="21708328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CE26A9FB-40F7-5142-7A64-7816405C2E11}"/>
              </a:ext>
            </a:extLst>
          </p:cNvPr>
          <p:cNvSpPr>
            <a:spLocks noGrp="1"/>
          </p:cNvSpPr>
          <p:nvPr>
            <p:ph type="title"/>
          </p:nvPr>
        </p:nvSpPr>
        <p:spPr>
          <a:xfrm>
            <a:off x="479394" y="1070800"/>
            <a:ext cx="3939688" cy="5583126"/>
          </a:xfrm>
        </p:spPr>
        <p:txBody>
          <a:bodyPr vert="horz" lIns="91440" tIns="45720" rIns="91440" bIns="45720" rtlCol="0" anchor="ctr">
            <a:normAutofit/>
          </a:bodyPr>
          <a:lstStyle/>
          <a:p>
            <a:pPr algn="r"/>
            <a:r>
              <a:rPr lang="en-US" sz="5400" b="1" kern="1200" dirty="0">
                <a:solidFill>
                  <a:schemeClr val="tx1"/>
                </a:solidFill>
                <a:latin typeface="+mj-lt"/>
                <a:ea typeface="+mj-ea"/>
                <a:cs typeface="+mj-cs"/>
              </a:rPr>
              <a:t>Types of Activation Functions in Deep Learning</a:t>
            </a:r>
            <a:endParaRPr lang="en-US" sz="5400" kern="1200" dirty="0">
              <a:solidFill>
                <a:schemeClr val="tx1"/>
              </a:solidFill>
              <a:latin typeface="+mj-lt"/>
              <a:ea typeface="+mj-ea"/>
              <a:cs typeface="+mj-cs"/>
            </a:endParaRPr>
          </a:p>
        </p:txBody>
      </p:sp>
      <p:cxnSp>
        <p:nvCxnSpPr>
          <p:cNvPr id="12" name="Straight Connector 11">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13" name="TextBox 3">
            <a:extLst>
              <a:ext uri="{FF2B5EF4-FFF2-40B4-BE49-F238E27FC236}">
                <a16:creationId xmlns:a16="http://schemas.microsoft.com/office/drawing/2014/main" id="{1177C7C7-2886-F794-81B5-A7F61F51B624}"/>
              </a:ext>
            </a:extLst>
          </p:cNvPr>
          <p:cNvGraphicFramePr/>
          <p:nvPr>
            <p:extLst>
              <p:ext uri="{D42A27DB-BD31-4B8C-83A1-F6EECF244321}">
                <p14:modId xmlns:p14="http://schemas.microsoft.com/office/powerpoint/2010/main" val="565574580"/>
              </p:ext>
            </p:extLst>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201454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C10F6-F028-5F32-3F70-96B8511CB78F}"/>
            </a:ext>
          </a:extLst>
        </p:cNvPr>
        <p:cNvGrpSpPr/>
        <p:nvPr/>
      </p:nvGrpSpPr>
      <p:grpSpPr>
        <a:xfrm>
          <a:off x="0" y="0"/>
          <a:ext cx="0" cy="0"/>
          <a:chOff x="0" y="0"/>
          <a:chExt cx="0" cy="0"/>
        </a:xfrm>
      </p:grpSpPr>
      <p:pic>
        <p:nvPicPr>
          <p:cNvPr id="2052" name="Picture 4" descr="Sigmoid-Activation-Function">
            <a:extLst>
              <a:ext uri="{FF2B5EF4-FFF2-40B4-BE49-F238E27FC236}">
                <a16:creationId xmlns:a16="http://schemas.microsoft.com/office/drawing/2014/main" id="{456DAE4A-DA14-5B81-64A9-07F9B76996C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343501" y="2141689"/>
            <a:ext cx="6632675" cy="465945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B1D094C-30A1-567A-8DAB-B23A2E1C71F8}"/>
              </a:ext>
            </a:extLst>
          </p:cNvPr>
          <p:cNvSpPr>
            <a:spLocks noGrp="1"/>
          </p:cNvSpPr>
          <p:nvPr>
            <p:ph type="title"/>
          </p:nvPr>
        </p:nvSpPr>
        <p:spPr>
          <a:xfrm>
            <a:off x="630936" y="457200"/>
            <a:ext cx="4343400" cy="1929384"/>
          </a:xfrm>
        </p:spPr>
        <p:txBody>
          <a:bodyPr vert="horz" lIns="91440" tIns="45720" rIns="91440" bIns="45720" rtlCol="0" anchor="ctr">
            <a:normAutofit/>
          </a:bodyPr>
          <a:lstStyle/>
          <a:p>
            <a:r>
              <a:rPr lang="en-US" sz="4800" b="1"/>
              <a:t>Sigmoid Function</a:t>
            </a:r>
            <a:endParaRPr lang="en-US" sz="4800"/>
          </a:p>
        </p:txBody>
      </p:sp>
      <p:sp>
        <p:nvSpPr>
          <p:cNvPr id="4" name="TextBox 3">
            <a:extLst>
              <a:ext uri="{FF2B5EF4-FFF2-40B4-BE49-F238E27FC236}">
                <a16:creationId xmlns:a16="http://schemas.microsoft.com/office/drawing/2014/main" id="{A0FC8996-47C2-99B4-C37E-D1BA2D424E91}"/>
              </a:ext>
            </a:extLst>
          </p:cNvPr>
          <p:cNvSpPr txBox="1"/>
          <p:nvPr/>
        </p:nvSpPr>
        <p:spPr>
          <a:xfrm>
            <a:off x="4597052" y="457200"/>
            <a:ext cx="7265096" cy="1929384"/>
          </a:xfrm>
          <a:prstGeom prst="rect">
            <a:avLst/>
          </a:prstGeom>
        </p:spPr>
        <p:txBody>
          <a:bodyPr vert="horz" lIns="91440" tIns="45720" rIns="91440" bIns="45720" rtlCol="0" anchor="ctr">
            <a:normAutofit/>
          </a:bodyPr>
          <a:lstStyle/>
          <a:p>
            <a:pPr indent="-228600">
              <a:lnSpc>
                <a:spcPct val="90000"/>
              </a:lnSpc>
              <a:buFont typeface="Arial" panose="020B0604020202020204" pitchFamily="34" charset="0"/>
              <a:buChar char="•"/>
            </a:pPr>
            <a:r>
              <a:rPr lang="en-US" sz="1600" dirty="0"/>
              <a:t>It </a:t>
            </a:r>
            <a:r>
              <a:rPr lang="en-US" sz="1600" b="0" i="0" dirty="0">
                <a:effectLst/>
              </a:rPr>
              <a:t>is characterized by 'S' shape. It is mathematically defined as</a:t>
            </a:r>
          </a:p>
          <a:p>
            <a:pPr indent="-228600">
              <a:lnSpc>
                <a:spcPct val="90000"/>
              </a:lnSpc>
              <a:buFont typeface="Arial" panose="020B0604020202020204" pitchFamily="34" charset="0"/>
              <a:buChar char="•"/>
            </a:pPr>
            <a:endParaRPr lang="en-US" sz="1600" b="0" i="0" dirty="0">
              <a:effectLst/>
            </a:endParaRPr>
          </a:p>
          <a:p>
            <a:pPr indent="-228600">
              <a:lnSpc>
                <a:spcPct val="90000"/>
              </a:lnSpc>
              <a:buFont typeface="Arial" panose="020B0604020202020204" pitchFamily="34" charset="0"/>
              <a:buChar char="•"/>
            </a:pPr>
            <a:endParaRPr lang="en-US" sz="1600" dirty="0"/>
          </a:p>
          <a:p>
            <a:pPr indent="-228600" fontAlgn="base">
              <a:lnSpc>
                <a:spcPct val="90000"/>
              </a:lnSpc>
              <a:spcAft>
                <a:spcPts val="1800"/>
              </a:spcAft>
              <a:buFont typeface="Arial" panose="020B0604020202020204" pitchFamily="34" charset="0"/>
              <a:buChar char="•"/>
            </a:pPr>
            <a:r>
              <a:rPr lang="en-US" sz="1600" b="0" i="0" dirty="0">
                <a:effectLst/>
              </a:rPr>
              <a:t>It allows neural networks to handle and model complex patterns that linear equations cannot.</a:t>
            </a:r>
          </a:p>
          <a:p>
            <a:pPr indent="-228600" fontAlgn="base">
              <a:lnSpc>
                <a:spcPct val="90000"/>
              </a:lnSpc>
              <a:spcAft>
                <a:spcPts val="1800"/>
              </a:spcAft>
              <a:buFont typeface="Arial" panose="020B0604020202020204" pitchFamily="34" charset="0"/>
              <a:buChar char="•"/>
            </a:pPr>
            <a:r>
              <a:rPr lang="en-US" sz="1600" b="0" i="0" dirty="0">
                <a:effectLst/>
              </a:rPr>
              <a:t>The output ranges between 0 and 1, hence useful for binary classification.</a:t>
            </a:r>
          </a:p>
          <a:p>
            <a:pPr indent="-228600">
              <a:lnSpc>
                <a:spcPct val="90000"/>
              </a:lnSpc>
              <a:buFont typeface="Arial" panose="020B0604020202020204" pitchFamily="34" charset="0"/>
              <a:buChar char="•"/>
            </a:pPr>
            <a:endParaRPr lang="en-US" sz="1600" dirty="0"/>
          </a:p>
        </p:txBody>
      </p:sp>
      <p:pic>
        <p:nvPicPr>
          <p:cNvPr id="7" name="Picture 2" descr="Activation Functions in Neural Networks [12 Types &amp; Use Cases]">
            <a:extLst>
              <a:ext uri="{FF2B5EF4-FFF2-40B4-BE49-F238E27FC236}">
                <a16:creationId xmlns:a16="http://schemas.microsoft.com/office/drawing/2014/main" id="{4C890949-BD2A-CD87-1ECA-4023E20273B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809" t="37986" r="17243" b="28387"/>
          <a:stretch>
            <a:fillRect/>
          </a:stretch>
        </p:blipFill>
        <p:spPr bwMode="auto">
          <a:xfrm>
            <a:off x="466344" y="4020854"/>
            <a:ext cx="3541973" cy="17013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27066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C21AA-EA93-E456-0503-879AB6AE64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2E80C6-E33D-0AFD-80E2-E67591D0CF97}"/>
              </a:ext>
            </a:extLst>
          </p:cNvPr>
          <p:cNvSpPr>
            <a:spLocks noGrp="1"/>
          </p:cNvSpPr>
          <p:nvPr>
            <p:ph type="title"/>
          </p:nvPr>
        </p:nvSpPr>
        <p:spPr>
          <a:xfrm>
            <a:off x="382619" y="438411"/>
            <a:ext cx="4343400" cy="1929384"/>
          </a:xfrm>
        </p:spPr>
        <p:txBody>
          <a:bodyPr vert="horz" lIns="91440" tIns="45720" rIns="91440" bIns="45720" rtlCol="0" anchor="ctr">
            <a:normAutofit/>
          </a:bodyPr>
          <a:lstStyle/>
          <a:p>
            <a:r>
              <a:rPr lang="en-US" b="1"/>
              <a:t>Tanh Activation Function </a:t>
            </a:r>
            <a:endParaRPr lang="en-US" sz="4800" dirty="0"/>
          </a:p>
        </p:txBody>
      </p:sp>
      <p:sp>
        <p:nvSpPr>
          <p:cNvPr id="4" name="TextBox 3">
            <a:extLst>
              <a:ext uri="{FF2B5EF4-FFF2-40B4-BE49-F238E27FC236}">
                <a16:creationId xmlns:a16="http://schemas.microsoft.com/office/drawing/2014/main" id="{664C93FE-BFEC-9CC8-510D-F0FFAE98376A}"/>
              </a:ext>
            </a:extLst>
          </p:cNvPr>
          <p:cNvSpPr txBox="1"/>
          <p:nvPr/>
        </p:nvSpPr>
        <p:spPr>
          <a:xfrm>
            <a:off x="4438389" y="56856"/>
            <a:ext cx="7753611" cy="2698870"/>
          </a:xfrm>
          <a:prstGeom prst="rect">
            <a:avLst/>
          </a:prstGeom>
        </p:spPr>
        <p:txBody>
          <a:bodyPr vert="horz" lIns="91440" tIns="45720" rIns="91440" bIns="45720" rtlCol="0" anchor="ctr">
            <a:normAutofit/>
          </a:bodyPr>
          <a:lstStyle/>
          <a:p>
            <a:pPr marL="285750" indent="-285750">
              <a:lnSpc>
                <a:spcPct val="90000"/>
              </a:lnSpc>
              <a:buFont typeface="Arial" panose="020B0604020202020204" pitchFamily="34" charset="0"/>
              <a:buChar char="•"/>
            </a:pPr>
            <a:r>
              <a:rPr lang="en-US"/>
              <a:t>It is a shifted version of the sigmoid, allowing it to stretch across the y-axis.</a:t>
            </a:r>
          </a:p>
          <a:p>
            <a:pPr marL="285750" indent="-285750">
              <a:lnSpc>
                <a:spcPct val="90000"/>
              </a:lnSpc>
              <a:buFont typeface="Arial" panose="020B0604020202020204" pitchFamily="34" charset="0"/>
              <a:buChar char="•"/>
            </a:pPr>
            <a:endParaRPr lang="en-US" sz="1600"/>
          </a:p>
          <a:p>
            <a:pPr marL="285750" indent="-285750" fontAlgn="base">
              <a:buFont typeface="Arial" panose="020B0604020202020204" pitchFamily="34" charset="0"/>
              <a:buChar char="•"/>
            </a:pPr>
            <a:r>
              <a:rPr lang="en-US" b="1"/>
              <a:t>Value Range</a:t>
            </a:r>
            <a:r>
              <a:rPr lang="en-US"/>
              <a:t>: Outputs values from -1 to +1.</a:t>
            </a:r>
          </a:p>
          <a:p>
            <a:pPr marL="285750" indent="-285750" fontAlgn="base">
              <a:buFont typeface="Arial" panose="020B0604020202020204" pitchFamily="34" charset="0"/>
              <a:buChar char="•"/>
            </a:pPr>
            <a:endParaRPr lang="en-US"/>
          </a:p>
          <a:p>
            <a:pPr marL="285750" indent="-285750" fontAlgn="base">
              <a:buFont typeface="Arial" panose="020B0604020202020204" pitchFamily="34" charset="0"/>
              <a:buChar char="•"/>
            </a:pPr>
            <a:r>
              <a:rPr lang="en-US" b="1"/>
              <a:t>Non-linear</a:t>
            </a:r>
            <a:r>
              <a:rPr lang="en-US"/>
              <a:t>: Enables modeling of complex data patterns.</a:t>
            </a:r>
          </a:p>
          <a:p>
            <a:pPr marL="285750" indent="-285750" fontAlgn="base">
              <a:buFont typeface="Arial" panose="020B0604020202020204" pitchFamily="34" charset="0"/>
              <a:buChar char="•"/>
            </a:pPr>
            <a:endParaRPr lang="en-US" b="1"/>
          </a:p>
          <a:p>
            <a:pPr marL="285750" indent="-285750" fontAlgn="base">
              <a:buFont typeface="Arial" panose="020B0604020202020204" pitchFamily="34" charset="0"/>
              <a:buChar char="•"/>
            </a:pPr>
            <a:r>
              <a:rPr lang="en-US" b="1"/>
              <a:t>Use in Hidden Layers</a:t>
            </a:r>
            <a:r>
              <a:rPr lang="en-US"/>
              <a:t>: Commonly used in hidden layers due to its zero-centered output, facilitating easier learning for subsequent layers.</a:t>
            </a:r>
          </a:p>
          <a:p>
            <a:pPr marL="285750" indent="-285750">
              <a:lnSpc>
                <a:spcPct val="90000"/>
              </a:lnSpc>
              <a:buFont typeface="Arial" panose="020B0604020202020204" pitchFamily="34" charset="0"/>
              <a:buChar char="•"/>
            </a:pPr>
            <a:endParaRPr lang="en-US" sz="1600" dirty="0"/>
          </a:p>
        </p:txBody>
      </p:sp>
      <p:pic>
        <p:nvPicPr>
          <p:cNvPr id="3074" name="Picture 2" descr="Graphic representation of sigmoid and tanh functions. | Download Scientific  Diagram">
            <a:extLst>
              <a:ext uri="{FF2B5EF4-FFF2-40B4-BE49-F238E27FC236}">
                <a16:creationId xmlns:a16="http://schemas.microsoft.com/office/drawing/2014/main" id="{6EDB7B98-7D60-276A-CF6B-9923AE5DBF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98609" y="3632548"/>
            <a:ext cx="8905958" cy="2787041"/>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What is Tanh activation function? - Nomidl">
            <a:extLst>
              <a:ext uri="{FF2B5EF4-FFF2-40B4-BE49-F238E27FC236}">
                <a16:creationId xmlns:a16="http://schemas.microsoft.com/office/drawing/2014/main" id="{0EB4D610-A009-4A88-C8BF-AA1C6956DB1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534" t="36987" r="11385" b="25810"/>
          <a:stretch>
            <a:fillRect/>
          </a:stretch>
        </p:blipFill>
        <p:spPr bwMode="auto">
          <a:xfrm>
            <a:off x="0" y="4490206"/>
            <a:ext cx="3532341" cy="16164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49872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4A63047-B96D-8BA4-7F35-E4FF22FF80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ED52D4-278C-63FE-A9C5-AEF78862E29B}"/>
              </a:ext>
            </a:extLst>
          </p:cNvPr>
          <p:cNvSpPr>
            <a:spLocks noGrp="1"/>
          </p:cNvSpPr>
          <p:nvPr>
            <p:ph type="title"/>
          </p:nvPr>
        </p:nvSpPr>
        <p:spPr>
          <a:xfrm>
            <a:off x="709053" y="165193"/>
            <a:ext cx="5386947" cy="1616203"/>
          </a:xfrm>
        </p:spPr>
        <p:txBody>
          <a:bodyPr vert="horz" lIns="91440" tIns="45720" rIns="91440" bIns="45720" rtlCol="0" anchor="b">
            <a:normAutofit/>
          </a:bodyPr>
          <a:lstStyle/>
          <a:p>
            <a:r>
              <a:rPr lang="en-US" sz="3200" b="1" dirty="0" err="1"/>
              <a:t>ReLU</a:t>
            </a:r>
            <a:r>
              <a:rPr lang="en-US" sz="3200" dirty="0"/>
              <a:t> </a:t>
            </a:r>
            <a:r>
              <a:rPr lang="en-US" sz="3200" i="1" dirty="0"/>
              <a:t>(Rectified Linear Unit) </a:t>
            </a:r>
            <a:br>
              <a:rPr lang="en-US" sz="3200" i="1" dirty="0"/>
            </a:br>
            <a:r>
              <a:rPr lang="en-US" sz="3200" b="1" dirty="0"/>
              <a:t>Function </a:t>
            </a:r>
            <a:endParaRPr lang="en-US" sz="3200" dirty="0"/>
          </a:p>
        </p:txBody>
      </p:sp>
      <p:sp>
        <p:nvSpPr>
          <p:cNvPr id="4" name="TextBox 3">
            <a:extLst>
              <a:ext uri="{FF2B5EF4-FFF2-40B4-BE49-F238E27FC236}">
                <a16:creationId xmlns:a16="http://schemas.microsoft.com/office/drawing/2014/main" id="{BE5E6229-7384-248E-7E8B-B775FDBA6373}"/>
              </a:ext>
            </a:extLst>
          </p:cNvPr>
          <p:cNvSpPr txBox="1"/>
          <p:nvPr/>
        </p:nvSpPr>
        <p:spPr>
          <a:xfrm>
            <a:off x="876692" y="2533476"/>
            <a:ext cx="5386947" cy="3447832"/>
          </a:xfrm>
          <a:prstGeom prst="rect">
            <a:avLst/>
          </a:prstGeom>
        </p:spPr>
        <p:txBody>
          <a:bodyPr vert="horz" lIns="91440" tIns="45720" rIns="91440" bIns="45720" rtlCol="0" anchor="t">
            <a:normAutofit/>
          </a:bodyPr>
          <a:lstStyle/>
          <a:p>
            <a:pPr marL="285750" indent="-228600">
              <a:lnSpc>
                <a:spcPct val="90000"/>
              </a:lnSpc>
              <a:spcAft>
                <a:spcPts val="600"/>
              </a:spcAft>
              <a:buFont typeface="Arial" panose="020B0604020202020204" pitchFamily="34" charset="0"/>
              <a:buChar char="•"/>
            </a:pPr>
            <a:r>
              <a:rPr lang="en-US" sz="1400"/>
              <a:t>If the input x is positive, ReLU returns x, if the input is negative, it returns 0.</a:t>
            </a:r>
          </a:p>
          <a:p>
            <a:pPr marL="285750" indent="-228600">
              <a:lnSpc>
                <a:spcPct val="90000"/>
              </a:lnSpc>
              <a:spcAft>
                <a:spcPts val="600"/>
              </a:spcAft>
              <a:buFont typeface="Arial" panose="020B0604020202020204" pitchFamily="34" charset="0"/>
              <a:buChar char="•"/>
            </a:pPr>
            <a:endParaRPr lang="en-US" sz="1400"/>
          </a:p>
          <a:p>
            <a:pPr marL="285750" indent="-228600" fontAlgn="base">
              <a:lnSpc>
                <a:spcPct val="90000"/>
              </a:lnSpc>
              <a:spcAft>
                <a:spcPts val="600"/>
              </a:spcAft>
              <a:buFont typeface="Arial" panose="020B0604020202020204" pitchFamily="34" charset="0"/>
              <a:buChar char="•"/>
            </a:pPr>
            <a:r>
              <a:rPr lang="en-US" sz="1400" b="1"/>
              <a:t>Value Range</a:t>
            </a:r>
            <a:r>
              <a:rPr lang="en-US" sz="1400"/>
              <a:t>: [0,∞), meaning the function only outputs non-negative values.</a:t>
            </a:r>
          </a:p>
          <a:p>
            <a:pPr marL="285750" indent="-228600" fontAlgn="base">
              <a:lnSpc>
                <a:spcPct val="90000"/>
              </a:lnSpc>
              <a:spcAft>
                <a:spcPts val="600"/>
              </a:spcAft>
              <a:buFont typeface="Arial" panose="020B0604020202020204" pitchFamily="34" charset="0"/>
              <a:buChar char="•"/>
            </a:pPr>
            <a:endParaRPr lang="en-US" sz="1400"/>
          </a:p>
          <a:p>
            <a:pPr marL="285750" indent="-228600" fontAlgn="base">
              <a:lnSpc>
                <a:spcPct val="90000"/>
              </a:lnSpc>
              <a:spcAft>
                <a:spcPts val="600"/>
              </a:spcAft>
              <a:buFont typeface="Arial" panose="020B0604020202020204" pitchFamily="34" charset="0"/>
              <a:buChar char="•"/>
            </a:pPr>
            <a:r>
              <a:rPr lang="en-US" sz="1400" b="1"/>
              <a:t>Nature</a:t>
            </a:r>
            <a:r>
              <a:rPr lang="en-US" sz="1400"/>
              <a:t>: It is a non-linear activation function, allowing neural networks to learn complex patterns and making backpropagation more efficient.</a:t>
            </a:r>
          </a:p>
          <a:p>
            <a:pPr marL="285750" indent="-228600" fontAlgn="base">
              <a:lnSpc>
                <a:spcPct val="90000"/>
              </a:lnSpc>
              <a:spcAft>
                <a:spcPts val="600"/>
              </a:spcAft>
              <a:buFont typeface="Arial" panose="020B0604020202020204" pitchFamily="34" charset="0"/>
              <a:buChar char="•"/>
            </a:pPr>
            <a:endParaRPr lang="en-US" sz="1400"/>
          </a:p>
          <a:p>
            <a:pPr marL="285750" indent="-228600" fontAlgn="base">
              <a:lnSpc>
                <a:spcPct val="90000"/>
              </a:lnSpc>
              <a:spcAft>
                <a:spcPts val="600"/>
              </a:spcAft>
              <a:buFont typeface="Arial" panose="020B0604020202020204" pitchFamily="34" charset="0"/>
              <a:buChar char="•"/>
            </a:pPr>
            <a:r>
              <a:rPr lang="en-US" sz="1400" b="1"/>
              <a:t>Advantage over other Activation: </a:t>
            </a:r>
            <a:r>
              <a:rPr lang="en-US" sz="1400"/>
              <a:t>ReLU is less computationally expensive than tanh and sigmoid because it involves simpler mathematical operations</a:t>
            </a:r>
          </a:p>
          <a:p>
            <a:pPr marL="285750" indent="-228600">
              <a:lnSpc>
                <a:spcPct val="90000"/>
              </a:lnSpc>
              <a:spcAft>
                <a:spcPts val="600"/>
              </a:spcAft>
              <a:buFont typeface="Arial" panose="020B0604020202020204" pitchFamily="34" charset="0"/>
              <a:buChar char="•"/>
            </a:pPr>
            <a:endParaRPr lang="en-US" sz="1400"/>
          </a:p>
        </p:txBody>
      </p:sp>
      <p:pic>
        <p:nvPicPr>
          <p:cNvPr id="5128" name="Picture 8" descr="Activation Functions in Artificial Neural Network - Dot Net Tutorials">
            <a:extLst>
              <a:ext uri="{FF2B5EF4-FFF2-40B4-BE49-F238E27FC236}">
                <a16:creationId xmlns:a16="http://schemas.microsoft.com/office/drawing/2014/main" id="{DD47A0BA-B6D4-B755-4E49-C1090F7ACB7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295606" y="1904135"/>
            <a:ext cx="3899189" cy="1431347"/>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relu-activation-function">
            <a:extLst>
              <a:ext uri="{FF2B5EF4-FFF2-40B4-BE49-F238E27FC236}">
                <a16:creationId xmlns:a16="http://schemas.microsoft.com/office/drawing/2014/main" id="{6B828D53-5C6C-FE94-4618-12A8A03CDC5A}"/>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532466" y="3522518"/>
            <a:ext cx="3425467" cy="2457773"/>
          </a:xfrm>
          <a:prstGeom prst="rect">
            <a:avLst/>
          </a:prstGeom>
          <a:noFill/>
          <a:extLst>
            <a:ext uri="{909E8E84-426E-40DD-AFC4-6F175D3DCCD1}">
              <a14:hiddenFill xmlns:a14="http://schemas.microsoft.com/office/drawing/2010/main">
                <a:solidFill>
                  <a:srgbClr val="FFFFFF"/>
                </a:solidFill>
              </a14:hiddenFill>
            </a:ext>
          </a:extLst>
        </p:spPr>
      </p:pic>
      <p:grpSp>
        <p:nvGrpSpPr>
          <p:cNvPr id="5133" name="Group 5132">
            <a:extLst>
              <a:ext uri="{FF2B5EF4-FFF2-40B4-BE49-F238E27FC236}">
                <a16:creationId xmlns:a16="http://schemas.microsoft.com/office/drawing/2014/main" id="{430A7723-91ED-264B-172A-DC8EB7D460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2068638" y="0"/>
            <a:ext cx="123362" cy="6858000"/>
            <a:chOff x="12068638" y="0"/>
            <a:chExt cx="123362" cy="6858000"/>
          </a:xfrm>
        </p:grpSpPr>
        <p:sp>
          <p:nvSpPr>
            <p:cNvPr id="5134" name="Rectangle 5133">
              <a:extLst>
                <a:ext uri="{FF2B5EF4-FFF2-40B4-BE49-F238E27FC236}">
                  <a16:creationId xmlns:a16="http://schemas.microsoft.com/office/drawing/2014/main" id="{FF1C10FB-A508-9184-DF05-6C4BFC6506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5" name="Rectangle 5134">
              <a:extLst>
                <a:ext uri="{FF2B5EF4-FFF2-40B4-BE49-F238E27FC236}">
                  <a16:creationId xmlns:a16="http://schemas.microsoft.com/office/drawing/2014/main" id="{F16E929D-9D28-E44C-7D82-8A13EB5AE7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27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6178078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0F1E88A-B1FE-CC03-5EF8-1116107ABDD4}"/>
            </a:ext>
          </a:extLst>
        </p:cNvPr>
        <p:cNvGrpSpPr/>
        <p:nvPr/>
      </p:nvGrpSpPr>
      <p:grpSpPr>
        <a:xfrm>
          <a:off x="0" y="0"/>
          <a:ext cx="0" cy="0"/>
          <a:chOff x="0" y="0"/>
          <a:chExt cx="0" cy="0"/>
        </a:xfrm>
      </p:grpSpPr>
      <p:sp useBgFill="1">
        <p:nvSpPr>
          <p:cNvPr id="7175" name="Rectangle 7174">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6369C60-D624-8170-FBF8-11B5C553F662}"/>
              </a:ext>
            </a:extLst>
          </p:cNvPr>
          <p:cNvSpPr>
            <a:spLocks noGrp="1"/>
          </p:cNvSpPr>
          <p:nvPr>
            <p:ph type="title"/>
          </p:nvPr>
        </p:nvSpPr>
        <p:spPr>
          <a:xfrm>
            <a:off x="640080" y="329184"/>
            <a:ext cx="6894576" cy="1783080"/>
          </a:xfrm>
        </p:spPr>
        <p:txBody>
          <a:bodyPr vert="horz" lIns="91440" tIns="45720" rIns="91440" bIns="45720" rtlCol="0" anchor="b">
            <a:normAutofit/>
          </a:bodyPr>
          <a:lstStyle/>
          <a:p>
            <a:r>
              <a:rPr lang="en-US" sz="5400" b="1"/>
              <a:t>Leaky ReLU</a:t>
            </a:r>
            <a:endParaRPr lang="en-US" sz="5400"/>
          </a:p>
        </p:txBody>
      </p:sp>
      <p:sp>
        <p:nvSpPr>
          <p:cNvPr id="7177"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44F6D217-04A7-9D34-A378-835965742954}"/>
              </a:ext>
            </a:extLst>
          </p:cNvPr>
          <p:cNvSpPr txBox="1"/>
          <p:nvPr/>
        </p:nvSpPr>
        <p:spPr>
          <a:xfrm>
            <a:off x="640080" y="2734056"/>
            <a:ext cx="5950115" cy="3456432"/>
          </a:xfrm>
          <a:prstGeom prst="rect">
            <a:avLst/>
          </a:prstGeom>
        </p:spPr>
        <p:txBody>
          <a:bodyPr vert="horz" lIns="91440" tIns="45720" rIns="91440" bIns="45720" rtlCol="0">
            <a:normAutofit/>
          </a:bodyPr>
          <a:lstStyle/>
          <a:p>
            <a:pPr marL="285750" indent="-228600" fontAlgn="base">
              <a:lnSpc>
                <a:spcPct val="90000"/>
              </a:lnSpc>
              <a:spcAft>
                <a:spcPts val="600"/>
              </a:spcAft>
              <a:buFont typeface="Arial" panose="020B0604020202020204" pitchFamily="34" charset="0"/>
              <a:buChar char="•"/>
            </a:pPr>
            <a:r>
              <a:rPr lang="en-US" sz="2200" dirty="0"/>
              <a:t>It is similar to </a:t>
            </a:r>
            <a:r>
              <a:rPr lang="en-US" sz="2200" dirty="0" err="1"/>
              <a:t>ReLU</a:t>
            </a:r>
            <a:r>
              <a:rPr lang="en-US" sz="2200" dirty="0"/>
              <a:t> but allows a small negative slope (</a:t>
            </a:r>
            <a:r>
              <a:rPr lang="en-US" sz="2200" i="1" dirty="0"/>
              <a:t>α</a:t>
            </a:r>
            <a:r>
              <a:rPr lang="en-US" sz="2200" dirty="0"/>
              <a:t>, e.g., 0.01) instead of zero.</a:t>
            </a:r>
          </a:p>
          <a:p>
            <a:pPr marL="285750" indent="-228600" fontAlgn="base">
              <a:lnSpc>
                <a:spcPct val="90000"/>
              </a:lnSpc>
              <a:spcAft>
                <a:spcPts val="600"/>
              </a:spcAft>
              <a:buFont typeface="Arial" panose="020B0604020202020204" pitchFamily="34" charset="0"/>
              <a:buChar char="•"/>
            </a:pPr>
            <a:r>
              <a:rPr lang="en-US" sz="2200" dirty="0"/>
              <a:t>Solves the “dying </a:t>
            </a:r>
            <a:r>
              <a:rPr lang="en-US" sz="2200" dirty="0" err="1"/>
              <a:t>ReLU</a:t>
            </a:r>
            <a:r>
              <a:rPr lang="en-US" sz="2200" dirty="0"/>
              <a:t>” problem, where neurons get stuck with zero outputs.</a:t>
            </a:r>
          </a:p>
          <a:p>
            <a:pPr marL="285750" indent="-228600" fontAlgn="base">
              <a:lnSpc>
                <a:spcPct val="90000"/>
              </a:lnSpc>
              <a:spcAft>
                <a:spcPts val="600"/>
              </a:spcAft>
              <a:buFont typeface="Arial" panose="020B0604020202020204" pitchFamily="34" charset="0"/>
              <a:buChar char="•"/>
            </a:pPr>
            <a:r>
              <a:rPr lang="en-US" sz="2200" dirty="0"/>
              <a:t>Range: (−∞</a:t>
            </a:r>
            <a:r>
              <a:rPr lang="en-US" sz="2200"/>
              <a:t>,∞).</a:t>
            </a:r>
            <a:endParaRPr lang="en-US" sz="2200" dirty="0"/>
          </a:p>
          <a:p>
            <a:pPr marL="285750" indent="-228600" fontAlgn="base">
              <a:lnSpc>
                <a:spcPct val="90000"/>
              </a:lnSpc>
              <a:spcAft>
                <a:spcPts val="600"/>
              </a:spcAft>
              <a:buFont typeface="Arial" panose="020B0604020202020204" pitchFamily="34" charset="0"/>
              <a:buChar char="•"/>
            </a:pPr>
            <a:r>
              <a:rPr lang="en-US" sz="2200" dirty="0"/>
              <a:t>Preferred in some cases for better gradient flow.</a:t>
            </a:r>
          </a:p>
        </p:txBody>
      </p:sp>
      <p:pic>
        <p:nvPicPr>
          <p:cNvPr id="7170" name="Picture 2" descr="Leaky_relu">
            <a:extLst>
              <a:ext uri="{FF2B5EF4-FFF2-40B4-BE49-F238E27FC236}">
                <a16:creationId xmlns:a16="http://schemas.microsoft.com/office/drawing/2014/main" id="{0D7C19D6-0188-4332-D633-0157B601E5A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826310" y="168792"/>
            <a:ext cx="5126527" cy="415248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C8A6E1FA-120C-8078-327B-02EE2AC99D08}"/>
              </a:ext>
            </a:extLst>
          </p:cNvPr>
          <p:cNvPicPr>
            <a:picLocks noChangeAspect="1"/>
          </p:cNvPicPr>
          <p:nvPr/>
        </p:nvPicPr>
        <p:blipFill>
          <a:blip r:embed="rId3"/>
          <a:stretch>
            <a:fillRect/>
          </a:stretch>
        </p:blipFill>
        <p:spPr>
          <a:xfrm>
            <a:off x="7751106" y="4845653"/>
            <a:ext cx="3995928" cy="1487972"/>
          </a:xfrm>
          <a:prstGeom prst="rect">
            <a:avLst/>
          </a:prstGeom>
        </p:spPr>
      </p:pic>
    </p:spTree>
    <p:extLst>
      <p:ext uri="{BB962C8B-B14F-4D97-AF65-F5344CB8AC3E}">
        <p14:creationId xmlns:p14="http://schemas.microsoft.com/office/powerpoint/2010/main" val="15623387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04F92EC-CBE0-8C00-A964-9BE68935DEAE}"/>
            </a:ext>
          </a:extLst>
        </p:cNvPr>
        <p:cNvGrpSpPr/>
        <p:nvPr/>
      </p:nvGrpSpPr>
      <p:grpSpPr>
        <a:xfrm>
          <a:off x="0" y="0"/>
          <a:ext cx="0" cy="0"/>
          <a:chOff x="0" y="0"/>
          <a:chExt cx="0" cy="0"/>
        </a:xfrm>
      </p:grpSpPr>
      <p:sp useBgFill="1">
        <p:nvSpPr>
          <p:cNvPr id="6151" name="Rectangle 6150">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025CFF6-90A1-754A-3E19-E578B183D905}"/>
              </a:ext>
            </a:extLst>
          </p:cNvPr>
          <p:cNvSpPr>
            <a:spLocks noGrp="1"/>
          </p:cNvSpPr>
          <p:nvPr>
            <p:ph type="title"/>
          </p:nvPr>
        </p:nvSpPr>
        <p:spPr>
          <a:xfrm>
            <a:off x="630936" y="640080"/>
            <a:ext cx="4818888" cy="1481328"/>
          </a:xfrm>
        </p:spPr>
        <p:txBody>
          <a:bodyPr vert="horz" lIns="91440" tIns="45720" rIns="91440" bIns="45720" rtlCol="0" anchor="b">
            <a:normAutofit/>
          </a:bodyPr>
          <a:lstStyle/>
          <a:p>
            <a:r>
              <a:rPr lang="en-US" sz="5000" b="1" kern="1200">
                <a:solidFill>
                  <a:schemeClr val="tx1"/>
                </a:solidFill>
                <a:latin typeface="+mj-lt"/>
                <a:ea typeface="+mj-ea"/>
                <a:cs typeface="+mj-cs"/>
              </a:rPr>
              <a:t>Softmax Function</a:t>
            </a:r>
            <a:endParaRPr lang="en-US" sz="5000" kern="1200">
              <a:solidFill>
                <a:schemeClr val="tx1"/>
              </a:solidFill>
              <a:latin typeface="+mj-lt"/>
              <a:ea typeface="+mj-ea"/>
              <a:cs typeface="+mj-cs"/>
            </a:endParaRPr>
          </a:p>
        </p:txBody>
      </p:sp>
      <p:sp>
        <p:nvSpPr>
          <p:cNvPr id="6153"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4761B1A5-2062-0BC9-7546-1977102F85A5}"/>
              </a:ext>
            </a:extLst>
          </p:cNvPr>
          <p:cNvSpPr txBox="1"/>
          <p:nvPr/>
        </p:nvSpPr>
        <p:spPr>
          <a:xfrm>
            <a:off x="630936" y="2660904"/>
            <a:ext cx="4955672" cy="3547872"/>
          </a:xfrm>
          <a:prstGeom prst="rect">
            <a:avLst/>
          </a:prstGeom>
        </p:spPr>
        <p:txBody>
          <a:bodyPr vert="horz" lIns="91440" tIns="45720" rIns="91440" bIns="45720" rtlCol="0" anchor="t">
            <a:normAutofit/>
          </a:bodyPr>
          <a:lstStyle/>
          <a:p>
            <a:pPr marL="342900" indent="-228600">
              <a:lnSpc>
                <a:spcPct val="90000"/>
              </a:lnSpc>
              <a:spcAft>
                <a:spcPts val="600"/>
              </a:spcAft>
              <a:buFont typeface="Arial" panose="020B0604020202020204" pitchFamily="34" charset="0"/>
              <a:buChar char="•"/>
            </a:pPr>
            <a:r>
              <a:rPr lang="en-US" sz="1900" dirty="0"/>
              <a:t>It is designed to </a:t>
            </a:r>
            <a:r>
              <a:rPr lang="en-US" sz="1900" b="1" dirty="0"/>
              <a:t>handle multi-class classification problems. </a:t>
            </a:r>
            <a:r>
              <a:rPr lang="en-US" sz="1900" dirty="0"/>
              <a:t>It transforms raw output scores from a neural network into probabilities. </a:t>
            </a:r>
          </a:p>
          <a:p>
            <a:pPr marL="342900" indent="-228600">
              <a:lnSpc>
                <a:spcPct val="90000"/>
              </a:lnSpc>
              <a:spcAft>
                <a:spcPts val="600"/>
              </a:spcAft>
              <a:buFont typeface="Arial" panose="020B0604020202020204" pitchFamily="34" charset="0"/>
              <a:buChar char="•"/>
            </a:pPr>
            <a:r>
              <a:rPr lang="en-US" sz="1900" dirty="0"/>
              <a:t>It works by squashing the output values of each class into the range of 0 to 1 while ensuring that the sum of all probabilities equals 1.</a:t>
            </a:r>
          </a:p>
          <a:p>
            <a:pPr marL="342900" indent="-228600">
              <a:lnSpc>
                <a:spcPct val="90000"/>
              </a:lnSpc>
              <a:spcAft>
                <a:spcPts val="600"/>
              </a:spcAft>
              <a:buFont typeface="Arial" panose="020B0604020202020204" pitchFamily="34" charset="0"/>
              <a:buChar char="•"/>
            </a:pPr>
            <a:r>
              <a:rPr lang="en-US" sz="1900" dirty="0"/>
              <a:t>The </a:t>
            </a:r>
            <a:r>
              <a:rPr lang="en-US" sz="1900" dirty="0" err="1"/>
              <a:t>Softmax</a:t>
            </a:r>
            <a:r>
              <a:rPr lang="en-US" sz="1900" dirty="0"/>
              <a:t> function ensures that each class is assigned a probability, helping to identify which class the input belongs to.</a:t>
            </a:r>
          </a:p>
          <a:p>
            <a:pPr marL="342900" indent="-228600">
              <a:lnSpc>
                <a:spcPct val="90000"/>
              </a:lnSpc>
              <a:spcAft>
                <a:spcPts val="600"/>
              </a:spcAft>
              <a:buFont typeface="Arial" panose="020B0604020202020204" pitchFamily="34" charset="0"/>
              <a:buChar char="•"/>
            </a:pPr>
            <a:endParaRPr lang="en-US" sz="1900" dirty="0"/>
          </a:p>
        </p:txBody>
      </p:sp>
      <p:pic>
        <p:nvPicPr>
          <p:cNvPr id="6146" name="Picture 2" descr="softmax">
            <a:extLst>
              <a:ext uri="{FF2B5EF4-FFF2-40B4-BE49-F238E27FC236}">
                <a16:creationId xmlns:a16="http://schemas.microsoft.com/office/drawing/2014/main" id="{FA779D67-0D01-DFF4-BCE4-D83DFE93B90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972188" y="1542176"/>
            <a:ext cx="6049291" cy="46277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01879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077212-471E-4884-4698-5386E885A5D7}"/>
              </a:ext>
            </a:extLst>
          </p:cNvPr>
          <p:cNvSpPr>
            <a:spLocks noGrp="1"/>
          </p:cNvSpPr>
          <p:nvPr>
            <p:ph type="title"/>
          </p:nvPr>
        </p:nvSpPr>
        <p:spPr>
          <a:xfrm>
            <a:off x="635000" y="640823"/>
            <a:ext cx="3418659" cy="5583148"/>
          </a:xfrm>
        </p:spPr>
        <p:txBody>
          <a:bodyPr vert="horz" lIns="91440" tIns="45720" rIns="91440" bIns="45720" rtlCol="0" anchor="ctr">
            <a:normAutofit/>
          </a:bodyPr>
          <a:lstStyle/>
          <a:p>
            <a:pPr fontAlgn="base"/>
            <a:r>
              <a:rPr lang="en-US" sz="4600" b="1" kern="1200" dirty="0">
                <a:solidFill>
                  <a:schemeClr val="tx1"/>
                </a:solidFill>
                <a:latin typeface="+mj-lt"/>
                <a:ea typeface="+mj-ea"/>
                <a:cs typeface="+mj-cs"/>
              </a:rPr>
              <a:t>Impact of Activation Functions on Model Performance</a:t>
            </a:r>
          </a:p>
        </p:txBody>
      </p:sp>
      <p:sp>
        <p:nvSpPr>
          <p:cNvPr id="12"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TextBox 3">
            <a:extLst>
              <a:ext uri="{FF2B5EF4-FFF2-40B4-BE49-F238E27FC236}">
                <a16:creationId xmlns:a16="http://schemas.microsoft.com/office/drawing/2014/main" id="{05741F4E-2B98-4C25-FB17-F35BF75B61C8}"/>
              </a:ext>
            </a:extLst>
          </p:cNvPr>
          <p:cNvGraphicFramePr/>
          <p:nvPr>
            <p:extLst>
              <p:ext uri="{D42A27DB-BD31-4B8C-83A1-F6EECF244321}">
                <p14:modId xmlns:p14="http://schemas.microsoft.com/office/powerpoint/2010/main" val="2083447701"/>
              </p:ext>
            </p:extLst>
          </p:nvPr>
        </p:nvGraphicFramePr>
        <p:xfrm>
          <a:off x="4648018" y="1114816"/>
          <a:ext cx="6900512" cy="50621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TextBox 10">
            <a:extLst>
              <a:ext uri="{FF2B5EF4-FFF2-40B4-BE49-F238E27FC236}">
                <a16:creationId xmlns:a16="http://schemas.microsoft.com/office/drawing/2014/main" id="{A8A44DE4-A47F-F451-8D57-F186E5540030}"/>
              </a:ext>
            </a:extLst>
          </p:cNvPr>
          <p:cNvSpPr txBox="1"/>
          <p:nvPr/>
        </p:nvSpPr>
        <p:spPr>
          <a:xfrm>
            <a:off x="4656488" y="384769"/>
            <a:ext cx="6900512" cy="592535"/>
          </a:xfrm>
          <a:prstGeom prst="rect">
            <a:avLst/>
          </a:prstGeom>
          <a:noFill/>
        </p:spPr>
        <p:txBody>
          <a:bodyPr wrap="square">
            <a:spAutoFit/>
          </a:bodyPr>
          <a:lstStyle/>
          <a:p>
            <a:pPr marL="0" lvl="0" indent="0" algn="l" defTabSz="800100">
              <a:lnSpc>
                <a:spcPct val="90000"/>
              </a:lnSpc>
              <a:spcBef>
                <a:spcPct val="0"/>
              </a:spcBef>
              <a:spcAft>
                <a:spcPct val="35000"/>
              </a:spcAft>
              <a:buNone/>
            </a:pPr>
            <a:r>
              <a:rPr lang="en-US" sz="1800" b="0" i="0" kern="1200" dirty="0"/>
              <a:t>The choice of activation function has a direct impact on the performance of a neural network in several ways:</a:t>
            </a:r>
            <a:endParaRPr lang="en-US" sz="1800" kern="1200" dirty="0"/>
          </a:p>
        </p:txBody>
      </p:sp>
    </p:spTree>
    <p:extLst>
      <p:ext uri="{BB962C8B-B14F-4D97-AF65-F5344CB8AC3E}">
        <p14:creationId xmlns:p14="http://schemas.microsoft.com/office/powerpoint/2010/main" val="1399297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CFEEA-CF72-783E-BAE7-8E1B02EED7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924531-DF70-05A7-C38C-5E7D2A9713C8}"/>
              </a:ext>
            </a:extLst>
          </p:cNvPr>
          <p:cNvSpPr>
            <a:spLocks noGrp="1"/>
          </p:cNvSpPr>
          <p:nvPr>
            <p:ph type="ctrTitle"/>
          </p:nvPr>
        </p:nvSpPr>
        <p:spPr/>
        <p:txBody>
          <a:bodyPr/>
          <a:lstStyle/>
          <a:p>
            <a:pPr fontAlgn="base"/>
            <a:r>
              <a:rPr lang="en-US" b="1" dirty="0"/>
              <a:t>Optimization Rule in Deep Neural Networks</a:t>
            </a:r>
          </a:p>
        </p:txBody>
      </p:sp>
      <p:sp>
        <p:nvSpPr>
          <p:cNvPr id="3" name="Subtitle 2">
            <a:extLst>
              <a:ext uri="{FF2B5EF4-FFF2-40B4-BE49-F238E27FC236}">
                <a16:creationId xmlns:a16="http://schemas.microsoft.com/office/drawing/2014/main" id="{FAD07496-2E17-302B-6E3E-6450B583832A}"/>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3265266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E1B6520-03B4-E139-740D-4EE67DC199AD}"/>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5400" kern="1200">
                <a:solidFill>
                  <a:schemeClr val="tx1"/>
                </a:solidFill>
                <a:latin typeface="+mj-lt"/>
                <a:ea typeface="+mj-ea"/>
                <a:cs typeface="+mj-cs"/>
              </a:rPr>
              <a:t>What is an Optimizer?</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A8754CB-9B12-2CF2-B44E-51006CFEBFB3}"/>
              </a:ext>
            </a:extLst>
          </p:cNvPr>
          <p:cNvSpPr txBox="1"/>
          <p:nvPr/>
        </p:nvSpPr>
        <p:spPr>
          <a:xfrm>
            <a:off x="669036" y="1984248"/>
            <a:ext cx="10684764" cy="4273004"/>
          </a:xfrm>
          <a:prstGeom prst="rect">
            <a:avLst/>
          </a:prstGeom>
        </p:spPr>
        <p:txBody>
          <a:bodyPr vert="horz" lIns="91440" tIns="45720" rIns="91440" bIns="45720" rtlCol="0">
            <a:normAutofit lnSpcReduction="10000"/>
          </a:bodyPr>
          <a:lstStyle/>
          <a:p>
            <a:pPr indent="-228600">
              <a:lnSpc>
                <a:spcPct val="90000"/>
              </a:lnSpc>
              <a:spcAft>
                <a:spcPts val="600"/>
              </a:spcAft>
              <a:buFont typeface="Arial" panose="020B0604020202020204" pitchFamily="34" charset="0"/>
              <a:buChar char="•"/>
            </a:pPr>
            <a:r>
              <a:rPr lang="en-US" b="0" i="0" dirty="0">
                <a:effectLst/>
              </a:rPr>
              <a:t>An optimizer is a function or an algorithm that modifies the attributes of the neural network, such as weights and learning rate. Thus, it helps in reducing the overall loss and improve the accuracy and can help reduce training time exponentially. These are solvers of minimization problems in which the function to minimize has a gradient.</a:t>
            </a:r>
          </a:p>
          <a:p>
            <a:pPr indent="-228600">
              <a:lnSpc>
                <a:spcPct val="90000"/>
              </a:lnSpc>
              <a:spcAft>
                <a:spcPts val="600"/>
              </a:spcAft>
              <a:buFont typeface="Arial" panose="020B0604020202020204" pitchFamily="34" charset="0"/>
              <a:buChar char="•"/>
            </a:pPr>
            <a:endParaRPr lang="en-US" dirty="0"/>
          </a:p>
          <a:p>
            <a:pPr>
              <a:lnSpc>
                <a:spcPct val="90000"/>
              </a:lnSpc>
              <a:spcAft>
                <a:spcPts val="600"/>
              </a:spcAft>
            </a:pPr>
            <a:r>
              <a:rPr lang="en-US" b="1" dirty="0"/>
              <a:t>Why Optimizers Matter</a:t>
            </a:r>
          </a:p>
          <a:p>
            <a:pPr marL="285750" indent="-228600">
              <a:lnSpc>
                <a:spcPct val="90000"/>
              </a:lnSpc>
              <a:spcAft>
                <a:spcPts val="600"/>
              </a:spcAft>
              <a:buFont typeface="Arial" panose="020B0604020202020204" pitchFamily="34" charset="0"/>
              <a:buChar char="•"/>
            </a:pPr>
            <a:r>
              <a:rPr lang="en-US" dirty="0"/>
              <a:t>Control </a:t>
            </a:r>
            <a:r>
              <a:rPr lang="en-US" b="1" dirty="0"/>
              <a:t>how quickly and effectively</a:t>
            </a:r>
            <a:r>
              <a:rPr lang="en-US" dirty="0"/>
              <a:t> a model learns</a:t>
            </a:r>
          </a:p>
          <a:p>
            <a:pPr marL="285750" indent="-228600">
              <a:lnSpc>
                <a:spcPct val="90000"/>
              </a:lnSpc>
              <a:spcAft>
                <a:spcPts val="600"/>
              </a:spcAft>
              <a:buFont typeface="Arial" panose="020B0604020202020204" pitchFamily="34" charset="0"/>
              <a:buChar char="•"/>
            </a:pPr>
            <a:r>
              <a:rPr lang="en-US" dirty="0"/>
              <a:t>Balance between </a:t>
            </a:r>
            <a:r>
              <a:rPr lang="en-US" b="1" dirty="0"/>
              <a:t>speed of convergence</a:t>
            </a:r>
            <a:r>
              <a:rPr lang="en-US" dirty="0"/>
              <a:t> and </a:t>
            </a:r>
            <a:r>
              <a:rPr lang="en-US" b="1" dirty="0"/>
              <a:t>accuracy</a:t>
            </a:r>
            <a:endParaRPr lang="en-US" dirty="0"/>
          </a:p>
          <a:p>
            <a:pPr marL="285750" indent="-228600">
              <a:lnSpc>
                <a:spcPct val="90000"/>
              </a:lnSpc>
              <a:spcAft>
                <a:spcPts val="600"/>
              </a:spcAft>
              <a:buFont typeface="Arial" panose="020B0604020202020204" pitchFamily="34" charset="0"/>
              <a:buChar char="•"/>
            </a:pPr>
            <a:r>
              <a:rPr lang="en-US" dirty="0"/>
              <a:t>Help escape </a:t>
            </a:r>
            <a:r>
              <a:rPr lang="en-US" b="1" dirty="0"/>
              <a:t>local minima</a:t>
            </a:r>
            <a:r>
              <a:rPr lang="en-US" dirty="0"/>
              <a:t> in the loss landscape</a:t>
            </a:r>
          </a:p>
          <a:p>
            <a:pPr>
              <a:lnSpc>
                <a:spcPct val="90000"/>
              </a:lnSpc>
              <a:spcAft>
                <a:spcPts val="600"/>
              </a:spcAft>
            </a:pPr>
            <a:endParaRPr lang="en-US" dirty="0"/>
          </a:p>
          <a:p>
            <a:pPr>
              <a:lnSpc>
                <a:spcPct val="90000"/>
              </a:lnSpc>
              <a:spcAft>
                <a:spcPts val="600"/>
              </a:spcAft>
            </a:pPr>
            <a:r>
              <a:rPr lang="en-US" b="1" dirty="0"/>
              <a:t>Key Points:</a:t>
            </a:r>
          </a:p>
          <a:p>
            <a:pPr marL="285750" indent="-228600">
              <a:lnSpc>
                <a:spcPct val="90000"/>
              </a:lnSpc>
              <a:spcAft>
                <a:spcPts val="600"/>
              </a:spcAft>
              <a:buFont typeface="Arial" panose="020B0604020202020204" pitchFamily="34" charset="0"/>
              <a:buChar char="•"/>
            </a:pPr>
            <a:r>
              <a:rPr lang="en-US" dirty="0"/>
              <a:t>Choice of optimizer affects </a:t>
            </a:r>
            <a:r>
              <a:rPr lang="en-US" b="1" dirty="0"/>
              <a:t>training speed</a:t>
            </a:r>
            <a:r>
              <a:rPr lang="en-US" dirty="0"/>
              <a:t> and </a:t>
            </a:r>
            <a:r>
              <a:rPr lang="en-US" b="1" dirty="0"/>
              <a:t>model accuracy</a:t>
            </a:r>
            <a:endParaRPr lang="en-US" dirty="0"/>
          </a:p>
          <a:p>
            <a:pPr marL="285750" indent="-228600">
              <a:lnSpc>
                <a:spcPct val="90000"/>
              </a:lnSpc>
              <a:spcAft>
                <a:spcPts val="600"/>
              </a:spcAft>
              <a:buFont typeface="Arial" panose="020B0604020202020204" pitchFamily="34" charset="0"/>
              <a:buChar char="•"/>
            </a:pPr>
            <a:r>
              <a:rPr lang="en-US" b="1" dirty="0"/>
              <a:t>Adam</a:t>
            </a:r>
            <a:r>
              <a:rPr lang="en-US" dirty="0"/>
              <a:t> is most popular for general use</a:t>
            </a:r>
          </a:p>
          <a:p>
            <a:pPr marL="285750" indent="-228600">
              <a:lnSpc>
                <a:spcPct val="90000"/>
              </a:lnSpc>
              <a:spcAft>
                <a:spcPts val="600"/>
              </a:spcAft>
              <a:buFont typeface="Arial" panose="020B0604020202020204" pitchFamily="34" charset="0"/>
              <a:buChar char="•"/>
            </a:pPr>
            <a:r>
              <a:rPr lang="en-US" dirty="0"/>
              <a:t>Experiment with </a:t>
            </a:r>
            <a:r>
              <a:rPr lang="en-US" b="1" dirty="0"/>
              <a:t>learning rate scheduling</a:t>
            </a:r>
            <a:r>
              <a:rPr lang="en-US" dirty="0"/>
              <a:t> and </a:t>
            </a:r>
            <a:r>
              <a:rPr lang="en-US" b="1" dirty="0"/>
              <a:t>optimizer combinations</a:t>
            </a:r>
            <a:r>
              <a:rPr lang="en-US" dirty="0"/>
              <a:t> for best results</a:t>
            </a:r>
          </a:p>
        </p:txBody>
      </p:sp>
    </p:spTree>
    <p:extLst>
      <p:ext uri="{BB962C8B-B14F-4D97-AF65-F5344CB8AC3E}">
        <p14:creationId xmlns:p14="http://schemas.microsoft.com/office/powerpoint/2010/main" val="35806220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descr="A close-up of a blue and white striped fabric&#10;&#10;AI-generated content may be incorrect.">
            <a:extLst>
              <a:ext uri="{FF2B5EF4-FFF2-40B4-BE49-F238E27FC236}">
                <a16:creationId xmlns:a16="http://schemas.microsoft.com/office/drawing/2014/main" id="{2A5C0153-BE17-E464-19AC-B5D380AB2B18}"/>
              </a:ext>
            </a:extLst>
          </p:cNvPr>
          <p:cNvPicPr>
            <a:picLocks noChangeAspect="1"/>
          </p:cNvPicPr>
          <p:nvPr/>
        </p:nvPicPr>
        <p:blipFill>
          <a:blip r:embed="rId2">
            <a:duotone>
              <a:schemeClr val="bg2">
                <a:shade val="45000"/>
                <a:satMod val="135000"/>
              </a:schemeClr>
              <a:prstClr val="white"/>
            </a:duotone>
          </a:blip>
          <a:srcRect b="12791"/>
          <a:stretch>
            <a:fillRect/>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7896A5-E0C7-2380-EB4C-A9864EBEC97D}"/>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3100"/>
              <a:t>The optimizer’s role is to find the best combination of weights and biases that leads to the most accurate predictions.</a:t>
            </a:r>
          </a:p>
        </p:txBody>
      </p:sp>
      <p:graphicFrame>
        <p:nvGraphicFramePr>
          <p:cNvPr id="6" name="TextBox 3">
            <a:extLst>
              <a:ext uri="{FF2B5EF4-FFF2-40B4-BE49-F238E27FC236}">
                <a16:creationId xmlns:a16="http://schemas.microsoft.com/office/drawing/2014/main" id="{E2798DFA-ADF8-842C-63B0-6CB3C93B41DB}"/>
              </a:ext>
            </a:extLst>
          </p:cNvPr>
          <p:cNvGraphicFramePr/>
          <p:nvPr>
            <p:extLst>
              <p:ext uri="{D42A27DB-BD31-4B8C-83A1-F6EECF244321}">
                <p14:modId xmlns:p14="http://schemas.microsoft.com/office/powerpoint/2010/main" val="146823912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310816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D0C2991-5397-253A-632B-EEDE74A00993}"/>
              </a:ext>
            </a:extLst>
          </p:cNvPr>
          <p:cNvSpPr>
            <a:spLocks noGrp="1"/>
          </p:cNvSpPr>
          <p:nvPr>
            <p:ph type="title"/>
          </p:nvPr>
        </p:nvSpPr>
        <p:spPr>
          <a:xfrm>
            <a:off x="572493" y="238539"/>
            <a:ext cx="11018520" cy="1434415"/>
          </a:xfrm>
        </p:spPr>
        <p:txBody>
          <a:bodyPr vert="horz" lIns="91440" tIns="45720" rIns="91440" bIns="45720" rtlCol="0" anchor="b">
            <a:normAutofit/>
          </a:bodyPr>
          <a:lstStyle/>
          <a:p>
            <a:r>
              <a:rPr lang="en-US" sz="5400" b="1" dirty="0"/>
              <a:t>Gradient Descent</a:t>
            </a:r>
            <a:endParaRPr lang="en-US" sz="5400" dirty="0"/>
          </a:p>
        </p:txBody>
      </p:sp>
      <p:sp>
        <p:nvSpPr>
          <p:cNvPr id="25"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0867533-D8F9-1B59-4A1C-025A017468A0}"/>
              </a:ext>
            </a:extLst>
          </p:cNvPr>
          <p:cNvSpPr txBox="1"/>
          <p:nvPr/>
        </p:nvSpPr>
        <p:spPr>
          <a:xfrm>
            <a:off x="572493" y="2071315"/>
            <a:ext cx="6366926" cy="4548145"/>
          </a:xfrm>
          <a:prstGeom prst="rect">
            <a:avLst/>
          </a:prstGeom>
        </p:spPr>
        <p:txBody>
          <a:bodyPr vert="horz" lIns="91440" tIns="45720" rIns="91440" bIns="45720" rtlCol="0" anchor="t">
            <a:normAutofit/>
          </a:bodyPr>
          <a:lstStyle/>
          <a:p>
            <a:pPr>
              <a:lnSpc>
                <a:spcPct val="90000"/>
              </a:lnSpc>
              <a:spcAft>
                <a:spcPts val="600"/>
              </a:spcAft>
            </a:pPr>
            <a:r>
              <a:rPr lang="en-US" sz="1700" i="0" dirty="0">
                <a:effectLst/>
              </a:rPr>
              <a:t>Gradient descent is an optimization algorithm used in machine learning to minimize the cost function by iteratively adjusting parameters in the direction of the negative gradient, aiming to find the optimal set of parameters.</a:t>
            </a:r>
          </a:p>
          <a:p>
            <a:pPr indent="-228600">
              <a:lnSpc>
                <a:spcPct val="90000"/>
              </a:lnSpc>
              <a:spcAft>
                <a:spcPts val="600"/>
              </a:spcAft>
              <a:buFont typeface="Arial" panose="020B0604020202020204" pitchFamily="34" charset="0"/>
              <a:buChar char="•"/>
            </a:pPr>
            <a:endParaRPr lang="en-US" sz="1700" dirty="0"/>
          </a:p>
          <a:p>
            <a:pPr indent="-228600" fontAlgn="base">
              <a:lnSpc>
                <a:spcPct val="90000"/>
              </a:lnSpc>
              <a:spcAft>
                <a:spcPts val="600"/>
              </a:spcAft>
              <a:buFont typeface="Arial" panose="020B0604020202020204" pitchFamily="34" charset="0"/>
              <a:buChar char="•"/>
            </a:pPr>
            <a:r>
              <a:rPr lang="en-US" sz="1700" b="1" dirty="0"/>
              <a:t>Key Steps in Gradient Descent</a:t>
            </a:r>
          </a:p>
          <a:p>
            <a:pPr marL="342900" indent="-228600" fontAlgn="base">
              <a:lnSpc>
                <a:spcPct val="90000"/>
              </a:lnSpc>
              <a:spcAft>
                <a:spcPts val="600"/>
              </a:spcAft>
              <a:buFont typeface="Arial" panose="020B0604020202020204" pitchFamily="34" charset="0"/>
              <a:buChar char="•"/>
            </a:pPr>
            <a:r>
              <a:rPr lang="en-US" sz="1700" b="1" dirty="0"/>
              <a:t>Initialize parameters</a:t>
            </a:r>
            <a:r>
              <a:rPr lang="en-US" sz="1700" dirty="0"/>
              <a:t>: Randomly initialize the model parameters.</a:t>
            </a:r>
          </a:p>
          <a:p>
            <a:pPr marL="342900" indent="-228600" fontAlgn="base">
              <a:lnSpc>
                <a:spcPct val="90000"/>
              </a:lnSpc>
              <a:spcAft>
                <a:spcPts val="600"/>
              </a:spcAft>
              <a:buFont typeface="Arial" panose="020B0604020202020204" pitchFamily="34" charset="0"/>
              <a:buChar char="•"/>
            </a:pPr>
            <a:r>
              <a:rPr lang="en-US" sz="1700" b="1" dirty="0"/>
              <a:t>Compute the gradient</a:t>
            </a:r>
            <a:r>
              <a:rPr lang="en-US" sz="1700" dirty="0"/>
              <a:t>: Calculate the gradient (derivative) of the loss function with respect to the parameters.</a:t>
            </a:r>
          </a:p>
          <a:p>
            <a:pPr marL="342900" indent="-228600" fontAlgn="base">
              <a:lnSpc>
                <a:spcPct val="90000"/>
              </a:lnSpc>
              <a:spcAft>
                <a:spcPts val="600"/>
              </a:spcAft>
              <a:buFont typeface="Arial" panose="020B0604020202020204" pitchFamily="34" charset="0"/>
              <a:buChar char="•"/>
            </a:pPr>
            <a:r>
              <a:rPr lang="en-US" sz="1700" b="1" dirty="0"/>
              <a:t>Update parameters</a:t>
            </a:r>
            <a:r>
              <a:rPr lang="en-US" sz="1700" dirty="0"/>
              <a:t>: Adjust the parameters by moving in the opposite direction of the gradient, scaled by the learning rate.</a:t>
            </a:r>
          </a:p>
          <a:p>
            <a:pPr indent="-228600">
              <a:lnSpc>
                <a:spcPct val="90000"/>
              </a:lnSpc>
              <a:spcAft>
                <a:spcPts val="600"/>
              </a:spcAft>
              <a:buFont typeface="Arial" panose="020B0604020202020204" pitchFamily="34" charset="0"/>
              <a:buChar char="•"/>
            </a:pPr>
            <a:endParaRPr lang="en-US" sz="1700" dirty="0"/>
          </a:p>
          <a:p>
            <a:pPr indent="-228600">
              <a:lnSpc>
                <a:spcPct val="90000"/>
              </a:lnSpc>
              <a:spcAft>
                <a:spcPts val="600"/>
              </a:spcAft>
              <a:buFont typeface="Arial" panose="020B0604020202020204" pitchFamily="34" charset="0"/>
              <a:buChar char="•"/>
            </a:pPr>
            <a:r>
              <a:rPr lang="en-US" sz="1700" dirty="0"/>
              <a:t>The learning rate, a hyperparameter, determines the step size taken in each iteration, influencing the speed and stability of convergence.</a:t>
            </a:r>
          </a:p>
        </p:txBody>
      </p:sp>
      <p:pic>
        <p:nvPicPr>
          <p:cNvPr id="12" name="Picture 11" descr="A diagram of a weight loss&#10;&#10;AI-generated content may be incorrect.">
            <a:extLst>
              <a:ext uri="{FF2B5EF4-FFF2-40B4-BE49-F238E27FC236}">
                <a16:creationId xmlns:a16="http://schemas.microsoft.com/office/drawing/2014/main" id="{D60C1203-159F-E914-6732-29B9146D1B83}"/>
              </a:ext>
            </a:extLst>
          </p:cNvPr>
          <p:cNvPicPr>
            <a:picLocks noChangeAspect="1"/>
          </p:cNvPicPr>
          <p:nvPr/>
        </p:nvPicPr>
        <p:blipFill>
          <a:blip r:embed="rId3"/>
          <a:stretch>
            <a:fillRect/>
          </a:stretch>
        </p:blipFill>
        <p:spPr>
          <a:xfrm>
            <a:off x="6733032" y="2539287"/>
            <a:ext cx="5458968" cy="3425501"/>
          </a:xfrm>
          <a:prstGeom prst="rect">
            <a:avLst/>
          </a:prstGeom>
        </p:spPr>
      </p:pic>
    </p:spTree>
    <p:extLst>
      <p:ext uri="{BB962C8B-B14F-4D97-AF65-F5344CB8AC3E}">
        <p14:creationId xmlns:p14="http://schemas.microsoft.com/office/powerpoint/2010/main" val="26568601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02470-F521-EF50-E387-3F3E771A92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F906FE-4CEB-455E-D2B9-B2EE286493A1}"/>
              </a:ext>
            </a:extLst>
          </p:cNvPr>
          <p:cNvSpPr>
            <a:spLocks noGrp="1"/>
          </p:cNvSpPr>
          <p:nvPr>
            <p:ph type="title"/>
          </p:nvPr>
        </p:nvSpPr>
        <p:spPr>
          <a:xfrm>
            <a:off x="586740" y="0"/>
            <a:ext cx="11018520" cy="1434415"/>
          </a:xfrm>
        </p:spPr>
        <p:txBody>
          <a:bodyPr vert="horz" lIns="91440" tIns="45720" rIns="91440" bIns="45720" rtlCol="0" anchor="b">
            <a:normAutofit/>
          </a:bodyPr>
          <a:lstStyle/>
          <a:p>
            <a:r>
              <a:rPr lang="en-US" sz="5400" b="1" dirty="0"/>
              <a:t>Stochastic Gradient Descent (SGD)</a:t>
            </a:r>
          </a:p>
        </p:txBody>
      </p:sp>
      <p:sp>
        <p:nvSpPr>
          <p:cNvPr id="3" name="TextBox 2">
            <a:extLst>
              <a:ext uri="{FF2B5EF4-FFF2-40B4-BE49-F238E27FC236}">
                <a16:creationId xmlns:a16="http://schemas.microsoft.com/office/drawing/2014/main" id="{33F80092-0D0E-DF18-9158-5B21BBC6324B}"/>
              </a:ext>
            </a:extLst>
          </p:cNvPr>
          <p:cNvSpPr txBox="1"/>
          <p:nvPr/>
        </p:nvSpPr>
        <p:spPr>
          <a:xfrm>
            <a:off x="572493" y="2095929"/>
            <a:ext cx="6322052" cy="2308324"/>
          </a:xfrm>
          <a:prstGeom prst="rect">
            <a:avLst/>
          </a:prstGeom>
          <a:noFill/>
        </p:spPr>
        <p:txBody>
          <a:bodyPr wrap="square">
            <a:spAutoFit/>
          </a:bodyPr>
          <a:lstStyle/>
          <a:p>
            <a:pPr marL="285750" indent="-285750">
              <a:buFont typeface="Arial" panose="020B0604020202020204" pitchFamily="34" charset="0"/>
              <a:buChar char="•"/>
            </a:pPr>
            <a:r>
              <a:rPr lang="en-US" dirty="0"/>
              <a:t>It is a variant of Gradient Descent.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SGD updates model weights after each batch (or sample) rather than the full dataset — this makes it faster but noisier.</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If the model has 10K dataset SGD will update the model parameters 10k times.</a:t>
            </a:r>
          </a:p>
        </p:txBody>
      </p:sp>
      <p:pic>
        <p:nvPicPr>
          <p:cNvPr id="6" name="Picture 5">
            <a:extLst>
              <a:ext uri="{FF2B5EF4-FFF2-40B4-BE49-F238E27FC236}">
                <a16:creationId xmlns:a16="http://schemas.microsoft.com/office/drawing/2014/main" id="{26F3BD5B-E139-C8FC-2F1D-91ABCFF48AB9}"/>
              </a:ext>
            </a:extLst>
          </p:cNvPr>
          <p:cNvPicPr>
            <a:picLocks noChangeAspect="1"/>
          </p:cNvPicPr>
          <p:nvPr/>
        </p:nvPicPr>
        <p:blipFill>
          <a:blip r:embed="rId3"/>
          <a:stretch>
            <a:fillRect/>
          </a:stretch>
        </p:blipFill>
        <p:spPr>
          <a:xfrm>
            <a:off x="7711397" y="1672954"/>
            <a:ext cx="3328471" cy="653807"/>
          </a:xfrm>
          <a:prstGeom prst="rect">
            <a:avLst/>
          </a:prstGeom>
        </p:spPr>
      </p:pic>
      <p:sp>
        <p:nvSpPr>
          <p:cNvPr id="8" name="TextBox 7">
            <a:extLst>
              <a:ext uri="{FF2B5EF4-FFF2-40B4-BE49-F238E27FC236}">
                <a16:creationId xmlns:a16="http://schemas.microsoft.com/office/drawing/2014/main" id="{2B459656-7298-C934-E297-9C27FF059C87}"/>
              </a:ext>
            </a:extLst>
          </p:cNvPr>
          <p:cNvSpPr txBox="1"/>
          <p:nvPr/>
        </p:nvSpPr>
        <p:spPr>
          <a:xfrm>
            <a:off x="7984198" y="2326761"/>
            <a:ext cx="4207801" cy="923330"/>
          </a:xfrm>
          <a:prstGeom prst="rect">
            <a:avLst/>
          </a:prstGeom>
          <a:noFill/>
        </p:spPr>
        <p:txBody>
          <a:bodyPr wrap="square">
            <a:spAutoFit/>
          </a:bodyPr>
          <a:lstStyle/>
          <a:p>
            <a:pPr>
              <a:buNone/>
            </a:pPr>
            <a:r>
              <a:rPr lang="en-US" dirty="0"/>
              <a:t>Where:</a:t>
            </a:r>
          </a:p>
          <a:p>
            <a:pPr marL="285750" indent="-285750">
              <a:buFont typeface="Arial" panose="020B0604020202020204" pitchFamily="34" charset="0"/>
              <a:buChar char="•"/>
            </a:pPr>
            <a:r>
              <a:rPr lang="el-GR" dirty="0"/>
              <a:t>η: </a:t>
            </a:r>
            <a:r>
              <a:rPr lang="en-US" dirty="0"/>
              <a:t>learning rate</a:t>
            </a:r>
          </a:p>
          <a:p>
            <a:pPr marL="285750" indent="-285750">
              <a:buFont typeface="Arial" panose="020B0604020202020204" pitchFamily="34" charset="0"/>
              <a:buChar char="•"/>
            </a:pPr>
            <a:r>
              <a:rPr lang="en-US" dirty="0"/>
              <a:t>∇</a:t>
            </a:r>
            <a:r>
              <a:rPr lang="el-GR" dirty="0"/>
              <a:t>θ</a:t>
            </a:r>
            <a:r>
              <a:rPr lang="en-US" dirty="0"/>
              <a:t>L(</a:t>
            </a:r>
            <a:r>
              <a:rPr lang="el-GR" dirty="0"/>
              <a:t>θ): </a:t>
            </a:r>
            <a:r>
              <a:rPr lang="en-US" dirty="0"/>
              <a:t>gradient of loss </a:t>
            </a:r>
            <a:r>
              <a:rPr lang="en-US" dirty="0" err="1"/>
              <a:t>w.r.t.</a:t>
            </a:r>
            <a:r>
              <a:rPr lang="en-US" dirty="0"/>
              <a:t> weights</a:t>
            </a:r>
          </a:p>
        </p:txBody>
      </p:sp>
    </p:spTree>
    <p:extLst>
      <p:ext uri="{BB962C8B-B14F-4D97-AF65-F5344CB8AC3E}">
        <p14:creationId xmlns:p14="http://schemas.microsoft.com/office/powerpoint/2010/main" val="8711041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0180A5F-1F4C-D628-2827-0BA82E443637}"/>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5000" b="1" kern="1200">
                <a:solidFill>
                  <a:schemeClr val="tx1"/>
                </a:solidFill>
                <a:latin typeface="+mj-lt"/>
                <a:ea typeface="+mj-ea"/>
                <a:cs typeface="+mj-cs"/>
              </a:rPr>
              <a:t>AdaGrad(Adaptive Gradient Descent)</a:t>
            </a:r>
            <a:endParaRPr lang="en-US" sz="5000" kern="1200">
              <a:solidFill>
                <a:schemeClr val="tx1"/>
              </a:solidFill>
              <a:latin typeface="+mj-lt"/>
              <a:ea typeface="+mj-ea"/>
              <a:cs typeface="+mj-cs"/>
            </a:endParaRPr>
          </a:p>
        </p:txBody>
      </p:sp>
      <p:sp>
        <p:nvSpPr>
          <p:cNvPr id="1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F66CF60-8A1B-5927-F295-2CAA33FE8970}"/>
              </a:ext>
            </a:extLst>
          </p:cNvPr>
          <p:cNvSpPr txBox="1"/>
          <p:nvPr/>
        </p:nvSpPr>
        <p:spPr>
          <a:xfrm>
            <a:off x="838200" y="1929384"/>
            <a:ext cx="10515600" cy="4251960"/>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2200" b="0" i="0" dirty="0">
                <a:effectLst/>
              </a:rPr>
              <a:t>The intuition behind </a:t>
            </a:r>
            <a:r>
              <a:rPr lang="en-US" sz="2200" b="0" i="0" dirty="0" err="1">
                <a:effectLst/>
              </a:rPr>
              <a:t>AdaGrad</a:t>
            </a:r>
            <a:r>
              <a:rPr lang="en-US" sz="2200" b="0" i="0" dirty="0">
                <a:effectLst/>
              </a:rPr>
              <a:t> is can we use different Learning Rates for each and every neuron for each and every hidden layer based on different iterations.</a:t>
            </a:r>
          </a:p>
          <a:p>
            <a:pPr indent="-228600">
              <a:lnSpc>
                <a:spcPct val="90000"/>
              </a:lnSpc>
              <a:spcAft>
                <a:spcPts val="600"/>
              </a:spcAft>
              <a:buFont typeface="Arial" panose="020B0604020202020204" pitchFamily="34" charset="0"/>
              <a:buChar char="•"/>
            </a:pPr>
            <a:endParaRPr lang="en-US" sz="2200" dirty="0"/>
          </a:p>
          <a:p>
            <a:pPr indent="-228600">
              <a:lnSpc>
                <a:spcPct val="90000"/>
              </a:lnSpc>
              <a:spcAft>
                <a:spcPts val="600"/>
              </a:spcAft>
              <a:buFont typeface="Arial" panose="020B0604020202020204" pitchFamily="34" charset="0"/>
              <a:buChar char="•"/>
            </a:pPr>
            <a:r>
              <a:rPr lang="en-US" sz="2200" dirty="0"/>
              <a:t>It adapts the learning rate for each parameter based on the historical gradient information. </a:t>
            </a:r>
          </a:p>
          <a:p>
            <a:pPr indent="-228600">
              <a:lnSpc>
                <a:spcPct val="90000"/>
              </a:lnSpc>
              <a:spcAft>
                <a:spcPts val="600"/>
              </a:spcAft>
              <a:buFont typeface="Arial" panose="020B0604020202020204" pitchFamily="34" charset="0"/>
              <a:buChar char="•"/>
            </a:pPr>
            <a:endParaRPr lang="en-US" sz="2200" dirty="0"/>
          </a:p>
          <a:p>
            <a:pPr indent="-228600">
              <a:lnSpc>
                <a:spcPct val="90000"/>
              </a:lnSpc>
              <a:spcAft>
                <a:spcPts val="600"/>
              </a:spcAft>
              <a:buFont typeface="Arial" panose="020B0604020202020204" pitchFamily="34" charset="0"/>
              <a:buChar char="•"/>
            </a:pPr>
            <a:r>
              <a:rPr lang="en-US" sz="2200" dirty="0"/>
              <a:t>The learning rate decreases over time, making </a:t>
            </a:r>
            <a:r>
              <a:rPr lang="en-US" sz="2200" dirty="0" err="1"/>
              <a:t>AdaGrad</a:t>
            </a:r>
            <a:r>
              <a:rPr lang="en-US" sz="2200" dirty="0"/>
              <a:t> effective for sparse features.</a:t>
            </a:r>
          </a:p>
          <a:p>
            <a:pPr indent="-228600">
              <a:lnSpc>
                <a:spcPct val="90000"/>
              </a:lnSpc>
              <a:spcAft>
                <a:spcPts val="600"/>
              </a:spcAft>
              <a:buFont typeface="Arial" panose="020B0604020202020204" pitchFamily="34" charset="0"/>
              <a:buChar char="•"/>
            </a:pPr>
            <a:endParaRPr lang="en-US" sz="2200" dirty="0"/>
          </a:p>
          <a:p>
            <a:pPr indent="-228600" fontAlgn="base">
              <a:lnSpc>
                <a:spcPct val="90000"/>
              </a:lnSpc>
              <a:spcAft>
                <a:spcPts val="600"/>
              </a:spcAft>
              <a:buFont typeface="Arial" panose="020B0604020202020204" pitchFamily="34" charset="0"/>
              <a:buChar char="•"/>
            </a:pPr>
            <a:r>
              <a:rPr lang="en-US" sz="2200" b="1" dirty="0"/>
              <a:t>Advantages</a:t>
            </a:r>
            <a:r>
              <a:rPr lang="en-US" sz="2200" dirty="0"/>
              <a:t>: Adapts the learning rate, improving training efficiency.</a:t>
            </a:r>
          </a:p>
          <a:p>
            <a:pPr indent="-228600" fontAlgn="base">
              <a:lnSpc>
                <a:spcPct val="90000"/>
              </a:lnSpc>
              <a:spcAft>
                <a:spcPts val="600"/>
              </a:spcAft>
              <a:buFont typeface="Arial" panose="020B0604020202020204" pitchFamily="34" charset="0"/>
              <a:buChar char="•"/>
            </a:pPr>
            <a:r>
              <a:rPr lang="en-US" sz="2200" b="1" dirty="0"/>
              <a:t>Disadvantages</a:t>
            </a:r>
            <a:r>
              <a:rPr lang="en-US" sz="2200" dirty="0"/>
              <a:t>: Learning rate decays too quickly, causing slow convergence.</a:t>
            </a:r>
          </a:p>
          <a:p>
            <a:pPr indent="-228600">
              <a:lnSpc>
                <a:spcPct val="90000"/>
              </a:lnSpc>
              <a:spcAft>
                <a:spcPts val="600"/>
              </a:spcAft>
              <a:buFont typeface="Arial" panose="020B0604020202020204" pitchFamily="34" charset="0"/>
              <a:buChar char="•"/>
            </a:pPr>
            <a:endParaRPr lang="en-US" sz="2200" dirty="0"/>
          </a:p>
        </p:txBody>
      </p:sp>
    </p:spTree>
    <p:extLst>
      <p:ext uri="{BB962C8B-B14F-4D97-AF65-F5344CB8AC3E}">
        <p14:creationId xmlns:p14="http://schemas.microsoft.com/office/powerpoint/2010/main" val="1820042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91AA3E-F6B1-98CD-77D3-1C579A24F5C3}"/>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5000" b="1" kern="1200">
                <a:solidFill>
                  <a:schemeClr val="tx1"/>
                </a:solidFill>
                <a:latin typeface="+mj-lt"/>
                <a:ea typeface="+mj-ea"/>
                <a:cs typeface="+mj-cs"/>
              </a:rPr>
              <a:t> Adam (Adaptive Moment Estimation)</a:t>
            </a:r>
            <a:endParaRPr lang="en-US" sz="5000" kern="1200">
              <a:solidFill>
                <a:schemeClr val="tx1"/>
              </a:solidFill>
              <a:latin typeface="+mj-lt"/>
              <a:ea typeface="+mj-ea"/>
              <a:cs typeface="+mj-cs"/>
            </a:endParaRPr>
          </a:p>
        </p:txBody>
      </p:sp>
      <p:sp>
        <p:nvSpPr>
          <p:cNvPr id="1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9F921CC5-EB39-1F72-8A6C-2345A9A291AA}"/>
              </a:ext>
            </a:extLst>
          </p:cNvPr>
          <p:cNvSpPr txBox="1"/>
          <p:nvPr/>
        </p:nvSpPr>
        <p:spPr>
          <a:xfrm>
            <a:off x="838200" y="1929384"/>
            <a:ext cx="10515600" cy="4251960"/>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2200" b="0" i="0" dirty="0">
                <a:effectLst/>
              </a:rPr>
              <a:t> It uses both the first moment (mean) and second moment (variance) of gradients to adapt the learning rate for each parameter.</a:t>
            </a:r>
          </a:p>
          <a:p>
            <a:pPr indent="-228600">
              <a:lnSpc>
                <a:spcPct val="90000"/>
              </a:lnSpc>
              <a:spcAft>
                <a:spcPts val="600"/>
              </a:spcAft>
              <a:buFont typeface="Arial" panose="020B0604020202020204" pitchFamily="34" charset="0"/>
              <a:buChar char="•"/>
            </a:pPr>
            <a:endParaRPr lang="en-US" sz="2200" dirty="0"/>
          </a:p>
          <a:p>
            <a:pPr>
              <a:lnSpc>
                <a:spcPct val="90000"/>
              </a:lnSpc>
              <a:spcAft>
                <a:spcPts val="600"/>
              </a:spcAft>
            </a:pPr>
            <a:r>
              <a:rPr lang="en-US" sz="2200" dirty="0"/>
              <a:t>Pros</a:t>
            </a:r>
          </a:p>
          <a:p>
            <a:pPr marL="285750" indent="-228600">
              <a:lnSpc>
                <a:spcPct val="90000"/>
              </a:lnSpc>
              <a:spcAft>
                <a:spcPts val="600"/>
              </a:spcAft>
              <a:buFont typeface="Arial" panose="020B0604020202020204" pitchFamily="34" charset="0"/>
              <a:buChar char="•"/>
            </a:pPr>
            <a:r>
              <a:rPr lang="en-US" sz="2200" dirty="0"/>
              <a:t>Fast convergence</a:t>
            </a:r>
          </a:p>
          <a:p>
            <a:pPr marL="285750" indent="-228600">
              <a:lnSpc>
                <a:spcPct val="90000"/>
              </a:lnSpc>
              <a:spcAft>
                <a:spcPts val="600"/>
              </a:spcAft>
              <a:buFont typeface="Arial" panose="020B0604020202020204" pitchFamily="34" charset="0"/>
              <a:buChar char="•"/>
            </a:pPr>
            <a:r>
              <a:rPr lang="en-US" sz="2200" dirty="0"/>
              <a:t>Adapts learning rate dynamically</a:t>
            </a:r>
          </a:p>
          <a:p>
            <a:pPr marL="285750" indent="-228600">
              <a:lnSpc>
                <a:spcPct val="90000"/>
              </a:lnSpc>
              <a:spcAft>
                <a:spcPts val="600"/>
              </a:spcAft>
              <a:buFont typeface="Arial" panose="020B0604020202020204" pitchFamily="34" charset="0"/>
              <a:buChar char="•"/>
            </a:pPr>
            <a:r>
              <a:rPr lang="en-US" sz="2200" dirty="0"/>
              <a:t>Default optimizer for most DL frameworks</a:t>
            </a:r>
          </a:p>
        </p:txBody>
      </p:sp>
    </p:spTree>
    <p:extLst>
      <p:ext uri="{BB962C8B-B14F-4D97-AF65-F5344CB8AC3E}">
        <p14:creationId xmlns:p14="http://schemas.microsoft.com/office/powerpoint/2010/main" val="22178306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extBox 1">
            <a:extLst>
              <a:ext uri="{FF2B5EF4-FFF2-40B4-BE49-F238E27FC236}">
                <a16:creationId xmlns:a16="http://schemas.microsoft.com/office/drawing/2014/main" id="{E30A1BF5-F84C-F447-126A-1FB1A2D74A51}"/>
              </a:ext>
            </a:extLst>
          </p:cNvPr>
          <p:cNvSpPr txBox="1"/>
          <p:nvPr/>
        </p:nvSpPr>
        <p:spPr>
          <a:xfrm>
            <a:off x="1314824" y="735106"/>
            <a:ext cx="10053763" cy="2928470"/>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800" b="1" kern="1200">
                <a:solidFill>
                  <a:srgbClr val="FFFFFF"/>
                </a:solidFill>
                <a:latin typeface="+mj-lt"/>
                <a:ea typeface="+mj-ea"/>
                <a:cs typeface="+mj-cs"/>
              </a:rPr>
              <a:t>THANK YOU!</a:t>
            </a:r>
          </a:p>
        </p:txBody>
      </p:sp>
    </p:spTree>
    <p:extLst>
      <p:ext uri="{BB962C8B-B14F-4D97-AF65-F5344CB8AC3E}">
        <p14:creationId xmlns:p14="http://schemas.microsoft.com/office/powerpoint/2010/main" val="5082158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141</TotalTime>
  <Words>1843</Words>
  <Application>Microsoft Office PowerPoint</Application>
  <PresentationFormat>Widescreen</PresentationFormat>
  <Paragraphs>136</Paragraphs>
  <Slides>19</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Aptos Display</vt:lpstr>
      <vt:lpstr>Arial</vt:lpstr>
      <vt:lpstr>Calibri</vt:lpstr>
      <vt:lpstr>Office Theme</vt:lpstr>
      <vt:lpstr>Important Deep Learning Terms</vt:lpstr>
      <vt:lpstr>Activation functions in Neural Networks</vt:lpstr>
      <vt:lpstr>Activation function</vt:lpstr>
      <vt:lpstr>Why Non-Linearity is Important</vt:lpstr>
      <vt:lpstr>Types of Activation Functions in Deep Learning</vt:lpstr>
      <vt:lpstr>Sigmoid Function</vt:lpstr>
      <vt:lpstr>Tanh Activation Function </vt:lpstr>
      <vt:lpstr>ReLU (Rectified Linear Unit)  Function </vt:lpstr>
      <vt:lpstr>Leaky ReLU</vt:lpstr>
      <vt:lpstr>Softmax Function</vt:lpstr>
      <vt:lpstr>Impact of Activation Functions on Model Performance</vt:lpstr>
      <vt:lpstr>Optimization Rule in Deep Neural Networks</vt:lpstr>
      <vt:lpstr>What is an Optimizer?</vt:lpstr>
      <vt:lpstr>The optimizer’s role is to find the best combination of weights and biases that leads to the most accurate predictions.</vt:lpstr>
      <vt:lpstr>Gradient Descent</vt:lpstr>
      <vt:lpstr>Stochastic Gradient Descent (SGD)</vt:lpstr>
      <vt:lpstr>AdaGrad(Adaptive Gradient Descent)</vt:lpstr>
      <vt:lpstr> Adam (Adaptive Moment Estimation)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Important Deep Learning Terms</dc:title>
  <dc:creator>Ankit Mirajkar</dc:creator>
  <cp:lastModifiedBy>Ankit Mirajkar</cp:lastModifiedBy>
  <cp:revision>58</cp:revision>
  <dcterms:created xsi:type="dcterms:W3CDTF">2025-10-15T17:48:55Z</dcterms:created>
  <dcterms:modified xsi:type="dcterms:W3CDTF">2025-10-26T06:35:58Z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9e9a456-2778-4ca9-be06-1190b1e1118a_Enabled">
    <vt:lpwstr>true</vt:lpwstr>
  </property>
  <property fmtid="{D5CDD505-2E9C-101B-9397-08002B2CF9AE}" pid="3" name="MSIP_Label_09e9a456-2778-4ca9-be06-1190b1e1118a_SetDate">
    <vt:lpwstr>2025-10-15T17:51:24Z</vt:lpwstr>
  </property>
  <property fmtid="{D5CDD505-2E9C-101B-9397-08002B2CF9AE}" pid="4" name="MSIP_Label_09e9a456-2778-4ca9-be06-1190b1e1118a_Method">
    <vt:lpwstr>Standard</vt:lpwstr>
  </property>
  <property fmtid="{D5CDD505-2E9C-101B-9397-08002B2CF9AE}" pid="5" name="MSIP_Label_09e9a456-2778-4ca9-be06-1190b1e1118a_Name">
    <vt:lpwstr>D3</vt:lpwstr>
  </property>
  <property fmtid="{D5CDD505-2E9C-101B-9397-08002B2CF9AE}" pid="6" name="MSIP_Label_09e9a456-2778-4ca9-be06-1190b1e1118a_SiteId">
    <vt:lpwstr>658ba197-6c73-4fea-91bd-1c7d8de6bf2c</vt:lpwstr>
  </property>
  <property fmtid="{D5CDD505-2E9C-101B-9397-08002B2CF9AE}" pid="7" name="MSIP_Label_09e9a456-2778-4ca9-be06-1190b1e1118a_ActionId">
    <vt:lpwstr>f42939fb-44e6-469e-b9ab-de61c7026359</vt:lpwstr>
  </property>
  <property fmtid="{D5CDD505-2E9C-101B-9397-08002B2CF9AE}" pid="8" name="MSIP_Label_09e9a456-2778-4ca9-be06-1190b1e1118a_ContentBits">
    <vt:lpwstr>0</vt:lpwstr>
  </property>
  <property fmtid="{D5CDD505-2E9C-101B-9397-08002B2CF9AE}" pid="9" name="MSIP_Label_09e9a456-2778-4ca9-be06-1190b1e1118a_Tag">
    <vt:lpwstr>10, 3, 0, 1</vt:lpwstr>
  </property>
</Properties>
</file>